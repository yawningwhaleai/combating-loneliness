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2.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a7f2a79-0d94-d666-c70c-8e621793b1d8}">
          <p14:sldIdLst>
            <p14:sldId id="256"/>
            <p14:sldId id="257"/>
          </p14:sldIdLst>
        </p14:section>
        <p14:section name="The problem" id="{043b5a03-f864-e93e-52fa-26ac839ed408}">
          <p14:sldIdLst>
            <p14:sldId id="258"/>
            <p14:sldId id="259"/>
          </p14:sldIdLst>
        </p14:section>
        <p14:section name="The solution" id="{b4d9a31e-be67-0007-20dd-5c5b582c5701}">
          <p14:sldIdLst>
            <p14:sldId id="260"/>
            <p14:sldId id="261"/>
          </p14:sldIdLst>
        </p14:section>
        <p14:section name="Detection and action" id="{c5f5b2f1-f331-7cdb-9599-068dfe094f1a}">
          <p14:sldIdLst>
            <p14:sldId id="262"/>
            <p14:sldId id="263"/>
            <p14:sldId id="264"/>
            <p14:sldId id="265"/>
            <p14:sldId id="266"/>
          </p14:sldIdLst>
        </p14:section>
        <p14:section name="The product" id="{686a78ee-cd6f-45cc-2bb8-268bcf614a01}">
          <p14:sldIdLst>
            <p14:sldId id="267"/>
            <p14:sldId id="268"/>
          </p14:sldIdLst>
        </p14:section>
        <p14:section name="Impact and roll-out" id="{17beb632-fee7-d299-7648-43ff9748aaee}">
          <p14:sldIdLst>
            <p14:sldId id="269"/>
            <p14:sldId id="270"/>
            <p14:sldId id="271"/>
            <p14:sldId id="272"/>
          </p14:sldIdLst>
        </p14:section>
        <p14:section name="Appendix" id="{c9d9f5ea-a02e-229e-bce5-fbb73361631d}">
          <p14:sldIdLst>
            <p14:sldId id="273"/>
            <p14:sldId id="274"/>
            <p14:sldId id="275"/>
            <p14:sldId id="276"/>
            <p14:sldId id="277"/>
            <p14:sldId id="278"/>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C1A1B"/>
                </a:solidFill>
                <a:latin typeface="+mn-lt"/>
              </a:defRPr>
            </a:pPr>
            <a:r>
              <a:rPr sz="1300" b="0" i="0" u="none" strike="noStrike">
                <a:solidFill>
                  <a:srgbClr val="1C1A1B"/>
                </a:solidFill>
                <a:latin typeface="+mn-lt"/>
              </a:rPr>
              <a:t>After one quarter (₹, synthetic territory)</a:t>
            </a:r>
          </a:p>
        </c:rich>
      </c:tx>
      <c:layout/>
      <c:overlay val="0"/>
    </c:title>
    <c:autoTitleDeleted val="0"/>
    <c:plotArea>
      <c:layout/>
      <c:barChart>
        <c:barDir val="col"/>
        <c:grouping val="clustered"/>
        <c:varyColors val="0"/>
        <c:ser>
          <c:idx val="0"/>
          <c:order val="0"/>
          <c:tx>
            <c:strRef>
              <c:f>Sheet1!$B$1</c:f>
              <c:strCache>
                <c:ptCount val="1"/>
                <c:pt idx="0">
                  <c:v>With SMARTSELL</c:v>
                </c:pt>
              </c:strCache>
            </c:strRef>
          </c:tx>
          <c:spPr>
            <a:solidFill>
              <a:srgbClr val="6E1A30"/>
            </a:solidFill>
            <a:effectLst/>
          </c:spPr>
          <c:invertIfNegative val="0"/>
          <c:dLbls>
            <c:numFmt formatCode="₹#,##0" sourceLinked="0"/>
            <c:txPr>
              <a:bodyPr/>
              <a:lstStyle/>
              <a:p>
                <a:pPr>
                  <a:defRPr b="0" i="0" strike="noStrike" sz="1100" u="none">
                    <a:solidFill>
                      <a:srgbClr val="1C1A1B"/>
                    </a:solidFill>
                    <a:latin typeface="+mn-lt"/>
                  </a:defRPr>
                </a:pPr>
              </a:p>
            </c:txPr>
            <c:showLegendKey val="0"/>
            <c:showVal val="1"/>
            <c:showCatName val="0"/>
            <c:showSerName val="0"/>
            <c:showPercent val="0"/>
            <c:showBubbleSize val="0"/>
            <c:showLeaderLines val="0"/>
          </c:dLbls>
          <c:cat>
            <c:multiLvlStrRef>
              <c:f>Sheet1!$A$2:$A$3</c:f>
              <c:multiLvlStrCache>
                <c:ptCount val="2"/>
                <c:lvl>
                  <c:pt idx="0">
                    <c:v>Returned / expired stock</c:v>
                  </c:pt>
                  <c:pt idx="1">
                    <c:v>Sales lost to stock-outs</c:v>
                  </c:pt>
                </c:lvl>
              </c:multiLvlStrCache>
            </c:multiLvlStrRef>
          </c:cat>
          <c:val>
            <c:numRef>
              <c:f>Sheet1!$B$2:$B$3</c:f>
              <c:numCache>
                <c:formatCode>General</c:formatCode>
                <c:ptCount val="2"/>
                <c:pt idx="0">
                  <c:v>16416</c:v>
                </c:pt>
                <c:pt idx="1">
                  <c:v>1526</c:v>
                </c:pt>
              </c:numCache>
            </c:numRef>
          </c:val>
        </c:ser>
        <c:ser>
          <c:idx val="1"/>
          <c:order val="1"/>
          <c:tx>
            <c:strRef>
              <c:f>Sheet1!$C$1</c:f>
              <c:strCache>
                <c:ptCount val="1"/>
                <c:pt idx="0">
                  <c:v>Business-as-usual</c:v>
                </c:pt>
              </c:strCache>
            </c:strRef>
          </c:tx>
          <c:spPr>
            <a:solidFill>
              <a:srgbClr val="C9C1B9"/>
            </a:solidFill>
            <a:effectLst/>
          </c:spPr>
          <c:invertIfNegative val="0"/>
          <c:dLbls>
            <c:numFmt formatCode="₹#,##0" sourceLinked="0"/>
            <c:txPr>
              <a:bodyPr/>
              <a:lstStyle/>
              <a:p>
                <a:pPr>
                  <a:defRPr b="0" i="0" strike="noStrike" sz="1100" u="none">
                    <a:solidFill>
                      <a:srgbClr val="1C1A1B"/>
                    </a:solidFill>
                    <a:latin typeface="+mn-lt"/>
                  </a:defRPr>
                </a:pPr>
              </a:p>
            </c:txPr>
            <c:showLegendKey val="0"/>
            <c:showVal val="1"/>
            <c:showCatName val="0"/>
            <c:showSerName val="0"/>
            <c:showPercent val="0"/>
            <c:showBubbleSize val="0"/>
            <c:showLeaderLines val="0"/>
          </c:dLbls>
          <c:cat>
            <c:multiLvlStrRef>
              <c:f>Sheet1!$A$2:$A$3</c:f>
              <c:multiLvlStrCache>
                <c:ptCount val="2"/>
                <c:lvl>
                  <c:pt idx="0">
                    <c:v>Returned / expired stock</c:v>
                  </c:pt>
                  <c:pt idx="1">
                    <c:v>Sales lost to stock-outs</c:v>
                  </c:pt>
                </c:lvl>
              </c:multiLvlStrCache>
            </c:multiLvlStrRef>
          </c:cat>
          <c:val>
            <c:numRef>
              <c:f>Sheet1!$C$2:$C$3</c:f>
              <c:numCache>
                <c:formatCode>General</c:formatCode>
                <c:ptCount val="2"/>
                <c:pt idx="0">
                  <c:v>30276</c:v>
                </c:pt>
                <c:pt idx="1">
                  <c:v>37900</c:v>
                </c:pt>
              </c:numCache>
            </c:numRef>
          </c:val>
        </c:ser>
        <c:dLbls>
          <c:numFmt formatCode="₹#,##0" sourceLinked="0"/>
          <c:txPr>
            <a:bodyPr/>
            <a:lstStyle/>
            <a:p>
              <a:pPr>
                <a:defRPr b="0" i="0" strike="noStrike" sz="1100" u="none">
                  <a:solidFill>
                    <a:srgbClr val="1C1A1B"/>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5853"/>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1C1A1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C1A1B"/>
                </a:solidFill>
                <a:latin typeface="+mn-lt"/>
              </a:defRPr>
            </a:pPr>
            <a:r>
              <a:rPr sz="1200" b="0" i="0" u="none" strike="noStrike">
                <a:solidFill>
                  <a:srgbClr val="1C1A1B"/>
                </a:solidFill>
                <a:latin typeface="+mn-lt"/>
              </a:rPr>
              <a:t>Net benefit ₹ cr/yr (base 18.2)</a:t>
            </a:r>
          </a:p>
        </c:rich>
      </c:tx>
      <c:layout/>
      <c:overlay val="0"/>
    </c:title>
    <c:autoTitleDeleted val="0"/>
    <c:plotArea>
      <c:layout/>
      <c:barChart>
        <c:barDir val="bar"/>
        <c:grouping val="clustered"/>
        <c:varyColors val="0"/>
        <c:ser>
          <c:idx val="0"/>
          <c:order val="0"/>
          <c:tx>
            <c:strRef>
              <c:f>Sheet1!$B$1</c:f>
              <c:strCache>
                <c:ptCount val="1"/>
                <c:pt idx="0">
                  <c:v>Low</c:v>
                </c:pt>
              </c:strCache>
            </c:strRef>
          </c:tx>
          <c:spPr>
            <a:solidFill>
              <a:srgbClr val="C9C1B9"/>
            </a:solidFill>
            <a:effectLst/>
          </c:spPr>
          <c:invertIfNegative val="0"/>
          <c:dLbls>
            <c:numFmt formatCode="0.0" sourceLinked="0"/>
            <c:txPr>
              <a:bodyPr/>
              <a:lstStyle/>
              <a:p>
                <a:pPr>
                  <a:defRPr b="0" i="0" strike="noStrike" sz="1000" u="none">
                    <a:solidFill>
                      <a:srgbClr val="1C1A1B"/>
                    </a:solidFill>
                    <a:latin typeface="+mn-lt"/>
                  </a:defRPr>
                </a:pPr>
              </a:p>
            </c:txPr>
            <c:showLegendKey val="0"/>
            <c:showVal val="1"/>
            <c:showCatName val="0"/>
            <c:showSerName val="0"/>
            <c:showPercent val="0"/>
            <c:showBubbleSize val="0"/>
            <c:showLeaderLines val="0"/>
          </c:dLbls>
          <c:cat>
            <c:multiLvlStrRef>
              <c:f>Sheet1!$A$2:$A$6</c:f>
              <c:multiLvlStrCache>
                <c:ptCount val="5"/>
                <c:lvl>
                  <c:pt idx="0">
                    <c:v>Waste prevented 15–35%</c:v>
                  </c:pt>
                  <c:pt idx="1">
                    <c:v>Stock-out reduction 10–30%</c:v>
                  </c:pt>
                  <c:pt idx="2">
                    <c:v>Baseline OOS 5–12%</c:v>
                  </c:pt>
                  <c:pt idx="3">
                    <c:v>Field-covered share 50–70%</c:v>
                  </c:pt>
                  <c:pt idx="4">
                    <c:v>Contribution margin 25–45%</c:v>
                  </c:pt>
                </c:lvl>
              </c:multiLvlStrCache>
            </c:multiLvlStrRef>
          </c:cat>
          <c:val>
            <c:numRef>
              <c:f>Sheet1!$B$2:$B$6</c:f>
              <c:numCache>
                <c:formatCode>General</c:formatCode>
                <c:ptCount val="5"/>
                <c:pt idx="0">
                  <c:v>13.7</c:v>
                </c:pt>
                <c:pt idx="1">
                  <c:v>14.8</c:v>
                </c:pt>
                <c:pt idx="2">
                  <c:v>15.6</c:v>
                </c:pt>
                <c:pt idx="3">
                  <c:v>15.2</c:v>
                </c:pt>
                <c:pt idx="4">
                  <c:v>16.2</c:v>
                </c:pt>
              </c:numCache>
            </c:numRef>
          </c:val>
        </c:ser>
        <c:ser>
          <c:idx val="1"/>
          <c:order val="1"/>
          <c:tx>
            <c:strRef>
              <c:f>Sheet1!$C$1</c:f>
              <c:strCache>
                <c:ptCount val="1"/>
                <c:pt idx="0">
                  <c:v>High</c:v>
                </c:pt>
              </c:strCache>
            </c:strRef>
          </c:tx>
          <c:spPr>
            <a:solidFill>
              <a:srgbClr val="6E1A30"/>
            </a:solidFill>
            <a:effectLst/>
          </c:spPr>
          <c:invertIfNegative val="0"/>
          <c:dLbls>
            <c:numFmt formatCode="0.0" sourceLinked="0"/>
            <c:txPr>
              <a:bodyPr/>
              <a:lstStyle/>
              <a:p>
                <a:pPr>
                  <a:defRPr b="0" i="0" strike="noStrike" sz="1000" u="none">
                    <a:solidFill>
                      <a:srgbClr val="1C1A1B"/>
                    </a:solidFill>
                    <a:latin typeface="+mn-lt"/>
                  </a:defRPr>
                </a:pPr>
              </a:p>
            </c:txPr>
            <c:showLegendKey val="0"/>
            <c:showVal val="1"/>
            <c:showCatName val="0"/>
            <c:showSerName val="0"/>
            <c:showPercent val="0"/>
            <c:showBubbleSize val="0"/>
            <c:showLeaderLines val="0"/>
          </c:dLbls>
          <c:cat>
            <c:multiLvlStrRef>
              <c:f>Sheet1!$A$2:$A$6</c:f>
              <c:multiLvlStrCache>
                <c:ptCount val="5"/>
                <c:lvl>
                  <c:pt idx="0">
                    <c:v>Waste prevented 15–35%</c:v>
                  </c:pt>
                  <c:pt idx="1">
                    <c:v>Stock-out reduction 10–30%</c:v>
                  </c:pt>
                  <c:pt idx="2">
                    <c:v>Baseline OOS 5–12%</c:v>
                  </c:pt>
                  <c:pt idx="3">
                    <c:v>Field-covered share 50–70%</c:v>
                  </c:pt>
                  <c:pt idx="4">
                    <c:v>Contribution margin 25–45%</c:v>
                  </c:pt>
                </c:lvl>
              </c:multiLvlStrCache>
            </c:multiLvlStrRef>
          </c:cat>
          <c:val>
            <c:numRef>
              <c:f>Sheet1!$C$2:$C$6</c:f>
              <c:numCache>
                <c:formatCode>General</c:formatCode>
                <c:ptCount val="5"/>
                <c:pt idx="0">
                  <c:v>22.7</c:v>
                </c:pt>
                <c:pt idx="1">
                  <c:v>21.7</c:v>
                </c:pt>
                <c:pt idx="2">
                  <c:v>21.7</c:v>
                </c:pt>
                <c:pt idx="3">
                  <c:v>21.3</c:v>
                </c:pt>
                <c:pt idx="4">
                  <c:v>20.2</c:v>
                </c:pt>
              </c:numCache>
            </c:numRef>
          </c:val>
        </c:ser>
        <c:dLbls>
          <c:numFmt formatCode="0.0" sourceLinked="0"/>
          <c:txPr>
            <a:bodyPr/>
            <a:lstStyle/>
            <a:p>
              <a:pPr>
                <a:defRPr b="0" i="0" strike="noStrike" sz="1000" u="none">
                  <a:solidFill>
                    <a:srgbClr val="1C1A1B"/>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E5853"/>
                </a:solidFill>
                <a:latin typeface="+mn-lt"/>
              </a:defRPr>
            </a:pPr>
            <a:endParaRPr lang="en-US"/>
          </a:p>
        </c:txPr>
        <c:crossAx val="2094734552"/>
        <c:crosses val="autoZero"/>
        <c:auto val="1"/>
        <c:lblAlgn val="ctr"/>
        <c:noMultiLvlLbl val="1"/>
      </c:catAx>
      <c:valAx>
        <c:axId val="2094734552"/>
        <c:scaling>
          <c:orientation val="minMax"/>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We're presenting SMARTSELL.
Our one-line idea is on the slide: move from selling more inventory INTO the channel, to moving the right inventory to the right customer, at the right place and time.
On the right is our working product, on a phone, because that's where it lives: in the hands of a L'Oréal sales rep standing in a shop. Everything you'll see today runs live at smartsell-loreal.vercel.app, on synthetic data.
In twelve minutes we'll show you the problem, its root cause, how SMARTSELL works, a live demo, the business case and a pilot that proves it or stops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story on one page.
The problem: about 1.5% of revenue comes back as returned, expired or damaged stock, and another 1% goes on handling it. Those are the case's numbers. The obvious fix, ordering less, just creates stock-outs.
The root cause: waste is decided at the order and discovered at the return. In between, the rep is in that shop many times, and nothing in the visit asks them to act. Quick commerce is making this worse.
Our solution, SMARTSELL, gives every rep a four-minute routine that catches the problem early and fixes it cheaply.
The impact: around 18 crore a year in our base case, clearly labelled as an estimate. And our ask is small: a 16-week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system. L'Oréal books revenue when stock moves into distributors: that's sell-in. The money is only real when a consumer buys it off the shelf: that's sell-out.
The coloured strip shows what each part of the chain can see. The ERP sees the depot. The distributor's system sees totals, but rarely how old each batch is. And at the retailer, where waste actually happens, nobody sees batch age or real sales, except the rep who walks in every week.
When sell-in and sell-out drift apart, stock ages and comes back. The case puts that at about 1.5% of revenue, plus 1% to handle it. At L'Oréal India's scale, that's roughly 148 crore a year, if those percentages apply. Every one of those units was made, shipped and advertised, then shipped back and destroyed.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stock go bad? We mapped six root causes and rated how much a rep can influence each.
Forecasting matters, but central forecasting can't see an outlet's shelf. The big levers are ones the rep controls: how orders are sized, which range each outlet carries, whether old batches go to the front, and whether anyone acts on what they see.
And why not simply order less? Dabur tried that publicly last year: it stopped shipping for over a week to cut distributor stock from 30 to 21 days, and took a revenue hit. A global study found about one in three shoppers who hit an empty shelf switch brand or don't buy at all.
So the insight at the bottom is the heart of our pitch. Waste is decided at the order and discovered at the return, and nothing in today's visit closes that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SMARTSELL is a field sales intelligence and inventory intervention system for L'Oréal's existing on-ground salesforce.
It takes data L'Oréal already has (distributor stock and invoices), adds what only the rep can capture (a quick count, the batch date printed on every pack, and simple signals like dust or unopened cartons), and runs it through four connected modules.
Stock Intelligence captures it. The Risk Engine turns it into rupees at risk and days left to act. The Action Engine recommends the cheapest sanctioned fix. Manager Intelligence closes the loop.
Five reasons this is the right answer, along the bottom: it answers the case directly; it uses the salesforce L'Oréal already pays for; it protects growth and cuts waste with the same move; it's measurable; and you can try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it works in practice: a closed loop of capture, detect, recommend, execute, measure and learn.
The bottom row answers the case's first question directly: where in a visit can you spot slow or ageing stock? We found six moments. Before walking in, the phone already shows the five to ten SKUs predicted to be at risk from distributor invoices. Then a shelf walk, a look in the back room for unopened cartons and old batch codes, three quick questions to the retailer, and finally the order moment, where the guardrail stops new waste being created.
The rep only counts flagged SKUs, at flagged outlets. Our design target is four extra minutes, and if the pilot shows more, that's a stop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case asks: which simple signals, and flagged to whom? Here's our answer.
On the left are twelve signals a rep can see without any technology: dust, unopened cartons, the same count as last week, an old MRP sticker, a product hidden behind the counter. We added a twelfth that matters more every month: "shoppers say they buy it on quick commerce."
On the right is where each flag goes. The rep fixes shelf-level issues on the spot. The distributor executes transfers. The ASM approves anything with a cost. If the same SKU is slow in three or more outlets, that's a range problem for the brand team, not the rep. And channel shift goes to the quick-commerce key-account team.
One rule matters: a signal can lower our sales estimate, but only real batch data can trigger a near-expiry alert. That keeps false alarms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deliberately didn't build a black-box AI score. A sales director should be able to audit every number in five minutes.
For each SKU we compute three things. First, how many units won't sell in time: batches sell oldest-first, and each can only sell until thirty days before expiry. Second, what those units are worth. Third, how many days are left to act.
Take a real example from the prototype: Shree Beauty has 120 bottles of shampoo selling 20 a month, expiring in 105 days. Seventy won't sell in time: ₹14,700 at risk, 75 days to act. Tick "caught 150 days earlier" in the what-if lab and the risk drops to zero. That's the value of early detection.
The states on the bottom left each get a different playbook, including a new one: channel shift, when an outlet is losing demand to quick commerce.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case's second question: what actions move slow stock, and how is near-expiry different from slow-moving?
On the left is our intervention ladder. The cheapest, least brand-risky steps come first: verify, rotate the shelf, pause re-orders of that one SKU, move stock to a faster outlet, then demand activation like testers and sampling. Discounting is step six of eight, and never for Luxe or dermatology brands. That protects brand equity and avoids the channel conflict distributors have publicly complained about.
The table answers near-expiry versus slow-moving. They're different problems. Near-expiry is about speed: where can this sell before it's too late? Slow-moving is about diagnosis: why isn't it selling here? Discounting a slow mover just hides the cause.
The screenshot shows exactly this in the product: ranked actions, each with a reason, an effect, a cost and an owner.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that looks like in four real-looking outlets from our prototype.
At Shree Beauty, shampoo is near expiry: ₹14,700 at risk. The retailer wants 24 more; SMARTSELL says pause that SKU. Two kilometres away, Glow Chemist is eight days from running out of the same shampoo. One approved transfer of 66 units: no discount, no return, no lost sale. Risk drops to ₹840.
At Sai Kirana, a premium serum is slow but has plenty of shelf life. That's a diagnosis problem: it's in the wrong outlet. Move it to the counter, stop re-ordering, and send some to a chemist where it sells. No discount.
At Powai Wellness, the risk is the opposite: a stock-out. We replenish to demand, not to the retailer's habitual ask.
And at the luxury counter, a discount request is blocked by the brand guardrail.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commerce is the force that makes this problem urgent now.
NielsenIQ reports that in India's top eight metros, about 18% of FMCG sales are already online, and over three-quarters of that is quick commerce. L'Oréal itself has named quick commerce a priority. But dark stores hold only days of stock, so when demand moves online, the old volumes keep flowing into general-trade distributors and age there. That's exactly what happened at Dabur.
Our approach has four steps. Detect: when an outlet's sales fall while the brand grows online, that's demand moving, not dying. Resize: the order guardrail tightens for that SKU at that outlet. Hand off: the rep flags it to the quick-commerce key-account team. Route: fresh stock follows demand online, while ageing stock stays in general trade. We never dump it online at a discount, which is what distributors have publicly objected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actual product, running today. Every screen here is a real screenshot.
One: the rep's day, with outlets ranked by rupees at stake. Two: Smart Count, with a simulated barcode and batch scan and the twelve signals. Three: "why it's flagged", in plain English, batch by batch. Four: ranked actions the rep can accept, modify or reject with a reason. Five: the order guardrail, showing what the retailer asked for against what will actually sell. Six: the manager's approval queue, with guardrail checks attached.
You can try it yourself at smartsell-loreal.vercel.app. There's a five-minute judge guide built in, and it works on a phone.
[If presenting live: switch to the demo here. Follow the judge guide: Shree Beauty, count, why flagged, accept the transfer, order, approve as manager, fast-forward a quarter.]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Does it work? We built a side-by-side simulation into the product. Same starting stock, two worlds, fast-forwarded one quarter.
In the business-as-usual world, retailers re-order "same as last time" and nothing is rebalanced. In the SMARTSELL world, orders follow the guardrail and approved actions execute. With just the one hero transfer accepted, returns roughly halve, and lost sales from empty shelves almost disappear.
Interestingly, the business-as-usual world lands at about 1.6% of sell-out returned, close to the case's 1.5% figure, which suggests the model behaves realistically. SMARTSELL brings it to about 0.9%.
To be clear: this is a synthetic simulation, not a forecast. Its job is to show the mechanism. The pilot's job is to measure the real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money, with honest bounds.
We start from the case's pools: 2.5% of revenue, roughly 147 crore at L'Oréal India's scale. But we don't claim it all. Only about a third arises in channels and causes a rep can influence, and we assume a quarter of that can be prevented.
The waterfall shows the base case: 8 crore of expiry loss avoided, 5.3 crore of handling avoided, minus 2 crore to actually move the stock, plus 6.9 crore of contribution from fewer stock-outs, valued at margin, not revenue. Net: about 18 crore a year.
We avoid double counting: stock rescued by a transfer is counted once, never again as extra sales.
The conservative case only breaks even. We're showing you that on purpose. It's why we're asking for a pilot, not a national roll-out.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we get from prototype to proof? A 16-week pilot that either proves it or stops it.
Two cities: Mumbai, where quick commerce is strongest, and one tier-2 city where general trade dominates. Four test distributors against four matched controls, about 600 outlets, a dozen reps, and forty focus SKUs chosen from past returns and top sellers.
Training is light: a one-day workshop and two ride-along days. The technology is our prototype, hardened and fed by a weekly distributor-data extract, or configured inside L'Oréal's existing SFA if the vendor allows.
On the right is the decision rule, agreed up front. If at-risk stock doesn't fall at least 20% versus control without hurting growth, we stop. The budget is about 50 lakh, and what it buys is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will management know it's working? Eight KPIs, deliberately balanced between waste and growth.
The waste side: return rate, at-risk inventory value, days of inventory and inventory recovered. The growth side: sell-through, stock-out rate and incremental contribution. And intervention completion, because the playbook only works if it's used.
The cadence is simple: reps daily, ASMs weekly, distributors and brand teams monthly, and sales leadership quarterly.
Most importantly, the incentive. Without changing what reps are paid for, no tool changes behaviour. Our Healthy Sales Scorecard keeps secondary sales at half the weight, so growth stays the priority, and adds sell-through health, availability and execution. In the pilot it runs as a shadow scorecard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close with the shift we're proposing.
Today, a rep's job is to collect orders. With SMARTSELL, it becomes intelligent demand and inventory management: moving the right stock to the right shelf, catching waste while the fix is cheap, keeping discounts as a last resort, and treating quick commerce as a planning signal rather than a threat.
And every unit that sells instead of expiring is waste avoided at the very top of the waste hierarchy, before any recycling. That fits L'Oréal for the Future.
We didn't add a new team or a new system. We gave L'Oréal's existing salesforce a reason, a routine and a tool. Our ask is one data extract, two territories and sixteen weeks. Thank you; we'd love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slides for Q&amp;A. Jump to the relevant one when a judge asks about sources, the formula, the financial assumptions, playbooks, risks or alternatives.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"where does this number come from?", this slide separates case facts, dated research, our estimates and synthetic prototype data. The full register with URLs is in sources.md in our research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if a judge probes the formula or thresholds. Key message: every parameter is explicit and configurable, and the pilot calibrates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only if asked. The two assumptions that matter most are the waste-prevention rate and the stock-out reduction, which is exactly what the pilot is designed to measure.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Detail behind the action engine. Use if asked "what exactly does the rep do for 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judge asks "what could go wrong?", answer with adoption first: it is the biggest risk, and it is why time-per-visit and completion rate are explicit pilot stop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answers to three beats: direct answer, evidence or number, what the pilot does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if asked "why not just a better forecast?" or "why not just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accent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229600" cy="274320"/>
          </a:xfrm>
          <a:prstGeom prst="rect">
            <a:avLst/>
          </a:prstGeom>
          <a:noFill/>
          <a:ln/>
        </p:spPr>
        <p:txBody>
          <a:bodyPr wrap="square" rtlCol="0"/>
          <a:lstStyle>
            <a:lvl1pPr indent="0" marL="0">
              <a:buNone/>
              <a:defRPr lang="en-US" sz="1100" b="1" spc="200" kern="0" dirty="0">
                <a:solidFill>
                  <a:schemeClr val="accent1"/>
                </a:solidFill>
                <a:latin typeface="Calibri" pitchFamily="34" charset="0"/>
                <a:ea typeface="Calibri" pitchFamily="34" charset="-122"/>
                <a:cs typeface="Calibri" pitchFamily="34" charset="-120"/>
              </a:defRPr>
            </a:lvl1pPr>
          </a:lstStyle>
          <a:p>
            <a:pPr indent="0" marL="0">
              <a:buNone/>
            </a:pPr>
            <a:endParaRPr lang="en-US" sz="1100" dirty="0"/>
          </a:p>
        </p:txBody>
      </p:sp>
      <p:sp>
        <p:nvSpPr>
          <p:cNvPr id="3" name="Text 0"/>
          <p:cNvSpPr/>
          <p:nvPr>
            <p:ph idx="101" type="title" hasCustomPrompt="1"/>
          </p:nvPr>
        </p:nvSpPr>
        <p:spPr>
          <a:xfrm>
            <a:off x="548640" y="566928"/>
            <a:ext cx="11064240" cy="960120"/>
          </a:xfrm>
          <a:prstGeom prst="rect">
            <a:avLst/>
          </a:prstGeom>
          <a:noFill/>
          <a:ln/>
        </p:spPr>
        <p:txBody>
          <a:bodyPr wrap="square" rtlCol="0"/>
          <a:lstStyle>
            <a:lvl1pPr algn="l" indent="0" marL="0">
              <a:buNone/>
              <a:defRPr lang="en-US" sz="30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4" name="Text 0"/>
          <p:cNvSpPr/>
          <p:nvPr>
            <p:ph idx="102" type="body" hasCustomPrompt="1"/>
          </p:nvPr>
        </p:nvSpPr>
        <p:spPr>
          <a:xfrm>
            <a:off x="548640" y="6382512"/>
            <a:ext cx="9692640" cy="329184"/>
          </a:xfrm>
          <a:prstGeom prst="rect">
            <a:avLst/>
          </a:prstGeom>
          <a:noFill/>
          <a:ln/>
        </p:spPr>
        <p:txBody>
          <a:bodyPr wrap="square" rtlCol="0"/>
          <a:lstStyle>
            <a:lvl1pPr indent="0" marL="0">
              <a:buNone/>
              <a:defRPr lang="en-US" sz="1000" dirty="0">
                <a:solidFill>
                  <a:schemeClr val="tx2"/>
                </a:solidFill>
                <a:latin typeface="Calibri" pitchFamily="34" charset="0"/>
                <a:ea typeface="Calibri" pitchFamily="34" charset="-122"/>
                <a:cs typeface="Calibri" pitchFamily="34" charset="-120"/>
              </a:defRPr>
            </a:lvl1pPr>
          </a:lstStyle>
          <a:p>
            <a:pPr indent="0" marL="0">
              <a:buNone/>
            </a:pPr>
            <a:endParaRPr lang="en-US" sz="1000" dirty="0"/>
          </a:p>
        </p:txBody>
      </p:sp>
      <p:sp>
        <p:nvSpPr>
          <p:cNvPr id="5" name="Text 0"/>
          <p:cNvSpPr/>
          <p:nvPr/>
        </p:nvSpPr>
        <p:spPr>
          <a:xfrm>
            <a:off x="10104120" y="6400800"/>
            <a:ext cx="1005840" cy="274320"/>
          </a:xfrm>
          <a:prstGeom prst="rect">
            <a:avLst/>
          </a:prstGeom>
          <a:noFill/>
          <a:ln/>
        </p:spPr>
        <p:txBody>
          <a:bodyPr wrap="square" lIns="0" tIns="0" rIns="0" bIns="0" rtlCol="0" anchor="ctr"/>
          <a:lstStyle/>
          <a:p>
            <a:pPr algn="r" indent="0" marL="0">
              <a:buNone/>
            </a:pPr>
            <a:r>
              <a:rPr lang="en-US" sz="1000" b="1" dirty="0">
                <a:solidFill>
                  <a:schemeClr val="accent1"/>
                </a:solidFill>
                <a:latin typeface="Calibri" pitchFamily="34" charset="0"/>
                <a:ea typeface="Calibri" pitchFamily="34" charset="-122"/>
                <a:cs typeface="Calibri" pitchFamily="34" charset="-120"/>
              </a:rPr>
              <a:t>SMARTSELL</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548640"/>
            <a:ext cx="8229600" cy="274320"/>
          </a:xfrm>
          <a:prstGeom prst="rect">
            <a:avLst/>
          </a:prstGeom>
          <a:noFill/>
          <a:ln/>
        </p:spPr>
        <p:txBody>
          <a:bodyPr wrap="square" rtlCol="0"/>
          <a:lstStyle>
            <a:lvl1pPr indent="0" marL="0">
              <a:buNone/>
              <a:defRPr lang="en-US" sz="1200" b="1" spc="200" kern="0" dirty="0">
                <a:solidFill>
                  <a:schemeClr val="accent2"/>
                </a:solidFill>
                <a:latin typeface="Calibri" pitchFamily="34" charset="0"/>
                <a:ea typeface="Calibri" pitchFamily="34" charset="-122"/>
                <a:cs typeface="Calibri" pitchFamily="34" charset="-120"/>
              </a:defRPr>
            </a:lvl1pPr>
          </a:lstStyle>
          <a:p>
            <a:pPr indent="0" marL="0">
              <a:buNone/>
            </a:pPr>
            <a:endParaRPr lang="en-US" sz="1200" dirty="0"/>
          </a:p>
        </p:txBody>
      </p:sp>
      <p:sp>
        <p:nvSpPr>
          <p:cNvPr id="3" name="Text 0"/>
          <p:cNvSpPr/>
          <p:nvPr>
            <p:ph idx="101" type="title" hasCustomPrompt="1"/>
          </p:nvPr>
        </p:nvSpPr>
        <p:spPr>
          <a:xfrm>
            <a:off x="548640" y="914400"/>
            <a:ext cx="10515600" cy="164592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smartsell-loreal.vercel.app" TargetMode="External"/><Relationship Id="rId2" Type="http://schemas.openxmlformats.org/officeDocument/2006/relationships/image" Target="../media/image-1-1.jp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3.png"/><Relationship Id="rId14" Type="http://schemas.openxmlformats.org/officeDocument/2006/relationships/slideLayout" Target="../slideLayouts/slideLayout3.xml"/><Relationship Id="rId1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jpg"/><Relationship Id="rId6" Type="http://schemas.openxmlformats.org/officeDocument/2006/relationships/slideLayout" Target="../slideLayouts/slideLayout3.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8" Type="http://schemas.openxmlformats.org/officeDocument/2006/relationships/hyperlink" Target="https://smartsell-loreal.vercel.app" TargetMode="External"/><Relationship Id="rId1" Type="http://schemas.openxmlformats.org/officeDocument/2006/relationships/image" Target="../media/image-12-1.jpg"/><Relationship Id="rId2" Type="http://schemas.openxmlformats.org/officeDocument/2006/relationships/image" Target="../media/image-12-2.jpg"/><Relationship Id="rId3" Type="http://schemas.openxmlformats.org/officeDocument/2006/relationships/image" Target="../media/image-12-3.jpg"/><Relationship Id="rId4" Type="http://schemas.openxmlformats.org/officeDocument/2006/relationships/image" Target="../media/image-12-4.jpg"/><Relationship Id="rId5" Type="http://schemas.openxmlformats.org/officeDocument/2006/relationships/image" Target="../media/image-12-5.jpg"/><Relationship Id="rId6" Type="http://schemas.openxmlformats.org/officeDocument/2006/relationships/image" Target="../media/image-12-6.jpg"/><Relationship Id="rId7" Type="http://schemas.openxmlformats.org/officeDocument/2006/relationships/image" Target="../media/image-12-7.png"/><Relationship Id="rId9" Type="http://schemas.openxmlformats.org/officeDocument/2006/relationships/slideLayout" Target="../slideLayouts/slideLayout3.xml"/><Relationship Id="rId10"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13-1.jp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3.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smartsell-loreal.vercel.app" TargetMode="External"/><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slideLayout" Target="../slideLayouts/slideLayout3.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1"/>
          <p:cNvSpPr txBox="1"/>
          <p:nvPr/>
        </p:nvSpPr>
        <p:spPr>
          <a:xfrm>
            <a:off x="548640" y="640080"/>
            <a:ext cx="7772400" cy="320040"/>
          </a:xfrm>
          <a:prstGeom prst="rect">
            <a:avLst/>
          </a:prstGeom>
          <a:noFill/>
          <a:ln/>
        </p:spPr>
        <p:txBody>
          <a:bodyPr wrap="square" lIns="0" tIns="0" rIns="0" bIns="0" rtlCol="0" anchor="t"/>
          <a:lstStyle/>
          <a:p>
            <a:pPr indent="0" marL="0">
              <a:buNone/>
            </a:pPr>
            <a:r>
              <a:rPr lang="en-US" sz="1200" b="1" spc="300" kern="0" dirty="0">
                <a:solidFill>
                  <a:schemeClr val="accent2"/>
                </a:solidFill>
                <a:latin typeface="Calibri" pitchFamily="34" charset="0"/>
                <a:ea typeface="Calibri" pitchFamily="34" charset="-122"/>
                <a:cs typeface="Calibri" pitchFamily="34" charset="-120"/>
              </a:rPr>
              <a:t>L'ORÉAL SUSTAINABILITY CHALLENGE 2026 · SALES TRACK</a:t>
            </a:r>
            <a:endParaRPr lang="en-US" sz="1200" dirty="0"/>
          </a:p>
        </p:txBody>
      </p:sp>
      <p:sp>
        <p:nvSpPr>
          <p:cNvPr id="3" name="text-2"/>
          <p:cNvSpPr txBox="1"/>
          <p:nvPr/>
        </p:nvSpPr>
        <p:spPr>
          <a:xfrm>
            <a:off x="548640" y="1417320"/>
            <a:ext cx="7772400" cy="1188720"/>
          </a:xfrm>
          <a:prstGeom prst="rect">
            <a:avLst/>
          </a:prstGeom>
          <a:noFill/>
          <a:ln/>
        </p:spPr>
        <p:txBody>
          <a:bodyPr wrap="square" lIns="0" tIns="0" rIns="0" bIns="0" rtlCol="0" anchor="t"/>
          <a:lstStyle/>
          <a:p>
            <a:pPr indent="0" marL="0">
              <a:buNone/>
            </a:pPr>
            <a:r>
              <a:rPr lang="en-US" sz="6600" b="1" dirty="0">
                <a:solidFill>
                  <a:schemeClr val="bg1"/>
                </a:solidFill>
                <a:latin typeface="Cambria" pitchFamily="34" charset="0"/>
                <a:ea typeface="Cambria" pitchFamily="34" charset="-122"/>
                <a:cs typeface="Cambria" pitchFamily="34" charset="-120"/>
              </a:rPr>
              <a:t>SMARTSELL</a:t>
            </a:r>
            <a:endParaRPr lang="en-US" sz="6600" dirty="0"/>
          </a:p>
        </p:txBody>
      </p:sp>
      <p:sp>
        <p:nvSpPr>
          <p:cNvPr id="4" name="text-3"/>
          <p:cNvSpPr txBox="1"/>
          <p:nvPr/>
        </p:nvSpPr>
        <p:spPr>
          <a:xfrm>
            <a:off x="548640" y="2651760"/>
            <a:ext cx="7498080" cy="914400"/>
          </a:xfrm>
          <a:prstGeom prst="rect">
            <a:avLst/>
          </a:prstGeom>
          <a:noFill/>
          <a:ln/>
        </p:spPr>
        <p:txBody>
          <a:bodyPr wrap="square" lIns="0" tIns="0" rIns="0" bIns="0" rtlCol="0" anchor="t"/>
          <a:lstStyle/>
          <a:p>
            <a:pPr indent="0" marL="0">
              <a:buNone/>
            </a:pPr>
            <a:r>
              <a:rPr lang="en-US" sz="2600" dirty="0">
                <a:solidFill>
                  <a:schemeClr val="bg1"/>
                </a:solidFill>
                <a:latin typeface="Cambria" pitchFamily="34" charset="0"/>
                <a:ea typeface="Cambria" pitchFamily="34" charset="-122"/>
                <a:cs typeface="Cambria" pitchFamily="34" charset="-120"/>
              </a:rPr>
              <a:t>Turning field sales into a growth and sustainability engine</a:t>
            </a:r>
            <a:endParaRPr lang="en-US" sz="2600" dirty="0"/>
          </a:p>
        </p:txBody>
      </p:sp>
      <p:sp>
        <p:nvSpPr>
          <p:cNvPr id="5" name="text-4"/>
          <p:cNvSpPr txBox="1"/>
          <p:nvPr/>
        </p:nvSpPr>
        <p:spPr>
          <a:xfrm>
            <a:off x="548640" y="3794760"/>
            <a:ext cx="7132320" cy="914400"/>
          </a:xfrm>
          <a:prstGeom prst="rect">
            <a:avLst/>
          </a:prstGeom>
          <a:noFill/>
          <a:ln/>
        </p:spPr>
        <p:txBody>
          <a:bodyPr wrap="square" lIns="0" tIns="0" rIns="0" bIns="0" rtlCol="0" anchor="t"/>
          <a:lstStyle/>
          <a:p>
            <a:pPr indent="0" marL="0">
              <a:buNone/>
            </a:pPr>
            <a:r>
              <a:rPr lang="en-US" sz="1800" i="1" dirty="0">
                <a:solidFill>
                  <a:schemeClr val="bg2"/>
                </a:solidFill>
                <a:latin typeface="Calibri" pitchFamily="34" charset="0"/>
                <a:ea typeface="Calibri" pitchFamily="34" charset="-122"/>
                <a:cs typeface="Calibri" pitchFamily="34" charset="-120"/>
              </a:rPr>
              <a:t>Move from selling more inventory into the channel to moving the right inventory to the right customer, at the right place and at the right time.</a:t>
            </a:r>
            <a:endParaRPr lang="en-US" sz="1800" dirty="0"/>
          </a:p>
        </p:txBody>
      </p:sp>
      <p:sp>
        <p:nvSpPr>
          <p:cNvPr id="6" name="text-5"/>
          <p:cNvSpPr txBox="1"/>
          <p:nvPr/>
        </p:nvSpPr>
        <p:spPr>
          <a:xfrm>
            <a:off x="548640" y="5257800"/>
            <a:ext cx="6858000" cy="365760"/>
          </a:xfrm>
          <a:prstGeom prst="rect">
            <a:avLst/>
          </a:prstGeom>
          <a:noFill/>
          <a:ln/>
        </p:spPr>
        <p:txBody>
          <a:bodyPr wrap="square" lIns="0" tIns="0" rIns="0" bIns="0" rtlCol="0" anchor="t"/>
          <a:lstStyle/>
          <a:p>
            <a:pPr indent="0" marL="0">
              <a:buNone/>
            </a:pPr>
            <a:r>
              <a:rPr lang="en-US" sz="1600" b="1" dirty="0">
                <a:solidFill>
                  <a:schemeClr val="accent2"/>
                </a:solidFill>
                <a:latin typeface="Calibri" pitchFamily="34" charset="0"/>
                <a:ea typeface="Calibri" pitchFamily="34" charset="-122"/>
                <a:cs typeface="Calibri" pitchFamily="34" charset="-120"/>
              </a:rPr>
              <a:t>Live prototype  </a:t>
            </a:r>
            <a:pPr indent="0" marL="0">
              <a:buNone/>
            </a:pPr>
            <a:r>
              <a:rPr lang="en-US" sz="1600" u="sng" dirty="0">
                <a:solidFill>
                  <a:schemeClr val="bg1"/>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smartsell-loreal.vercel.app</a:t>
            </a:r>
            <a:endParaRPr lang="en-US" sz="1600" dirty="0"/>
          </a:p>
        </p:txBody>
      </p:sp>
      <p:sp>
        <p:nvSpPr>
          <p:cNvPr id="7" name="text-6"/>
          <p:cNvSpPr txBox="1"/>
          <p:nvPr/>
        </p:nvSpPr>
        <p:spPr>
          <a:xfrm>
            <a:off x="548640" y="5715000"/>
            <a:ext cx="7680960" cy="365760"/>
          </a:xfrm>
          <a:prstGeom prst="rect">
            <a:avLst/>
          </a:prstGeom>
          <a:noFill/>
          <a:ln/>
        </p:spPr>
        <p:txBody>
          <a:bodyPr wrap="square" lIns="0" tIns="0" rIns="0" bIns="0" rtlCol="0" anchor="t"/>
          <a:lstStyle/>
          <a:p>
            <a:pPr indent="0" marL="0">
              <a:buNone/>
            </a:pPr>
            <a:r>
              <a:rPr lang="en-US" sz="1200" dirty="0">
                <a:solidFill>
                  <a:schemeClr val="bg2"/>
                </a:solidFill>
                <a:latin typeface="Calibri" pitchFamily="34" charset="0"/>
                <a:ea typeface="Calibri" pitchFamily="34" charset="-122"/>
                <a:cs typeface="Calibri" pitchFamily="34" charset="-120"/>
              </a:rPr>
              <a:t>Field sales intelligence and inventory intervention for the on-ground salesforce · All prototype data is synthetic</a:t>
            </a:r>
            <a:endParaRPr lang="en-US" sz="1200" dirty="0"/>
          </a:p>
        </p:txBody>
      </p:sp>
      <p:sp>
        <p:nvSpPr>
          <p:cNvPr id="8" name="phone-frame-7"/>
          <p:cNvSpPr/>
          <p:nvPr/>
        </p:nvSpPr>
        <p:spPr>
          <a:xfrm>
            <a:off x="8732520" y="502920"/>
            <a:ext cx="2743200" cy="5897880"/>
          </a:xfrm>
          <a:prstGeom prst="roundRect">
            <a:avLst>
              <a:gd name="adj" fmla="val 8333"/>
            </a:avLst>
          </a:prstGeom>
          <a:solidFill>
            <a:srgbClr val="4A1020"/>
          </a:solidFill>
          <a:ln w="12700">
            <a:solidFill>
              <a:srgbClr val="4A1020"/>
            </a:solidFill>
            <a:prstDash val="solid"/>
          </a:ln>
        </p:spPr>
      </p:sp>
      <p:pic>
        <p:nvPicPr>
          <p:cNvPr id="9" name="mobile-shot-8" descr="SMARTSELL Smart Count on a phone">    </p:cNvPr>
          <p:cNvPicPr>
            <a:picLocks noChangeAspect="1"/>
          </p:cNvPicPr>
          <p:nvPr/>
        </p:nvPicPr>
        <p:blipFill>
          <a:blip r:embed="rId2"/>
          <a:stretch>
            <a:fillRect/>
          </a:stretch>
        </p:blipFill>
        <p:spPr>
          <a:xfrm>
            <a:off x="8869680" y="640080"/>
            <a:ext cx="2468880" cy="534291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229600" cy="274320"/>
          </a:xfrm>
          <a:prstGeom prst="rect">
            <a:avLst/>
          </a:prstGeom>
          <a:noFill/>
          <a:ln/>
        </p:spPr>
        <p:txBody>
          <a:bodyPr wrap="square" lIns="0" tIns="0" rIns="0" bIns="0" rtlCol="0" anchor="t"/>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EXECUTIVE SUMMARY</a:t>
            </a:r>
            <a:endParaRPr lang="en-US" sz="1100" dirty="0"/>
          </a:p>
        </p:txBody>
      </p:sp>
      <p:sp>
        <p:nvSpPr>
          <p:cNvPr id="3" name="Text 0"/>
          <p:cNvSpPr/>
          <p:nvPr>
            <p:ph idx="101" type="title" hasCustomPrompt="1"/>
          </p:nvPr>
        </p:nvSpPr>
        <p:spPr>
          <a:xfrm>
            <a:off x="548640" y="566928"/>
            <a:ext cx="11064240" cy="96012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Less waste and more growth come from the same move: acting on the shelf before the order</a:t>
            </a:r>
            <a:endParaRPr lang="en-US" sz="3000" dirty="0"/>
          </a:p>
        </p:txBody>
      </p:sp>
      <p:sp>
        <p:nvSpPr>
          <p:cNvPr id="4" name="Text 0"/>
          <p:cNvSpPr/>
          <p:nvPr>
            <p:ph idx="102" type="body" hasCustomPrompt="1"/>
          </p:nvPr>
        </p:nvSpPr>
        <p:spPr>
          <a:xfrm>
            <a:off x="548640" y="6382512"/>
            <a:ext cx="9692640" cy="329184"/>
          </a:xfrm>
          <a:prstGeom prst="rect">
            <a:avLst/>
          </a:prstGeom>
          <a:noFill/>
          <a:ln/>
        </p:spPr>
        <p:txBody>
          <a:bodyPr wrap="square" lIns="0" tIns="0" rIns="0" bIns="0" rtlCol="0" anchor="t"/>
          <a:lstStyle/>
          <a:p>
            <a:pPr indent="0" marL="0">
              <a:buNone/>
            </a:pPr>
            <a:r>
              <a:rPr lang="en-US" sz="1000" dirty="0">
                <a:solidFill>
                  <a:schemeClr val="tx2"/>
                </a:solidFill>
                <a:latin typeface="Calibri" pitchFamily="34" charset="0"/>
                <a:ea typeface="Calibri" pitchFamily="34" charset="-122"/>
                <a:cs typeface="Calibri" pitchFamily="34" charset="-120"/>
              </a:rPr>
              <a:t>Sources: L'Oréal Sales Track case (≈1.5%, ≈1%); financials are illustrative estimates (see Appendix C). Prototype data is synthetic.</a:t>
            </a:r>
            <a:endParaRPr lang="en-US" sz="1000" dirty="0"/>
          </a:p>
        </p:txBody>
      </p:sp>
      <p:sp>
        <p:nvSpPr>
          <p:cNvPr id="5" name="icon-circle-9"/>
          <p:cNvSpPr/>
          <p:nvPr/>
        </p:nvSpPr>
        <p:spPr>
          <a:xfrm>
            <a:off x="548640" y="1709928"/>
            <a:ext cx="502920" cy="502920"/>
          </a:xfrm>
          <a:prstGeom prst="ellipse">
            <a:avLst/>
          </a:prstGeom>
          <a:solidFill>
            <a:schemeClr val="accent1"/>
          </a:solidFill>
          <a:ln w="12700">
            <a:solidFill>
              <a:schemeClr val="accent1"/>
            </a:solidFill>
            <a:prstDash val="solid"/>
          </a:ln>
        </p:spPr>
      </p:sp>
      <p:pic>
        <p:nvPicPr>
          <p:cNvPr id="6" name="icon-10" descr="preencoded.png">    </p:cNvPr>
          <p:cNvPicPr>
            <a:picLocks noChangeAspect="1"/>
          </p:cNvPicPr>
          <p:nvPr/>
        </p:nvPicPr>
        <p:blipFill>
          <a:blip r:embed="rId1"/>
          <a:stretch>
            <a:fillRect/>
          </a:stretch>
        </p:blipFill>
        <p:spPr>
          <a:xfrm>
            <a:off x="674370" y="1835658"/>
            <a:ext cx="251460" cy="251460"/>
          </a:xfrm>
          <a:prstGeom prst="rect">
            <a:avLst/>
          </a:prstGeom>
        </p:spPr>
      </p:pic>
      <p:sp>
        <p:nvSpPr>
          <p:cNvPr id="7" name="text-11"/>
          <p:cNvSpPr txBox="1"/>
          <p:nvPr/>
        </p:nvSpPr>
        <p:spPr>
          <a:xfrm>
            <a:off x="1280160" y="1691640"/>
            <a:ext cx="2103120" cy="548640"/>
          </a:xfrm>
          <a:prstGeom prst="rect">
            <a:avLst/>
          </a:prstGeom>
          <a:noFill/>
          <a:ln/>
        </p:spPr>
        <p:txBody>
          <a:bodyPr wrap="square" lIns="0" tIns="0" rIns="0" bIns="0" rtlCol="0" anchor="ctr"/>
          <a:lstStyle/>
          <a:p>
            <a:pPr indent="0" marL="0">
              <a:buNone/>
            </a:pPr>
            <a:r>
              <a:rPr lang="en-US" sz="1600" b="1" dirty="0">
                <a:solidFill>
                  <a:schemeClr val="accent1"/>
                </a:solidFill>
                <a:latin typeface="Calibri" pitchFamily="34" charset="0"/>
                <a:ea typeface="Calibri" pitchFamily="34" charset="-122"/>
                <a:cs typeface="Calibri" pitchFamily="34" charset="-120"/>
              </a:rPr>
              <a:t>The problem</a:t>
            </a:r>
            <a:endParaRPr lang="en-US" sz="1600" dirty="0"/>
          </a:p>
        </p:txBody>
      </p:sp>
      <p:sp>
        <p:nvSpPr>
          <p:cNvPr id="8" name="text-12"/>
          <p:cNvSpPr txBox="1"/>
          <p:nvPr/>
        </p:nvSpPr>
        <p:spPr>
          <a:xfrm>
            <a:off x="3383280" y="1691640"/>
            <a:ext cx="8229600" cy="77724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Returned, expired and damaged stock is ≈1.5% of revenue, plus ≈1% to handle and destroy it (case). Cutting orders only swaps waste for stock-outs.</a:t>
            </a:r>
            <a:endParaRPr lang="en-US" sz="1400" dirty="0"/>
          </a:p>
        </p:txBody>
      </p:sp>
      <p:sp>
        <p:nvSpPr>
          <p:cNvPr id="9" name="icon-circle-13"/>
          <p:cNvSpPr/>
          <p:nvPr/>
        </p:nvSpPr>
        <p:spPr>
          <a:xfrm>
            <a:off x="548640" y="2606040"/>
            <a:ext cx="502920" cy="502920"/>
          </a:xfrm>
          <a:prstGeom prst="ellipse">
            <a:avLst/>
          </a:prstGeom>
          <a:solidFill>
            <a:schemeClr val="accent1"/>
          </a:solidFill>
          <a:ln w="12700">
            <a:solidFill>
              <a:schemeClr val="accent1"/>
            </a:solidFill>
            <a:prstDash val="solid"/>
          </a:ln>
        </p:spPr>
      </p:sp>
      <p:pic>
        <p:nvPicPr>
          <p:cNvPr id="10" name="icon-14" descr="preencoded.png">    </p:cNvPr>
          <p:cNvPicPr>
            <a:picLocks noChangeAspect="1"/>
          </p:cNvPicPr>
          <p:nvPr/>
        </p:nvPicPr>
        <p:blipFill>
          <a:blip r:embed="rId2"/>
          <a:stretch>
            <a:fillRect/>
          </a:stretch>
        </p:blipFill>
        <p:spPr>
          <a:xfrm>
            <a:off x="674370" y="2731770"/>
            <a:ext cx="251460" cy="251460"/>
          </a:xfrm>
          <a:prstGeom prst="rect">
            <a:avLst/>
          </a:prstGeom>
        </p:spPr>
      </p:pic>
      <p:sp>
        <p:nvSpPr>
          <p:cNvPr id="11" name="text-15"/>
          <p:cNvSpPr txBox="1"/>
          <p:nvPr/>
        </p:nvSpPr>
        <p:spPr>
          <a:xfrm>
            <a:off x="1280160" y="2587752"/>
            <a:ext cx="2103120" cy="548640"/>
          </a:xfrm>
          <a:prstGeom prst="rect">
            <a:avLst/>
          </a:prstGeom>
          <a:noFill/>
          <a:ln/>
        </p:spPr>
        <p:txBody>
          <a:bodyPr wrap="square" lIns="0" tIns="0" rIns="0" bIns="0" rtlCol="0" anchor="ctr"/>
          <a:lstStyle/>
          <a:p>
            <a:pPr indent="0" marL="0">
              <a:buNone/>
            </a:pPr>
            <a:r>
              <a:rPr lang="en-US" sz="1600" b="1" dirty="0">
                <a:solidFill>
                  <a:schemeClr val="accent1"/>
                </a:solidFill>
                <a:latin typeface="Calibri" pitchFamily="34" charset="0"/>
                <a:ea typeface="Calibri" pitchFamily="34" charset="-122"/>
                <a:cs typeface="Calibri" pitchFamily="34" charset="-120"/>
              </a:rPr>
              <a:t>The root cause</a:t>
            </a:r>
            <a:endParaRPr lang="en-US" sz="1600" dirty="0"/>
          </a:p>
        </p:txBody>
      </p:sp>
      <p:sp>
        <p:nvSpPr>
          <p:cNvPr id="12" name="text-16"/>
          <p:cNvSpPr txBox="1"/>
          <p:nvPr/>
        </p:nvSpPr>
        <p:spPr>
          <a:xfrm>
            <a:off x="3383280" y="2587752"/>
            <a:ext cx="8229600" cy="77724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Waste is decided when the order is taken and discovered when the return arrives. Reps visit the shop many times in between, but nothing asks them to act. Quick commerce is widening the gap.</a:t>
            </a:r>
            <a:endParaRPr lang="en-US" sz="1400" dirty="0"/>
          </a:p>
        </p:txBody>
      </p:sp>
      <p:sp>
        <p:nvSpPr>
          <p:cNvPr id="13" name="icon-circle-17"/>
          <p:cNvSpPr/>
          <p:nvPr/>
        </p:nvSpPr>
        <p:spPr>
          <a:xfrm>
            <a:off x="548640" y="3502152"/>
            <a:ext cx="502920" cy="502920"/>
          </a:xfrm>
          <a:prstGeom prst="ellipse">
            <a:avLst/>
          </a:prstGeom>
          <a:solidFill>
            <a:schemeClr val="accent1"/>
          </a:solidFill>
          <a:ln w="12700">
            <a:solidFill>
              <a:schemeClr val="accent1"/>
            </a:solidFill>
            <a:prstDash val="solid"/>
          </a:ln>
        </p:spPr>
      </p:sp>
      <p:pic>
        <p:nvPicPr>
          <p:cNvPr id="14" name="icon-18" descr="preencoded.png">    </p:cNvPr>
          <p:cNvPicPr>
            <a:picLocks noChangeAspect="1"/>
          </p:cNvPicPr>
          <p:nvPr/>
        </p:nvPicPr>
        <p:blipFill>
          <a:blip r:embed="rId3"/>
          <a:stretch>
            <a:fillRect/>
          </a:stretch>
        </p:blipFill>
        <p:spPr>
          <a:xfrm>
            <a:off x="674370" y="3627882"/>
            <a:ext cx="251460" cy="251460"/>
          </a:xfrm>
          <a:prstGeom prst="rect">
            <a:avLst/>
          </a:prstGeom>
        </p:spPr>
      </p:pic>
      <p:sp>
        <p:nvSpPr>
          <p:cNvPr id="15" name="text-19"/>
          <p:cNvSpPr txBox="1"/>
          <p:nvPr/>
        </p:nvSpPr>
        <p:spPr>
          <a:xfrm>
            <a:off x="1280160" y="3483864"/>
            <a:ext cx="2103120" cy="548640"/>
          </a:xfrm>
          <a:prstGeom prst="rect">
            <a:avLst/>
          </a:prstGeom>
          <a:noFill/>
          <a:ln/>
        </p:spPr>
        <p:txBody>
          <a:bodyPr wrap="square" lIns="0" tIns="0" rIns="0" bIns="0" rtlCol="0" anchor="ctr"/>
          <a:lstStyle/>
          <a:p>
            <a:pPr indent="0" marL="0">
              <a:buNone/>
            </a:pPr>
            <a:r>
              <a:rPr lang="en-US" sz="1600" b="1" dirty="0">
                <a:solidFill>
                  <a:schemeClr val="accent1"/>
                </a:solidFill>
                <a:latin typeface="Calibri" pitchFamily="34" charset="0"/>
                <a:ea typeface="Calibri" pitchFamily="34" charset="-122"/>
                <a:cs typeface="Calibri" pitchFamily="34" charset="-120"/>
              </a:rPr>
              <a:t>The solution</a:t>
            </a:r>
            <a:endParaRPr lang="en-US" sz="1600" dirty="0"/>
          </a:p>
        </p:txBody>
      </p:sp>
      <p:sp>
        <p:nvSpPr>
          <p:cNvPr id="16" name="text-20"/>
          <p:cNvSpPr txBox="1"/>
          <p:nvPr/>
        </p:nvSpPr>
        <p:spPr>
          <a:xfrm>
            <a:off x="3383280" y="3483864"/>
            <a:ext cx="8229600" cy="77724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SMARTSELL gives every rep a 4-minute routine: see the at-risk SKUs, get rupees-at-risk and days-to-act, take the cheapest sanctioned fix, rebalance across the beat, and order to what will sell.</a:t>
            </a:r>
            <a:endParaRPr lang="en-US" sz="1400" dirty="0"/>
          </a:p>
        </p:txBody>
      </p:sp>
      <p:sp>
        <p:nvSpPr>
          <p:cNvPr id="17" name="icon-circle-21"/>
          <p:cNvSpPr/>
          <p:nvPr/>
        </p:nvSpPr>
        <p:spPr>
          <a:xfrm>
            <a:off x="548640" y="4398264"/>
            <a:ext cx="502920" cy="502920"/>
          </a:xfrm>
          <a:prstGeom prst="ellipse">
            <a:avLst/>
          </a:prstGeom>
          <a:solidFill>
            <a:schemeClr val="accent1"/>
          </a:solidFill>
          <a:ln w="12700">
            <a:solidFill>
              <a:schemeClr val="accent1"/>
            </a:solidFill>
            <a:prstDash val="solid"/>
          </a:ln>
        </p:spPr>
      </p:sp>
      <p:pic>
        <p:nvPicPr>
          <p:cNvPr id="18" name="icon-22" descr="preencoded.png">    </p:cNvPr>
          <p:cNvPicPr>
            <a:picLocks noChangeAspect="1"/>
          </p:cNvPicPr>
          <p:nvPr/>
        </p:nvPicPr>
        <p:blipFill>
          <a:blip r:embed="rId4"/>
          <a:stretch>
            <a:fillRect/>
          </a:stretch>
        </p:blipFill>
        <p:spPr>
          <a:xfrm>
            <a:off x="674370" y="4523994"/>
            <a:ext cx="251460" cy="251460"/>
          </a:xfrm>
          <a:prstGeom prst="rect">
            <a:avLst/>
          </a:prstGeom>
        </p:spPr>
      </p:pic>
      <p:sp>
        <p:nvSpPr>
          <p:cNvPr id="19" name="text-23"/>
          <p:cNvSpPr txBox="1"/>
          <p:nvPr/>
        </p:nvSpPr>
        <p:spPr>
          <a:xfrm>
            <a:off x="1280160" y="4379976"/>
            <a:ext cx="2103120" cy="548640"/>
          </a:xfrm>
          <a:prstGeom prst="rect">
            <a:avLst/>
          </a:prstGeom>
          <a:noFill/>
          <a:ln/>
        </p:spPr>
        <p:txBody>
          <a:bodyPr wrap="square" lIns="0" tIns="0" rIns="0" bIns="0" rtlCol="0" anchor="ctr"/>
          <a:lstStyle/>
          <a:p>
            <a:pPr indent="0" marL="0">
              <a:buNone/>
            </a:pPr>
            <a:r>
              <a:rPr lang="en-US" sz="1600" b="1" dirty="0">
                <a:solidFill>
                  <a:schemeClr val="accent1"/>
                </a:solidFill>
                <a:latin typeface="Calibri" pitchFamily="34" charset="0"/>
                <a:ea typeface="Calibri" pitchFamily="34" charset="-122"/>
                <a:cs typeface="Calibri" pitchFamily="34" charset="-120"/>
              </a:rPr>
              <a:t>The impact</a:t>
            </a:r>
            <a:endParaRPr lang="en-US" sz="1600" dirty="0"/>
          </a:p>
        </p:txBody>
      </p:sp>
      <p:sp>
        <p:nvSpPr>
          <p:cNvPr id="20" name="text-24"/>
          <p:cNvSpPr txBox="1"/>
          <p:nvPr/>
        </p:nvSpPr>
        <p:spPr>
          <a:xfrm>
            <a:off x="3383280" y="4379976"/>
            <a:ext cx="8229600" cy="77724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Base case ≈₹18 cr a year net, about 3× its cost over 3 years (illustrative). In our live simulation, returns fell from 1.6% to 0.9% of sell-out with fewer stock-outs.</a:t>
            </a:r>
            <a:endParaRPr lang="en-US" sz="1400" dirty="0"/>
          </a:p>
        </p:txBody>
      </p:sp>
      <p:sp>
        <p:nvSpPr>
          <p:cNvPr id="21" name="icon-circle-25"/>
          <p:cNvSpPr/>
          <p:nvPr/>
        </p:nvSpPr>
        <p:spPr>
          <a:xfrm>
            <a:off x="548640" y="5294376"/>
            <a:ext cx="502920" cy="502920"/>
          </a:xfrm>
          <a:prstGeom prst="ellipse">
            <a:avLst/>
          </a:prstGeom>
          <a:solidFill>
            <a:schemeClr val="accent1"/>
          </a:solidFill>
          <a:ln w="12700">
            <a:solidFill>
              <a:schemeClr val="accent1"/>
            </a:solidFill>
            <a:prstDash val="solid"/>
          </a:ln>
        </p:spPr>
      </p:sp>
      <p:pic>
        <p:nvPicPr>
          <p:cNvPr id="22" name="icon-26" descr="preencoded.png">    </p:cNvPr>
          <p:cNvPicPr>
            <a:picLocks noChangeAspect="1"/>
          </p:cNvPicPr>
          <p:nvPr/>
        </p:nvPicPr>
        <p:blipFill>
          <a:blip r:embed="rId5"/>
          <a:stretch>
            <a:fillRect/>
          </a:stretch>
        </p:blipFill>
        <p:spPr>
          <a:xfrm>
            <a:off x="674370" y="5420106"/>
            <a:ext cx="251460" cy="251460"/>
          </a:xfrm>
          <a:prstGeom prst="rect">
            <a:avLst/>
          </a:prstGeom>
        </p:spPr>
      </p:pic>
      <p:sp>
        <p:nvSpPr>
          <p:cNvPr id="23" name="text-27"/>
          <p:cNvSpPr txBox="1"/>
          <p:nvPr/>
        </p:nvSpPr>
        <p:spPr>
          <a:xfrm>
            <a:off x="1280160" y="5276088"/>
            <a:ext cx="2103120" cy="548640"/>
          </a:xfrm>
          <a:prstGeom prst="rect">
            <a:avLst/>
          </a:prstGeom>
          <a:noFill/>
          <a:ln/>
        </p:spPr>
        <p:txBody>
          <a:bodyPr wrap="square" lIns="0" tIns="0" rIns="0" bIns="0" rtlCol="0" anchor="ctr"/>
          <a:lstStyle/>
          <a:p>
            <a:pPr indent="0" marL="0">
              <a:buNone/>
            </a:pPr>
            <a:r>
              <a:rPr lang="en-US" sz="1600" b="1" dirty="0">
                <a:solidFill>
                  <a:schemeClr val="accent1"/>
                </a:solidFill>
                <a:latin typeface="Calibri" pitchFamily="34" charset="0"/>
                <a:ea typeface="Calibri" pitchFamily="34" charset="-122"/>
                <a:cs typeface="Calibri" pitchFamily="34" charset="-120"/>
              </a:rPr>
              <a:t>The ask</a:t>
            </a:r>
            <a:endParaRPr lang="en-US" sz="1600" dirty="0"/>
          </a:p>
        </p:txBody>
      </p:sp>
      <p:sp>
        <p:nvSpPr>
          <p:cNvPr id="24" name="text-28"/>
          <p:cNvSpPr txBox="1"/>
          <p:nvPr/>
        </p:nvSpPr>
        <p:spPr>
          <a:xfrm>
            <a:off x="3383280" y="5276088"/>
            <a:ext cx="8229600" cy="77724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A 16-week, two-city pilot against control territories with clear scale and stop criteria. We need one distributor-data extract and a willing ASM.</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229600" cy="274320"/>
          </a:xfrm>
          <a:prstGeom prst="rect">
            <a:avLst/>
          </a:prstGeom>
          <a:noFill/>
          <a:ln/>
        </p:spPr>
        <p:txBody>
          <a:bodyPr wrap="square" lIns="0" tIns="0" rIns="0" bIns="0" rtlCol="0" anchor="t"/>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THE BUSINESS PROBLEM</a:t>
            </a:r>
            <a:endParaRPr lang="en-US" sz="1100" dirty="0"/>
          </a:p>
        </p:txBody>
      </p:sp>
      <p:sp>
        <p:nvSpPr>
          <p:cNvPr id="3" name="Text 0"/>
          <p:cNvSpPr/>
          <p:nvPr>
            <p:ph idx="101" type="title" hasCustomPrompt="1"/>
          </p:nvPr>
        </p:nvSpPr>
        <p:spPr>
          <a:xfrm>
            <a:off x="548640" y="566928"/>
            <a:ext cx="11064240" cy="96012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Every expired unit was sold once, and paid for twice</a:t>
            </a:r>
            <a:endParaRPr lang="en-US" sz="3000" dirty="0"/>
          </a:p>
        </p:txBody>
      </p:sp>
      <p:sp>
        <p:nvSpPr>
          <p:cNvPr id="4" name="Text 0"/>
          <p:cNvSpPr/>
          <p:nvPr>
            <p:ph idx="102" type="body" hasCustomPrompt="1"/>
          </p:nvPr>
        </p:nvSpPr>
        <p:spPr>
          <a:xfrm>
            <a:off x="548640" y="6382512"/>
            <a:ext cx="9692640" cy="329184"/>
          </a:xfrm>
          <a:prstGeom prst="rect">
            <a:avLst/>
          </a:prstGeom>
          <a:noFill/>
          <a:ln/>
        </p:spPr>
        <p:txBody>
          <a:bodyPr wrap="square" lIns="0" tIns="0" rIns="0" bIns="0" rtlCol="0" anchor="t"/>
          <a:lstStyle/>
          <a:p>
            <a:pPr indent="0" marL="0">
              <a:buNone/>
            </a:pPr>
            <a:r>
              <a:rPr lang="en-US" sz="1000" dirty="0">
                <a:solidFill>
                  <a:schemeClr val="tx2"/>
                </a:solidFill>
                <a:latin typeface="Calibri" pitchFamily="34" charset="0"/>
                <a:ea typeface="Calibri" pitchFamily="34" charset="-122"/>
                <a:cs typeface="Calibri" pitchFamily="34" charset="-120"/>
              </a:rPr>
              <a:t>Sources: L'Oréal Sustainability Challenge 2026 Sales Track case, p.2 (≈1.5% "capped", ≈1%). L'Oréal India FY25 net sales ₹5,925 cr (PTI via The Week, 3 Oct 2025). ₹148 cr is illustrative and assumes the case percentages apply to L'Oréal India.</a:t>
            </a:r>
            <a:endParaRPr lang="en-US" sz="1000" dirty="0"/>
          </a:p>
        </p:txBody>
      </p:sp>
      <p:sp>
        <p:nvSpPr>
          <p:cNvPr id="5" name="icon-circle-29"/>
          <p:cNvSpPr/>
          <p:nvPr/>
        </p:nvSpPr>
        <p:spPr>
          <a:xfrm>
            <a:off x="1325880" y="1783080"/>
            <a:ext cx="731520" cy="731520"/>
          </a:xfrm>
          <a:prstGeom prst="ellipse">
            <a:avLst/>
          </a:prstGeom>
          <a:solidFill>
            <a:schemeClr val="accent1"/>
          </a:solidFill>
          <a:ln w="12700">
            <a:solidFill>
              <a:schemeClr val="accent1"/>
            </a:solidFill>
            <a:prstDash val="solid"/>
          </a:ln>
        </p:spPr>
      </p:sp>
      <p:pic>
        <p:nvPicPr>
          <p:cNvPr id="6" name="icon-30" descr="preencoded.png">    </p:cNvPr>
          <p:cNvPicPr>
            <a:picLocks noChangeAspect="1"/>
          </p:cNvPicPr>
          <p:nvPr/>
        </p:nvPicPr>
        <p:blipFill>
          <a:blip r:embed="rId1"/>
          <a:stretch>
            <a:fillRect/>
          </a:stretch>
        </p:blipFill>
        <p:spPr>
          <a:xfrm>
            <a:off x="1508760" y="1965960"/>
            <a:ext cx="365760" cy="365760"/>
          </a:xfrm>
          <a:prstGeom prst="rect">
            <a:avLst/>
          </a:prstGeom>
        </p:spPr>
      </p:pic>
      <p:sp>
        <p:nvSpPr>
          <p:cNvPr id="7" name="text-31"/>
          <p:cNvSpPr txBox="1"/>
          <p:nvPr/>
        </p:nvSpPr>
        <p:spPr>
          <a:xfrm>
            <a:off x="822960" y="2606040"/>
            <a:ext cx="1737360" cy="320040"/>
          </a:xfrm>
          <a:prstGeom prst="rect">
            <a:avLst/>
          </a:prstGeom>
          <a:noFill/>
          <a:ln/>
        </p:spPr>
        <p:txBody>
          <a:bodyPr wrap="square" lIns="0" tIns="0" rIns="0" bIns="0" rtlCol="0" anchor="t"/>
          <a:lstStyle/>
          <a:p>
            <a:pPr algn="ctr" indent="0" marL="0">
              <a:buNone/>
            </a:pPr>
            <a:r>
              <a:rPr lang="en-US" sz="1600" b="1" dirty="0">
                <a:solidFill>
                  <a:schemeClr val="tx1"/>
                </a:solidFill>
                <a:latin typeface="Calibri" pitchFamily="34" charset="0"/>
                <a:ea typeface="Calibri" pitchFamily="34" charset="-122"/>
                <a:cs typeface="Calibri" pitchFamily="34" charset="-120"/>
              </a:rPr>
              <a:t>L'Oréal</a:t>
            </a:r>
            <a:endParaRPr lang="en-US" sz="1600" dirty="0"/>
          </a:p>
        </p:txBody>
      </p:sp>
      <p:sp>
        <p:nvSpPr>
          <p:cNvPr id="8" name="text-32"/>
          <p:cNvSpPr txBox="1"/>
          <p:nvPr/>
        </p:nvSpPr>
        <p:spPr>
          <a:xfrm>
            <a:off x="640080" y="2926080"/>
            <a:ext cx="2103120" cy="320040"/>
          </a:xfrm>
          <a:prstGeom prst="rect">
            <a:avLst/>
          </a:prstGeom>
          <a:noFill/>
          <a:ln/>
        </p:spPr>
        <p:txBody>
          <a:bodyPr wrap="square" lIns="0" tIns="0" rIns="0" bIns="0" rtlCol="0" anchor="t"/>
          <a:lstStyle/>
          <a:p>
            <a:pPr algn="ctr" indent="0" marL="0">
              <a:buNone/>
            </a:pPr>
            <a:r>
              <a:rPr lang="en-US" sz="1200" dirty="0">
                <a:solidFill>
                  <a:schemeClr val="tx2"/>
                </a:solidFill>
                <a:latin typeface="Calibri" pitchFamily="34" charset="0"/>
                <a:ea typeface="Calibri" pitchFamily="34" charset="-122"/>
                <a:cs typeface="Calibri" pitchFamily="34" charset="-120"/>
              </a:rPr>
              <a:t>Plants &amp; depots</a:t>
            </a:r>
            <a:endParaRPr lang="en-US" sz="1200" dirty="0"/>
          </a:p>
        </p:txBody>
      </p:sp>
      <p:sp>
        <p:nvSpPr>
          <p:cNvPr id="9" name="arrow-33"/>
          <p:cNvSpPr/>
          <p:nvPr/>
        </p:nvSpPr>
        <p:spPr>
          <a:xfrm>
            <a:off x="2240280" y="2148840"/>
            <a:ext cx="1463040" cy="0"/>
          </a:xfrm>
          <a:prstGeom prst="line">
            <a:avLst/>
          </a:prstGeom>
          <a:noFill/>
          <a:ln w="19050">
            <a:solidFill>
              <a:schemeClr val="tx2"/>
            </a:solidFill>
            <a:prstDash val="solid"/>
            <a:tailEnd type="triangle"/>
          </a:ln>
        </p:spPr>
      </p:sp>
      <p:sp>
        <p:nvSpPr>
          <p:cNvPr id="10" name="icon-circle-34"/>
          <p:cNvSpPr/>
          <p:nvPr/>
        </p:nvSpPr>
        <p:spPr>
          <a:xfrm>
            <a:off x="4160520" y="1783080"/>
            <a:ext cx="731520" cy="731520"/>
          </a:xfrm>
          <a:prstGeom prst="ellipse">
            <a:avLst/>
          </a:prstGeom>
          <a:solidFill>
            <a:schemeClr val="accent1"/>
          </a:solidFill>
          <a:ln w="12700">
            <a:solidFill>
              <a:schemeClr val="accent1"/>
            </a:solidFill>
            <a:prstDash val="solid"/>
          </a:ln>
        </p:spPr>
      </p:sp>
      <p:pic>
        <p:nvPicPr>
          <p:cNvPr id="11" name="icon-35" descr="preencoded.png">    </p:cNvPr>
          <p:cNvPicPr>
            <a:picLocks noChangeAspect="1"/>
          </p:cNvPicPr>
          <p:nvPr/>
        </p:nvPicPr>
        <p:blipFill>
          <a:blip r:embed="rId2"/>
          <a:stretch>
            <a:fillRect/>
          </a:stretch>
        </p:blipFill>
        <p:spPr>
          <a:xfrm>
            <a:off x="4343400" y="1965960"/>
            <a:ext cx="365760" cy="365760"/>
          </a:xfrm>
          <a:prstGeom prst="rect">
            <a:avLst/>
          </a:prstGeom>
        </p:spPr>
      </p:pic>
      <p:sp>
        <p:nvSpPr>
          <p:cNvPr id="12" name="text-36"/>
          <p:cNvSpPr txBox="1"/>
          <p:nvPr/>
        </p:nvSpPr>
        <p:spPr>
          <a:xfrm>
            <a:off x="3657600" y="2606040"/>
            <a:ext cx="1737360" cy="320040"/>
          </a:xfrm>
          <a:prstGeom prst="rect">
            <a:avLst/>
          </a:prstGeom>
          <a:noFill/>
          <a:ln/>
        </p:spPr>
        <p:txBody>
          <a:bodyPr wrap="square" lIns="0" tIns="0" rIns="0" bIns="0" rtlCol="0" anchor="t"/>
          <a:lstStyle/>
          <a:p>
            <a:pPr algn="ctr" indent="0" marL="0">
              <a:buNone/>
            </a:pPr>
            <a:r>
              <a:rPr lang="en-US" sz="1600" b="1" dirty="0">
                <a:solidFill>
                  <a:schemeClr val="tx1"/>
                </a:solidFill>
                <a:latin typeface="Calibri" pitchFamily="34" charset="0"/>
                <a:ea typeface="Calibri" pitchFamily="34" charset="-122"/>
                <a:cs typeface="Calibri" pitchFamily="34" charset="-120"/>
              </a:rPr>
              <a:t>Distributor</a:t>
            </a:r>
            <a:endParaRPr lang="en-US" sz="1600" dirty="0"/>
          </a:p>
        </p:txBody>
      </p:sp>
      <p:sp>
        <p:nvSpPr>
          <p:cNvPr id="13" name="text-37"/>
          <p:cNvSpPr txBox="1"/>
          <p:nvPr/>
        </p:nvSpPr>
        <p:spPr>
          <a:xfrm>
            <a:off x="3474720" y="2926080"/>
            <a:ext cx="2103120" cy="320040"/>
          </a:xfrm>
          <a:prstGeom prst="rect">
            <a:avLst/>
          </a:prstGeom>
          <a:noFill/>
          <a:ln/>
        </p:spPr>
        <p:txBody>
          <a:bodyPr wrap="square" lIns="0" tIns="0" rIns="0" bIns="0" rtlCol="0" anchor="t"/>
          <a:lstStyle/>
          <a:p>
            <a:pPr algn="ctr" indent="0" marL="0">
              <a:buNone/>
            </a:pPr>
            <a:r>
              <a:rPr lang="en-US" sz="1200" dirty="0">
                <a:solidFill>
                  <a:schemeClr val="tx2"/>
                </a:solidFill>
                <a:latin typeface="Calibri" pitchFamily="34" charset="0"/>
                <a:ea typeface="Calibri" pitchFamily="34" charset="-122"/>
                <a:cs typeface="Calibri" pitchFamily="34" charset="-120"/>
              </a:rPr>
              <a:t>Weeks of stock, many batches</a:t>
            </a:r>
            <a:endParaRPr lang="en-US" sz="1200" dirty="0"/>
          </a:p>
        </p:txBody>
      </p:sp>
      <p:sp>
        <p:nvSpPr>
          <p:cNvPr id="14" name="arrow-38"/>
          <p:cNvSpPr/>
          <p:nvPr/>
        </p:nvSpPr>
        <p:spPr>
          <a:xfrm>
            <a:off x="5074920" y="2148840"/>
            <a:ext cx="1463040" cy="0"/>
          </a:xfrm>
          <a:prstGeom prst="line">
            <a:avLst/>
          </a:prstGeom>
          <a:noFill/>
          <a:ln w="19050">
            <a:solidFill>
              <a:schemeClr val="tx2"/>
            </a:solidFill>
            <a:prstDash val="solid"/>
            <a:tailEnd type="triangle"/>
          </a:ln>
        </p:spPr>
      </p:sp>
      <p:sp>
        <p:nvSpPr>
          <p:cNvPr id="15" name="icon-circle-39"/>
          <p:cNvSpPr/>
          <p:nvPr/>
        </p:nvSpPr>
        <p:spPr>
          <a:xfrm>
            <a:off x="6995160" y="1783080"/>
            <a:ext cx="731520" cy="731520"/>
          </a:xfrm>
          <a:prstGeom prst="ellipse">
            <a:avLst/>
          </a:prstGeom>
          <a:solidFill>
            <a:schemeClr val="accent1"/>
          </a:solidFill>
          <a:ln w="12700">
            <a:solidFill>
              <a:schemeClr val="accent1"/>
            </a:solidFill>
            <a:prstDash val="solid"/>
          </a:ln>
        </p:spPr>
      </p:sp>
      <p:pic>
        <p:nvPicPr>
          <p:cNvPr id="16" name="icon-40" descr="preencoded.png">    </p:cNvPr>
          <p:cNvPicPr>
            <a:picLocks noChangeAspect="1"/>
          </p:cNvPicPr>
          <p:nvPr/>
        </p:nvPicPr>
        <p:blipFill>
          <a:blip r:embed="rId3"/>
          <a:stretch>
            <a:fillRect/>
          </a:stretch>
        </p:blipFill>
        <p:spPr>
          <a:xfrm>
            <a:off x="7178040" y="1965960"/>
            <a:ext cx="365760" cy="365760"/>
          </a:xfrm>
          <a:prstGeom prst="rect">
            <a:avLst/>
          </a:prstGeom>
        </p:spPr>
      </p:pic>
      <p:sp>
        <p:nvSpPr>
          <p:cNvPr id="17" name="text-41"/>
          <p:cNvSpPr txBox="1"/>
          <p:nvPr/>
        </p:nvSpPr>
        <p:spPr>
          <a:xfrm>
            <a:off x="6492240" y="2606040"/>
            <a:ext cx="1737360" cy="320040"/>
          </a:xfrm>
          <a:prstGeom prst="rect">
            <a:avLst/>
          </a:prstGeom>
          <a:noFill/>
          <a:ln/>
        </p:spPr>
        <p:txBody>
          <a:bodyPr wrap="square" lIns="0" tIns="0" rIns="0" bIns="0" rtlCol="0" anchor="t"/>
          <a:lstStyle/>
          <a:p>
            <a:pPr algn="ctr" indent="0" marL="0">
              <a:buNone/>
            </a:pPr>
            <a:r>
              <a:rPr lang="en-US" sz="1600" b="1" dirty="0">
                <a:solidFill>
                  <a:schemeClr val="tx1"/>
                </a:solidFill>
                <a:latin typeface="Calibri" pitchFamily="34" charset="0"/>
                <a:ea typeface="Calibri" pitchFamily="34" charset="-122"/>
                <a:cs typeface="Calibri" pitchFamily="34" charset="-120"/>
              </a:rPr>
              <a:t>Retailer</a:t>
            </a:r>
            <a:endParaRPr lang="en-US" sz="1600" dirty="0"/>
          </a:p>
        </p:txBody>
      </p:sp>
      <p:sp>
        <p:nvSpPr>
          <p:cNvPr id="18" name="text-42"/>
          <p:cNvSpPr txBox="1"/>
          <p:nvPr/>
        </p:nvSpPr>
        <p:spPr>
          <a:xfrm>
            <a:off x="6309360" y="2926080"/>
            <a:ext cx="2103120" cy="320040"/>
          </a:xfrm>
          <a:prstGeom prst="rect">
            <a:avLst/>
          </a:prstGeom>
          <a:noFill/>
          <a:ln/>
        </p:spPr>
        <p:txBody>
          <a:bodyPr wrap="square" lIns="0" tIns="0" rIns="0" bIns="0" rtlCol="0" anchor="t"/>
          <a:lstStyle/>
          <a:p>
            <a:pPr algn="ctr" indent="0" marL="0">
              <a:buNone/>
            </a:pPr>
            <a:r>
              <a:rPr lang="en-US" sz="1200" dirty="0">
                <a:solidFill>
                  <a:schemeClr val="tx2"/>
                </a:solidFill>
                <a:latin typeface="Calibri" pitchFamily="34" charset="0"/>
                <a:ea typeface="Calibri" pitchFamily="34" charset="-122"/>
                <a:cs typeface="Calibri" pitchFamily="34" charset="-120"/>
              </a:rPr>
              <a:t>Shelf + back room, no POS</a:t>
            </a:r>
            <a:endParaRPr lang="en-US" sz="1200" dirty="0"/>
          </a:p>
        </p:txBody>
      </p:sp>
      <p:sp>
        <p:nvSpPr>
          <p:cNvPr id="19" name="arrow-43"/>
          <p:cNvSpPr/>
          <p:nvPr/>
        </p:nvSpPr>
        <p:spPr>
          <a:xfrm>
            <a:off x="7909560" y="2148840"/>
            <a:ext cx="1463040" cy="0"/>
          </a:xfrm>
          <a:prstGeom prst="line">
            <a:avLst/>
          </a:prstGeom>
          <a:noFill/>
          <a:ln w="19050">
            <a:solidFill>
              <a:schemeClr val="tx2"/>
            </a:solidFill>
            <a:prstDash val="solid"/>
            <a:tailEnd type="triangle"/>
          </a:ln>
        </p:spPr>
      </p:sp>
      <p:sp>
        <p:nvSpPr>
          <p:cNvPr id="20" name="icon-circle-44"/>
          <p:cNvSpPr/>
          <p:nvPr/>
        </p:nvSpPr>
        <p:spPr>
          <a:xfrm>
            <a:off x="9829800" y="1783080"/>
            <a:ext cx="731520" cy="731520"/>
          </a:xfrm>
          <a:prstGeom prst="ellipse">
            <a:avLst/>
          </a:prstGeom>
          <a:solidFill>
            <a:schemeClr val="accent3"/>
          </a:solidFill>
          <a:ln w="12700">
            <a:solidFill>
              <a:schemeClr val="accent3"/>
            </a:solidFill>
            <a:prstDash val="solid"/>
          </a:ln>
        </p:spPr>
      </p:sp>
      <p:pic>
        <p:nvPicPr>
          <p:cNvPr id="21" name="icon-45" descr="preencoded.png">    </p:cNvPr>
          <p:cNvPicPr>
            <a:picLocks noChangeAspect="1"/>
          </p:cNvPicPr>
          <p:nvPr/>
        </p:nvPicPr>
        <p:blipFill>
          <a:blip r:embed="rId4"/>
          <a:stretch>
            <a:fillRect/>
          </a:stretch>
        </p:blipFill>
        <p:spPr>
          <a:xfrm>
            <a:off x="10012680" y="1965960"/>
            <a:ext cx="365760" cy="365760"/>
          </a:xfrm>
          <a:prstGeom prst="rect">
            <a:avLst/>
          </a:prstGeom>
        </p:spPr>
      </p:pic>
      <p:sp>
        <p:nvSpPr>
          <p:cNvPr id="22" name="text-46"/>
          <p:cNvSpPr txBox="1"/>
          <p:nvPr/>
        </p:nvSpPr>
        <p:spPr>
          <a:xfrm>
            <a:off x="9326880" y="2606040"/>
            <a:ext cx="1737360" cy="320040"/>
          </a:xfrm>
          <a:prstGeom prst="rect">
            <a:avLst/>
          </a:prstGeom>
          <a:noFill/>
          <a:ln/>
        </p:spPr>
        <p:txBody>
          <a:bodyPr wrap="square" lIns="0" tIns="0" rIns="0" bIns="0" rtlCol="0" anchor="t"/>
          <a:lstStyle/>
          <a:p>
            <a:pPr algn="ctr" indent="0" marL="0">
              <a:buNone/>
            </a:pPr>
            <a:r>
              <a:rPr lang="en-US" sz="1600" b="1" dirty="0">
                <a:solidFill>
                  <a:schemeClr val="tx1"/>
                </a:solidFill>
                <a:latin typeface="Calibri" pitchFamily="34" charset="0"/>
                <a:ea typeface="Calibri" pitchFamily="34" charset="-122"/>
                <a:cs typeface="Calibri" pitchFamily="34" charset="-120"/>
              </a:rPr>
              <a:t>Consumer</a:t>
            </a:r>
            <a:endParaRPr lang="en-US" sz="1600" dirty="0"/>
          </a:p>
        </p:txBody>
      </p:sp>
      <p:sp>
        <p:nvSpPr>
          <p:cNvPr id="23" name="text-47"/>
          <p:cNvSpPr txBox="1"/>
          <p:nvPr/>
        </p:nvSpPr>
        <p:spPr>
          <a:xfrm>
            <a:off x="9144000" y="2926080"/>
            <a:ext cx="2103120" cy="320040"/>
          </a:xfrm>
          <a:prstGeom prst="rect">
            <a:avLst/>
          </a:prstGeom>
          <a:noFill/>
          <a:ln/>
        </p:spPr>
        <p:txBody>
          <a:bodyPr wrap="square" lIns="0" tIns="0" rIns="0" bIns="0" rtlCol="0" anchor="t"/>
          <a:lstStyle/>
          <a:p>
            <a:pPr algn="ctr" indent="0" marL="0">
              <a:buNone/>
            </a:pPr>
            <a:r>
              <a:rPr lang="en-US" sz="1200" dirty="0">
                <a:solidFill>
                  <a:schemeClr val="tx2"/>
                </a:solidFill>
                <a:latin typeface="Calibri" pitchFamily="34" charset="0"/>
                <a:ea typeface="Calibri" pitchFamily="34" charset="-122"/>
                <a:cs typeface="Calibri" pitchFamily="34" charset="-120"/>
              </a:rPr>
              <a:t>The only real sale</a:t>
            </a:r>
            <a:endParaRPr lang="en-US" sz="1200" dirty="0"/>
          </a:p>
        </p:txBody>
      </p:sp>
      <p:sp>
        <p:nvSpPr>
          <p:cNvPr id="24" name="text-48"/>
          <p:cNvSpPr txBox="1"/>
          <p:nvPr/>
        </p:nvSpPr>
        <p:spPr>
          <a:xfrm>
            <a:off x="2148840" y="1737360"/>
            <a:ext cx="1828800" cy="274320"/>
          </a:xfrm>
          <a:prstGeom prst="rect">
            <a:avLst/>
          </a:prstGeom>
          <a:noFill/>
          <a:ln/>
        </p:spPr>
        <p:txBody>
          <a:bodyPr wrap="square" lIns="0" tIns="0" rIns="0" bIns="0" rtlCol="0" anchor="t"/>
          <a:lstStyle/>
          <a:p>
            <a:pPr algn="ctr" indent="0" marL="0">
              <a:buNone/>
            </a:pPr>
            <a:r>
              <a:rPr lang="en-US" sz="1100" b="1" dirty="0">
                <a:solidFill>
                  <a:schemeClr val="accent1"/>
                </a:solidFill>
                <a:latin typeface="Calibri" pitchFamily="34" charset="0"/>
                <a:ea typeface="Calibri" pitchFamily="34" charset="-122"/>
                <a:cs typeface="Calibri" pitchFamily="34" charset="-120"/>
              </a:rPr>
              <a:t>Sell-in (revenue booked)</a:t>
            </a:r>
            <a:endParaRPr lang="en-US" sz="1100" dirty="0"/>
          </a:p>
        </p:txBody>
      </p:sp>
      <p:sp>
        <p:nvSpPr>
          <p:cNvPr id="25" name="text-49"/>
          <p:cNvSpPr txBox="1"/>
          <p:nvPr/>
        </p:nvSpPr>
        <p:spPr>
          <a:xfrm>
            <a:off x="4983480" y="1737360"/>
            <a:ext cx="1828800" cy="274320"/>
          </a:xfrm>
          <a:prstGeom prst="rect">
            <a:avLst/>
          </a:prstGeom>
          <a:noFill/>
          <a:ln/>
        </p:spPr>
        <p:txBody>
          <a:bodyPr wrap="square" lIns="0" tIns="0" rIns="0" bIns="0" rtlCol="0" anchor="t"/>
          <a:lstStyle/>
          <a:p>
            <a:pPr algn="ctr" indent="0" marL="0">
              <a:buNone/>
            </a:pPr>
            <a:r>
              <a:rPr lang="en-US" sz="1100" b="1" dirty="0">
                <a:solidFill>
                  <a:schemeClr val="tx2"/>
                </a:solidFill>
                <a:latin typeface="Calibri" pitchFamily="34" charset="0"/>
                <a:ea typeface="Calibri" pitchFamily="34" charset="-122"/>
                <a:cs typeface="Calibri" pitchFamily="34" charset="-120"/>
              </a:rPr>
              <a:t>Secondary sales</a:t>
            </a:r>
            <a:endParaRPr lang="en-US" sz="1100" dirty="0"/>
          </a:p>
        </p:txBody>
      </p:sp>
      <p:sp>
        <p:nvSpPr>
          <p:cNvPr id="26" name="text-50"/>
          <p:cNvSpPr txBox="1"/>
          <p:nvPr/>
        </p:nvSpPr>
        <p:spPr>
          <a:xfrm>
            <a:off x="7818120" y="1737360"/>
            <a:ext cx="1828800" cy="274320"/>
          </a:xfrm>
          <a:prstGeom prst="rect">
            <a:avLst/>
          </a:prstGeom>
          <a:noFill/>
          <a:ln/>
        </p:spPr>
        <p:txBody>
          <a:bodyPr wrap="square" lIns="0" tIns="0" rIns="0" bIns="0" rtlCol="0" anchor="t"/>
          <a:lstStyle/>
          <a:p>
            <a:pPr algn="ctr" indent="0" marL="0">
              <a:buNone/>
            </a:pPr>
            <a:r>
              <a:rPr lang="en-US" sz="1100" b="1" dirty="0">
                <a:solidFill>
                  <a:schemeClr val="accent3"/>
                </a:solidFill>
                <a:latin typeface="Calibri" pitchFamily="34" charset="0"/>
                <a:ea typeface="Calibri" pitchFamily="34" charset="-122"/>
                <a:cs typeface="Calibri" pitchFamily="34" charset="-120"/>
              </a:rPr>
              <a:t>Sell-out (real demand)</a:t>
            </a:r>
            <a:endParaRPr lang="en-US" sz="1100" dirty="0"/>
          </a:p>
        </p:txBody>
      </p:sp>
      <p:sp>
        <p:nvSpPr>
          <p:cNvPr id="27" name="card-51"/>
          <p:cNvSpPr/>
          <p:nvPr/>
        </p:nvSpPr>
        <p:spPr>
          <a:xfrm>
            <a:off x="640080" y="3383280"/>
            <a:ext cx="2743200" cy="502920"/>
          </a:xfrm>
          <a:prstGeom prst="roundRect">
            <a:avLst>
              <a:gd name="adj" fmla="val 14545"/>
            </a:avLst>
          </a:prstGeom>
          <a:solidFill>
            <a:srgbClr val="E6F0EA"/>
          </a:solidFill>
          <a:ln w="12700">
            <a:solidFill>
              <a:srgbClr val="E6F0EA"/>
            </a:solidFill>
            <a:prstDash val="solid"/>
          </a:ln>
        </p:spPr>
      </p:sp>
      <p:sp>
        <p:nvSpPr>
          <p:cNvPr id="28" name="text-52"/>
          <p:cNvSpPr txBox="1"/>
          <p:nvPr/>
        </p:nvSpPr>
        <p:spPr>
          <a:xfrm>
            <a:off x="777240" y="3383280"/>
            <a:ext cx="2560320" cy="502920"/>
          </a:xfrm>
          <a:prstGeom prst="rect">
            <a:avLst/>
          </a:prstGeom>
          <a:noFill/>
          <a:ln/>
        </p:spPr>
        <p:txBody>
          <a:bodyPr wrap="square" lIns="0" tIns="0" rIns="0" bIns="0" rtlCol="0" anchor="ctr"/>
          <a:lstStyle/>
          <a:p>
            <a:pPr indent="0" marL="0">
              <a:buNone/>
            </a:pPr>
            <a:r>
              <a:rPr lang="en-US" sz="1200" b="1" dirty="0">
                <a:solidFill>
                  <a:schemeClr val="accent3"/>
                </a:solidFill>
                <a:latin typeface="Calibri" pitchFamily="34" charset="0"/>
                <a:ea typeface="Calibri" pitchFamily="34" charset="-122"/>
                <a:cs typeface="Calibri" pitchFamily="34" charset="-120"/>
              </a:rPr>
              <a:t>Visible in ERP</a:t>
            </a:r>
            <a:endParaRPr lang="en-US" sz="1200" dirty="0"/>
          </a:p>
        </p:txBody>
      </p:sp>
      <p:sp>
        <p:nvSpPr>
          <p:cNvPr id="29" name="card-53"/>
          <p:cNvSpPr/>
          <p:nvPr/>
        </p:nvSpPr>
        <p:spPr>
          <a:xfrm>
            <a:off x="3474720" y="3383280"/>
            <a:ext cx="2743200" cy="502920"/>
          </a:xfrm>
          <a:prstGeom prst="roundRect">
            <a:avLst>
              <a:gd name="adj" fmla="val 14545"/>
            </a:avLst>
          </a:prstGeom>
          <a:solidFill>
            <a:srgbClr val="F6EEDD"/>
          </a:solidFill>
          <a:ln w="12700">
            <a:solidFill>
              <a:srgbClr val="F6EEDD"/>
            </a:solidFill>
            <a:prstDash val="solid"/>
          </a:ln>
        </p:spPr>
      </p:sp>
      <p:sp>
        <p:nvSpPr>
          <p:cNvPr id="30" name="text-54"/>
          <p:cNvSpPr txBox="1"/>
          <p:nvPr/>
        </p:nvSpPr>
        <p:spPr>
          <a:xfrm>
            <a:off x="3611880" y="3383280"/>
            <a:ext cx="2560320" cy="502920"/>
          </a:xfrm>
          <a:prstGeom prst="rect">
            <a:avLst/>
          </a:prstGeom>
          <a:noFill/>
          <a:ln/>
        </p:spPr>
        <p:txBody>
          <a:bodyPr wrap="square" lIns="0" tIns="0" rIns="0" bIns="0" rtlCol="0" anchor="ctr"/>
          <a:lstStyle/>
          <a:p>
            <a:pPr indent="0" marL="0">
              <a:buNone/>
            </a:pPr>
            <a:r>
              <a:rPr lang="en-US" sz="1200" b="1" dirty="0">
                <a:solidFill>
                  <a:schemeClr val="accent6"/>
                </a:solidFill>
                <a:latin typeface="Calibri" pitchFamily="34" charset="0"/>
                <a:ea typeface="Calibri" pitchFamily="34" charset="-122"/>
                <a:cs typeface="Calibri" pitchFamily="34" charset="-120"/>
              </a:rPr>
              <a:t>Partly visible: stock, rarely batch age</a:t>
            </a:r>
            <a:endParaRPr lang="en-US" sz="1200" dirty="0"/>
          </a:p>
        </p:txBody>
      </p:sp>
      <p:sp>
        <p:nvSpPr>
          <p:cNvPr id="31" name="card-55"/>
          <p:cNvSpPr/>
          <p:nvPr/>
        </p:nvSpPr>
        <p:spPr>
          <a:xfrm>
            <a:off x="6309360" y="3383280"/>
            <a:ext cx="5212080" cy="502920"/>
          </a:xfrm>
          <a:prstGeom prst="roundRect">
            <a:avLst>
              <a:gd name="adj" fmla="val 14545"/>
            </a:avLst>
          </a:prstGeom>
          <a:solidFill>
            <a:srgbClr val="F7E4E1"/>
          </a:solidFill>
          <a:ln w="12700">
            <a:solidFill>
              <a:srgbClr val="F7E4E1"/>
            </a:solidFill>
            <a:prstDash val="solid"/>
          </a:ln>
        </p:spPr>
      </p:sp>
      <p:sp>
        <p:nvSpPr>
          <p:cNvPr id="32" name="text-56"/>
          <p:cNvSpPr txBox="1"/>
          <p:nvPr/>
        </p:nvSpPr>
        <p:spPr>
          <a:xfrm>
            <a:off x="6446520" y="3383280"/>
            <a:ext cx="5029200" cy="502920"/>
          </a:xfrm>
          <a:prstGeom prst="rect">
            <a:avLst/>
          </a:prstGeom>
          <a:noFill/>
          <a:ln/>
        </p:spPr>
        <p:txBody>
          <a:bodyPr wrap="square" lIns="0" tIns="0" rIns="0" bIns="0" rtlCol="0" anchor="ctr"/>
          <a:lstStyle/>
          <a:p>
            <a:pPr indent="0" marL="0">
              <a:buNone/>
            </a:pPr>
            <a:r>
              <a:rPr lang="en-US" sz="1200" b="1" dirty="0">
                <a:solidFill>
                  <a:schemeClr val="accent5"/>
                </a:solidFill>
                <a:latin typeface="Calibri" pitchFamily="34" charset="0"/>
                <a:ea typeface="Calibri" pitchFamily="34" charset="-122"/>
                <a:cs typeface="Calibri" pitchFamily="34" charset="-120"/>
              </a:rPr>
              <a:t>Blind spot: batch age and real sell-out. Only the rep standing in the shop can see it.</a:t>
            </a:r>
            <a:endParaRPr lang="en-US" sz="1200" dirty="0"/>
          </a:p>
        </p:txBody>
      </p:sp>
      <p:sp>
        <p:nvSpPr>
          <p:cNvPr id="33" name="card-57"/>
          <p:cNvSpPr/>
          <p:nvPr/>
        </p:nvSpPr>
        <p:spPr>
          <a:xfrm>
            <a:off x="640080" y="4206240"/>
            <a:ext cx="3520440" cy="1920240"/>
          </a:xfrm>
          <a:prstGeom prst="roundRect">
            <a:avLst>
              <a:gd name="adj" fmla="val 3810"/>
            </a:avLst>
          </a:prstGeom>
          <a:solidFill>
            <a:schemeClr val="bg2"/>
          </a:solidFill>
          <a:ln w="12700">
            <a:solidFill>
              <a:schemeClr val="bg2"/>
            </a:solidFill>
            <a:prstDash val="solid"/>
          </a:ln>
        </p:spPr>
      </p:sp>
      <p:sp>
        <p:nvSpPr>
          <p:cNvPr id="34" name="text-58"/>
          <p:cNvSpPr txBox="1"/>
          <p:nvPr/>
        </p:nvSpPr>
        <p:spPr>
          <a:xfrm>
            <a:off x="868680" y="4343400"/>
            <a:ext cx="3108960" cy="777240"/>
          </a:xfrm>
          <a:prstGeom prst="rect">
            <a:avLst/>
          </a:prstGeom>
          <a:noFill/>
          <a:ln/>
        </p:spPr>
        <p:txBody>
          <a:bodyPr wrap="square" lIns="0" tIns="0" rIns="0" bIns="0" rtlCol="0" anchor="t"/>
          <a:lstStyle/>
          <a:p>
            <a:pPr indent="0" marL="0">
              <a:buNone/>
            </a:pPr>
            <a:r>
              <a:rPr lang="en-US" sz="4000" b="1" dirty="0">
                <a:solidFill>
                  <a:schemeClr val="accent5"/>
                </a:solidFill>
                <a:latin typeface="Cambria" pitchFamily="34" charset="0"/>
                <a:ea typeface="Cambria" pitchFamily="34" charset="-122"/>
                <a:cs typeface="Cambria" pitchFamily="34" charset="-120"/>
              </a:rPr>
              <a:t>≈1.5%</a:t>
            </a:r>
            <a:endParaRPr lang="en-US" sz="4000" dirty="0"/>
          </a:p>
        </p:txBody>
      </p:sp>
      <p:sp>
        <p:nvSpPr>
          <p:cNvPr id="35" name="text-59"/>
          <p:cNvSpPr txBox="1"/>
          <p:nvPr/>
        </p:nvSpPr>
        <p:spPr>
          <a:xfrm>
            <a:off x="868680" y="5120640"/>
            <a:ext cx="3108960" cy="5486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of revenue returned, expired or damaged</a:t>
            </a:r>
            <a:endParaRPr lang="en-US" sz="1500" dirty="0"/>
          </a:p>
        </p:txBody>
      </p:sp>
      <p:sp>
        <p:nvSpPr>
          <p:cNvPr id="36" name="text-60"/>
          <p:cNvSpPr txBox="1"/>
          <p:nvPr/>
        </p:nvSpPr>
        <p:spPr>
          <a:xfrm>
            <a:off x="868680" y="5715000"/>
            <a:ext cx="3108960" cy="320040"/>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Case data ("capped" at ≈1.5%)</a:t>
            </a:r>
            <a:endParaRPr lang="en-US" sz="1100" dirty="0"/>
          </a:p>
        </p:txBody>
      </p:sp>
      <p:sp>
        <p:nvSpPr>
          <p:cNvPr id="37" name="card-61"/>
          <p:cNvSpPr/>
          <p:nvPr/>
        </p:nvSpPr>
        <p:spPr>
          <a:xfrm>
            <a:off x="4343400" y="4206240"/>
            <a:ext cx="3520440" cy="1920240"/>
          </a:xfrm>
          <a:prstGeom prst="roundRect">
            <a:avLst>
              <a:gd name="adj" fmla="val 3810"/>
            </a:avLst>
          </a:prstGeom>
          <a:solidFill>
            <a:schemeClr val="bg2"/>
          </a:solidFill>
          <a:ln w="12700">
            <a:solidFill>
              <a:schemeClr val="bg2"/>
            </a:solidFill>
            <a:prstDash val="solid"/>
          </a:ln>
        </p:spPr>
      </p:sp>
      <p:sp>
        <p:nvSpPr>
          <p:cNvPr id="38" name="text-62"/>
          <p:cNvSpPr txBox="1"/>
          <p:nvPr/>
        </p:nvSpPr>
        <p:spPr>
          <a:xfrm>
            <a:off x="4572000" y="4343400"/>
            <a:ext cx="3108960" cy="777240"/>
          </a:xfrm>
          <a:prstGeom prst="rect">
            <a:avLst/>
          </a:prstGeom>
          <a:noFill/>
          <a:ln/>
        </p:spPr>
        <p:txBody>
          <a:bodyPr wrap="square" lIns="0" tIns="0" rIns="0" bIns="0" rtlCol="0" anchor="t"/>
          <a:lstStyle/>
          <a:p>
            <a:pPr indent="0" marL="0">
              <a:buNone/>
            </a:pPr>
            <a:r>
              <a:rPr lang="en-US" sz="4000" b="1" dirty="0">
                <a:solidFill>
                  <a:schemeClr val="accent5"/>
                </a:solidFill>
                <a:latin typeface="Cambria" pitchFamily="34" charset="0"/>
                <a:ea typeface="Cambria" pitchFamily="34" charset="-122"/>
                <a:cs typeface="Cambria" pitchFamily="34" charset="-120"/>
              </a:rPr>
              <a:t>≈1%</a:t>
            </a:r>
            <a:endParaRPr lang="en-US" sz="4000" dirty="0"/>
          </a:p>
        </p:txBody>
      </p:sp>
      <p:sp>
        <p:nvSpPr>
          <p:cNvPr id="39" name="text-63"/>
          <p:cNvSpPr txBox="1"/>
          <p:nvPr/>
        </p:nvSpPr>
        <p:spPr>
          <a:xfrm>
            <a:off x="4572000" y="5120640"/>
            <a:ext cx="3108960" cy="5486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more to handle, reverse-ship and destroy it</a:t>
            </a:r>
            <a:endParaRPr lang="en-US" sz="1500" dirty="0"/>
          </a:p>
        </p:txBody>
      </p:sp>
      <p:sp>
        <p:nvSpPr>
          <p:cNvPr id="40" name="text-64"/>
          <p:cNvSpPr txBox="1"/>
          <p:nvPr/>
        </p:nvSpPr>
        <p:spPr>
          <a:xfrm>
            <a:off x="4572000" y="5715000"/>
            <a:ext cx="3108960" cy="320040"/>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Case data</a:t>
            </a:r>
            <a:endParaRPr lang="en-US" sz="1100" dirty="0"/>
          </a:p>
        </p:txBody>
      </p:sp>
      <p:sp>
        <p:nvSpPr>
          <p:cNvPr id="41" name="card-65"/>
          <p:cNvSpPr/>
          <p:nvPr/>
        </p:nvSpPr>
        <p:spPr>
          <a:xfrm>
            <a:off x="8046720" y="4206240"/>
            <a:ext cx="3520440" cy="1920240"/>
          </a:xfrm>
          <a:prstGeom prst="roundRect">
            <a:avLst>
              <a:gd name="adj" fmla="val 3810"/>
            </a:avLst>
          </a:prstGeom>
          <a:solidFill>
            <a:schemeClr val="bg2"/>
          </a:solidFill>
          <a:ln w="12700">
            <a:solidFill>
              <a:schemeClr val="bg2"/>
            </a:solidFill>
            <a:prstDash val="solid"/>
          </a:ln>
        </p:spPr>
      </p:sp>
      <p:sp>
        <p:nvSpPr>
          <p:cNvPr id="42" name="text-66"/>
          <p:cNvSpPr txBox="1"/>
          <p:nvPr/>
        </p:nvSpPr>
        <p:spPr>
          <a:xfrm>
            <a:off x="8275320" y="4343400"/>
            <a:ext cx="3108960" cy="77724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≈₹148 cr</a:t>
            </a:r>
            <a:endParaRPr lang="en-US" sz="4000" dirty="0"/>
          </a:p>
        </p:txBody>
      </p:sp>
      <p:sp>
        <p:nvSpPr>
          <p:cNvPr id="43" name="text-67"/>
          <p:cNvSpPr txBox="1"/>
          <p:nvPr/>
        </p:nvSpPr>
        <p:spPr>
          <a:xfrm>
            <a:off x="8275320" y="5120640"/>
            <a:ext cx="3108960" cy="5486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a year at L'Oréal India's scale</a:t>
            </a:r>
            <a:endParaRPr lang="en-US" sz="1500" dirty="0"/>
          </a:p>
        </p:txBody>
      </p:sp>
      <p:sp>
        <p:nvSpPr>
          <p:cNvPr id="44" name="text-68"/>
          <p:cNvSpPr txBox="1"/>
          <p:nvPr/>
        </p:nvSpPr>
        <p:spPr>
          <a:xfrm>
            <a:off x="8275320" y="5715000"/>
            <a:ext cx="3108960" cy="320040"/>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Illustrative: 2.5% × ₹5,925 cr FY25 net sales</a:t>
            </a:r>
            <a:endParaRPr lang="en-US" sz="11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229600" cy="274320"/>
          </a:xfrm>
          <a:prstGeom prst="rect">
            <a:avLst/>
          </a:prstGeom>
          <a:noFill/>
          <a:ln/>
        </p:spPr>
        <p:txBody>
          <a:bodyPr wrap="square" lIns="0" tIns="0" rIns="0" bIns="0" rtlCol="0" anchor="t"/>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ROOT CAUSE</a:t>
            </a:r>
            <a:endParaRPr lang="en-US" sz="1100" dirty="0"/>
          </a:p>
        </p:txBody>
      </p:sp>
      <p:sp>
        <p:nvSpPr>
          <p:cNvPr id="3" name="Text 0"/>
          <p:cNvSpPr/>
          <p:nvPr>
            <p:ph idx="101" type="title" hasCustomPrompt="1"/>
          </p:nvPr>
        </p:nvSpPr>
        <p:spPr>
          <a:xfrm>
            <a:off x="548640" y="566928"/>
            <a:ext cx="11064240" cy="96012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Waste is a visibility and execution problem, not just a forecasting problem</a:t>
            </a:r>
            <a:endParaRPr lang="en-US" sz="3000" dirty="0"/>
          </a:p>
        </p:txBody>
      </p:sp>
      <p:sp>
        <p:nvSpPr>
          <p:cNvPr id="4" name="Text 0"/>
          <p:cNvSpPr/>
          <p:nvPr>
            <p:ph idx="102" type="body" hasCustomPrompt="1"/>
          </p:nvPr>
        </p:nvSpPr>
        <p:spPr>
          <a:xfrm>
            <a:off x="548640" y="6382512"/>
            <a:ext cx="9692640" cy="329184"/>
          </a:xfrm>
          <a:prstGeom prst="rect">
            <a:avLst/>
          </a:prstGeom>
          <a:noFill/>
          <a:ln/>
        </p:spPr>
        <p:txBody>
          <a:bodyPr wrap="square" lIns="0" tIns="0" rIns="0" bIns="0" rtlCol="0" anchor="t"/>
          <a:lstStyle/>
          <a:p>
            <a:pPr indent="0" marL="0">
              <a:buNone/>
            </a:pPr>
            <a:r>
              <a:rPr lang="en-US" sz="1000" dirty="0">
                <a:solidFill>
                  <a:schemeClr val="tx2"/>
                </a:solidFill>
                <a:latin typeface="Calibri" pitchFamily="34" charset="0"/>
                <a:ea typeface="Calibri" pitchFamily="34" charset="-122"/>
                <a:cs typeface="Calibri" pitchFamily="34" charset="-120"/>
              </a:rPr>
              <a:t>Sources: Dabur Q2 FY25 inventory correction (Sharekhan, 30 Oct 2024; Baroda Securities, 31 Oct 2024). Out-of-stock shopper response: Gruen, Corsten &amp; Bharadwaj, GMA/FMI/CIES 2002 (global, not India). Rep-influence ratings are our assessment.</a:t>
            </a:r>
            <a:endParaRPr lang="en-US" sz="1000" dirty="0"/>
          </a:p>
        </p:txBody>
      </p:sp>
      <p:sp>
        <p:nvSpPr>
          <p:cNvPr id="5" name="card-69"/>
          <p:cNvSpPr/>
          <p:nvPr/>
        </p:nvSpPr>
        <p:spPr>
          <a:xfrm>
            <a:off x="548640" y="1691640"/>
            <a:ext cx="2331720" cy="1463040"/>
          </a:xfrm>
          <a:prstGeom prst="roundRect">
            <a:avLst>
              <a:gd name="adj" fmla="val 5000"/>
            </a:avLst>
          </a:prstGeom>
          <a:solidFill>
            <a:schemeClr val="bg2"/>
          </a:solidFill>
          <a:ln w="12700">
            <a:solidFill>
              <a:schemeClr val="bg2"/>
            </a:solidFill>
            <a:prstDash val="solid"/>
          </a:ln>
        </p:spPr>
      </p:sp>
      <p:sp>
        <p:nvSpPr>
          <p:cNvPr id="6" name="text-70"/>
          <p:cNvSpPr txBox="1"/>
          <p:nvPr/>
        </p:nvSpPr>
        <p:spPr>
          <a:xfrm>
            <a:off x="713232" y="1828800"/>
            <a:ext cx="2011680" cy="32004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Demand forecasting</a:t>
            </a:r>
            <a:endParaRPr lang="en-US" sz="1400" dirty="0"/>
          </a:p>
        </p:txBody>
      </p:sp>
      <p:sp>
        <p:nvSpPr>
          <p:cNvPr id="7" name="text-71"/>
          <p:cNvSpPr txBox="1"/>
          <p:nvPr/>
        </p:nvSpPr>
        <p:spPr>
          <a:xfrm>
            <a:off x="713232" y="2148840"/>
            <a:ext cx="2011680" cy="64008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Central forecasts can't see outlet sell-out or batch age</a:t>
            </a:r>
            <a:endParaRPr lang="en-US" sz="1200" dirty="0"/>
          </a:p>
        </p:txBody>
      </p:sp>
      <p:sp>
        <p:nvSpPr>
          <p:cNvPr id="8" name="pill-72"/>
          <p:cNvSpPr/>
          <p:nvPr/>
        </p:nvSpPr>
        <p:spPr>
          <a:xfrm>
            <a:off x="713232" y="2770632"/>
            <a:ext cx="1691640" cy="274320"/>
          </a:xfrm>
          <a:prstGeom prst="roundRect">
            <a:avLst>
              <a:gd name="adj" fmla="val 50000"/>
            </a:avLst>
          </a:prstGeom>
          <a:solidFill>
            <a:schemeClr val="tx2"/>
          </a:solidFill>
          <a:ln w="12700">
            <a:solidFill>
              <a:schemeClr val="tx2"/>
            </a:solidFill>
            <a:prstDash val="solid"/>
          </a:ln>
        </p:spPr>
      </p:sp>
      <p:sp>
        <p:nvSpPr>
          <p:cNvPr id="9" name="text-73"/>
          <p:cNvSpPr txBox="1"/>
          <p:nvPr/>
        </p:nvSpPr>
        <p:spPr>
          <a:xfrm>
            <a:off x="713232" y="2770632"/>
            <a:ext cx="1691640" cy="274320"/>
          </a:xfrm>
          <a:prstGeom prst="rect">
            <a:avLst/>
          </a:prstGeom>
          <a:noFill/>
          <a:ln/>
        </p:spPr>
        <p:txBody>
          <a:bodyPr wrap="square" lIns="0" tIns="0" rIns="0" bIns="0" rtlCol="0" anchor="ctr"/>
          <a:lstStyle/>
          <a:p>
            <a:pPr algn="ctr" indent="0" marL="0">
              <a:buNone/>
            </a:pPr>
            <a:r>
              <a:rPr lang="en-US" sz="1000" b="1" dirty="0">
                <a:solidFill>
                  <a:schemeClr val="bg1"/>
                </a:solidFill>
                <a:latin typeface="Calibri" pitchFamily="34" charset="0"/>
                <a:ea typeface="Calibri" pitchFamily="34" charset="-122"/>
                <a:cs typeface="Calibri" pitchFamily="34" charset="-120"/>
              </a:rPr>
              <a:t>Rep influence: Low</a:t>
            </a:r>
            <a:endParaRPr lang="en-US" sz="1000" dirty="0"/>
          </a:p>
        </p:txBody>
      </p:sp>
      <p:sp>
        <p:nvSpPr>
          <p:cNvPr id="10" name="card-74"/>
          <p:cNvSpPr/>
          <p:nvPr/>
        </p:nvSpPr>
        <p:spPr>
          <a:xfrm>
            <a:off x="3035808" y="1691640"/>
            <a:ext cx="2331720" cy="1463040"/>
          </a:xfrm>
          <a:prstGeom prst="roundRect">
            <a:avLst>
              <a:gd name="adj" fmla="val 5000"/>
            </a:avLst>
          </a:prstGeom>
          <a:solidFill>
            <a:schemeClr val="bg2"/>
          </a:solidFill>
          <a:ln w="12700">
            <a:solidFill>
              <a:schemeClr val="bg2"/>
            </a:solidFill>
            <a:prstDash val="solid"/>
          </a:ln>
        </p:spPr>
      </p:sp>
      <p:sp>
        <p:nvSpPr>
          <p:cNvPr id="11" name="text-75"/>
          <p:cNvSpPr txBox="1"/>
          <p:nvPr/>
        </p:nvSpPr>
        <p:spPr>
          <a:xfrm>
            <a:off x="3200400" y="1828800"/>
            <a:ext cx="2011680" cy="32004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Distributor ordering</a:t>
            </a:r>
            <a:endParaRPr lang="en-US" sz="1400" dirty="0"/>
          </a:p>
        </p:txBody>
      </p:sp>
      <p:sp>
        <p:nvSpPr>
          <p:cNvPr id="12" name="text-76"/>
          <p:cNvSpPr txBox="1"/>
          <p:nvPr/>
        </p:nvSpPr>
        <p:spPr>
          <a:xfrm>
            <a:off x="3200400" y="2148840"/>
            <a:ext cx="2011680" cy="64008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Orders sized by habit, schemes and period-end loading</a:t>
            </a:r>
            <a:endParaRPr lang="en-US" sz="1200" dirty="0"/>
          </a:p>
        </p:txBody>
      </p:sp>
      <p:sp>
        <p:nvSpPr>
          <p:cNvPr id="13" name="pill-77"/>
          <p:cNvSpPr/>
          <p:nvPr/>
        </p:nvSpPr>
        <p:spPr>
          <a:xfrm>
            <a:off x="3200400" y="2770632"/>
            <a:ext cx="1691640" cy="274320"/>
          </a:xfrm>
          <a:prstGeom prst="roundRect">
            <a:avLst>
              <a:gd name="adj" fmla="val 50000"/>
            </a:avLst>
          </a:prstGeom>
          <a:solidFill>
            <a:schemeClr val="accent1"/>
          </a:solidFill>
          <a:ln w="12700">
            <a:solidFill>
              <a:schemeClr val="accent1"/>
            </a:solidFill>
            <a:prstDash val="solid"/>
          </a:ln>
        </p:spPr>
      </p:sp>
      <p:sp>
        <p:nvSpPr>
          <p:cNvPr id="14" name="text-78"/>
          <p:cNvSpPr txBox="1"/>
          <p:nvPr/>
        </p:nvSpPr>
        <p:spPr>
          <a:xfrm>
            <a:off x="3200400" y="2770632"/>
            <a:ext cx="1691640" cy="274320"/>
          </a:xfrm>
          <a:prstGeom prst="rect">
            <a:avLst/>
          </a:prstGeom>
          <a:noFill/>
          <a:ln/>
        </p:spPr>
        <p:txBody>
          <a:bodyPr wrap="square" lIns="0" tIns="0" rIns="0" bIns="0" rtlCol="0" anchor="ctr"/>
          <a:lstStyle/>
          <a:p>
            <a:pPr algn="ctr" indent="0" marL="0">
              <a:buNone/>
            </a:pPr>
            <a:r>
              <a:rPr lang="en-US" sz="1000" b="1" dirty="0">
                <a:solidFill>
                  <a:schemeClr val="bg1"/>
                </a:solidFill>
                <a:latin typeface="Calibri" pitchFamily="34" charset="0"/>
                <a:ea typeface="Calibri" pitchFamily="34" charset="-122"/>
                <a:cs typeface="Calibri" pitchFamily="34" charset="-120"/>
              </a:rPr>
              <a:t>Rep influence: High</a:t>
            </a:r>
            <a:endParaRPr lang="en-US" sz="1000" dirty="0"/>
          </a:p>
        </p:txBody>
      </p:sp>
      <p:sp>
        <p:nvSpPr>
          <p:cNvPr id="15" name="card-79"/>
          <p:cNvSpPr/>
          <p:nvPr/>
        </p:nvSpPr>
        <p:spPr>
          <a:xfrm>
            <a:off x="5522976" y="1691640"/>
            <a:ext cx="2331720" cy="1463040"/>
          </a:xfrm>
          <a:prstGeom prst="roundRect">
            <a:avLst>
              <a:gd name="adj" fmla="val 5000"/>
            </a:avLst>
          </a:prstGeom>
          <a:solidFill>
            <a:schemeClr val="bg2"/>
          </a:solidFill>
          <a:ln w="12700">
            <a:solidFill>
              <a:schemeClr val="bg2"/>
            </a:solidFill>
            <a:prstDash val="solid"/>
          </a:ln>
        </p:spPr>
      </p:sp>
      <p:sp>
        <p:nvSpPr>
          <p:cNvPr id="16" name="text-80"/>
          <p:cNvSpPr txBox="1"/>
          <p:nvPr/>
        </p:nvSpPr>
        <p:spPr>
          <a:xfrm>
            <a:off x="5687568" y="1828800"/>
            <a:ext cx="2011680" cy="32004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Retailer inventory</a:t>
            </a:r>
            <a:endParaRPr lang="en-US" sz="1400" dirty="0"/>
          </a:p>
        </p:txBody>
      </p:sp>
      <p:sp>
        <p:nvSpPr>
          <p:cNvPr id="17" name="text-81"/>
          <p:cNvSpPr txBox="1"/>
          <p:nvPr/>
        </p:nvSpPr>
        <p:spPr>
          <a:xfrm>
            <a:off x="5687568" y="2148840"/>
            <a:ext cx="2011680" cy="64008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Same range for every outlet; old batches hidden at the back</a:t>
            </a:r>
            <a:endParaRPr lang="en-US" sz="1200" dirty="0"/>
          </a:p>
        </p:txBody>
      </p:sp>
      <p:sp>
        <p:nvSpPr>
          <p:cNvPr id="18" name="pill-82"/>
          <p:cNvSpPr/>
          <p:nvPr/>
        </p:nvSpPr>
        <p:spPr>
          <a:xfrm>
            <a:off x="5687568" y="2770632"/>
            <a:ext cx="1691640" cy="274320"/>
          </a:xfrm>
          <a:prstGeom prst="roundRect">
            <a:avLst>
              <a:gd name="adj" fmla="val 50000"/>
            </a:avLst>
          </a:prstGeom>
          <a:solidFill>
            <a:schemeClr val="accent1"/>
          </a:solidFill>
          <a:ln w="12700">
            <a:solidFill>
              <a:schemeClr val="accent1"/>
            </a:solidFill>
            <a:prstDash val="solid"/>
          </a:ln>
        </p:spPr>
      </p:sp>
      <p:sp>
        <p:nvSpPr>
          <p:cNvPr id="19" name="text-83"/>
          <p:cNvSpPr txBox="1"/>
          <p:nvPr/>
        </p:nvSpPr>
        <p:spPr>
          <a:xfrm>
            <a:off x="5687568" y="2770632"/>
            <a:ext cx="1691640" cy="274320"/>
          </a:xfrm>
          <a:prstGeom prst="rect">
            <a:avLst/>
          </a:prstGeom>
          <a:noFill/>
          <a:ln/>
        </p:spPr>
        <p:txBody>
          <a:bodyPr wrap="square" lIns="0" tIns="0" rIns="0" bIns="0" rtlCol="0" anchor="ctr"/>
          <a:lstStyle/>
          <a:p>
            <a:pPr algn="ctr" indent="0" marL="0">
              <a:buNone/>
            </a:pPr>
            <a:r>
              <a:rPr lang="en-US" sz="1000" b="1" dirty="0">
                <a:solidFill>
                  <a:schemeClr val="bg1"/>
                </a:solidFill>
                <a:latin typeface="Calibri" pitchFamily="34" charset="0"/>
                <a:ea typeface="Calibri" pitchFamily="34" charset="-122"/>
                <a:cs typeface="Calibri" pitchFamily="34" charset="-120"/>
              </a:rPr>
              <a:t>Rep influence: High</a:t>
            </a:r>
            <a:endParaRPr lang="en-US" sz="1000" dirty="0"/>
          </a:p>
        </p:txBody>
      </p:sp>
      <p:sp>
        <p:nvSpPr>
          <p:cNvPr id="20" name="card-84"/>
          <p:cNvSpPr/>
          <p:nvPr/>
        </p:nvSpPr>
        <p:spPr>
          <a:xfrm>
            <a:off x="548640" y="3291840"/>
            <a:ext cx="2331720" cy="1463040"/>
          </a:xfrm>
          <a:prstGeom prst="roundRect">
            <a:avLst>
              <a:gd name="adj" fmla="val 5000"/>
            </a:avLst>
          </a:prstGeom>
          <a:solidFill>
            <a:schemeClr val="bg2"/>
          </a:solidFill>
          <a:ln w="12700">
            <a:solidFill>
              <a:schemeClr val="bg2"/>
            </a:solidFill>
            <a:prstDash val="solid"/>
          </a:ln>
        </p:spPr>
      </p:sp>
      <p:sp>
        <p:nvSpPr>
          <p:cNvPr id="21" name="text-85"/>
          <p:cNvSpPr txBox="1"/>
          <p:nvPr/>
        </p:nvSpPr>
        <p:spPr>
          <a:xfrm>
            <a:off x="713232" y="3429000"/>
            <a:ext cx="2011680" cy="32004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Visibility</a:t>
            </a:r>
            <a:endParaRPr lang="en-US" sz="1400" dirty="0"/>
          </a:p>
        </p:txBody>
      </p:sp>
      <p:sp>
        <p:nvSpPr>
          <p:cNvPr id="22" name="text-86"/>
          <p:cNvSpPr txBox="1"/>
          <p:nvPr/>
        </p:nvSpPr>
        <p:spPr>
          <a:xfrm>
            <a:off x="713232" y="3749040"/>
            <a:ext cx="2011680" cy="64008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No batch-age or sell-out view at the outlet</a:t>
            </a:r>
            <a:endParaRPr lang="en-US" sz="1200" dirty="0"/>
          </a:p>
        </p:txBody>
      </p:sp>
      <p:sp>
        <p:nvSpPr>
          <p:cNvPr id="23" name="pill-87"/>
          <p:cNvSpPr/>
          <p:nvPr/>
        </p:nvSpPr>
        <p:spPr>
          <a:xfrm>
            <a:off x="713232" y="4370832"/>
            <a:ext cx="1691640" cy="274320"/>
          </a:xfrm>
          <a:prstGeom prst="roundRect">
            <a:avLst>
              <a:gd name="adj" fmla="val 50000"/>
            </a:avLst>
          </a:prstGeom>
          <a:solidFill>
            <a:schemeClr val="accent2"/>
          </a:solidFill>
          <a:ln w="12700">
            <a:solidFill>
              <a:schemeClr val="accent2"/>
            </a:solidFill>
            <a:prstDash val="solid"/>
          </a:ln>
        </p:spPr>
      </p:sp>
      <p:sp>
        <p:nvSpPr>
          <p:cNvPr id="24" name="text-88"/>
          <p:cNvSpPr txBox="1"/>
          <p:nvPr/>
        </p:nvSpPr>
        <p:spPr>
          <a:xfrm>
            <a:off x="713232" y="4370832"/>
            <a:ext cx="1691640" cy="274320"/>
          </a:xfrm>
          <a:prstGeom prst="rect">
            <a:avLst/>
          </a:prstGeom>
          <a:noFill/>
          <a:ln/>
        </p:spPr>
        <p:txBody>
          <a:bodyPr wrap="square" lIns="0" tIns="0" rIns="0" bIns="0" rtlCol="0" anchor="ctr"/>
          <a:lstStyle/>
          <a:p>
            <a:pPr algn="ctr" indent="0" marL="0">
              <a:buNone/>
            </a:pPr>
            <a:r>
              <a:rPr lang="en-US" sz="1000" b="1" dirty="0">
                <a:solidFill>
                  <a:schemeClr val="bg1"/>
                </a:solidFill>
                <a:latin typeface="Calibri" pitchFamily="34" charset="0"/>
                <a:ea typeface="Calibri" pitchFamily="34" charset="-122"/>
                <a:cs typeface="Calibri" pitchFamily="34" charset="-120"/>
              </a:rPr>
              <a:t>Rep influence: Medium</a:t>
            </a:r>
            <a:endParaRPr lang="en-US" sz="1000" dirty="0"/>
          </a:p>
        </p:txBody>
      </p:sp>
      <p:sp>
        <p:nvSpPr>
          <p:cNvPr id="25" name="card-89"/>
          <p:cNvSpPr/>
          <p:nvPr/>
        </p:nvSpPr>
        <p:spPr>
          <a:xfrm>
            <a:off x="3035808" y="3291840"/>
            <a:ext cx="2331720" cy="1463040"/>
          </a:xfrm>
          <a:prstGeom prst="roundRect">
            <a:avLst>
              <a:gd name="adj" fmla="val 5000"/>
            </a:avLst>
          </a:prstGeom>
          <a:solidFill>
            <a:schemeClr val="bg2"/>
          </a:solidFill>
          <a:ln w="12700">
            <a:solidFill>
              <a:schemeClr val="bg2"/>
            </a:solidFill>
            <a:prstDash val="solid"/>
          </a:ln>
        </p:spPr>
      </p:sp>
      <p:sp>
        <p:nvSpPr>
          <p:cNvPr id="26" name="text-90"/>
          <p:cNvSpPr txBox="1"/>
          <p:nvPr/>
        </p:nvSpPr>
        <p:spPr>
          <a:xfrm>
            <a:off x="3200400" y="3429000"/>
            <a:ext cx="2011680" cy="32004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Product velocity</a:t>
            </a:r>
            <a:endParaRPr lang="en-US" sz="1400" dirty="0"/>
          </a:p>
        </p:txBody>
      </p:sp>
      <p:sp>
        <p:nvSpPr>
          <p:cNvPr id="27" name="text-91"/>
          <p:cNvSpPr txBox="1"/>
          <p:nvPr/>
        </p:nvSpPr>
        <p:spPr>
          <a:xfrm>
            <a:off x="3200400" y="3749040"/>
            <a:ext cx="2011680" cy="64008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Quick commerce and seasons shift demand faster than norms</a:t>
            </a:r>
            <a:endParaRPr lang="en-US" sz="1200" dirty="0"/>
          </a:p>
        </p:txBody>
      </p:sp>
      <p:sp>
        <p:nvSpPr>
          <p:cNvPr id="28" name="pill-92"/>
          <p:cNvSpPr/>
          <p:nvPr/>
        </p:nvSpPr>
        <p:spPr>
          <a:xfrm>
            <a:off x="3200400" y="4370832"/>
            <a:ext cx="1691640" cy="274320"/>
          </a:xfrm>
          <a:prstGeom prst="roundRect">
            <a:avLst>
              <a:gd name="adj" fmla="val 50000"/>
            </a:avLst>
          </a:prstGeom>
          <a:solidFill>
            <a:schemeClr val="accent2"/>
          </a:solidFill>
          <a:ln w="12700">
            <a:solidFill>
              <a:schemeClr val="accent2"/>
            </a:solidFill>
            <a:prstDash val="solid"/>
          </a:ln>
        </p:spPr>
      </p:sp>
      <p:sp>
        <p:nvSpPr>
          <p:cNvPr id="29" name="text-93"/>
          <p:cNvSpPr txBox="1"/>
          <p:nvPr/>
        </p:nvSpPr>
        <p:spPr>
          <a:xfrm>
            <a:off x="3200400" y="4370832"/>
            <a:ext cx="1691640" cy="274320"/>
          </a:xfrm>
          <a:prstGeom prst="rect">
            <a:avLst/>
          </a:prstGeom>
          <a:noFill/>
          <a:ln/>
        </p:spPr>
        <p:txBody>
          <a:bodyPr wrap="square" lIns="0" tIns="0" rIns="0" bIns="0" rtlCol="0" anchor="ctr"/>
          <a:lstStyle/>
          <a:p>
            <a:pPr algn="ctr" indent="0" marL="0">
              <a:buNone/>
            </a:pPr>
            <a:r>
              <a:rPr lang="en-US" sz="1000" b="1" dirty="0">
                <a:solidFill>
                  <a:schemeClr val="bg1"/>
                </a:solidFill>
                <a:latin typeface="Calibri" pitchFamily="34" charset="0"/>
                <a:ea typeface="Calibri" pitchFamily="34" charset="-122"/>
                <a:cs typeface="Calibri" pitchFamily="34" charset="-120"/>
              </a:rPr>
              <a:t>Rep influence: Medium</a:t>
            </a:r>
            <a:endParaRPr lang="en-US" sz="1000" dirty="0"/>
          </a:p>
        </p:txBody>
      </p:sp>
      <p:sp>
        <p:nvSpPr>
          <p:cNvPr id="30" name="card-94"/>
          <p:cNvSpPr/>
          <p:nvPr/>
        </p:nvSpPr>
        <p:spPr>
          <a:xfrm>
            <a:off x="5522976" y="3291840"/>
            <a:ext cx="2331720" cy="1463040"/>
          </a:xfrm>
          <a:prstGeom prst="roundRect">
            <a:avLst>
              <a:gd name="adj" fmla="val 5000"/>
            </a:avLst>
          </a:prstGeom>
          <a:solidFill>
            <a:schemeClr val="bg2"/>
          </a:solidFill>
          <a:ln w="12700">
            <a:solidFill>
              <a:schemeClr val="bg2"/>
            </a:solidFill>
            <a:prstDash val="solid"/>
          </a:ln>
        </p:spPr>
      </p:sp>
      <p:sp>
        <p:nvSpPr>
          <p:cNvPr id="31" name="text-95"/>
          <p:cNvSpPr txBox="1"/>
          <p:nvPr/>
        </p:nvSpPr>
        <p:spPr>
          <a:xfrm>
            <a:off x="5687568" y="3429000"/>
            <a:ext cx="2011680" cy="32004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Field execution</a:t>
            </a:r>
            <a:endParaRPr lang="en-US" sz="1400" dirty="0"/>
          </a:p>
        </p:txBody>
      </p:sp>
      <p:sp>
        <p:nvSpPr>
          <p:cNvPr id="32" name="text-96"/>
          <p:cNvSpPr txBox="1"/>
          <p:nvPr/>
        </p:nvSpPr>
        <p:spPr>
          <a:xfrm>
            <a:off x="5687568" y="3749040"/>
            <a:ext cx="2011680" cy="64008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No trigger, no sanctioned actions, sell-in-only targets</a:t>
            </a:r>
            <a:endParaRPr lang="en-US" sz="1200" dirty="0"/>
          </a:p>
        </p:txBody>
      </p:sp>
      <p:sp>
        <p:nvSpPr>
          <p:cNvPr id="33" name="pill-97"/>
          <p:cNvSpPr/>
          <p:nvPr/>
        </p:nvSpPr>
        <p:spPr>
          <a:xfrm>
            <a:off x="5687568" y="4370832"/>
            <a:ext cx="1691640" cy="274320"/>
          </a:xfrm>
          <a:prstGeom prst="roundRect">
            <a:avLst>
              <a:gd name="adj" fmla="val 50000"/>
            </a:avLst>
          </a:prstGeom>
          <a:solidFill>
            <a:schemeClr val="accent1"/>
          </a:solidFill>
          <a:ln w="12700">
            <a:solidFill>
              <a:schemeClr val="accent1"/>
            </a:solidFill>
            <a:prstDash val="solid"/>
          </a:ln>
        </p:spPr>
      </p:sp>
      <p:sp>
        <p:nvSpPr>
          <p:cNvPr id="34" name="text-98"/>
          <p:cNvSpPr txBox="1"/>
          <p:nvPr/>
        </p:nvSpPr>
        <p:spPr>
          <a:xfrm>
            <a:off x="5687568" y="4370832"/>
            <a:ext cx="1691640" cy="274320"/>
          </a:xfrm>
          <a:prstGeom prst="rect">
            <a:avLst/>
          </a:prstGeom>
          <a:noFill/>
          <a:ln/>
        </p:spPr>
        <p:txBody>
          <a:bodyPr wrap="square" lIns="0" tIns="0" rIns="0" bIns="0" rtlCol="0" anchor="ctr"/>
          <a:lstStyle/>
          <a:p>
            <a:pPr algn="ctr" indent="0" marL="0">
              <a:buNone/>
            </a:pPr>
            <a:r>
              <a:rPr lang="en-US" sz="1000" b="1" dirty="0">
                <a:solidFill>
                  <a:schemeClr val="bg1"/>
                </a:solidFill>
                <a:latin typeface="Calibri" pitchFamily="34" charset="0"/>
                <a:ea typeface="Calibri" pitchFamily="34" charset="-122"/>
                <a:cs typeface="Calibri" pitchFamily="34" charset="-120"/>
              </a:rPr>
              <a:t>Rep influence: High</a:t>
            </a:r>
            <a:endParaRPr lang="en-US" sz="1000" dirty="0"/>
          </a:p>
        </p:txBody>
      </p:sp>
      <p:sp>
        <p:nvSpPr>
          <p:cNvPr id="35" name="card-99"/>
          <p:cNvSpPr/>
          <p:nvPr/>
        </p:nvSpPr>
        <p:spPr>
          <a:xfrm>
            <a:off x="8183880" y="1691640"/>
            <a:ext cx="3456432" cy="3063240"/>
          </a:xfrm>
          <a:prstGeom prst="roundRect">
            <a:avLst>
              <a:gd name="adj" fmla="val 2388"/>
            </a:avLst>
          </a:prstGeom>
          <a:solidFill>
            <a:srgbClr val="F7E4E1"/>
          </a:solidFill>
          <a:ln w="12700">
            <a:solidFill>
              <a:srgbClr val="F7E4E1"/>
            </a:solidFill>
            <a:prstDash val="solid"/>
          </a:ln>
        </p:spPr>
      </p:sp>
      <p:sp>
        <p:nvSpPr>
          <p:cNvPr id="36" name="text-100"/>
          <p:cNvSpPr txBox="1"/>
          <p:nvPr/>
        </p:nvSpPr>
        <p:spPr>
          <a:xfrm>
            <a:off x="8366760" y="1828800"/>
            <a:ext cx="3108960" cy="320040"/>
          </a:xfrm>
          <a:prstGeom prst="rect">
            <a:avLst/>
          </a:prstGeom>
          <a:noFill/>
          <a:ln/>
        </p:spPr>
        <p:txBody>
          <a:bodyPr wrap="square" lIns="0" tIns="0" rIns="0" bIns="0" rtlCol="0" anchor="t"/>
          <a:lstStyle/>
          <a:p>
            <a:pPr indent="0" marL="0">
              <a:buNone/>
            </a:pPr>
            <a:r>
              <a:rPr lang="en-US" sz="1500" b="1" dirty="0">
                <a:solidFill>
                  <a:schemeClr val="accent5"/>
                </a:solidFill>
                <a:latin typeface="Calibri" pitchFamily="34" charset="0"/>
                <a:ea typeface="Calibri" pitchFamily="34" charset="-122"/>
                <a:cs typeface="Calibri" pitchFamily="34" charset="-120"/>
              </a:rPr>
              <a:t>Why "just order less" fails</a:t>
            </a:r>
            <a:endParaRPr lang="en-US" sz="1500" dirty="0"/>
          </a:p>
        </p:txBody>
      </p:sp>
      <p:sp>
        <p:nvSpPr>
          <p:cNvPr id="37" name="text-101"/>
          <p:cNvSpPr txBox="1"/>
          <p:nvPr/>
        </p:nvSpPr>
        <p:spPr>
          <a:xfrm>
            <a:off x="8366760" y="2194560"/>
            <a:ext cx="3108960" cy="2468880"/>
          </a:xfrm>
          <a:prstGeom prst="rect">
            <a:avLst/>
          </a:prstGeom>
          <a:noFill/>
          <a:ln/>
        </p:spPr>
        <p:txBody>
          <a:bodyPr wrap="square" lIns="0" tIns="0" rIns="0" bIns="0" rtlCol="0" anchor="t"/>
          <a:lstStyle/>
          <a:p>
            <a:pPr indent="0" marL="0">
              <a:buNone/>
            </a:pPr>
            <a:r>
              <a:rPr lang="en-US" sz="2200" b="1" dirty="0">
                <a:solidFill>
                  <a:schemeClr val="accent5"/>
                </a:solidFill>
                <a:latin typeface="Calibri" pitchFamily="34" charset="0"/>
                <a:ea typeface="Calibri" pitchFamily="34" charset="-122"/>
                <a:cs typeface="Calibri" pitchFamily="34" charset="-120"/>
              </a:rPr>
              <a:t>30 → 21 days</a:t>
            </a:r>
            <a:endParaRPr lang="en-US" sz="1400" dirty="0"/>
          </a:p>
          <a:p>
            <a:pPr indent="0" marL="0">
              <a:buNone/>
            </a:pPr>
            <a:r>
              <a:rPr lang="en-US" sz="1200" dirty="0">
                <a:solidFill>
                  <a:schemeClr val="tx1"/>
                </a:solidFill>
                <a:latin typeface="Calibri" pitchFamily="34" charset="0"/>
                <a:ea typeface="Calibri" pitchFamily="34" charset="-122"/>
                <a:cs typeface="Calibri" pitchFamily="34" charset="-120"/>
              </a:rPr>
              <a:t>Dabur halted primary sales for 7–8 days to cut distributor stock, and guided to a revenue decline (Q2 FY25).</a:t>
            </a:r>
            <a:endParaRPr lang="en-US" sz="1400" dirty="0"/>
          </a:p>
          <a:p>
            <a:pPr indent="0" marL="0">
              <a:buNone/>
            </a:pPr>
            <a:r>
              <a:rPr lang="en-US" sz="600" dirty="0">
                <a:solidFill>
                  <a:schemeClr val="tx1"/>
                </a:solidFill>
                <a:latin typeface="Calibri" pitchFamily="34" charset="0"/>
                <a:ea typeface="Calibri" pitchFamily="34" charset="-122"/>
                <a:cs typeface="Calibri" pitchFamily="34" charset="-120"/>
              </a:rPr>
              <a:t> </a:t>
            </a:r>
            <a:endParaRPr lang="en-US" sz="1400" dirty="0"/>
          </a:p>
          <a:p>
            <a:pPr indent="0" marL="0">
              <a:buNone/>
            </a:pPr>
            <a:r>
              <a:rPr lang="en-US" sz="2200" b="1" dirty="0">
                <a:solidFill>
                  <a:schemeClr val="accent5"/>
                </a:solidFill>
                <a:latin typeface="Cambria" pitchFamily="34" charset="0"/>
                <a:ea typeface="Cambria" pitchFamily="34" charset="-122"/>
                <a:cs typeface="Cambria" pitchFamily="34" charset="-120"/>
              </a:rPr>
              <a:t>≈1 in 3</a:t>
            </a:r>
            <a:endParaRPr lang="en-US" sz="1400" dirty="0"/>
          </a:p>
          <a:p>
            <a:pPr indent="0" marL="0">
              <a:buNone/>
            </a:pPr>
            <a:r>
              <a:rPr lang="en-US" sz="1200" dirty="0">
                <a:solidFill>
                  <a:schemeClr val="tx1"/>
                </a:solidFill>
                <a:latin typeface="Calibri" pitchFamily="34" charset="0"/>
                <a:ea typeface="Calibri" pitchFamily="34" charset="-122"/>
                <a:cs typeface="Calibri" pitchFamily="34" charset="-120"/>
              </a:rPr>
              <a:t>shoppers facing a stock-out switch brand or don't buy at all (global study).</a:t>
            </a:r>
            <a:endParaRPr lang="en-US" sz="1400" dirty="0"/>
          </a:p>
        </p:txBody>
      </p:sp>
      <p:sp>
        <p:nvSpPr>
          <p:cNvPr id="38" name="card-102"/>
          <p:cNvSpPr/>
          <p:nvPr/>
        </p:nvSpPr>
        <p:spPr>
          <a:xfrm>
            <a:off x="548640" y="4983480"/>
            <a:ext cx="11091672" cy="1188720"/>
          </a:xfrm>
          <a:prstGeom prst="roundRect">
            <a:avLst>
              <a:gd name="adj" fmla="val 6154"/>
            </a:avLst>
          </a:prstGeom>
          <a:solidFill>
            <a:schemeClr val="accent1"/>
          </a:solidFill>
          <a:ln w="12700">
            <a:solidFill>
              <a:schemeClr val="accent1"/>
            </a:solidFill>
            <a:prstDash val="solid"/>
          </a:ln>
        </p:spPr>
      </p:sp>
      <p:sp>
        <p:nvSpPr>
          <p:cNvPr id="39" name="text-103"/>
          <p:cNvSpPr txBox="1"/>
          <p:nvPr/>
        </p:nvSpPr>
        <p:spPr>
          <a:xfrm>
            <a:off x="822960" y="5074920"/>
            <a:ext cx="10515600" cy="1005840"/>
          </a:xfrm>
          <a:prstGeom prst="rect">
            <a:avLst/>
          </a:prstGeom>
          <a:noFill/>
          <a:ln/>
        </p:spPr>
        <p:txBody>
          <a:bodyPr wrap="square" lIns="0" tIns="0" rIns="0" bIns="0" rtlCol="0" anchor="ctr"/>
          <a:lstStyle/>
          <a:p>
            <a:pPr indent="0" marL="0">
              <a:buNone/>
            </a:pPr>
            <a:r>
              <a:rPr lang="en-US" sz="1600" b="1" dirty="0">
                <a:solidFill>
                  <a:schemeClr val="accent2"/>
                </a:solidFill>
                <a:latin typeface="Calibri" pitchFamily="34" charset="0"/>
                <a:ea typeface="Calibri" pitchFamily="34" charset="-122"/>
                <a:cs typeface="Calibri" pitchFamily="34" charset="-120"/>
              </a:rPr>
              <a:t>Key insight  </a:t>
            </a:r>
            <a:pPr indent="0" marL="0">
              <a:buNone/>
            </a:pPr>
            <a:r>
              <a:rPr lang="en-US" sz="1600" dirty="0">
                <a:solidFill>
                  <a:schemeClr val="bg1"/>
                </a:solidFill>
                <a:latin typeface="Calibri" pitchFamily="34" charset="0"/>
                <a:ea typeface="Calibri" pitchFamily="34" charset="-122"/>
                <a:cs typeface="Calibri" pitchFamily="34" charset="-120"/>
              </a:rPr>
              <a:t>Waste is decided when the order is taken and discovered when the return arrives. In between, the rep is in the shop many times, but nothing in the visit asks them to look, tells them what they may do, or rewards them for doing it.</a:t>
            </a:r>
            <a:endParaRPr lang="en-US" sz="16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229600" cy="274320"/>
          </a:xfrm>
          <a:prstGeom prst="rect">
            <a:avLst/>
          </a:prstGeom>
          <a:noFill/>
          <a:ln/>
        </p:spPr>
        <p:txBody>
          <a:bodyPr wrap="square" lIns="0" tIns="0" rIns="0" bIns="0" rtlCol="0" anchor="t"/>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OUR STRATEGIC SOLUTION</a:t>
            </a:r>
            <a:endParaRPr lang="en-US" sz="1100" dirty="0"/>
          </a:p>
        </p:txBody>
      </p:sp>
      <p:sp>
        <p:nvSpPr>
          <p:cNvPr id="3" name="Text 0"/>
          <p:cNvSpPr/>
          <p:nvPr>
            <p:ph idx="101" type="title" hasCustomPrompt="1"/>
          </p:nvPr>
        </p:nvSpPr>
        <p:spPr>
          <a:xfrm>
            <a:off x="548640" y="566928"/>
            <a:ext cx="11064240" cy="96012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SMARTSELL turns every visit into early detection and the right action</a:t>
            </a:r>
            <a:endParaRPr lang="en-US" sz="3000" dirty="0"/>
          </a:p>
        </p:txBody>
      </p:sp>
      <p:sp>
        <p:nvSpPr>
          <p:cNvPr id="4" name="Text 0"/>
          <p:cNvSpPr/>
          <p:nvPr>
            <p:ph idx="102" type="body" hasCustomPrompt="1"/>
          </p:nvPr>
        </p:nvSpPr>
        <p:spPr>
          <a:xfrm>
            <a:off x="548640" y="6382512"/>
            <a:ext cx="9692640" cy="329184"/>
          </a:xfrm>
          <a:prstGeom prst="rect">
            <a:avLst/>
          </a:prstGeom>
          <a:noFill/>
          <a:ln/>
        </p:spPr>
        <p:txBody>
          <a:bodyPr wrap="square" lIns="0" tIns="0" rIns="0" bIns="0" rtlCol="0" anchor="t"/>
          <a:lstStyle/>
          <a:p>
            <a:pPr indent="0" marL="0">
              <a:buNone/>
            </a:pPr>
            <a:r>
              <a:rPr lang="en-US" sz="1000" dirty="0">
                <a:solidFill>
                  <a:schemeClr val="tx2"/>
                </a:solidFill>
                <a:latin typeface="Calibri" pitchFamily="34" charset="0"/>
                <a:ea typeface="Calibri" pitchFamily="34" charset="-122"/>
                <a:cs typeface="Calibri" pitchFamily="34" charset="-120"/>
              </a:rPr>
              <a:t>Design principle: a layer on L'Oréal's existing SFA/DMS, not a replacement. Rules-based and explainable; machine learning only where it earns its place (phase 3).</a:t>
            </a:r>
            <a:endParaRPr lang="en-US" sz="1000" dirty="0"/>
          </a:p>
        </p:txBody>
      </p:sp>
      <p:sp>
        <p:nvSpPr>
          <p:cNvPr id="5" name="card-104"/>
          <p:cNvSpPr/>
          <p:nvPr/>
        </p:nvSpPr>
        <p:spPr>
          <a:xfrm>
            <a:off x="548640" y="1691640"/>
            <a:ext cx="2240280" cy="3657600"/>
          </a:xfrm>
          <a:prstGeom prst="roundRect">
            <a:avLst>
              <a:gd name="adj" fmla="val 3265"/>
            </a:avLst>
          </a:prstGeom>
          <a:solidFill>
            <a:schemeClr val="bg2"/>
          </a:solidFill>
          <a:ln w="12700">
            <a:solidFill>
              <a:schemeClr val="bg2"/>
            </a:solidFill>
            <a:prstDash val="solid"/>
          </a:ln>
        </p:spPr>
      </p:sp>
      <p:sp>
        <p:nvSpPr>
          <p:cNvPr id="6" name="text-105"/>
          <p:cNvSpPr txBox="1"/>
          <p:nvPr/>
        </p:nvSpPr>
        <p:spPr>
          <a:xfrm>
            <a:off x="731520" y="1828800"/>
            <a:ext cx="1920240" cy="274320"/>
          </a:xfrm>
          <a:prstGeom prst="rect">
            <a:avLst/>
          </a:prstGeom>
          <a:noFill/>
          <a:ln/>
        </p:spPr>
        <p:txBody>
          <a:bodyPr wrap="square" lIns="0" tIns="0" rIns="0" bIns="0" rtlCol="0" anchor="t"/>
          <a:lstStyle/>
          <a:p>
            <a:pPr indent="0" marL="0">
              <a:buNone/>
            </a:pPr>
            <a:r>
              <a:rPr lang="en-US" sz="1100" b="1" spc="200" kern="0" dirty="0">
                <a:solidFill>
                  <a:schemeClr val="tx2"/>
                </a:solidFill>
                <a:latin typeface="Calibri" pitchFamily="34" charset="0"/>
                <a:ea typeface="Calibri" pitchFamily="34" charset="-122"/>
                <a:cs typeface="Calibri" pitchFamily="34" charset="-120"/>
              </a:rPr>
              <a:t>INPUTS</a:t>
            </a:r>
            <a:endParaRPr lang="en-US" sz="1100" dirty="0"/>
          </a:p>
        </p:txBody>
      </p:sp>
      <p:sp>
        <p:nvSpPr>
          <p:cNvPr id="7" name="text-106"/>
          <p:cNvSpPr txBox="1"/>
          <p:nvPr/>
        </p:nvSpPr>
        <p:spPr>
          <a:xfrm>
            <a:off x="731520" y="2194560"/>
            <a:ext cx="1920240" cy="30175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chemeClr val="tx1"/>
                </a:solidFill>
                <a:latin typeface="Calibri" pitchFamily="34" charset="0"/>
                <a:ea typeface="Calibri" pitchFamily="34" charset="-122"/>
                <a:cs typeface="Calibri" pitchFamily="34" charset="-120"/>
              </a:rPr>
              <a:t>Distributor DMS: stock and invoices</a:t>
            </a:r>
            <a:endParaRPr lang="en-US" sz="1300" dirty="0"/>
          </a:p>
          <a:p>
            <a:pPr marL="177800" indent="-177800">
              <a:spcAft>
                <a:spcPts val="800"/>
              </a:spcAft>
              <a:buSzPct val="100000"/>
              <a:buChar char="•"/>
            </a:pPr>
            <a:r>
              <a:rPr lang="en-US" sz="1300" dirty="0">
                <a:solidFill>
                  <a:schemeClr val="tx1"/>
                </a:solidFill>
                <a:latin typeface="Calibri" pitchFamily="34" charset="0"/>
                <a:ea typeface="Calibri" pitchFamily="34" charset="-122"/>
                <a:cs typeface="Calibri" pitchFamily="34" charset="-120"/>
              </a:rPr>
              <a:t>Rep Smart Count + barcode and batch scan</a:t>
            </a:r>
            <a:endParaRPr lang="en-US" sz="1300" dirty="0"/>
          </a:p>
          <a:p>
            <a:pPr marL="177800" indent="-177800">
              <a:spcAft>
                <a:spcPts val="800"/>
              </a:spcAft>
              <a:buSzPct val="100000"/>
              <a:buChar char="•"/>
            </a:pPr>
            <a:r>
              <a:rPr lang="en-US" sz="1300" dirty="0">
                <a:solidFill>
                  <a:schemeClr val="tx1"/>
                </a:solidFill>
                <a:latin typeface="Calibri" pitchFamily="34" charset="0"/>
                <a:ea typeface="Calibri" pitchFamily="34" charset="-122"/>
                <a:cs typeface="Calibri" pitchFamily="34" charset="-120"/>
              </a:rPr>
              <a:t>12 simple field signals</a:t>
            </a:r>
            <a:endParaRPr lang="en-US" sz="1300" dirty="0"/>
          </a:p>
          <a:p>
            <a:pPr marL="177800" indent="-177800">
              <a:spcAft>
                <a:spcPts val="800"/>
              </a:spcAft>
              <a:buSzPct val="100000"/>
              <a:buChar char="•"/>
            </a:pPr>
            <a:r>
              <a:rPr lang="en-US" sz="1300" dirty="0">
                <a:solidFill>
                  <a:schemeClr val="tx1"/>
                </a:solidFill>
                <a:latin typeface="Calibri" pitchFamily="34" charset="0"/>
                <a:ea typeface="Calibri" pitchFamily="34" charset="-122"/>
                <a:cs typeface="Calibri" pitchFamily="34" charset="-120"/>
              </a:rPr>
              <a:t>Online / quick-commerce trend</a:t>
            </a:r>
            <a:endParaRPr lang="en-US" sz="1300" dirty="0"/>
          </a:p>
        </p:txBody>
      </p:sp>
      <p:sp>
        <p:nvSpPr>
          <p:cNvPr id="8" name="card-107"/>
          <p:cNvSpPr/>
          <p:nvPr/>
        </p:nvSpPr>
        <p:spPr>
          <a:xfrm>
            <a:off x="3017520" y="1691640"/>
            <a:ext cx="1664208" cy="3657600"/>
          </a:xfrm>
          <a:prstGeom prst="roundRect">
            <a:avLst>
              <a:gd name="adj" fmla="val 4396"/>
            </a:avLst>
          </a:prstGeom>
          <a:solidFill>
            <a:srgbClr val="EFE7E0"/>
          </a:solidFill>
          <a:ln w="12700">
            <a:solidFill>
              <a:srgbClr val="EFE7E0"/>
            </a:solidFill>
            <a:prstDash val="solid"/>
          </a:ln>
        </p:spPr>
      </p:sp>
      <p:sp>
        <p:nvSpPr>
          <p:cNvPr id="9" name="icon-circle-108"/>
          <p:cNvSpPr/>
          <p:nvPr/>
        </p:nvSpPr>
        <p:spPr>
          <a:xfrm>
            <a:off x="3529584" y="1874520"/>
            <a:ext cx="640080" cy="640080"/>
          </a:xfrm>
          <a:prstGeom prst="ellipse">
            <a:avLst/>
          </a:prstGeom>
          <a:solidFill>
            <a:schemeClr val="accent1"/>
          </a:solidFill>
          <a:ln w="12700">
            <a:solidFill>
              <a:schemeClr val="accent1"/>
            </a:solidFill>
            <a:prstDash val="solid"/>
          </a:ln>
        </p:spPr>
      </p:sp>
      <p:pic>
        <p:nvPicPr>
          <p:cNvPr id="10" name="icon-109" descr="preencoded.png">    </p:cNvPr>
          <p:cNvPicPr>
            <a:picLocks noChangeAspect="1"/>
          </p:cNvPicPr>
          <p:nvPr/>
        </p:nvPicPr>
        <p:blipFill>
          <a:blip r:embed="rId1"/>
          <a:stretch>
            <a:fillRect/>
          </a:stretch>
        </p:blipFill>
        <p:spPr>
          <a:xfrm>
            <a:off x="3689604" y="2034540"/>
            <a:ext cx="320040" cy="320040"/>
          </a:xfrm>
          <a:prstGeom prst="rect">
            <a:avLst/>
          </a:prstGeom>
        </p:spPr>
      </p:pic>
      <p:sp>
        <p:nvSpPr>
          <p:cNvPr id="11" name="text-110"/>
          <p:cNvSpPr txBox="1"/>
          <p:nvPr/>
        </p:nvSpPr>
        <p:spPr>
          <a:xfrm>
            <a:off x="3154680" y="2697480"/>
            <a:ext cx="1371600" cy="274320"/>
          </a:xfrm>
          <a:prstGeom prst="rect">
            <a:avLst/>
          </a:prstGeom>
          <a:noFill/>
          <a:ln/>
        </p:spPr>
        <p:txBody>
          <a:bodyPr wrap="square" lIns="0" tIns="0" rIns="0" bIns="0" rtlCol="0" anchor="t"/>
          <a:lstStyle/>
          <a:p>
            <a:pPr algn="ctr" indent="0" marL="0">
              <a:buNone/>
            </a:pPr>
            <a:r>
              <a:rPr lang="en-US" sz="1100" b="1" dirty="0">
                <a:solidFill>
                  <a:schemeClr val="accent2"/>
                </a:solidFill>
                <a:latin typeface="Calibri" pitchFamily="34" charset="0"/>
                <a:ea typeface="Calibri" pitchFamily="34" charset="-122"/>
                <a:cs typeface="Calibri" pitchFamily="34" charset="-120"/>
              </a:rPr>
              <a:t>01</a:t>
            </a:r>
            <a:endParaRPr lang="en-US" sz="1100" dirty="0"/>
          </a:p>
        </p:txBody>
      </p:sp>
      <p:sp>
        <p:nvSpPr>
          <p:cNvPr id="12" name="text-111"/>
          <p:cNvSpPr txBox="1"/>
          <p:nvPr/>
        </p:nvSpPr>
        <p:spPr>
          <a:xfrm>
            <a:off x="3108960" y="2971800"/>
            <a:ext cx="1481328" cy="594360"/>
          </a:xfrm>
          <a:prstGeom prst="rect">
            <a:avLst/>
          </a:prstGeom>
          <a:noFill/>
          <a:ln/>
        </p:spPr>
        <p:txBody>
          <a:bodyPr wrap="square" lIns="0" tIns="0" rIns="0" bIns="0" rtlCol="0" anchor="t"/>
          <a:lstStyle/>
          <a:p>
            <a:pPr algn="ctr" indent="0" marL="0">
              <a:buNone/>
            </a:pPr>
            <a:r>
              <a:rPr lang="en-US" sz="1500" b="1" dirty="0">
                <a:solidFill>
                  <a:schemeClr val="accent1"/>
                </a:solidFill>
                <a:latin typeface="Calibri" pitchFamily="34" charset="0"/>
                <a:ea typeface="Calibri" pitchFamily="34" charset="-122"/>
                <a:cs typeface="Calibri" pitchFamily="34" charset="-120"/>
              </a:rPr>
              <a:t>Stock Intelligence</a:t>
            </a:r>
            <a:endParaRPr lang="en-US" sz="1500" dirty="0"/>
          </a:p>
        </p:txBody>
      </p:sp>
      <p:sp>
        <p:nvSpPr>
          <p:cNvPr id="13" name="text-112"/>
          <p:cNvSpPr txBox="1"/>
          <p:nvPr/>
        </p:nvSpPr>
        <p:spPr>
          <a:xfrm>
            <a:off x="3127248" y="3611880"/>
            <a:ext cx="1444752" cy="164592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Pre-visit brief, Smart Count, batch and expiry capture, stock-flow sell-out</a:t>
            </a:r>
            <a:endParaRPr lang="en-US" sz="1200" dirty="0"/>
          </a:p>
        </p:txBody>
      </p:sp>
      <p:sp>
        <p:nvSpPr>
          <p:cNvPr id="14" name="card-113"/>
          <p:cNvSpPr/>
          <p:nvPr/>
        </p:nvSpPr>
        <p:spPr>
          <a:xfrm>
            <a:off x="4800600" y="1691640"/>
            <a:ext cx="1664208" cy="3657600"/>
          </a:xfrm>
          <a:prstGeom prst="roundRect">
            <a:avLst>
              <a:gd name="adj" fmla="val 4396"/>
            </a:avLst>
          </a:prstGeom>
          <a:solidFill>
            <a:srgbClr val="F8F4F0"/>
          </a:solidFill>
          <a:ln w="12700">
            <a:solidFill>
              <a:srgbClr val="F8F4F0"/>
            </a:solidFill>
            <a:prstDash val="solid"/>
          </a:ln>
        </p:spPr>
      </p:sp>
      <p:sp>
        <p:nvSpPr>
          <p:cNvPr id="15" name="icon-circle-114"/>
          <p:cNvSpPr/>
          <p:nvPr/>
        </p:nvSpPr>
        <p:spPr>
          <a:xfrm>
            <a:off x="5312664" y="1874520"/>
            <a:ext cx="640080" cy="640080"/>
          </a:xfrm>
          <a:prstGeom prst="ellipse">
            <a:avLst/>
          </a:prstGeom>
          <a:solidFill>
            <a:schemeClr val="accent1"/>
          </a:solidFill>
          <a:ln w="12700">
            <a:solidFill>
              <a:schemeClr val="accent1"/>
            </a:solidFill>
            <a:prstDash val="solid"/>
          </a:ln>
        </p:spPr>
      </p:sp>
      <p:pic>
        <p:nvPicPr>
          <p:cNvPr id="16" name="icon-115" descr="preencoded.png">    </p:cNvPr>
          <p:cNvPicPr>
            <a:picLocks noChangeAspect="1"/>
          </p:cNvPicPr>
          <p:nvPr/>
        </p:nvPicPr>
        <p:blipFill>
          <a:blip r:embed="rId2"/>
          <a:stretch>
            <a:fillRect/>
          </a:stretch>
        </p:blipFill>
        <p:spPr>
          <a:xfrm>
            <a:off x="5472684" y="2034540"/>
            <a:ext cx="320040" cy="320040"/>
          </a:xfrm>
          <a:prstGeom prst="rect">
            <a:avLst/>
          </a:prstGeom>
        </p:spPr>
      </p:pic>
      <p:sp>
        <p:nvSpPr>
          <p:cNvPr id="17" name="text-116"/>
          <p:cNvSpPr txBox="1"/>
          <p:nvPr/>
        </p:nvSpPr>
        <p:spPr>
          <a:xfrm>
            <a:off x="4937760" y="2697480"/>
            <a:ext cx="1371600" cy="274320"/>
          </a:xfrm>
          <a:prstGeom prst="rect">
            <a:avLst/>
          </a:prstGeom>
          <a:noFill/>
          <a:ln/>
        </p:spPr>
        <p:txBody>
          <a:bodyPr wrap="square" lIns="0" tIns="0" rIns="0" bIns="0" rtlCol="0" anchor="t"/>
          <a:lstStyle/>
          <a:p>
            <a:pPr algn="ctr" indent="0" marL="0">
              <a:buNone/>
            </a:pPr>
            <a:r>
              <a:rPr lang="en-US" sz="1100" b="1" dirty="0">
                <a:solidFill>
                  <a:schemeClr val="accent2"/>
                </a:solidFill>
                <a:latin typeface="Calibri" pitchFamily="34" charset="0"/>
                <a:ea typeface="Calibri" pitchFamily="34" charset="-122"/>
                <a:cs typeface="Calibri" pitchFamily="34" charset="-120"/>
              </a:rPr>
              <a:t>02</a:t>
            </a:r>
            <a:endParaRPr lang="en-US" sz="1100" dirty="0"/>
          </a:p>
        </p:txBody>
      </p:sp>
      <p:sp>
        <p:nvSpPr>
          <p:cNvPr id="18" name="text-117"/>
          <p:cNvSpPr txBox="1"/>
          <p:nvPr/>
        </p:nvSpPr>
        <p:spPr>
          <a:xfrm>
            <a:off x="4892040" y="2971800"/>
            <a:ext cx="1481328" cy="594360"/>
          </a:xfrm>
          <a:prstGeom prst="rect">
            <a:avLst/>
          </a:prstGeom>
          <a:noFill/>
          <a:ln/>
        </p:spPr>
        <p:txBody>
          <a:bodyPr wrap="square" lIns="0" tIns="0" rIns="0" bIns="0" rtlCol="0" anchor="t"/>
          <a:lstStyle/>
          <a:p>
            <a:pPr algn="ctr" indent="0" marL="0">
              <a:buNone/>
            </a:pPr>
            <a:r>
              <a:rPr lang="en-US" sz="1500" b="1" dirty="0">
                <a:solidFill>
                  <a:schemeClr val="accent1"/>
                </a:solidFill>
                <a:latin typeface="Calibri" pitchFamily="34" charset="0"/>
                <a:ea typeface="Calibri" pitchFamily="34" charset="-122"/>
                <a:cs typeface="Calibri" pitchFamily="34" charset="-120"/>
              </a:rPr>
              <a:t>Risk Engine</a:t>
            </a:r>
            <a:endParaRPr lang="en-US" sz="1500" dirty="0"/>
          </a:p>
        </p:txBody>
      </p:sp>
      <p:sp>
        <p:nvSpPr>
          <p:cNvPr id="19" name="text-118"/>
          <p:cNvSpPr txBox="1"/>
          <p:nvPr/>
        </p:nvSpPr>
        <p:spPr>
          <a:xfrm>
            <a:off x="4910328" y="3611880"/>
            <a:ext cx="1444752" cy="164592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FEFO projected waste, ₹ at risk, days to act, stock-out and channel-shift detection</a:t>
            </a:r>
            <a:endParaRPr lang="en-US" sz="1200" dirty="0"/>
          </a:p>
        </p:txBody>
      </p:sp>
      <p:sp>
        <p:nvSpPr>
          <p:cNvPr id="20" name="card-119"/>
          <p:cNvSpPr/>
          <p:nvPr/>
        </p:nvSpPr>
        <p:spPr>
          <a:xfrm>
            <a:off x="6583680" y="1691640"/>
            <a:ext cx="1664208" cy="3657600"/>
          </a:xfrm>
          <a:prstGeom prst="roundRect">
            <a:avLst>
              <a:gd name="adj" fmla="val 4396"/>
            </a:avLst>
          </a:prstGeom>
          <a:solidFill>
            <a:srgbClr val="EFE7E0"/>
          </a:solidFill>
          <a:ln w="12700">
            <a:solidFill>
              <a:srgbClr val="EFE7E0"/>
            </a:solidFill>
            <a:prstDash val="solid"/>
          </a:ln>
        </p:spPr>
      </p:sp>
      <p:sp>
        <p:nvSpPr>
          <p:cNvPr id="21" name="icon-circle-120"/>
          <p:cNvSpPr/>
          <p:nvPr/>
        </p:nvSpPr>
        <p:spPr>
          <a:xfrm>
            <a:off x="7095744" y="1874520"/>
            <a:ext cx="640080" cy="640080"/>
          </a:xfrm>
          <a:prstGeom prst="ellipse">
            <a:avLst/>
          </a:prstGeom>
          <a:solidFill>
            <a:schemeClr val="accent1"/>
          </a:solidFill>
          <a:ln w="12700">
            <a:solidFill>
              <a:schemeClr val="accent1"/>
            </a:solidFill>
            <a:prstDash val="solid"/>
          </a:ln>
        </p:spPr>
      </p:sp>
      <p:pic>
        <p:nvPicPr>
          <p:cNvPr id="22" name="icon-121" descr="preencoded.png">    </p:cNvPr>
          <p:cNvPicPr>
            <a:picLocks noChangeAspect="1"/>
          </p:cNvPicPr>
          <p:nvPr/>
        </p:nvPicPr>
        <p:blipFill>
          <a:blip r:embed="rId3"/>
          <a:stretch>
            <a:fillRect/>
          </a:stretch>
        </p:blipFill>
        <p:spPr>
          <a:xfrm>
            <a:off x="7255764" y="2034540"/>
            <a:ext cx="320040" cy="320040"/>
          </a:xfrm>
          <a:prstGeom prst="rect">
            <a:avLst/>
          </a:prstGeom>
        </p:spPr>
      </p:pic>
      <p:sp>
        <p:nvSpPr>
          <p:cNvPr id="23" name="text-122"/>
          <p:cNvSpPr txBox="1"/>
          <p:nvPr/>
        </p:nvSpPr>
        <p:spPr>
          <a:xfrm>
            <a:off x="6720840" y="2697480"/>
            <a:ext cx="1371600" cy="274320"/>
          </a:xfrm>
          <a:prstGeom prst="rect">
            <a:avLst/>
          </a:prstGeom>
          <a:noFill/>
          <a:ln/>
        </p:spPr>
        <p:txBody>
          <a:bodyPr wrap="square" lIns="0" tIns="0" rIns="0" bIns="0" rtlCol="0" anchor="t"/>
          <a:lstStyle/>
          <a:p>
            <a:pPr algn="ctr" indent="0" marL="0">
              <a:buNone/>
            </a:pPr>
            <a:r>
              <a:rPr lang="en-US" sz="1100" b="1" dirty="0">
                <a:solidFill>
                  <a:schemeClr val="accent2"/>
                </a:solidFill>
                <a:latin typeface="Calibri" pitchFamily="34" charset="0"/>
                <a:ea typeface="Calibri" pitchFamily="34" charset="-122"/>
                <a:cs typeface="Calibri" pitchFamily="34" charset="-120"/>
              </a:rPr>
              <a:t>03</a:t>
            </a:r>
            <a:endParaRPr lang="en-US" sz="1100" dirty="0"/>
          </a:p>
        </p:txBody>
      </p:sp>
      <p:sp>
        <p:nvSpPr>
          <p:cNvPr id="24" name="text-123"/>
          <p:cNvSpPr txBox="1"/>
          <p:nvPr/>
        </p:nvSpPr>
        <p:spPr>
          <a:xfrm>
            <a:off x="6675120" y="2971800"/>
            <a:ext cx="1481328" cy="594360"/>
          </a:xfrm>
          <a:prstGeom prst="rect">
            <a:avLst/>
          </a:prstGeom>
          <a:noFill/>
          <a:ln/>
        </p:spPr>
        <p:txBody>
          <a:bodyPr wrap="square" lIns="0" tIns="0" rIns="0" bIns="0" rtlCol="0" anchor="t"/>
          <a:lstStyle/>
          <a:p>
            <a:pPr algn="ctr" indent="0" marL="0">
              <a:buNone/>
            </a:pPr>
            <a:r>
              <a:rPr lang="en-US" sz="1500" b="1" dirty="0">
                <a:solidFill>
                  <a:schemeClr val="accent1"/>
                </a:solidFill>
                <a:latin typeface="Calibri" pitchFamily="34" charset="0"/>
                <a:ea typeface="Calibri" pitchFamily="34" charset="-122"/>
                <a:cs typeface="Calibri" pitchFamily="34" charset="-120"/>
              </a:rPr>
              <a:t>Action Engine</a:t>
            </a:r>
            <a:endParaRPr lang="en-US" sz="1500" dirty="0"/>
          </a:p>
        </p:txBody>
      </p:sp>
      <p:sp>
        <p:nvSpPr>
          <p:cNvPr id="25" name="text-124"/>
          <p:cNvSpPr txBox="1"/>
          <p:nvPr/>
        </p:nvSpPr>
        <p:spPr>
          <a:xfrm>
            <a:off x="6693408" y="3611880"/>
            <a:ext cx="1444752" cy="164592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8-step intervention ladder, transfer matching, order guardrail, approvals</a:t>
            </a:r>
            <a:endParaRPr lang="en-US" sz="1200" dirty="0"/>
          </a:p>
        </p:txBody>
      </p:sp>
      <p:sp>
        <p:nvSpPr>
          <p:cNvPr id="26" name="card-125"/>
          <p:cNvSpPr/>
          <p:nvPr/>
        </p:nvSpPr>
        <p:spPr>
          <a:xfrm>
            <a:off x="8366760" y="1691640"/>
            <a:ext cx="1664208" cy="3657600"/>
          </a:xfrm>
          <a:prstGeom prst="roundRect">
            <a:avLst>
              <a:gd name="adj" fmla="val 4396"/>
            </a:avLst>
          </a:prstGeom>
          <a:solidFill>
            <a:srgbClr val="F8F4F0"/>
          </a:solidFill>
          <a:ln w="12700">
            <a:solidFill>
              <a:srgbClr val="F8F4F0"/>
            </a:solidFill>
            <a:prstDash val="solid"/>
          </a:ln>
        </p:spPr>
      </p:sp>
      <p:sp>
        <p:nvSpPr>
          <p:cNvPr id="27" name="icon-circle-126"/>
          <p:cNvSpPr/>
          <p:nvPr/>
        </p:nvSpPr>
        <p:spPr>
          <a:xfrm>
            <a:off x="8878824" y="1874520"/>
            <a:ext cx="640080" cy="640080"/>
          </a:xfrm>
          <a:prstGeom prst="ellipse">
            <a:avLst/>
          </a:prstGeom>
          <a:solidFill>
            <a:schemeClr val="accent1"/>
          </a:solidFill>
          <a:ln w="12700">
            <a:solidFill>
              <a:schemeClr val="accent1"/>
            </a:solidFill>
            <a:prstDash val="solid"/>
          </a:ln>
        </p:spPr>
      </p:sp>
      <p:pic>
        <p:nvPicPr>
          <p:cNvPr id="28" name="icon-127" descr="preencoded.png">    </p:cNvPr>
          <p:cNvPicPr>
            <a:picLocks noChangeAspect="1"/>
          </p:cNvPicPr>
          <p:nvPr/>
        </p:nvPicPr>
        <p:blipFill>
          <a:blip r:embed="rId4"/>
          <a:stretch>
            <a:fillRect/>
          </a:stretch>
        </p:blipFill>
        <p:spPr>
          <a:xfrm>
            <a:off x="9038844" y="2034540"/>
            <a:ext cx="320040" cy="320040"/>
          </a:xfrm>
          <a:prstGeom prst="rect">
            <a:avLst/>
          </a:prstGeom>
        </p:spPr>
      </p:pic>
      <p:sp>
        <p:nvSpPr>
          <p:cNvPr id="29" name="text-128"/>
          <p:cNvSpPr txBox="1"/>
          <p:nvPr/>
        </p:nvSpPr>
        <p:spPr>
          <a:xfrm>
            <a:off x="8503920" y="2697480"/>
            <a:ext cx="1371600" cy="274320"/>
          </a:xfrm>
          <a:prstGeom prst="rect">
            <a:avLst/>
          </a:prstGeom>
          <a:noFill/>
          <a:ln/>
        </p:spPr>
        <p:txBody>
          <a:bodyPr wrap="square" lIns="0" tIns="0" rIns="0" bIns="0" rtlCol="0" anchor="t"/>
          <a:lstStyle/>
          <a:p>
            <a:pPr algn="ctr" indent="0" marL="0">
              <a:buNone/>
            </a:pPr>
            <a:r>
              <a:rPr lang="en-US" sz="1100" b="1" dirty="0">
                <a:solidFill>
                  <a:schemeClr val="accent2"/>
                </a:solidFill>
                <a:latin typeface="Calibri" pitchFamily="34" charset="0"/>
                <a:ea typeface="Calibri" pitchFamily="34" charset="-122"/>
                <a:cs typeface="Calibri" pitchFamily="34" charset="-120"/>
              </a:rPr>
              <a:t>04</a:t>
            </a:r>
            <a:endParaRPr lang="en-US" sz="1100" dirty="0"/>
          </a:p>
        </p:txBody>
      </p:sp>
      <p:sp>
        <p:nvSpPr>
          <p:cNvPr id="30" name="text-129"/>
          <p:cNvSpPr txBox="1"/>
          <p:nvPr/>
        </p:nvSpPr>
        <p:spPr>
          <a:xfrm>
            <a:off x="8458200" y="2971800"/>
            <a:ext cx="1481328" cy="594360"/>
          </a:xfrm>
          <a:prstGeom prst="rect">
            <a:avLst/>
          </a:prstGeom>
          <a:noFill/>
          <a:ln/>
        </p:spPr>
        <p:txBody>
          <a:bodyPr wrap="square" lIns="0" tIns="0" rIns="0" bIns="0" rtlCol="0" anchor="t"/>
          <a:lstStyle/>
          <a:p>
            <a:pPr algn="ctr" indent="0" marL="0">
              <a:buNone/>
            </a:pPr>
            <a:r>
              <a:rPr lang="en-US" sz="1500" b="1" dirty="0">
                <a:solidFill>
                  <a:schemeClr val="accent1"/>
                </a:solidFill>
                <a:latin typeface="Calibri" pitchFamily="34" charset="0"/>
                <a:ea typeface="Calibri" pitchFamily="34" charset="-122"/>
                <a:cs typeface="Calibri" pitchFamily="34" charset="-120"/>
              </a:rPr>
              <a:t>Manager Intelligence</a:t>
            </a:r>
            <a:endParaRPr lang="en-US" sz="1500" dirty="0"/>
          </a:p>
        </p:txBody>
      </p:sp>
      <p:sp>
        <p:nvSpPr>
          <p:cNvPr id="31" name="text-130"/>
          <p:cNvSpPr txBox="1"/>
          <p:nvPr/>
        </p:nvSpPr>
        <p:spPr>
          <a:xfrm>
            <a:off x="8476488" y="3611880"/>
            <a:ext cx="1444752" cy="164592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Territory risk, approvals, repeat offenders, scorecards, outcomes vs business-as-usual</a:t>
            </a:r>
            <a:endParaRPr lang="en-US" sz="1200" dirty="0"/>
          </a:p>
        </p:txBody>
      </p:sp>
      <p:sp>
        <p:nvSpPr>
          <p:cNvPr id="32" name="card-131"/>
          <p:cNvSpPr/>
          <p:nvPr/>
        </p:nvSpPr>
        <p:spPr>
          <a:xfrm>
            <a:off x="10241280" y="1691640"/>
            <a:ext cx="1399032" cy="3657600"/>
          </a:xfrm>
          <a:prstGeom prst="roundRect">
            <a:avLst>
              <a:gd name="adj" fmla="val 5229"/>
            </a:avLst>
          </a:prstGeom>
          <a:solidFill>
            <a:schemeClr val="bg2"/>
          </a:solidFill>
          <a:ln w="12700">
            <a:solidFill>
              <a:schemeClr val="bg2"/>
            </a:solidFill>
            <a:prstDash val="solid"/>
          </a:ln>
        </p:spPr>
      </p:sp>
      <p:sp>
        <p:nvSpPr>
          <p:cNvPr id="33" name="text-132"/>
          <p:cNvSpPr txBox="1"/>
          <p:nvPr/>
        </p:nvSpPr>
        <p:spPr>
          <a:xfrm>
            <a:off x="10351008" y="1828800"/>
            <a:ext cx="1188720" cy="274320"/>
          </a:xfrm>
          <a:prstGeom prst="rect">
            <a:avLst/>
          </a:prstGeom>
          <a:noFill/>
          <a:ln/>
        </p:spPr>
        <p:txBody>
          <a:bodyPr wrap="square" lIns="0" tIns="0" rIns="0" bIns="0" rtlCol="0" anchor="t"/>
          <a:lstStyle/>
          <a:p>
            <a:pPr indent="0" marL="0">
              <a:buNone/>
            </a:pPr>
            <a:r>
              <a:rPr lang="en-US" sz="1100" b="1" spc="200" kern="0" dirty="0">
                <a:solidFill>
                  <a:schemeClr val="tx2"/>
                </a:solidFill>
                <a:latin typeface="Calibri" pitchFamily="34" charset="0"/>
                <a:ea typeface="Calibri" pitchFamily="34" charset="-122"/>
                <a:cs typeface="Calibri" pitchFamily="34" charset="-120"/>
              </a:rPr>
              <a:t>USERS</a:t>
            </a:r>
            <a:endParaRPr lang="en-US" sz="1100" dirty="0"/>
          </a:p>
        </p:txBody>
      </p:sp>
      <p:sp>
        <p:nvSpPr>
          <p:cNvPr id="34" name="icon-circle-133"/>
          <p:cNvSpPr/>
          <p:nvPr/>
        </p:nvSpPr>
        <p:spPr>
          <a:xfrm>
            <a:off x="10360152" y="2240280"/>
            <a:ext cx="384048" cy="384048"/>
          </a:xfrm>
          <a:prstGeom prst="ellipse">
            <a:avLst/>
          </a:prstGeom>
          <a:solidFill>
            <a:schemeClr val="accent1"/>
          </a:solidFill>
          <a:ln w="12700">
            <a:solidFill>
              <a:schemeClr val="accent1"/>
            </a:solidFill>
            <a:prstDash val="solid"/>
          </a:ln>
        </p:spPr>
      </p:sp>
      <p:pic>
        <p:nvPicPr>
          <p:cNvPr id="35" name="icon-134" descr="preencoded.png">    </p:cNvPr>
          <p:cNvPicPr>
            <a:picLocks noChangeAspect="1"/>
          </p:cNvPicPr>
          <p:nvPr/>
        </p:nvPicPr>
        <p:blipFill>
          <a:blip r:embed="rId5"/>
          <a:stretch>
            <a:fillRect/>
          </a:stretch>
        </p:blipFill>
        <p:spPr>
          <a:xfrm>
            <a:off x="10456164" y="2336292"/>
            <a:ext cx="192024" cy="192024"/>
          </a:xfrm>
          <a:prstGeom prst="rect">
            <a:avLst/>
          </a:prstGeom>
        </p:spPr>
      </p:pic>
      <p:sp>
        <p:nvSpPr>
          <p:cNvPr id="36" name="text-135"/>
          <p:cNvSpPr txBox="1"/>
          <p:nvPr/>
        </p:nvSpPr>
        <p:spPr>
          <a:xfrm>
            <a:off x="10789920" y="2240280"/>
            <a:ext cx="822960" cy="384048"/>
          </a:xfrm>
          <a:prstGeom prst="rect">
            <a:avLst/>
          </a:prstGeom>
          <a:noFill/>
          <a:ln/>
        </p:spPr>
        <p:txBody>
          <a:bodyPr wrap="square" lIns="0" tIns="0" rIns="0" bIns="0" rtlCol="0" anchor="ctr"/>
          <a:lstStyle/>
          <a:p>
            <a:pPr indent="0" marL="0">
              <a:buNone/>
            </a:pPr>
            <a:r>
              <a:rPr lang="en-US" sz="1200" b="1" dirty="0">
                <a:solidFill>
                  <a:schemeClr val="tx1"/>
                </a:solidFill>
                <a:latin typeface="Calibri" pitchFamily="34" charset="0"/>
                <a:ea typeface="Calibri" pitchFamily="34" charset="-122"/>
                <a:cs typeface="Calibri" pitchFamily="34" charset="-120"/>
              </a:rPr>
              <a:t>Field rep</a:t>
            </a:r>
            <a:endParaRPr lang="en-US" sz="1200" dirty="0"/>
          </a:p>
        </p:txBody>
      </p:sp>
      <p:sp>
        <p:nvSpPr>
          <p:cNvPr id="37" name="icon-circle-136"/>
          <p:cNvSpPr/>
          <p:nvPr/>
        </p:nvSpPr>
        <p:spPr>
          <a:xfrm>
            <a:off x="10360152" y="2999232"/>
            <a:ext cx="384048" cy="384048"/>
          </a:xfrm>
          <a:prstGeom prst="ellipse">
            <a:avLst/>
          </a:prstGeom>
          <a:solidFill>
            <a:schemeClr val="accent1"/>
          </a:solidFill>
          <a:ln w="12700">
            <a:solidFill>
              <a:schemeClr val="accent1"/>
            </a:solidFill>
            <a:prstDash val="solid"/>
          </a:ln>
        </p:spPr>
      </p:sp>
      <p:pic>
        <p:nvPicPr>
          <p:cNvPr id="38" name="icon-137" descr="preencoded.png">    </p:cNvPr>
          <p:cNvPicPr>
            <a:picLocks noChangeAspect="1"/>
          </p:cNvPicPr>
          <p:nvPr/>
        </p:nvPicPr>
        <p:blipFill>
          <a:blip r:embed="rId6"/>
          <a:stretch>
            <a:fillRect/>
          </a:stretch>
        </p:blipFill>
        <p:spPr>
          <a:xfrm>
            <a:off x="10456164" y="3095244"/>
            <a:ext cx="192024" cy="192024"/>
          </a:xfrm>
          <a:prstGeom prst="rect">
            <a:avLst/>
          </a:prstGeom>
        </p:spPr>
      </p:pic>
      <p:sp>
        <p:nvSpPr>
          <p:cNvPr id="39" name="text-138"/>
          <p:cNvSpPr txBox="1"/>
          <p:nvPr/>
        </p:nvSpPr>
        <p:spPr>
          <a:xfrm>
            <a:off x="10789920" y="2999232"/>
            <a:ext cx="822960" cy="384048"/>
          </a:xfrm>
          <a:prstGeom prst="rect">
            <a:avLst/>
          </a:prstGeom>
          <a:noFill/>
          <a:ln/>
        </p:spPr>
        <p:txBody>
          <a:bodyPr wrap="square" lIns="0" tIns="0" rIns="0" bIns="0" rtlCol="0" anchor="ctr"/>
          <a:lstStyle/>
          <a:p>
            <a:pPr indent="0" marL="0">
              <a:buNone/>
            </a:pPr>
            <a:r>
              <a:rPr lang="en-US" sz="1200" b="1" dirty="0">
                <a:solidFill>
                  <a:schemeClr val="tx1"/>
                </a:solidFill>
                <a:latin typeface="Calibri" pitchFamily="34" charset="0"/>
                <a:ea typeface="Calibri" pitchFamily="34" charset="-122"/>
                <a:cs typeface="Calibri" pitchFamily="34" charset="-120"/>
              </a:rPr>
              <a:t>ASM</a:t>
            </a:r>
            <a:endParaRPr lang="en-US" sz="1200" dirty="0"/>
          </a:p>
        </p:txBody>
      </p:sp>
      <p:sp>
        <p:nvSpPr>
          <p:cNvPr id="40" name="icon-circle-139"/>
          <p:cNvSpPr/>
          <p:nvPr/>
        </p:nvSpPr>
        <p:spPr>
          <a:xfrm>
            <a:off x="10360152" y="3758184"/>
            <a:ext cx="384048" cy="384048"/>
          </a:xfrm>
          <a:prstGeom prst="ellipse">
            <a:avLst/>
          </a:prstGeom>
          <a:solidFill>
            <a:schemeClr val="accent1"/>
          </a:solidFill>
          <a:ln w="12700">
            <a:solidFill>
              <a:schemeClr val="accent1"/>
            </a:solidFill>
            <a:prstDash val="solid"/>
          </a:ln>
        </p:spPr>
      </p:sp>
      <p:pic>
        <p:nvPicPr>
          <p:cNvPr id="41" name="icon-140" descr="preencoded.png">    </p:cNvPr>
          <p:cNvPicPr>
            <a:picLocks noChangeAspect="1"/>
          </p:cNvPicPr>
          <p:nvPr/>
        </p:nvPicPr>
        <p:blipFill>
          <a:blip r:embed="rId7"/>
          <a:stretch>
            <a:fillRect/>
          </a:stretch>
        </p:blipFill>
        <p:spPr>
          <a:xfrm>
            <a:off x="10456164" y="3854196"/>
            <a:ext cx="192024" cy="192024"/>
          </a:xfrm>
          <a:prstGeom prst="rect">
            <a:avLst/>
          </a:prstGeom>
        </p:spPr>
      </p:pic>
      <p:sp>
        <p:nvSpPr>
          <p:cNvPr id="42" name="text-141"/>
          <p:cNvSpPr txBox="1"/>
          <p:nvPr/>
        </p:nvSpPr>
        <p:spPr>
          <a:xfrm>
            <a:off x="10789920" y="3758184"/>
            <a:ext cx="822960" cy="384048"/>
          </a:xfrm>
          <a:prstGeom prst="rect">
            <a:avLst/>
          </a:prstGeom>
          <a:noFill/>
          <a:ln/>
        </p:spPr>
        <p:txBody>
          <a:bodyPr wrap="square" lIns="0" tIns="0" rIns="0" bIns="0" rtlCol="0" anchor="ctr"/>
          <a:lstStyle/>
          <a:p>
            <a:pPr indent="0" marL="0">
              <a:buNone/>
            </a:pPr>
            <a:r>
              <a:rPr lang="en-US" sz="1200" b="1" dirty="0">
                <a:solidFill>
                  <a:schemeClr val="tx1"/>
                </a:solidFill>
                <a:latin typeface="Calibri" pitchFamily="34" charset="0"/>
                <a:ea typeface="Calibri" pitchFamily="34" charset="-122"/>
                <a:cs typeface="Calibri" pitchFamily="34" charset="-120"/>
              </a:rPr>
              <a:t>Distributor</a:t>
            </a:r>
            <a:endParaRPr lang="en-US" sz="1200" dirty="0"/>
          </a:p>
        </p:txBody>
      </p:sp>
      <p:sp>
        <p:nvSpPr>
          <p:cNvPr id="43" name="icon-circle-142"/>
          <p:cNvSpPr/>
          <p:nvPr/>
        </p:nvSpPr>
        <p:spPr>
          <a:xfrm>
            <a:off x="10360152" y="4517136"/>
            <a:ext cx="384048" cy="384048"/>
          </a:xfrm>
          <a:prstGeom prst="ellipse">
            <a:avLst/>
          </a:prstGeom>
          <a:solidFill>
            <a:schemeClr val="accent1"/>
          </a:solidFill>
          <a:ln w="12700">
            <a:solidFill>
              <a:schemeClr val="accent1"/>
            </a:solidFill>
            <a:prstDash val="solid"/>
          </a:ln>
        </p:spPr>
      </p:sp>
      <p:pic>
        <p:nvPicPr>
          <p:cNvPr id="44" name="icon-143" descr="preencoded.png">    </p:cNvPr>
          <p:cNvPicPr>
            <a:picLocks noChangeAspect="1"/>
          </p:cNvPicPr>
          <p:nvPr/>
        </p:nvPicPr>
        <p:blipFill>
          <a:blip r:embed="rId8"/>
          <a:stretch>
            <a:fillRect/>
          </a:stretch>
        </p:blipFill>
        <p:spPr>
          <a:xfrm>
            <a:off x="10456164" y="4613148"/>
            <a:ext cx="192024" cy="192024"/>
          </a:xfrm>
          <a:prstGeom prst="rect">
            <a:avLst/>
          </a:prstGeom>
        </p:spPr>
      </p:pic>
      <p:sp>
        <p:nvSpPr>
          <p:cNvPr id="45" name="text-144"/>
          <p:cNvSpPr txBox="1"/>
          <p:nvPr/>
        </p:nvSpPr>
        <p:spPr>
          <a:xfrm>
            <a:off x="10789920" y="4517136"/>
            <a:ext cx="822960" cy="384048"/>
          </a:xfrm>
          <a:prstGeom prst="rect">
            <a:avLst/>
          </a:prstGeom>
          <a:noFill/>
          <a:ln/>
        </p:spPr>
        <p:txBody>
          <a:bodyPr wrap="square" lIns="0" tIns="0" rIns="0" bIns="0" rtlCol="0" anchor="ctr"/>
          <a:lstStyle/>
          <a:p>
            <a:pPr indent="0" marL="0">
              <a:buNone/>
            </a:pPr>
            <a:r>
              <a:rPr lang="en-US" sz="1200" b="1" dirty="0">
                <a:solidFill>
                  <a:schemeClr val="tx1"/>
                </a:solidFill>
                <a:latin typeface="Calibri" pitchFamily="34" charset="0"/>
                <a:ea typeface="Calibri" pitchFamily="34" charset="-122"/>
                <a:cs typeface="Calibri" pitchFamily="34" charset="-120"/>
              </a:rPr>
              <a:t>Q-comm KAM</a:t>
            </a:r>
            <a:endParaRPr lang="en-US" sz="1200" dirty="0"/>
          </a:p>
        </p:txBody>
      </p:sp>
      <p:sp>
        <p:nvSpPr>
          <p:cNvPr id="46" name="icon-circle-145"/>
          <p:cNvSpPr/>
          <p:nvPr/>
        </p:nvSpPr>
        <p:spPr>
          <a:xfrm>
            <a:off x="548640" y="5596128"/>
            <a:ext cx="347472" cy="347472"/>
          </a:xfrm>
          <a:prstGeom prst="ellipse">
            <a:avLst/>
          </a:prstGeom>
          <a:solidFill>
            <a:schemeClr val="accent3"/>
          </a:solidFill>
          <a:ln w="12700">
            <a:solidFill>
              <a:schemeClr val="accent3"/>
            </a:solidFill>
            <a:prstDash val="solid"/>
          </a:ln>
        </p:spPr>
      </p:sp>
      <p:pic>
        <p:nvPicPr>
          <p:cNvPr id="47" name="icon-146" descr="preencoded.png">    </p:cNvPr>
          <p:cNvPicPr>
            <a:picLocks noChangeAspect="1"/>
          </p:cNvPicPr>
          <p:nvPr/>
        </p:nvPicPr>
        <p:blipFill>
          <a:blip r:embed="rId9"/>
          <a:stretch>
            <a:fillRect/>
          </a:stretch>
        </p:blipFill>
        <p:spPr>
          <a:xfrm>
            <a:off x="635508" y="5682996"/>
            <a:ext cx="173736" cy="173736"/>
          </a:xfrm>
          <a:prstGeom prst="rect">
            <a:avLst/>
          </a:prstGeom>
        </p:spPr>
      </p:pic>
      <p:sp>
        <p:nvSpPr>
          <p:cNvPr id="48" name="text-147"/>
          <p:cNvSpPr txBox="1"/>
          <p:nvPr/>
        </p:nvSpPr>
        <p:spPr>
          <a:xfrm>
            <a:off x="987552" y="5559552"/>
            <a:ext cx="1737360" cy="457200"/>
          </a:xfrm>
          <a:prstGeom prst="rect">
            <a:avLst/>
          </a:prstGeom>
          <a:noFill/>
          <a:ln/>
        </p:spPr>
        <p:txBody>
          <a:bodyPr wrap="square" lIns="0" tIns="0" rIns="0" bIns="0" rtlCol="0" anchor="ctr"/>
          <a:lstStyle/>
          <a:p>
            <a:pPr indent="0" marL="0">
              <a:buNone/>
            </a:pPr>
            <a:r>
              <a:rPr lang="en-US" sz="1200" b="1" dirty="0">
                <a:solidFill>
                  <a:schemeClr val="tx1"/>
                </a:solidFill>
                <a:latin typeface="Calibri" pitchFamily="34" charset="0"/>
                <a:ea typeface="Calibri" pitchFamily="34" charset="-122"/>
                <a:cs typeface="Calibri" pitchFamily="34" charset="-120"/>
              </a:rPr>
              <a:t>Directly answers the case</a:t>
            </a:r>
            <a:endParaRPr lang="en-US" sz="1200" dirty="0"/>
          </a:p>
        </p:txBody>
      </p:sp>
      <p:sp>
        <p:nvSpPr>
          <p:cNvPr id="49" name="icon-circle-148"/>
          <p:cNvSpPr/>
          <p:nvPr/>
        </p:nvSpPr>
        <p:spPr>
          <a:xfrm>
            <a:off x="2788920" y="5596128"/>
            <a:ext cx="347472" cy="347472"/>
          </a:xfrm>
          <a:prstGeom prst="ellipse">
            <a:avLst/>
          </a:prstGeom>
          <a:solidFill>
            <a:schemeClr val="accent3"/>
          </a:solidFill>
          <a:ln w="12700">
            <a:solidFill>
              <a:schemeClr val="accent3"/>
            </a:solidFill>
            <a:prstDash val="solid"/>
          </a:ln>
        </p:spPr>
      </p:sp>
      <p:pic>
        <p:nvPicPr>
          <p:cNvPr id="50" name="icon-149" descr="preencoded.png">    </p:cNvPr>
          <p:cNvPicPr>
            <a:picLocks noChangeAspect="1"/>
          </p:cNvPicPr>
          <p:nvPr/>
        </p:nvPicPr>
        <p:blipFill>
          <a:blip r:embed="rId10"/>
          <a:stretch>
            <a:fillRect/>
          </a:stretch>
        </p:blipFill>
        <p:spPr>
          <a:xfrm>
            <a:off x="2875788" y="5682996"/>
            <a:ext cx="173736" cy="173736"/>
          </a:xfrm>
          <a:prstGeom prst="rect">
            <a:avLst/>
          </a:prstGeom>
        </p:spPr>
      </p:pic>
      <p:sp>
        <p:nvSpPr>
          <p:cNvPr id="51" name="text-150"/>
          <p:cNvSpPr txBox="1"/>
          <p:nvPr/>
        </p:nvSpPr>
        <p:spPr>
          <a:xfrm>
            <a:off x="3227832" y="5559552"/>
            <a:ext cx="1737360" cy="457200"/>
          </a:xfrm>
          <a:prstGeom prst="rect">
            <a:avLst/>
          </a:prstGeom>
          <a:noFill/>
          <a:ln/>
        </p:spPr>
        <p:txBody>
          <a:bodyPr wrap="square" lIns="0" tIns="0" rIns="0" bIns="0" rtlCol="0" anchor="ctr"/>
          <a:lstStyle/>
          <a:p>
            <a:pPr indent="0" marL="0">
              <a:buNone/>
            </a:pPr>
            <a:r>
              <a:rPr lang="en-US" sz="1200" b="1" dirty="0">
                <a:solidFill>
                  <a:schemeClr val="tx1"/>
                </a:solidFill>
                <a:latin typeface="Calibri" pitchFamily="34" charset="0"/>
                <a:ea typeface="Calibri" pitchFamily="34" charset="-122"/>
                <a:cs typeface="Calibri" pitchFamily="34" charset="-120"/>
              </a:rPr>
              <a:t>Empowers the existing salesforce</a:t>
            </a:r>
            <a:endParaRPr lang="en-US" sz="1200" dirty="0"/>
          </a:p>
        </p:txBody>
      </p:sp>
      <p:sp>
        <p:nvSpPr>
          <p:cNvPr id="52" name="icon-circle-151"/>
          <p:cNvSpPr/>
          <p:nvPr/>
        </p:nvSpPr>
        <p:spPr>
          <a:xfrm>
            <a:off x="5029200" y="5596128"/>
            <a:ext cx="347472" cy="347472"/>
          </a:xfrm>
          <a:prstGeom prst="ellipse">
            <a:avLst/>
          </a:prstGeom>
          <a:solidFill>
            <a:schemeClr val="accent3"/>
          </a:solidFill>
          <a:ln w="12700">
            <a:solidFill>
              <a:schemeClr val="accent3"/>
            </a:solidFill>
            <a:prstDash val="solid"/>
          </a:ln>
        </p:spPr>
      </p:sp>
      <p:pic>
        <p:nvPicPr>
          <p:cNvPr id="53" name="icon-152" descr="preencoded.png">    </p:cNvPr>
          <p:cNvPicPr>
            <a:picLocks noChangeAspect="1"/>
          </p:cNvPicPr>
          <p:nvPr/>
        </p:nvPicPr>
        <p:blipFill>
          <a:blip r:embed="rId11"/>
          <a:stretch>
            <a:fillRect/>
          </a:stretch>
        </p:blipFill>
        <p:spPr>
          <a:xfrm>
            <a:off x="5116068" y="5682996"/>
            <a:ext cx="173736" cy="173736"/>
          </a:xfrm>
          <a:prstGeom prst="rect">
            <a:avLst/>
          </a:prstGeom>
        </p:spPr>
      </p:pic>
      <p:sp>
        <p:nvSpPr>
          <p:cNvPr id="54" name="text-153"/>
          <p:cNvSpPr txBox="1"/>
          <p:nvPr/>
        </p:nvSpPr>
        <p:spPr>
          <a:xfrm>
            <a:off x="5468112" y="5559552"/>
            <a:ext cx="1737360" cy="457200"/>
          </a:xfrm>
          <a:prstGeom prst="rect">
            <a:avLst/>
          </a:prstGeom>
          <a:noFill/>
          <a:ln/>
        </p:spPr>
        <p:txBody>
          <a:bodyPr wrap="square" lIns="0" tIns="0" rIns="0" bIns="0" rtlCol="0" anchor="ctr"/>
          <a:lstStyle/>
          <a:p>
            <a:pPr indent="0" marL="0">
              <a:buNone/>
            </a:pPr>
            <a:r>
              <a:rPr lang="en-US" sz="1200" b="1" dirty="0">
                <a:solidFill>
                  <a:schemeClr val="tx1"/>
                </a:solidFill>
                <a:latin typeface="Calibri" pitchFamily="34" charset="0"/>
                <a:ea typeface="Calibri" pitchFamily="34" charset="-122"/>
                <a:cs typeface="Calibri" pitchFamily="34" charset="-120"/>
              </a:rPr>
              <a:t>Balances growth and sustainability</a:t>
            </a:r>
            <a:endParaRPr lang="en-US" sz="1200" dirty="0"/>
          </a:p>
        </p:txBody>
      </p:sp>
      <p:sp>
        <p:nvSpPr>
          <p:cNvPr id="55" name="icon-circle-154"/>
          <p:cNvSpPr/>
          <p:nvPr/>
        </p:nvSpPr>
        <p:spPr>
          <a:xfrm>
            <a:off x="7269480" y="5596128"/>
            <a:ext cx="347472" cy="347472"/>
          </a:xfrm>
          <a:prstGeom prst="ellipse">
            <a:avLst/>
          </a:prstGeom>
          <a:solidFill>
            <a:schemeClr val="accent3"/>
          </a:solidFill>
          <a:ln w="12700">
            <a:solidFill>
              <a:schemeClr val="accent3"/>
            </a:solidFill>
            <a:prstDash val="solid"/>
          </a:ln>
        </p:spPr>
      </p:sp>
      <p:pic>
        <p:nvPicPr>
          <p:cNvPr id="56" name="icon-155" descr="preencoded.png">    </p:cNvPr>
          <p:cNvPicPr>
            <a:picLocks noChangeAspect="1"/>
          </p:cNvPicPr>
          <p:nvPr/>
        </p:nvPicPr>
        <p:blipFill>
          <a:blip r:embed="rId12"/>
          <a:stretch>
            <a:fillRect/>
          </a:stretch>
        </p:blipFill>
        <p:spPr>
          <a:xfrm>
            <a:off x="7356348" y="5682996"/>
            <a:ext cx="173736" cy="173736"/>
          </a:xfrm>
          <a:prstGeom prst="rect">
            <a:avLst/>
          </a:prstGeom>
        </p:spPr>
      </p:pic>
      <p:sp>
        <p:nvSpPr>
          <p:cNvPr id="57" name="text-156"/>
          <p:cNvSpPr txBox="1"/>
          <p:nvPr/>
        </p:nvSpPr>
        <p:spPr>
          <a:xfrm>
            <a:off x="7708392" y="5559552"/>
            <a:ext cx="1737360" cy="457200"/>
          </a:xfrm>
          <a:prstGeom prst="rect">
            <a:avLst/>
          </a:prstGeom>
          <a:noFill/>
          <a:ln/>
        </p:spPr>
        <p:txBody>
          <a:bodyPr wrap="square" lIns="0" tIns="0" rIns="0" bIns="0" rtlCol="0" anchor="ctr"/>
          <a:lstStyle/>
          <a:p>
            <a:pPr indent="0" marL="0">
              <a:buNone/>
            </a:pPr>
            <a:r>
              <a:rPr lang="en-US" sz="1200" b="1" dirty="0">
                <a:solidFill>
                  <a:schemeClr val="tx1"/>
                </a:solidFill>
                <a:latin typeface="Calibri" pitchFamily="34" charset="0"/>
                <a:ea typeface="Calibri" pitchFamily="34" charset="-122"/>
                <a:cs typeface="Calibri" pitchFamily="34" charset="-120"/>
              </a:rPr>
              <a:t>Measurable</a:t>
            </a:r>
            <a:endParaRPr lang="en-US" sz="1200" dirty="0"/>
          </a:p>
        </p:txBody>
      </p:sp>
      <p:sp>
        <p:nvSpPr>
          <p:cNvPr id="58" name="icon-circle-157"/>
          <p:cNvSpPr/>
          <p:nvPr/>
        </p:nvSpPr>
        <p:spPr>
          <a:xfrm>
            <a:off x="9509760" y="5596128"/>
            <a:ext cx="347472" cy="347472"/>
          </a:xfrm>
          <a:prstGeom prst="ellipse">
            <a:avLst/>
          </a:prstGeom>
          <a:solidFill>
            <a:schemeClr val="accent3"/>
          </a:solidFill>
          <a:ln w="12700">
            <a:solidFill>
              <a:schemeClr val="accent3"/>
            </a:solidFill>
            <a:prstDash val="solid"/>
          </a:ln>
        </p:spPr>
      </p:sp>
      <p:pic>
        <p:nvPicPr>
          <p:cNvPr id="59" name="icon-158" descr="preencoded.png">    </p:cNvPr>
          <p:cNvPicPr>
            <a:picLocks noChangeAspect="1"/>
          </p:cNvPicPr>
          <p:nvPr/>
        </p:nvPicPr>
        <p:blipFill>
          <a:blip r:embed="rId13"/>
          <a:stretch>
            <a:fillRect/>
          </a:stretch>
        </p:blipFill>
        <p:spPr>
          <a:xfrm>
            <a:off x="9596628" y="5682996"/>
            <a:ext cx="173736" cy="173736"/>
          </a:xfrm>
          <a:prstGeom prst="rect">
            <a:avLst/>
          </a:prstGeom>
        </p:spPr>
      </p:pic>
      <p:sp>
        <p:nvSpPr>
          <p:cNvPr id="60" name="text-159"/>
          <p:cNvSpPr txBox="1"/>
          <p:nvPr/>
        </p:nvSpPr>
        <p:spPr>
          <a:xfrm>
            <a:off x="9948672" y="5559552"/>
            <a:ext cx="1737360" cy="457200"/>
          </a:xfrm>
          <a:prstGeom prst="rect">
            <a:avLst/>
          </a:prstGeom>
          <a:noFill/>
          <a:ln/>
        </p:spPr>
        <p:txBody>
          <a:bodyPr wrap="square" lIns="0" tIns="0" rIns="0" bIns="0" rtlCol="0" anchor="ctr"/>
          <a:lstStyle/>
          <a:p>
            <a:pPr indent="0" marL="0">
              <a:buNone/>
            </a:pPr>
            <a:r>
              <a:rPr lang="en-US" sz="1200" b="1" dirty="0">
                <a:solidFill>
                  <a:schemeClr val="tx1"/>
                </a:solidFill>
                <a:latin typeface="Calibri" pitchFamily="34" charset="0"/>
                <a:ea typeface="Calibri" pitchFamily="34" charset="-122"/>
                <a:cs typeface="Calibri" pitchFamily="34" charset="-120"/>
              </a:rPr>
              <a:t>Demonstrable today</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229600" cy="274320"/>
          </a:xfrm>
          <a:prstGeom prst="rect">
            <a:avLst/>
          </a:prstGeom>
          <a:noFill/>
          <a:ln/>
        </p:spPr>
        <p:txBody>
          <a:bodyPr wrap="square" lIns="0" tIns="0" rIns="0" bIns="0" rtlCol="0" anchor="t"/>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HOW SMARTSELL WORKS</a:t>
            </a:r>
            <a:endParaRPr lang="en-US" sz="1100" dirty="0"/>
          </a:p>
        </p:txBody>
      </p:sp>
      <p:sp>
        <p:nvSpPr>
          <p:cNvPr id="3" name="Text 0"/>
          <p:cNvSpPr/>
          <p:nvPr>
            <p:ph idx="101" type="title" hasCustomPrompt="1"/>
          </p:nvPr>
        </p:nvSpPr>
        <p:spPr>
          <a:xfrm>
            <a:off x="548640" y="566928"/>
            <a:ext cx="11064240" cy="96012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A closed loop the rep runs in about four extra minutes per flagged outlet</a:t>
            </a:r>
            <a:endParaRPr lang="en-US" sz="3000" dirty="0"/>
          </a:p>
        </p:txBody>
      </p:sp>
      <p:sp>
        <p:nvSpPr>
          <p:cNvPr id="4" name="Text 0"/>
          <p:cNvSpPr/>
          <p:nvPr>
            <p:ph idx="102" type="body" hasCustomPrompt="1"/>
          </p:nvPr>
        </p:nvSpPr>
        <p:spPr>
          <a:xfrm>
            <a:off x="548640" y="6382512"/>
            <a:ext cx="9692640" cy="329184"/>
          </a:xfrm>
          <a:prstGeom prst="rect">
            <a:avLst/>
          </a:prstGeom>
          <a:noFill/>
          <a:ln/>
        </p:spPr>
        <p:txBody>
          <a:bodyPr wrap="square" lIns="0" tIns="0" rIns="0" bIns="0" rtlCol="0" anchor="t"/>
          <a:lstStyle/>
          <a:p>
            <a:pPr indent="0" marL="0">
              <a:buNone/>
            </a:pPr>
            <a:r>
              <a:rPr lang="en-US" sz="1000" dirty="0">
                <a:solidFill>
                  <a:schemeClr val="tx2"/>
                </a:solidFill>
                <a:latin typeface="Calibri" pitchFamily="34" charset="0"/>
                <a:ea typeface="Calibri" pitchFamily="34" charset="-122"/>
                <a:cs typeface="Calibri" pitchFamily="34" charset="-120"/>
              </a:rPr>
              <a:t>Design target of ≤4 extra minutes is an assumption and a pilot stop criterion. Case question A: "At which points during a retailer/distributor visit can slow-moving or ageing stock be spotted?"</a:t>
            </a:r>
            <a:endParaRPr lang="en-US" sz="1000" dirty="0"/>
          </a:p>
        </p:txBody>
      </p:sp>
      <p:sp>
        <p:nvSpPr>
          <p:cNvPr id="5" name="icon-circle-160"/>
          <p:cNvSpPr/>
          <p:nvPr/>
        </p:nvSpPr>
        <p:spPr>
          <a:xfrm>
            <a:off x="1097280" y="1737360"/>
            <a:ext cx="685800" cy="685800"/>
          </a:xfrm>
          <a:prstGeom prst="ellipse">
            <a:avLst/>
          </a:prstGeom>
          <a:solidFill>
            <a:schemeClr val="accent1"/>
          </a:solidFill>
          <a:ln w="12700">
            <a:solidFill>
              <a:schemeClr val="accent1"/>
            </a:solidFill>
            <a:prstDash val="solid"/>
          </a:ln>
        </p:spPr>
      </p:sp>
      <p:pic>
        <p:nvPicPr>
          <p:cNvPr id="6" name="icon-161" descr="preencoded.png">    </p:cNvPr>
          <p:cNvPicPr>
            <a:picLocks noChangeAspect="1"/>
          </p:cNvPicPr>
          <p:nvPr/>
        </p:nvPicPr>
        <p:blipFill>
          <a:blip r:embed="rId1"/>
          <a:stretch>
            <a:fillRect/>
          </a:stretch>
        </p:blipFill>
        <p:spPr>
          <a:xfrm>
            <a:off x="1268730" y="1908810"/>
            <a:ext cx="342900" cy="342900"/>
          </a:xfrm>
          <a:prstGeom prst="rect">
            <a:avLst/>
          </a:prstGeom>
        </p:spPr>
      </p:pic>
      <p:sp>
        <p:nvSpPr>
          <p:cNvPr id="7" name="text-162"/>
          <p:cNvSpPr txBox="1"/>
          <p:nvPr/>
        </p:nvSpPr>
        <p:spPr>
          <a:xfrm>
            <a:off x="548640" y="2514600"/>
            <a:ext cx="1783080" cy="320040"/>
          </a:xfrm>
          <a:prstGeom prst="rect">
            <a:avLst/>
          </a:prstGeom>
          <a:noFill/>
          <a:ln/>
        </p:spPr>
        <p:txBody>
          <a:bodyPr wrap="square" lIns="0" tIns="0" rIns="0" bIns="0" rtlCol="0" anchor="t"/>
          <a:lstStyle/>
          <a:p>
            <a:pPr algn="ctr" indent="0" marL="0">
              <a:buNone/>
            </a:pPr>
            <a:r>
              <a:rPr lang="en-US" sz="1600" b="1" dirty="0">
                <a:solidFill>
                  <a:schemeClr val="accent1"/>
                </a:solidFill>
                <a:latin typeface="Calibri" pitchFamily="34" charset="0"/>
                <a:ea typeface="Calibri" pitchFamily="34" charset="-122"/>
                <a:cs typeface="Calibri" pitchFamily="34" charset="-120"/>
              </a:rPr>
              <a:t>Capture</a:t>
            </a:r>
            <a:endParaRPr lang="en-US" sz="1600" dirty="0"/>
          </a:p>
        </p:txBody>
      </p:sp>
      <p:sp>
        <p:nvSpPr>
          <p:cNvPr id="8" name="text-163"/>
          <p:cNvSpPr txBox="1"/>
          <p:nvPr/>
        </p:nvSpPr>
        <p:spPr>
          <a:xfrm>
            <a:off x="594360" y="2834640"/>
            <a:ext cx="1691640" cy="64008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Count only flagged SKUs; scan batch and expiry</a:t>
            </a:r>
            <a:endParaRPr lang="en-US" sz="1200" dirty="0"/>
          </a:p>
        </p:txBody>
      </p:sp>
      <p:sp>
        <p:nvSpPr>
          <p:cNvPr id="9" name="arrow-164"/>
          <p:cNvSpPr/>
          <p:nvPr/>
        </p:nvSpPr>
        <p:spPr>
          <a:xfrm>
            <a:off x="1874520" y="2075688"/>
            <a:ext cx="621792" cy="0"/>
          </a:xfrm>
          <a:prstGeom prst="line">
            <a:avLst/>
          </a:prstGeom>
          <a:noFill/>
          <a:ln w="19050">
            <a:solidFill>
              <a:schemeClr val="accent2"/>
            </a:solidFill>
            <a:prstDash val="solid"/>
            <a:tailEnd type="triangle"/>
          </a:ln>
        </p:spPr>
      </p:sp>
      <p:sp>
        <p:nvSpPr>
          <p:cNvPr id="10" name="icon-circle-165"/>
          <p:cNvSpPr/>
          <p:nvPr/>
        </p:nvSpPr>
        <p:spPr>
          <a:xfrm>
            <a:off x="2962656" y="1737360"/>
            <a:ext cx="685800" cy="685800"/>
          </a:xfrm>
          <a:prstGeom prst="ellipse">
            <a:avLst/>
          </a:prstGeom>
          <a:solidFill>
            <a:schemeClr val="accent1"/>
          </a:solidFill>
          <a:ln w="12700">
            <a:solidFill>
              <a:schemeClr val="accent1"/>
            </a:solidFill>
            <a:prstDash val="solid"/>
          </a:ln>
        </p:spPr>
      </p:sp>
      <p:pic>
        <p:nvPicPr>
          <p:cNvPr id="11" name="icon-166" descr="preencoded.png">    </p:cNvPr>
          <p:cNvPicPr>
            <a:picLocks noChangeAspect="1"/>
          </p:cNvPicPr>
          <p:nvPr/>
        </p:nvPicPr>
        <p:blipFill>
          <a:blip r:embed="rId2"/>
          <a:stretch>
            <a:fillRect/>
          </a:stretch>
        </p:blipFill>
        <p:spPr>
          <a:xfrm>
            <a:off x="3134106" y="1908810"/>
            <a:ext cx="342900" cy="342900"/>
          </a:xfrm>
          <a:prstGeom prst="rect">
            <a:avLst/>
          </a:prstGeom>
        </p:spPr>
      </p:pic>
      <p:sp>
        <p:nvSpPr>
          <p:cNvPr id="12" name="text-167"/>
          <p:cNvSpPr txBox="1"/>
          <p:nvPr/>
        </p:nvSpPr>
        <p:spPr>
          <a:xfrm>
            <a:off x="2414016" y="2514600"/>
            <a:ext cx="1783080" cy="320040"/>
          </a:xfrm>
          <a:prstGeom prst="rect">
            <a:avLst/>
          </a:prstGeom>
          <a:noFill/>
          <a:ln/>
        </p:spPr>
        <p:txBody>
          <a:bodyPr wrap="square" lIns="0" tIns="0" rIns="0" bIns="0" rtlCol="0" anchor="t"/>
          <a:lstStyle/>
          <a:p>
            <a:pPr algn="ctr" indent="0" marL="0">
              <a:buNone/>
            </a:pPr>
            <a:r>
              <a:rPr lang="en-US" sz="1600" b="1" dirty="0">
                <a:solidFill>
                  <a:schemeClr val="accent1"/>
                </a:solidFill>
                <a:latin typeface="Calibri" pitchFamily="34" charset="0"/>
                <a:ea typeface="Calibri" pitchFamily="34" charset="-122"/>
                <a:cs typeface="Calibri" pitchFamily="34" charset="-120"/>
              </a:rPr>
              <a:t>Detect</a:t>
            </a:r>
            <a:endParaRPr lang="en-US" sz="1600" dirty="0"/>
          </a:p>
        </p:txBody>
      </p:sp>
      <p:sp>
        <p:nvSpPr>
          <p:cNvPr id="13" name="text-168"/>
          <p:cNvSpPr txBox="1"/>
          <p:nvPr/>
        </p:nvSpPr>
        <p:spPr>
          <a:xfrm>
            <a:off x="2459736" y="2834640"/>
            <a:ext cx="1691640" cy="64008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 at risk, days to act, stock-out, channel shift</a:t>
            </a:r>
            <a:endParaRPr lang="en-US" sz="1200" dirty="0"/>
          </a:p>
        </p:txBody>
      </p:sp>
      <p:sp>
        <p:nvSpPr>
          <p:cNvPr id="14" name="arrow-169"/>
          <p:cNvSpPr/>
          <p:nvPr/>
        </p:nvSpPr>
        <p:spPr>
          <a:xfrm>
            <a:off x="3739896" y="2075688"/>
            <a:ext cx="621792" cy="0"/>
          </a:xfrm>
          <a:prstGeom prst="line">
            <a:avLst/>
          </a:prstGeom>
          <a:noFill/>
          <a:ln w="19050">
            <a:solidFill>
              <a:schemeClr val="accent2"/>
            </a:solidFill>
            <a:prstDash val="solid"/>
            <a:tailEnd type="triangle"/>
          </a:ln>
        </p:spPr>
      </p:sp>
      <p:sp>
        <p:nvSpPr>
          <p:cNvPr id="15" name="icon-circle-170"/>
          <p:cNvSpPr/>
          <p:nvPr/>
        </p:nvSpPr>
        <p:spPr>
          <a:xfrm>
            <a:off x="4828032" y="1737360"/>
            <a:ext cx="685800" cy="685800"/>
          </a:xfrm>
          <a:prstGeom prst="ellipse">
            <a:avLst/>
          </a:prstGeom>
          <a:solidFill>
            <a:schemeClr val="accent1"/>
          </a:solidFill>
          <a:ln w="12700">
            <a:solidFill>
              <a:schemeClr val="accent1"/>
            </a:solidFill>
            <a:prstDash val="solid"/>
          </a:ln>
        </p:spPr>
      </p:sp>
      <p:pic>
        <p:nvPicPr>
          <p:cNvPr id="16" name="icon-171" descr="preencoded.png">    </p:cNvPr>
          <p:cNvPicPr>
            <a:picLocks noChangeAspect="1"/>
          </p:cNvPicPr>
          <p:nvPr/>
        </p:nvPicPr>
        <p:blipFill>
          <a:blip r:embed="rId3"/>
          <a:stretch>
            <a:fillRect/>
          </a:stretch>
        </p:blipFill>
        <p:spPr>
          <a:xfrm>
            <a:off x="4999482" y="1908810"/>
            <a:ext cx="342900" cy="342900"/>
          </a:xfrm>
          <a:prstGeom prst="rect">
            <a:avLst/>
          </a:prstGeom>
        </p:spPr>
      </p:pic>
      <p:sp>
        <p:nvSpPr>
          <p:cNvPr id="17" name="text-172"/>
          <p:cNvSpPr txBox="1"/>
          <p:nvPr/>
        </p:nvSpPr>
        <p:spPr>
          <a:xfrm>
            <a:off x="4279392" y="2514600"/>
            <a:ext cx="1783080" cy="320040"/>
          </a:xfrm>
          <a:prstGeom prst="rect">
            <a:avLst/>
          </a:prstGeom>
          <a:noFill/>
          <a:ln/>
        </p:spPr>
        <p:txBody>
          <a:bodyPr wrap="square" lIns="0" tIns="0" rIns="0" bIns="0" rtlCol="0" anchor="t"/>
          <a:lstStyle/>
          <a:p>
            <a:pPr algn="ctr" indent="0" marL="0">
              <a:buNone/>
            </a:pPr>
            <a:r>
              <a:rPr lang="en-US" sz="1600" b="1" dirty="0">
                <a:solidFill>
                  <a:schemeClr val="accent1"/>
                </a:solidFill>
                <a:latin typeface="Calibri" pitchFamily="34" charset="0"/>
                <a:ea typeface="Calibri" pitchFamily="34" charset="-122"/>
                <a:cs typeface="Calibri" pitchFamily="34" charset="-120"/>
              </a:rPr>
              <a:t>Recommend</a:t>
            </a:r>
            <a:endParaRPr lang="en-US" sz="1600" dirty="0"/>
          </a:p>
        </p:txBody>
      </p:sp>
      <p:sp>
        <p:nvSpPr>
          <p:cNvPr id="18" name="text-173"/>
          <p:cNvSpPr txBox="1"/>
          <p:nvPr/>
        </p:nvSpPr>
        <p:spPr>
          <a:xfrm>
            <a:off x="4325112" y="2834640"/>
            <a:ext cx="1691640" cy="64008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Cheapest sanctioned fix first</a:t>
            </a:r>
            <a:endParaRPr lang="en-US" sz="1200" dirty="0"/>
          </a:p>
        </p:txBody>
      </p:sp>
      <p:sp>
        <p:nvSpPr>
          <p:cNvPr id="19" name="arrow-174"/>
          <p:cNvSpPr/>
          <p:nvPr/>
        </p:nvSpPr>
        <p:spPr>
          <a:xfrm>
            <a:off x="5605272" y="2075688"/>
            <a:ext cx="621792" cy="0"/>
          </a:xfrm>
          <a:prstGeom prst="line">
            <a:avLst/>
          </a:prstGeom>
          <a:noFill/>
          <a:ln w="19050">
            <a:solidFill>
              <a:schemeClr val="accent2"/>
            </a:solidFill>
            <a:prstDash val="solid"/>
            <a:tailEnd type="triangle"/>
          </a:ln>
        </p:spPr>
      </p:sp>
      <p:sp>
        <p:nvSpPr>
          <p:cNvPr id="20" name="icon-circle-175"/>
          <p:cNvSpPr/>
          <p:nvPr/>
        </p:nvSpPr>
        <p:spPr>
          <a:xfrm>
            <a:off x="6693408" y="1737360"/>
            <a:ext cx="685800" cy="685800"/>
          </a:xfrm>
          <a:prstGeom prst="ellipse">
            <a:avLst/>
          </a:prstGeom>
          <a:solidFill>
            <a:schemeClr val="accent1"/>
          </a:solidFill>
          <a:ln w="12700">
            <a:solidFill>
              <a:schemeClr val="accent1"/>
            </a:solidFill>
            <a:prstDash val="solid"/>
          </a:ln>
        </p:spPr>
      </p:sp>
      <p:pic>
        <p:nvPicPr>
          <p:cNvPr id="21" name="icon-176" descr="preencoded.png">    </p:cNvPr>
          <p:cNvPicPr>
            <a:picLocks noChangeAspect="1"/>
          </p:cNvPicPr>
          <p:nvPr/>
        </p:nvPicPr>
        <p:blipFill>
          <a:blip r:embed="rId4"/>
          <a:stretch>
            <a:fillRect/>
          </a:stretch>
        </p:blipFill>
        <p:spPr>
          <a:xfrm>
            <a:off x="6864858" y="1908810"/>
            <a:ext cx="342900" cy="342900"/>
          </a:xfrm>
          <a:prstGeom prst="rect">
            <a:avLst/>
          </a:prstGeom>
        </p:spPr>
      </p:pic>
      <p:sp>
        <p:nvSpPr>
          <p:cNvPr id="22" name="text-177"/>
          <p:cNvSpPr txBox="1"/>
          <p:nvPr/>
        </p:nvSpPr>
        <p:spPr>
          <a:xfrm>
            <a:off x="6144768" y="2514600"/>
            <a:ext cx="1783080" cy="320040"/>
          </a:xfrm>
          <a:prstGeom prst="rect">
            <a:avLst/>
          </a:prstGeom>
          <a:noFill/>
          <a:ln/>
        </p:spPr>
        <p:txBody>
          <a:bodyPr wrap="square" lIns="0" tIns="0" rIns="0" bIns="0" rtlCol="0" anchor="t"/>
          <a:lstStyle/>
          <a:p>
            <a:pPr algn="ctr" indent="0" marL="0">
              <a:buNone/>
            </a:pPr>
            <a:r>
              <a:rPr lang="en-US" sz="1600" b="1" dirty="0">
                <a:solidFill>
                  <a:schemeClr val="accent1"/>
                </a:solidFill>
                <a:latin typeface="Calibri" pitchFamily="34" charset="0"/>
                <a:ea typeface="Calibri" pitchFamily="34" charset="-122"/>
                <a:cs typeface="Calibri" pitchFamily="34" charset="-120"/>
              </a:rPr>
              <a:t>Execute</a:t>
            </a:r>
            <a:endParaRPr lang="en-US" sz="1600" dirty="0"/>
          </a:p>
        </p:txBody>
      </p:sp>
      <p:sp>
        <p:nvSpPr>
          <p:cNvPr id="23" name="text-178"/>
          <p:cNvSpPr txBox="1"/>
          <p:nvPr/>
        </p:nvSpPr>
        <p:spPr>
          <a:xfrm>
            <a:off x="6190488" y="2834640"/>
            <a:ext cx="1691640" cy="64008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Accept, modify or reject; assign owner</a:t>
            </a:r>
            <a:endParaRPr lang="en-US" sz="1200" dirty="0"/>
          </a:p>
        </p:txBody>
      </p:sp>
      <p:sp>
        <p:nvSpPr>
          <p:cNvPr id="24" name="arrow-179"/>
          <p:cNvSpPr/>
          <p:nvPr/>
        </p:nvSpPr>
        <p:spPr>
          <a:xfrm>
            <a:off x="7470648" y="2075688"/>
            <a:ext cx="621792" cy="0"/>
          </a:xfrm>
          <a:prstGeom prst="line">
            <a:avLst/>
          </a:prstGeom>
          <a:noFill/>
          <a:ln w="19050">
            <a:solidFill>
              <a:schemeClr val="accent2"/>
            </a:solidFill>
            <a:prstDash val="solid"/>
            <a:tailEnd type="triangle"/>
          </a:ln>
        </p:spPr>
      </p:sp>
      <p:sp>
        <p:nvSpPr>
          <p:cNvPr id="25" name="icon-circle-180"/>
          <p:cNvSpPr/>
          <p:nvPr/>
        </p:nvSpPr>
        <p:spPr>
          <a:xfrm>
            <a:off x="8558784" y="1737360"/>
            <a:ext cx="685800" cy="685800"/>
          </a:xfrm>
          <a:prstGeom prst="ellipse">
            <a:avLst/>
          </a:prstGeom>
          <a:solidFill>
            <a:schemeClr val="accent1"/>
          </a:solidFill>
          <a:ln w="12700">
            <a:solidFill>
              <a:schemeClr val="accent1"/>
            </a:solidFill>
            <a:prstDash val="solid"/>
          </a:ln>
        </p:spPr>
      </p:sp>
      <p:pic>
        <p:nvPicPr>
          <p:cNvPr id="26" name="icon-181" descr="preencoded.png">    </p:cNvPr>
          <p:cNvPicPr>
            <a:picLocks noChangeAspect="1"/>
          </p:cNvPicPr>
          <p:nvPr/>
        </p:nvPicPr>
        <p:blipFill>
          <a:blip r:embed="rId5"/>
          <a:stretch>
            <a:fillRect/>
          </a:stretch>
        </p:blipFill>
        <p:spPr>
          <a:xfrm>
            <a:off x="8730234" y="1908810"/>
            <a:ext cx="342900" cy="342900"/>
          </a:xfrm>
          <a:prstGeom prst="rect">
            <a:avLst/>
          </a:prstGeom>
        </p:spPr>
      </p:pic>
      <p:sp>
        <p:nvSpPr>
          <p:cNvPr id="27" name="text-182"/>
          <p:cNvSpPr txBox="1"/>
          <p:nvPr/>
        </p:nvSpPr>
        <p:spPr>
          <a:xfrm>
            <a:off x="8010144" y="2514600"/>
            <a:ext cx="1783080" cy="320040"/>
          </a:xfrm>
          <a:prstGeom prst="rect">
            <a:avLst/>
          </a:prstGeom>
          <a:noFill/>
          <a:ln/>
        </p:spPr>
        <p:txBody>
          <a:bodyPr wrap="square" lIns="0" tIns="0" rIns="0" bIns="0" rtlCol="0" anchor="t"/>
          <a:lstStyle/>
          <a:p>
            <a:pPr algn="ctr" indent="0" marL="0">
              <a:buNone/>
            </a:pPr>
            <a:r>
              <a:rPr lang="en-US" sz="1600" b="1" dirty="0">
                <a:solidFill>
                  <a:schemeClr val="accent1"/>
                </a:solidFill>
                <a:latin typeface="Calibri" pitchFamily="34" charset="0"/>
                <a:ea typeface="Calibri" pitchFamily="34" charset="-122"/>
                <a:cs typeface="Calibri" pitchFamily="34" charset="-120"/>
              </a:rPr>
              <a:t>Measure</a:t>
            </a:r>
            <a:endParaRPr lang="en-US" sz="1600" dirty="0"/>
          </a:p>
        </p:txBody>
      </p:sp>
      <p:sp>
        <p:nvSpPr>
          <p:cNvPr id="28" name="text-183"/>
          <p:cNvSpPr txBox="1"/>
          <p:nvPr/>
        </p:nvSpPr>
        <p:spPr>
          <a:xfrm>
            <a:off x="8055864" y="2834640"/>
            <a:ext cx="1691640" cy="64008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Recount; verified ₹ rescued</a:t>
            </a:r>
            <a:endParaRPr lang="en-US" sz="1200" dirty="0"/>
          </a:p>
        </p:txBody>
      </p:sp>
      <p:sp>
        <p:nvSpPr>
          <p:cNvPr id="29" name="arrow-184"/>
          <p:cNvSpPr/>
          <p:nvPr/>
        </p:nvSpPr>
        <p:spPr>
          <a:xfrm>
            <a:off x="9336024" y="2075688"/>
            <a:ext cx="621792" cy="0"/>
          </a:xfrm>
          <a:prstGeom prst="line">
            <a:avLst/>
          </a:prstGeom>
          <a:noFill/>
          <a:ln w="19050">
            <a:solidFill>
              <a:schemeClr val="accent2"/>
            </a:solidFill>
            <a:prstDash val="solid"/>
            <a:tailEnd type="triangle"/>
          </a:ln>
        </p:spPr>
      </p:sp>
      <p:sp>
        <p:nvSpPr>
          <p:cNvPr id="30" name="icon-circle-185"/>
          <p:cNvSpPr/>
          <p:nvPr/>
        </p:nvSpPr>
        <p:spPr>
          <a:xfrm>
            <a:off x="10424160" y="1737360"/>
            <a:ext cx="685800" cy="685800"/>
          </a:xfrm>
          <a:prstGeom prst="ellipse">
            <a:avLst/>
          </a:prstGeom>
          <a:solidFill>
            <a:schemeClr val="accent3"/>
          </a:solidFill>
          <a:ln w="12700">
            <a:solidFill>
              <a:schemeClr val="accent3"/>
            </a:solidFill>
            <a:prstDash val="solid"/>
          </a:ln>
        </p:spPr>
      </p:sp>
      <p:pic>
        <p:nvPicPr>
          <p:cNvPr id="31" name="icon-186" descr="preencoded.png">    </p:cNvPr>
          <p:cNvPicPr>
            <a:picLocks noChangeAspect="1"/>
          </p:cNvPicPr>
          <p:nvPr/>
        </p:nvPicPr>
        <p:blipFill>
          <a:blip r:embed="rId6"/>
          <a:stretch>
            <a:fillRect/>
          </a:stretch>
        </p:blipFill>
        <p:spPr>
          <a:xfrm>
            <a:off x="10595610" y="1908810"/>
            <a:ext cx="342900" cy="342900"/>
          </a:xfrm>
          <a:prstGeom prst="rect">
            <a:avLst/>
          </a:prstGeom>
        </p:spPr>
      </p:pic>
      <p:sp>
        <p:nvSpPr>
          <p:cNvPr id="32" name="text-187"/>
          <p:cNvSpPr txBox="1"/>
          <p:nvPr/>
        </p:nvSpPr>
        <p:spPr>
          <a:xfrm>
            <a:off x="9875520" y="2514600"/>
            <a:ext cx="1783080" cy="320040"/>
          </a:xfrm>
          <a:prstGeom prst="rect">
            <a:avLst/>
          </a:prstGeom>
          <a:noFill/>
          <a:ln/>
        </p:spPr>
        <p:txBody>
          <a:bodyPr wrap="square" lIns="0" tIns="0" rIns="0" bIns="0" rtlCol="0" anchor="t"/>
          <a:lstStyle/>
          <a:p>
            <a:pPr algn="ctr" indent="0" marL="0">
              <a:buNone/>
            </a:pPr>
            <a:r>
              <a:rPr lang="en-US" sz="1600" b="1" dirty="0">
                <a:solidFill>
                  <a:schemeClr val="accent1"/>
                </a:solidFill>
                <a:latin typeface="Calibri" pitchFamily="34" charset="0"/>
                <a:ea typeface="Calibri" pitchFamily="34" charset="-122"/>
                <a:cs typeface="Calibri" pitchFamily="34" charset="-120"/>
              </a:rPr>
              <a:t>Learn</a:t>
            </a:r>
            <a:endParaRPr lang="en-US" sz="1600" dirty="0"/>
          </a:p>
        </p:txBody>
      </p:sp>
      <p:sp>
        <p:nvSpPr>
          <p:cNvPr id="33" name="text-188"/>
          <p:cNvSpPr txBox="1"/>
          <p:nvPr/>
        </p:nvSpPr>
        <p:spPr>
          <a:xfrm>
            <a:off x="9921240" y="2834640"/>
            <a:ext cx="1691640" cy="64008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Reject reasons and outcomes tune the rules</a:t>
            </a:r>
            <a:endParaRPr lang="en-US" sz="1200" dirty="0"/>
          </a:p>
        </p:txBody>
      </p:sp>
      <p:sp>
        <p:nvSpPr>
          <p:cNvPr id="34" name="text-189"/>
          <p:cNvSpPr txBox="1"/>
          <p:nvPr/>
        </p:nvSpPr>
        <p:spPr>
          <a:xfrm>
            <a:off x="548640" y="3749040"/>
            <a:ext cx="10972800" cy="36576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Six moments in a visit where slow or ageing stock gives itself away</a:t>
            </a:r>
            <a:endParaRPr lang="en-US" sz="1600" dirty="0"/>
          </a:p>
        </p:txBody>
      </p:sp>
      <p:sp>
        <p:nvSpPr>
          <p:cNvPr id="35" name="card-190"/>
          <p:cNvSpPr/>
          <p:nvPr/>
        </p:nvSpPr>
        <p:spPr>
          <a:xfrm>
            <a:off x="548640" y="4206240"/>
            <a:ext cx="1755648" cy="1920240"/>
          </a:xfrm>
          <a:prstGeom prst="roundRect">
            <a:avLst>
              <a:gd name="adj" fmla="val 4167"/>
            </a:avLst>
          </a:prstGeom>
          <a:solidFill>
            <a:schemeClr val="bg2"/>
          </a:solidFill>
          <a:ln w="12700">
            <a:solidFill>
              <a:schemeClr val="bg2"/>
            </a:solidFill>
            <a:prstDash val="solid"/>
          </a:ln>
        </p:spPr>
      </p:sp>
      <p:sp>
        <p:nvSpPr>
          <p:cNvPr id="36" name="text-191"/>
          <p:cNvSpPr txBox="1"/>
          <p:nvPr/>
        </p:nvSpPr>
        <p:spPr>
          <a:xfrm>
            <a:off x="685800" y="4315968"/>
            <a:ext cx="365760" cy="365760"/>
          </a:xfrm>
          <a:prstGeom prst="rect">
            <a:avLst/>
          </a:prstGeom>
          <a:noFill/>
          <a:ln/>
        </p:spPr>
        <p:txBody>
          <a:bodyPr wrap="square" lIns="0" tIns="0" rIns="0" bIns="0" rtlCol="0" anchor="t"/>
          <a:lstStyle/>
          <a:p>
            <a:pPr indent="0" marL="0">
              <a:buNone/>
            </a:pPr>
            <a:r>
              <a:rPr lang="en-US" sz="2200" b="1" dirty="0">
                <a:solidFill>
                  <a:schemeClr val="accent2"/>
                </a:solidFill>
                <a:latin typeface="Cambria" pitchFamily="34" charset="0"/>
                <a:ea typeface="Cambria" pitchFamily="34" charset="-122"/>
                <a:cs typeface="Cambria" pitchFamily="34" charset="-120"/>
              </a:rPr>
              <a:t>1</a:t>
            </a:r>
            <a:endParaRPr lang="en-US" sz="2200" dirty="0"/>
          </a:p>
        </p:txBody>
      </p:sp>
      <p:sp>
        <p:nvSpPr>
          <p:cNvPr id="37" name="text-192"/>
          <p:cNvSpPr txBox="1"/>
          <p:nvPr/>
        </p:nvSpPr>
        <p:spPr>
          <a:xfrm>
            <a:off x="1371600" y="4370832"/>
            <a:ext cx="822960" cy="274320"/>
          </a:xfrm>
          <a:prstGeom prst="rect">
            <a:avLst/>
          </a:prstGeom>
          <a:noFill/>
          <a:ln/>
        </p:spPr>
        <p:txBody>
          <a:bodyPr wrap="square" lIns="0" tIns="0" rIns="0" bIns="0" rtlCol="0" anchor="t"/>
          <a:lstStyle/>
          <a:p>
            <a:pPr algn="r" indent="0" marL="0">
              <a:buNone/>
            </a:pPr>
            <a:r>
              <a:rPr lang="en-US" sz="1100" dirty="0">
                <a:solidFill>
                  <a:schemeClr val="tx2"/>
                </a:solidFill>
                <a:latin typeface="Calibri" pitchFamily="34" charset="0"/>
                <a:ea typeface="Calibri" pitchFamily="34" charset="-122"/>
                <a:cs typeface="Calibri" pitchFamily="34" charset="-120"/>
              </a:rPr>
              <a:t>30 s</a:t>
            </a:r>
            <a:endParaRPr lang="en-US" sz="1100" dirty="0"/>
          </a:p>
        </p:txBody>
      </p:sp>
      <p:sp>
        <p:nvSpPr>
          <p:cNvPr id="38" name="text-193"/>
          <p:cNvSpPr txBox="1"/>
          <p:nvPr/>
        </p:nvSpPr>
        <p:spPr>
          <a:xfrm>
            <a:off x="685800" y="4736592"/>
            <a:ext cx="1508760" cy="32004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Pre-visit brief</a:t>
            </a:r>
            <a:endParaRPr lang="en-US" sz="1400" dirty="0"/>
          </a:p>
        </p:txBody>
      </p:sp>
      <p:sp>
        <p:nvSpPr>
          <p:cNvPr id="39" name="text-194"/>
          <p:cNvSpPr txBox="1"/>
          <p:nvPr/>
        </p:nvSpPr>
        <p:spPr>
          <a:xfrm>
            <a:off x="685800" y="5074920"/>
            <a:ext cx="1508760" cy="96012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Phone shows the 5–10 SKUs predicted at risk</a:t>
            </a:r>
            <a:endParaRPr lang="en-US" sz="1200" dirty="0"/>
          </a:p>
        </p:txBody>
      </p:sp>
      <p:sp>
        <p:nvSpPr>
          <p:cNvPr id="40" name="card-195"/>
          <p:cNvSpPr/>
          <p:nvPr/>
        </p:nvSpPr>
        <p:spPr>
          <a:xfrm>
            <a:off x="2414016" y="4206240"/>
            <a:ext cx="1755648" cy="1920240"/>
          </a:xfrm>
          <a:prstGeom prst="roundRect">
            <a:avLst>
              <a:gd name="adj" fmla="val 4167"/>
            </a:avLst>
          </a:prstGeom>
          <a:solidFill>
            <a:schemeClr val="bg2"/>
          </a:solidFill>
          <a:ln w="12700">
            <a:solidFill>
              <a:schemeClr val="bg2"/>
            </a:solidFill>
            <a:prstDash val="solid"/>
          </a:ln>
        </p:spPr>
      </p:sp>
      <p:sp>
        <p:nvSpPr>
          <p:cNvPr id="41" name="text-196"/>
          <p:cNvSpPr txBox="1"/>
          <p:nvPr/>
        </p:nvSpPr>
        <p:spPr>
          <a:xfrm>
            <a:off x="2551176" y="4315968"/>
            <a:ext cx="365760" cy="365760"/>
          </a:xfrm>
          <a:prstGeom prst="rect">
            <a:avLst/>
          </a:prstGeom>
          <a:noFill/>
          <a:ln/>
        </p:spPr>
        <p:txBody>
          <a:bodyPr wrap="square" lIns="0" tIns="0" rIns="0" bIns="0" rtlCol="0" anchor="t"/>
          <a:lstStyle/>
          <a:p>
            <a:pPr indent="0" marL="0">
              <a:buNone/>
            </a:pPr>
            <a:r>
              <a:rPr lang="en-US" sz="2200" b="1" dirty="0">
                <a:solidFill>
                  <a:schemeClr val="accent2"/>
                </a:solidFill>
                <a:latin typeface="Cambria" pitchFamily="34" charset="0"/>
                <a:ea typeface="Cambria" pitchFamily="34" charset="-122"/>
                <a:cs typeface="Cambria" pitchFamily="34" charset="-120"/>
              </a:rPr>
              <a:t>2</a:t>
            </a:r>
            <a:endParaRPr lang="en-US" sz="2200" dirty="0"/>
          </a:p>
        </p:txBody>
      </p:sp>
      <p:sp>
        <p:nvSpPr>
          <p:cNvPr id="42" name="text-197"/>
          <p:cNvSpPr txBox="1"/>
          <p:nvPr/>
        </p:nvSpPr>
        <p:spPr>
          <a:xfrm>
            <a:off x="3236976" y="4370832"/>
            <a:ext cx="822960" cy="274320"/>
          </a:xfrm>
          <a:prstGeom prst="rect">
            <a:avLst/>
          </a:prstGeom>
          <a:noFill/>
          <a:ln/>
        </p:spPr>
        <p:txBody>
          <a:bodyPr wrap="square" lIns="0" tIns="0" rIns="0" bIns="0" rtlCol="0" anchor="t"/>
          <a:lstStyle/>
          <a:p>
            <a:pPr algn="r" indent="0" marL="0">
              <a:buNone/>
            </a:pPr>
            <a:r>
              <a:rPr lang="en-US" sz="1100" dirty="0">
                <a:solidFill>
                  <a:schemeClr val="tx2"/>
                </a:solidFill>
                <a:latin typeface="Calibri" pitchFamily="34" charset="0"/>
                <a:ea typeface="Calibri" pitchFamily="34" charset="-122"/>
                <a:cs typeface="Calibri" pitchFamily="34" charset="-120"/>
              </a:rPr>
              <a:t>60–90 s</a:t>
            </a:r>
            <a:endParaRPr lang="en-US" sz="1100" dirty="0"/>
          </a:p>
        </p:txBody>
      </p:sp>
      <p:sp>
        <p:nvSpPr>
          <p:cNvPr id="43" name="text-198"/>
          <p:cNvSpPr txBox="1"/>
          <p:nvPr/>
        </p:nvSpPr>
        <p:spPr>
          <a:xfrm>
            <a:off x="2551176" y="4736592"/>
            <a:ext cx="1508760" cy="32004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Shelf walk</a:t>
            </a:r>
            <a:endParaRPr lang="en-US" sz="1400" dirty="0"/>
          </a:p>
        </p:txBody>
      </p:sp>
      <p:sp>
        <p:nvSpPr>
          <p:cNvPr id="44" name="text-199"/>
          <p:cNvSpPr txBox="1"/>
          <p:nvPr/>
        </p:nvSpPr>
        <p:spPr>
          <a:xfrm>
            <a:off x="2551176" y="5074920"/>
            <a:ext cx="1508760" cy="96012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Dust, faded packs, same facings as last time</a:t>
            </a:r>
            <a:endParaRPr lang="en-US" sz="1200" dirty="0"/>
          </a:p>
        </p:txBody>
      </p:sp>
      <p:sp>
        <p:nvSpPr>
          <p:cNvPr id="45" name="card-200"/>
          <p:cNvSpPr/>
          <p:nvPr/>
        </p:nvSpPr>
        <p:spPr>
          <a:xfrm>
            <a:off x="4279392" y="4206240"/>
            <a:ext cx="1755648" cy="1920240"/>
          </a:xfrm>
          <a:prstGeom prst="roundRect">
            <a:avLst>
              <a:gd name="adj" fmla="val 4167"/>
            </a:avLst>
          </a:prstGeom>
          <a:solidFill>
            <a:schemeClr val="bg2"/>
          </a:solidFill>
          <a:ln w="12700">
            <a:solidFill>
              <a:schemeClr val="bg2"/>
            </a:solidFill>
            <a:prstDash val="solid"/>
          </a:ln>
        </p:spPr>
      </p:sp>
      <p:sp>
        <p:nvSpPr>
          <p:cNvPr id="46" name="text-201"/>
          <p:cNvSpPr txBox="1"/>
          <p:nvPr/>
        </p:nvSpPr>
        <p:spPr>
          <a:xfrm>
            <a:off x="4416552" y="4315968"/>
            <a:ext cx="365760" cy="365760"/>
          </a:xfrm>
          <a:prstGeom prst="rect">
            <a:avLst/>
          </a:prstGeom>
          <a:noFill/>
          <a:ln/>
        </p:spPr>
        <p:txBody>
          <a:bodyPr wrap="square" lIns="0" tIns="0" rIns="0" bIns="0" rtlCol="0" anchor="t"/>
          <a:lstStyle/>
          <a:p>
            <a:pPr indent="0" marL="0">
              <a:buNone/>
            </a:pPr>
            <a:r>
              <a:rPr lang="en-US" sz="2200" b="1" dirty="0">
                <a:solidFill>
                  <a:schemeClr val="accent2"/>
                </a:solidFill>
                <a:latin typeface="Cambria" pitchFamily="34" charset="0"/>
                <a:ea typeface="Cambria" pitchFamily="34" charset="-122"/>
                <a:cs typeface="Cambria" pitchFamily="34" charset="-120"/>
              </a:rPr>
              <a:t>3</a:t>
            </a:r>
            <a:endParaRPr lang="en-US" sz="2200" dirty="0"/>
          </a:p>
        </p:txBody>
      </p:sp>
      <p:sp>
        <p:nvSpPr>
          <p:cNvPr id="47" name="text-202"/>
          <p:cNvSpPr txBox="1"/>
          <p:nvPr/>
        </p:nvSpPr>
        <p:spPr>
          <a:xfrm>
            <a:off x="5102352" y="4370832"/>
            <a:ext cx="822960" cy="274320"/>
          </a:xfrm>
          <a:prstGeom prst="rect">
            <a:avLst/>
          </a:prstGeom>
          <a:noFill/>
          <a:ln/>
        </p:spPr>
        <p:txBody>
          <a:bodyPr wrap="square" lIns="0" tIns="0" rIns="0" bIns="0" rtlCol="0" anchor="t"/>
          <a:lstStyle/>
          <a:p>
            <a:pPr algn="r" indent="0" marL="0">
              <a:buNone/>
            </a:pPr>
            <a:r>
              <a:rPr lang="en-US" sz="1100" dirty="0">
                <a:solidFill>
                  <a:schemeClr val="tx2"/>
                </a:solidFill>
                <a:latin typeface="Calibri" pitchFamily="34" charset="0"/>
                <a:ea typeface="Calibri" pitchFamily="34" charset="-122"/>
                <a:cs typeface="Calibri" pitchFamily="34" charset="-120"/>
              </a:rPr>
              <a:t>60 s</a:t>
            </a:r>
            <a:endParaRPr lang="en-US" sz="1100" dirty="0"/>
          </a:p>
        </p:txBody>
      </p:sp>
      <p:sp>
        <p:nvSpPr>
          <p:cNvPr id="48" name="text-203"/>
          <p:cNvSpPr txBox="1"/>
          <p:nvPr/>
        </p:nvSpPr>
        <p:spPr>
          <a:xfrm>
            <a:off x="4416552" y="4736592"/>
            <a:ext cx="1508760" cy="32004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Back room</a:t>
            </a:r>
            <a:endParaRPr lang="en-US" sz="1400" dirty="0"/>
          </a:p>
        </p:txBody>
      </p:sp>
      <p:sp>
        <p:nvSpPr>
          <p:cNvPr id="49" name="text-204"/>
          <p:cNvSpPr txBox="1"/>
          <p:nvPr/>
        </p:nvSpPr>
        <p:spPr>
          <a:xfrm>
            <a:off x="4416552" y="5074920"/>
            <a:ext cx="1508760" cy="96012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Unopened cartons, oldest batch codes</a:t>
            </a:r>
            <a:endParaRPr lang="en-US" sz="1200" dirty="0"/>
          </a:p>
        </p:txBody>
      </p:sp>
      <p:sp>
        <p:nvSpPr>
          <p:cNvPr id="50" name="card-205"/>
          <p:cNvSpPr/>
          <p:nvPr/>
        </p:nvSpPr>
        <p:spPr>
          <a:xfrm>
            <a:off x="6144768" y="4206240"/>
            <a:ext cx="1755648" cy="1920240"/>
          </a:xfrm>
          <a:prstGeom prst="roundRect">
            <a:avLst>
              <a:gd name="adj" fmla="val 4167"/>
            </a:avLst>
          </a:prstGeom>
          <a:solidFill>
            <a:schemeClr val="bg2"/>
          </a:solidFill>
          <a:ln w="12700">
            <a:solidFill>
              <a:schemeClr val="bg2"/>
            </a:solidFill>
            <a:prstDash val="solid"/>
          </a:ln>
        </p:spPr>
      </p:sp>
      <p:sp>
        <p:nvSpPr>
          <p:cNvPr id="51" name="text-206"/>
          <p:cNvSpPr txBox="1"/>
          <p:nvPr/>
        </p:nvSpPr>
        <p:spPr>
          <a:xfrm>
            <a:off x="6281928" y="4315968"/>
            <a:ext cx="365760" cy="365760"/>
          </a:xfrm>
          <a:prstGeom prst="rect">
            <a:avLst/>
          </a:prstGeom>
          <a:noFill/>
          <a:ln/>
        </p:spPr>
        <p:txBody>
          <a:bodyPr wrap="square" lIns="0" tIns="0" rIns="0" bIns="0" rtlCol="0" anchor="t"/>
          <a:lstStyle/>
          <a:p>
            <a:pPr indent="0" marL="0">
              <a:buNone/>
            </a:pPr>
            <a:r>
              <a:rPr lang="en-US" sz="2200" b="1" dirty="0">
                <a:solidFill>
                  <a:schemeClr val="accent2"/>
                </a:solidFill>
                <a:latin typeface="Cambria" pitchFamily="34" charset="0"/>
                <a:ea typeface="Cambria" pitchFamily="34" charset="-122"/>
                <a:cs typeface="Cambria" pitchFamily="34" charset="-120"/>
              </a:rPr>
              <a:t>4</a:t>
            </a:r>
            <a:endParaRPr lang="en-US" sz="2200" dirty="0"/>
          </a:p>
        </p:txBody>
      </p:sp>
      <p:sp>
        <p:nvSpPr>
          <p:cNvPr id="52" name="text-207"/>
          <p:cNvSpPr txBox="1"/>
          <p:nvPr/>
        </p:nvSpPr>
        <p:spPr>
          <a:xfrm>
            <a:off x="6967728" y="4370832"/>
            <a:ext cx="822960" cy="274320"/>
          </a:xfrm>
          <a:prstGeom prst="rect">
            <a:avLst/>
          </a:prstGeom>
          <a:noFill/>
          <a:ln/>
        </p:spPr>
        <p:txBody>
          <a:bodyPr wrap="square" lIns="0" tIns="0" rIns="0" bIns="0" rtlCol="0" anchor="t"/>
          <a:lstStyle/>
          <a:p>
            <a:pPr algn="r" indent="0" marL="0">
              <a:buNone/>
            </a:pPr>
            <a:r>
              <a:rPr lang="en-US" sz="1100" dirty="0">
                <a:solidFill>
                  <a:schemeClr val="tx2"/>
                </a:solidFill>
                <a:latin typeface="Calibri" pitchFamily="34" charset="0"/>
                <a:ea typeface="Calibri" pitchFamily="34" charset="-122"/>
                <a:cs typeface="Calibri" pitchFamily="34" charset="-120"/>
              </a:rPr>
              <a:t>60 s</a:t>
            </a:r>
            <a:endParaRPr lang="en-US" sz="1100" dirty="0"/>
          </a:p>
        </p:txBody>
      </p:sp>
      <p:sp>
        <p:nvSpPr>
          <p:cNvPr id="53" name="text-208"/>
          <p:cNvSpPr txBox="1"/>
          <p:nvPr/>
        </p:nvSpPr>
        <p:spPr>
          <a:xfrm>
            <a:off x="6281928" y="4736592"/>
            <a:ext cx="1508760" cy="32004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Retailer chat</a:t>
            </a:r>
            <a:endParaRPr lang="en-US" sz="1400" dirty="0"/>
          </a:p>
        </p:txBody>
      </p:sp>
      <p:sp>
        <p:nvSpPr>
          <p:cNvPr id="54" name="text-209"/>
          <p:cNvSpPr txBox="1"/>
          <p:nvPr/>
        </p:nvSpPr>
        <p:spPr>
          <a:xfrm>
            <a:off x="6281928" y="5074920"/>
            <a:ext cx="1508760" cy="96012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"What aren't customers asking for?"</a:t>
            </a:r>
            <a:endParaRPr lang="en-US" sz="1200" dirty="0"/>
          </a:p>
        </p:txBody>
      </p:sp>
      <p:sp>
        <p:nvSpPr>
          <p:cNvPr id="55" name="card-210"/>
          <p:cNvSpPr/>
          <p:nvPr/>
        </p:nvSpPr>
        <p:spPr>
          <a:xfrm>
            <a:off x="8010144" y="4206240"/>
            <a:ext cx="1755648" cy="1920240"/>
          </a:xfrm>
          <a:prstGeom prst="roundRect">
            <a:avLst>
              <a:gd name="adj" fmla="val 4167"/>
            </a:avLst>
          </a:prstGeom>
          <a:solidFill>
            <a:schemeClr val="bg2"/>
          </a:solidFill>
          <a:ln w="12700">
            <a:solidFill>
              <a:schemeClr val="bg2"/>
            </a:solidFill>
            <a:prstDash val="solid"/>
          </a:ln>
        </p:spPr>
      </p:sp>
      <p:sp>
        <p:nvSpPr>
          <p:cNvPr id="56" name="text-211"/>
          <p:cNvSpPr txBox="1"/>
          <p:nvPr/>
        </p:nvSpPr>
        <p:spPr>
          <a:xfrm>
            <a:off x="8147304" y="4315968"/>
            <a:ext cx="365760" cy="365760"/>
          </a:xfrm>
          <a:prstGeom prst="rect">
            <a:avLst/>
          </a:prstGeom>
          <a:noFill/>
          <a:ln/>
        </p:spPr>
        <p:txBody>
          <a:bodyPr wrap="square" lIns="0" tIns="0" rIns="0" bIns="0" rtlCol="0" anchor="t"/>
          <a:lstStyle/>
          <a:p>
            <a:pPr indent="0" marL="0">
              <a:buNone/>
            </a:pPr>
            <a:r>
              <a:rPr lang="en-US" sz="2200" b="1" dirty="0">
                <a:solidFill>
                  <a:schemeClr val="accent2"/>
                </a:solidFill>
                <a:latin typeface="Cambria" pitchFamily="34" charset="0"/>
                <a:ea typeface="Cambria" pitchFamily="34" charset="-122"/>
                <a:cs typeface="Cambria" pitchFamily="34" charset="-120"/>
              </a:rPr>
              <a:t>5</a:t>
            </a:r>
            <a:endParaRPr lang="en-US" sz="2200" dirty="0"/>
          </a:p>
        </p:txBody>
      </p:sp>
      <p:sp>
        <p:nvSpPr>
          <p:cNvPr id="57" name="text-212"/>
          <p:cNvSpPr txBox="1"/>
          <p:nvPr/>
        </p:nvSpPr>
        <p:spPr>
          <a:xfrm>
            <a:off x="8833104" y="4370832"/>
            <a:ext cx="822960" cy="274320"/>
          </a:xfrm>
          <a:prstGeom prst="rect">
            <a:avLst/>
          </a:prstGeom>
          <a:noFill/>
          <a:ln/>
        </p:spPr>
        <p:txBody>
          <a:bodyPr wrap="square" lIns="0" tIns="0" rIns="0" bIns="0" rtlCol="0" anchor="t"/>
          <a:lstStyle/>
          <a:p>
            <a:pPr algn="r" indent="0" marL="0">
              <a:buNone/>
            </a:pPr>
            <a:r>
              <a:rPr lang="en-US" sz="1100" dirty="0">
                <a:solidFill>
                  <a:schemeClr val="tx2"/>
                </a:solidFill>
                <a:latin typeface="Calibri" pitchFamily="34" charset="0"/>
                <a:ea typeface="Calibri" pitchFamily="34" charset="-122"/>
                <a:cs typeface="Calibri" pitchFamily="34" charset="-120"/>
              </a:rPr>
              <a:t>30 s</a:t>
            </a:r>
            <a:endParaRPr lang="en-US" sz="1100" dirty="0"/>
          </a:p>
        </p:txBody>
      </p:sp>
      <p:sp>
        <p:nvSpPr>
          <p:cNvPr id="58" name="text-213"/>
          <p:cNvSpPr txBox="1"/>
          <p:nvPr/>
        </p:nvSpPr>
        <p:spPr>
          <a:xfrm>
            <a:off x="8147304" y="4736592"/>
            <a:ext cx="1508760" cy="32004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Order moment</a:t>
            </a:r>
            <a:endParaRPr lang="en-US" sz="1400" dirty="0"/>
          </a:p>
        </p:txBody>
      </p:sp>
      <p:sp>
        <p:nvSpPr>
          <p:cNvPr id="59" name="text-214"/>
          <p:cNvSpPr txBox="1"/>
          <p:nvPr/>
        </p:nvSpPr>
        <p:spPr>
          <a:xfrm>
            <a:off x="8147304" y="5074920"/>
            <a:ext cx="1508760" cy="96012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Guardrail: suggested vs asked quantity</a:t>
            </a:r>
            <a:endParaRPr lang="en-US" sz="1200" dirty="0"/>
          </a:p>
        </p:txBody>
      </p:sp>
      <p:sp>
        <p:nvSpPr>
          <p:cNvPr id="60" name="card-215"/>
          <p:cNvSpPr/>
          <p:nvPr/>
        </p:nvSpPr>
        <p:spPr>
          <a:xfrm>
            <a:off x="9875520" y="4206240"/>
            <a:ext cx="1755648" cy="1920240"/>
          </a:xfrm>
          <a:prstGeom prst="roundRect">
            <a:avLst>
              <a:gd name="adj" fmla="val 4167"/>
            </a:avLst>
          </a:prstGeom>
          <a:solidFill>
            <a:schemeClr val="bg2"/>
          </a:solidFill>
          <a:ln w="12700">
            <a:solidFill>
              <a:schemeClr val="bg2"/>
            </a:solidFill>
            <a:prstDash val="solid"/>
          </a:ln>
        </p:spPr>
      </p:sp>
      <p:sp>
        <p:nvSpPr>
          <p:cNvPr id="61" name="text-216"/>
          <p:cNvSpPr txBox="1"/>
          <p:nvPr/>
        </p:nvSpPr>
        <p:spPr>
          <a:xfrm>
            <a:off x="10012680" y="4315968"/>
            <a:ext cx="365760" cy="365760"/>
          </a:xfrm>
          <a:prstGeom prst="rect">
            <a:avLst/>
          </a:prstGeom>
          <a:noFill/>
          <a:ln/>
        </p:spPr>
        <p:txBody>
          <a:bodyPr wrap="square" lIns="0" tIns="0" rIns="0" bIns="0" rtlCol="0" anchor="t"/>
          <a:lstStyle/>
          <a:p>
            <a:pPr indent="0" marL="0">
              <a:buNone/>
            </a:pPr>
            <a:r>
              <a:rPr lang="en-US" sz="2200" b="1" dirty="0">
                <a:solidFill>
                  <a:schemeClr val="accent2"/>
                </a:solidFill>
                <a:latin typeface="Cambria" pitchFamily="34" charset="0"/>
                <a:ea typeface="Cambria" pitchFamily="34" charset="-122"/>
                <a:cs typeface="Cambria" pitchFamily="34" charset="-120"/>
              </a:rPr>
              <a:t>6</a:t>
            </a:r>
            <a:endParaRPr lang="en-US" sz="2200" dirty="0"/>
          </a:p>
        </p:txBody>
      </p:sp>
      <p:sp>
        <p:nvSpPr>
          <p:cNvPr id="62" name="text-217"/>
          <p:cNvSpPr txBox="1"/>
          <p:nvPr/>
        </p:nvSpPr>
        <p:spPr>
          <a:xfrm>
            <a:off x="10698480" y="4370832"/>
            <a:ext cx="822960" cy="274320"/>
          </a:xfrm>
          <a:prstGeom prst="rect">
            <a:avLst/>
          </a:prstGeom>
          <a:noFill/>
          <a:ln/>
        </p:spPr>
        <p:txBody>
          <a:bodyPr wrap="square" lIns="0" tIns="0" rIns="0" bIns="0" rtlCol="0" anchor="t"/>
          <a:lstStyle/>
          <a:p>
            <a:pPr algn="r" indent="0" marL="0">
              <a:buNone/>
            </a:pPr>
            <a:r>
              <a:rPr lang="en-US" sz="1100" dirty="0">
                <a:solidFill>
                  <a:schemeClr val="tx2"/>
                </a:solidFill>
                <a:latin typeface="Calibri" pitchFamily="34" charset="0"/>
                <a:ea typeface="Calibri" pitchFamily="34" charset="-122"/>
                <a:cs typeface="Calibri" pitchFamily="34" charset="-120"/>
              </a:rPr>
              <a:t>auto</a:t>
            </a:r>
            <a:endParaRPr lang="en-US" sz="1100" dirty="0"/>
          </a:p>
        </p:txBody>
      </p:sp>
      <p:sp>
        <p:nvSpPr>
          <p:cNvPr id="63" name="text-218"/>
          <p:cNvSpPr txBox="1"/>
          <p:nvPr/>
        </p:nvSpPr>
        <p:spPr>
          <a:xfrm>
            <a:off x="10012680" y="4736592"/>
            <a:ext cx="1508760" cy="32004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Day-end sync</a:t>
            </a:r>
            <a:endParaRPr lang="en-US" sz="1400" dirty="0"/>
          </a:p>
        </p:txBody>
      </p:sp>
      <p:sp>
        <p:nvSpPr>
          <p:cNvPr id="64" name="text-219"/>
          <p:cNvSpPr txBox="1"/>
          <p:nvPr/>
        </p:nvSpPr>
        <p:spPr>
          <a:xfrm>
            <a:off x="10012680" y="5074920"/>
            <a:ext cx="1508760" cy="96012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Escalations to ASM, distributor, KAM</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229600" cy="274320"/>
          </a:xfrm>
          <a:prstGeom prst="rect">
            <a:avLst/>
          </a:prstGeom>
          <a:noFill/>
          <a:ln/>
        </p:spPr>
        <p:txBody>
          <a:bodyPr wrap="square" lIns="0" tIns="0" rIns="0" bIns="0" rtlCol="0" anchor="t"/>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EARLY DETECTION</a:t>
            </a:r>
            <a:endParaRPr lang="en-US" sz="1100" dirty="0"/>
          </a:p>
        </p:txBody>
      </p:sp>
      <p:sp>
        <p:nvSpPr>
          <p:cNvPr id="3" name="Text 0"/>
          <p:cNvSpPr/>
          <p:nvPr>
            <p:ph idx="101" type="title" hasCustomPrompt="1"/>
          </p:nvPr>
        </p:nvSpPr>
        <p:spPr>
          <a:xfrm>
            <a:off x="548640" y="566928"/>
            <a:ext cx="11064240" cy="96012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Twelve simple signals, routed to the person who can fix them</a:t>
            </a:r>
            <a:endParaRPr lang="en-US" sz="3000" dirty="0"/>
          </a:p>
        </p:txBody>
      </p:sp>
      <p:sp>
        <p:nvSpPr>
          <p:cNvPr id="4" name="Text 0"/>
          <p:cNvSpPr/>
          <p:nvPr>
            <p:ph idx="102" type="body" hasCustomPrompt="1"/>
          </p:nvPr>
        </p:nvSpPr>
        <p:spPr>
          <a:xfrm>
            <a:off x="548640" y="6382512"/>
            <a:ext cx="9692640" cy="329184"/>
          </a:xfrm>
          <a:prstGeom prst="rect">
            <a:avLst/>
          </a:prstGeom>
          <a:noFill/>
          <a:ln/>
        </p:spPr>
        <p:txBody>
          <a:bodyPr wrap="square" lIns="0" tIns="0" rIns="0" bIns="0" rtlCol="0" anchor="t"/>
          <a:lstStyle/>
          <a:p>
            <a:pPr indent="0" marL="0">
              <a:buNone/>
            </a:pPr>
            <a:r>
              <a:rPr lang="en-US" sz="1000" dirty="0">
                <a:solidFill>
                  <a:schemeClr val="tx2"/>
                </a:solidFill>
                <a:latin typeface="Calibri" pitchFamily="34" charset="0"/>
                <a:ea typeface="Calibri" pitchFamily="34" charset="-122"/>
                <a:cs typeface="Calibri" pitchFamily="34" charset="-120"/>
              </a:rPr>
              <a:t>Case question A: "What simple signals (e.g., shelf dust, unsold cartons, retailer feedback) should be flagged, and to whom?" Signals adjust the sales estimate; only batch data can trigger near-expiry.</a:t>
            </a:r>
            <a:endParaRPr lang="en-US" sz="1000" dirty="0"/>
          </a:p>
        </p:txBody>
      </p:sp>
      <p:sp>
        <p:nvSpPr>
          <p:cNvPr id="5" name="text-220"/>
          <p:cNvSpPr txBox="1"/>
          <p:nvPr/>
        </p:nvSpPr>
        <p:spPr>
          <a:xfrm>
            <a:off x="548640" y="1691640"/>
            <a:ext cx="5486400" cy="274320"/>
          </a:xfrm>
          <a:prstGeom prst="rect">
            <a:avLst/>
          </a:prstGeom>
          <a:noFill/>
          <a:ln/>
        </p:spPr>
        <p:txBody>
          <a:bodyPr wrap="square" lIns="0" tIns="0" rIns="0" bIns="0" rtlCol="0" anchor="t"/>
          <a:lstStyle/>
          <a:p>
            <a:pPr indent="0" marL="0">
              <a:buNone/>
            </a:pPr>
            <a:r>
              <a:rPr lang="en-US" sz="1100" b="1" spc="200" kern="0" dirty="0">
                <a:solidFill>
                  <a:schemeClr val="tx2"/>
                </a:solidFill>
                <a:latin typeface="Calibri" pitchFamily="34" charset="0"/>
                <a:ea typeface="Calibri" pitchFamily="34" charset="-122"/>
                <a:cs typeface="Calibri" pitchFamily="34" charset="-120"/>
              </a:rPr>
              <a:t>WHAT THE REP TICKS (NO TECH NEEDED)</a:t>
            </a:r>
            <a:endParaRPr lang="en-US" sz="1100" dirty="0"/>
          </a:p>
        </p:txBody>
      </p:sp>
      <p:sp>
        <p:nvSpPr>
          <p:cNvPr id="6" name="card-221"/>
          <p:cNvSpPr/>
          <p:nvPr/>
        </p:nvSpPr>
        <p:spPr>
          <a:xfrm>
            <a:off x="548640" y="2057400"/>
            <a:ext cx="2697480" cy="530352"/>
          </a:xfrm>
          <a:prstGeom prst="roundRect">
            <a:avLst>
              <a:gd name="adj" fmla="val 13793"/>
            </a:avLst>
          </a:prstGeom>
          <a:solidFill>
            <a:schemeClr val="bg2"/>
          </a:solidFill>
          <a:ln w="12700">
            <a:solidFill>
              <a:schemeClr val="bg2"/>
            </a:solidFill>
            <a:prstDash val="solid"/>
          </a:ln>
        </p:spPr>
      </p:sp>
      <p:sp>
        <p:nvSpPr>
          <p:cNvPr id="7" name="text-222"/>
          <p:cNvSpPr txBox="1"/>
          <p:nvPr/>
        </p:nvSpPr>
        <p:spPr>
          <a:xfrm>
            <a:off x="713232" y="2057400"/>
            <a:ext cx="2468880" cy="530352"/>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Dust / faded packs</a:t>
            </a:r>
            <a:endParaRPr lang="en-US" sz="1300" dirty="0"/>
          </a:p>
        </p:txBody>
      </p:sp>
      <p:sp>
        <p:nvSpPr>
          <p:cNvPr id="8" name="card-223"/>
          <p:cNvSpPr/>
          <p:nvPr/>
        </p:nvSpPr>
        <p:spPr>
          <a:xfrm>
            <a:off x="3383280" y="2057400"/>
            <a:ext cx="2697480" cy="530352"/>
          </a:xfrm>
          <a:prstGeom prst="roundRect">
            <a:avLst>
              <a:gd name="adj" fmla="val 13793"/>
            </a:avLst>
          </a:prstGeom>
          <a:solidFill>
            <a:schemeClr val="bg2"/>
          </a:solidFill>
          <a:ln w="12700">
            <a:solidFill>
              <a:schemeClr val="bg2"/>
            </a:solidFill>
            <a:prstDash val="solid"/>
          </a:ln>
        </p:spPr>
      </p:sp>
      <p:sp>
        <p:nvSpPr>
          <p:cNvPr id="9" name="text-224"/>
          <p:cNvSpPr txBox="1"/>
          <p:nvPr/>
        </p:nvSpPr>
        <p:spPr>
          <a:xfrm>
            <a:off x="3547872" y="2057400"/>
            <a:ext cx="2468880" cy="530352"/>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Unopened outer cartons</a:t>
            </a:r>
            <a:endParaRPr lang="en-US" sz="1300" dirty="0"/>
          </a:p>
        </p:txBody>
      </p:sp>
      <p:sp>
        <p:nvSpPr>
          <p:cNvPr id="10" name="card-225"/>
          <p:cNvSpPr/>
          <p:nvPr/>
        </p:nvSpPr>
        <p:spPr>
          <a:xfrm>
            <a:off x="548640" y="2715768"/>
            <a:ext cx="2697480" cy="530352"/>
          </a:xfrm>
          <a:prstGeom prst="roundRect">
            <a:avLst>
              <a:gd name="adj" fmla="val 13793"/>
            </a:avLst>
          </a:prstGeom>
          <a:solidFill>
            <a:schemeClr val="bg2"/>
          </a:solidFill>
          <a:ln w="12700">
            <a:solidFill>
              <a:schemeClr val="bg2"/>
            </a:solidFill>
            <a:prstDash val="solid"/>
          </a:ln>
        </p:spPr>
      </p:sp>
      <p:sp>
        <p:nvSpPr>
          <p:cNvPr id="11" name="text-226"/>
          <p:cNvSpPr txBox="1"/>
          <p:nvPr/>
        </p:nvSpPr>
        <p:spPr>
          <a:xfrm>
            <a:off x="713232" y="2715768"/>
            <a:ext cx="2468880" cy="530352"/>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Same count as last visit</a:t>
            </a:r>
            <a:endParaRPr lang="en-US" sz="1300" dirty="0"/>
          </a:p>
        </p:txBody>
      </p:sp>
      <p:sp>
        <p:nvSpPr>
          <p:cNvPr id="12" name="card-227"/>
          <p:cNvSpPr/>
          <p:nvPr/>
        </p:nvSpPr>
        <p:spPr>
          <a:xfrm>
            <a:off x="3383280" y="2715768"/>
            <a:ext cx="2697480" cy="530352"/>
          </a:xfrm>
          <a:prstGeom prst="roundRect">
            <a:avLst>
              <a:gd name="adj" fmla="val 13793"/>
            </a:avLst>
          </a:prstGeom>
          <a:solidFill>
            <a:schemeClr val="bg2"/>
          </a:solidFill>
          <a:ln w="12700">
            <a:solidFill>
              <a:schemeClr val="bg2"/>
            </a:solidFill>
            <a:prstDash val="solid"/>
          </a:ln>
        </p:spPr>
      </p:sp>
      <p:sp>
        <p:nvSpPr>
          <p:cNvPr id="13" name="text-228"/>
          <p:cNvSpPr txBox="1"/>
          <p:nvPr/>
        </p:nvSpPr>
        <p:spPr>
          <a:xfrm>
            <a:off x="3547872" y="2715768"/>
            <a:ext cx="2468880" cy="530352"/>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Old batch hidden at back</a:t>
            </a:r>
            <a:endParaRPr lang="en-US" sz="1300" dirty="0"/>
          </a:p>
        </p:txBody>
      </p:sp>
      <p:sp>
        <p:nvSpPr>
          <p:cNvPr id="14" name="card-229"/>
          <p:cNvSpPr/>
          <p:nvPr/>
        </p:nvSpPr>
        <p:spPr>
          <a:xfrm>
            <a:off x="548640" y="3374136"/>
            <a:ext cx="2697480" cy="530352"/>
          </a:xfrm>
          <a:prstGeom prst="roundRect">
            <a:avLst>
              <a:gd name="adj" fmla="val 13793"/>
            </a:avLst>
          </a:prstGeom>
          <a:solidFill>
            <a:schemeClr val="bg2"/>
          </a:solidFill>
          <a:ln w="12700">
            <a:solidFill>
              <a:schemeClr val="bg2"/>
            </a:solidFill>
            <a:prstDash val="solid"/>
          </a:ln>
        </p:spPr>
      </p:sp>
      <p:sp>
        <p:nvSpPr>
          <p:cNvPr id="15" name="text-230"/>
          <p:cNvSpPr txBox="1"/>
          <p:nvPr/>
        </p:nvSpPr>
        <p:spPr>
          <a:xfrm>
            <a:off x="713232" y="3374136"/>
            <a:ext cx="2468880" cy="530352"/>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Old MRP / old pack design</a:t>
            </a:r>
            <a:endParaRPr lang="en-US" sz="1300" dirty="0"/>
          </a:p>
        </p:txBody>
      </p:sp>
      <p:sp>
        <p:nvSpPr>
          <p:cNvPr id="16" name="card-231"/>
          <p:cNvSpPr/>
          <p:nvPr/>
        </p:nvSpPr>
        <p:spPr>
          <a:xfrm>
            <a:off x="3383280" y="3374136"/>
            <a:ext cx="2697480" cy="530352"/>
          </a:xfrm>
          <a:prstGeom prst="roundRect">
            <a:avLst>
              <a:gd name="adj" fmla="val 13793"/>
            </a:avLst>
          </a:prstGeom>
          <a:solidFill>
            <a:schemeClr val="bg2"/>
          </a:solidFill>
          <a:ln w="12700">
            <a:solidFill>
              <a:schemeClr val="bg2"/>
            </a:solidFill>
            <a:prstDash val="solid"/>
          </a:ln>
        </p:spPr>
      </p:sp>
      <p:sp>
        <p:nvSpPr>
          <p:cNvPr id="17" name="text-232"/>
          <p:cNvSpPr txBox="1"/>
          <p:nvPr/>
        </p:nvSpPr>
        <p:spPr>
          <a:xfrm>
            <a:off x="3547872" y="3374136"/>
            <a:ext cx="2468880" cy="530352"/>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Behind the counter / off-shelf</a:t>
            </a:r>
            <a:endParaRPr lang="en-US" sz="1300" dirty="0"/>
          </a:p>
        </p:txBody>
      </p:sp>
      <p:sp>
        <p:nvSpPr>
          <p:cNvPr id="18" name="card-233"/>
          <p:cNvSpPr/>
          <p:nvPr/>
        </p:nvSpPr>
        <p:spPr>
          <a:xfrm>
            <a:off x="548640" y="4032504"/>
            <a:ext cx="2697480" cy="530352"/>
          </a:xfrm>
          <a:prstGeom prst="roundRect">
            <a:avLst>
              <a:gd name="adj" fmla="val 13793"/>
            </a:avLst>
          </a:prstGeom>
          <a:solidFill>
            <a:schemeClr val="bg2"/>
          </a:solidFill>
          <a:ln w="12700">
            <a:solidFill>
              <a:schemeClr val="bg2"/>
            </a:solidFill>
            <a:prstDash val="solid"/>
          </a:ln>
        </p:spPr>
      </p:sp>
      <p:sp>
        <p:nvSpPr>
          <p:cNvPr id="19" name="text-234"/>
          <p:cNvSpPr txBox="1"/>
          <p:nvPr/>
        </p:nvSpPr>
        <p:spPr>
          <a:xfrm>
            <a:off x="713232" y="4032504"/>
            <a:ext cx="2468880" cy="530352"/>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No or damaged tester</a:t>
            </a:r>
            <a:endParaRPr lang="en-US" sz="1300" dirty="0"/>
          </a:p>
        </p:txBody>
      </p:sp>
      <p:sp>
        <p:nvSpPr>
          <p:cNvPr id="20" name="card-235"/>
          <p:cNvSpPr/>
          <p:nvPr/>
        </p:nvSpPr>
        <p:spPr>
          <a:xfrm>
            <a:off x="3383280" y="4032504"/>
            <a:ext cx="2697480" cy="530352"/>
          </a:xfrm>
          <a:prstGeom prst="roundRect">
            <a:avLst>
              <a:gd name="adj" fmla="val 13793"/>
            </a:avLst>
          </a:prstGeom>
          <a:solidFill>
            <a:schemeClr val="bg2"/>
          </a:solidFill>
          <a:ln w="12700">
            <a:solidFill>
              <a:schemeClr val="bg2"/>
            </a:solidFill>
            <a:prstDash val="solid"/>
          </a:ln>
        </p:spPr>
      </p:sp>
      <p:sp>
        <p:nvSpPr>
          <p:cNvPr id="21" name="text-236"/>
          <p:cNvSpPr txBox="1"/>
          <p:nvPr/>
        </p:nvSpPr>
        <p:spPr>
          <a:xfrm>
            <a:off x="3547872" y="4032504"/>
            <a:ext cx="2468880" cy="530352"/>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"Customers don't ask for it"</a:t>
            </a:r>
            <a:endParaRPr lang="en-US" sz="1300" dirty="0"/>
          </a:p>
        </p:txBody>
      </p:sp>
      <p:sp>
        <p:nvSpPr>
          <p:cNvPr id="22" name="card-237"/>
          <p:cNvSpPr/>
          <p:nvPr/>
        </p:nvSpPr>
        <p:spPr>
          <a:xfrm>
            <a:off x="548640" y="4690872"/>
            <a:ext cx="2697480" cy="530352"/>
          </a:xfrm>
          <a:prstGeom prst="roundRect">
            <a:avLst>
              <a:gd name="adj" fmla="val 13793"/>
            </a:avLst>
          </a:prstGeom>
          <a:solidFill>
            <a:schemeClr val="bg2"/>
          </a:solidFill>
          <a:ln w="12700">
            <a:solidFill>
              <a:schemeClr val="bg2"/>
            </a:solidFill>
            <a:prstDash val="solid"/>
          </a:ln>
        </p:spPr>
      </p:sp>
      <p:sp>
        <p:nvSpPr>
          <p:cNvPr id="23" name="text-238"/>
          <p:cNvSpPr txBox="1"/>
          <p:nvPr/>
        </p:nvSpPr>
        <p:spPr>
          <a:xfrm>
            <a:off x="713232" y="4690872"/>
            <a:ext cx="2468880" cy="530352"/>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Retailer wants to return</a:t>
            </a:r>
            <a:endParaRPr lang="en-US" sz="1300" dirty="0"/>
          </a:p>
        </p:txBody>
      </p:sp>
      <p:sp>
        <p:nvSpPr>
          <p:cNvPr id="24" name="card-239"/>
          <p:cNvSpPr/>
          <p:nvPr/>
        </p:nvSpPr>
        <p:spPr>
          <a:xfrm>
            <a:off x="3383280" y="4690872"/>
            <a:ext cx="2697480" cy="530352"/>
          </a:xfrm>
          <a:prstGeom prst="roundRect">
            <a:avLst>
              <a:gd name="adj" fmla="val 13793"/>
            </a:avLst>
          </a:prstGeom>
          <a:solidFill>
            <a:schemeClr val="bg2"/>
          </a:solidFill>
          <a:ln w="12700">
            <a:solidFill>
              <a:schemeClr val="bg2"/>
            </a:solidFill>
            <a:prstDash val="solid"/>
          </a:ln>
        </p:spPr>
      </p:sp>
      <p:sp>
        <p:nvSpPr>
          <p:cNvPr id="25" name="text-240"/>
          <p:cNvSpPr txBox="1"/>
          <p:nvPr/>
        </p:nvSpPr>
        <p:spPr>
          <a:xfrm>
            <a:off x="3547872" y="4690872"/>
            <a:ext cx="2468880" cy="530352"/>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Dented, leaking, heat-damaged</a:t>
            </a:r>
            <a:endParaRPr lang="en-US" sz="1300" dirty="0"/>
          </a:p>
        </p:txBody>
      </p:sp>
      <p:sp>
        <p:nvSpPr>
          <p:cNvPr id="26" name="card-241"/>
          <p:cNvSpPr/>
          <p:nvPr/>
        </p:nvSpPr>
        <p:spPr>
          <a:xfrm>
            <a:off x="548640" y="5349240"/>
            <a:ext cx="2697480" cy="530352"/>
          </a:xfrm>
          <a:prstGeom prst="roundRect">
            <a:avLst>
              <a:gd name="adj" fmla="val 13793"/>
            </a:avLst>
          </a:prstGeom>
          <a:solidFill>
            <a:schemeClr val="bg2"/>
          </a:solidFill>
          <a:ln w="12700">
            <a:solidFill>
              <a:schemeClr val="bg2"/>
            </a:solidFill>
            <a:prstDash val="solid"/>
          </a:ln>
        </p:spPr>
      </p:sp>
      <p:sp>
        <p:nvSpPr>
          <p:cNvPr id="27" name="text-242"/>
          <p:cNvSpPr txBox="1"/>
          <p:nvPr/>
        </p:nvSpPr>
        <p:spPr>
          <a:xfrm>
            <a:off x="713232" y="5349240"/>
            <a:ext cx="2468880" cy="530352"/>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Competitor running a heavy scheme</a:t>
            </a:r>
            <a:endParaRPr lang="en-US" sz="1300" dirty="0"/>
          </a:p>
        </p:txBody>
      </p:sp>
      <p:sp>
        <p:nvSpPr>
          <p:cNvPr id="28" name="card-243"/>
          <p:cNvSpPr/>
          <p:nvPr/>
        </p:nvSpPr>
        <p:spPr>
          <a:xfrm>
            <a:off x="3383280" y="5349240"/>
            <a:ext cx="2697480" cy="530352"/>
          </a:xfrm>
          <a:prstGeom prst="roundRect">
            <a:avLst>
              <a:gd name="adj" fmla="val 13793"/>
            </a:avLst>
          </a:prstGeom>
          <a:solidFill>
            <a:srgbClr val="EEE8F6"/>
          </a:solidFill>
          <a:ln w="12700">
            <a:solidFill>
              <a:srgbClr val="EEE8F6"/>
            </a:solidFill>
            <a:prstDash val="solid"/>
          </a:ln>
        </p:spPr>
      </p:sp>
      <p:sp>
        <p:nvSpPr>
          <p:cNvPr id="29" name="text-244"/>
          <p:cNvSpPr txBox="1"/>
          <p:nvPr/>
        </p:nvSpPr>
        <p:spPr>
          <a:xfrm>
            <a:off x="3547872" y="5349240"/>
            <a:ext cx="2468880" cy="530352"/>
          </a:xfrm>
          <a:prstGeom prst="rect">
            <a:avLst/>
          </a:prstGeom>
          <a:noFill/>
          <a:ln/>
        </p:spPr>
        <p:txBody>
          <a:bodyPr wrap="square" lIns="0" tIns="0" rIns="0" bIns="0" rtlCol="0" anchor="ctr"/>
          <a:lstStyle/>
          <a:p>
            <a:pPr indent="0" marL="0">
              <a:buNone/>
            </a:pPr>
            <a:r>
              <a:rPr lang="en-US" sz="1300" b="1" dirty="0">
                <a:solidFill>
                  <a:srgbClr val="5B3A8A"/>
                </a:solidFill>
                <a:latin typeface="Calibri" pitchFamily="34" charset="0"/>
                <a:ea typeface="Calibri" pitchFamily="34" charset="-122"/>
                <a:cs typeface="Calibri" pitchFamily="34" charset="-120"/>
              </a:rPr>
              <a:t>Shoppers buy it on quick commerce</a:t>
            </a:r>
            <a:endParaRPr lang="en-US" sz="1300" dirty="0"/>
          </a:p>
        </p:txBody>
      </p:sp>
      <p:sp>
        <p:nvSpPr>
          <p:cNvPr id="30" name="text-245"/>
          <p:cNvSpPr txBox="1"/>
          <p:nvPr/>
        </p:nvSpPr>
        <p:spPr>
          <a:xfrm>
            <a:off x="6492240" y="1691640"/>
            <a:ext cx="4572000" cy="274320"/>
          </a:xfrm>
          <a:prstGeom prst="rect">
            <a:avLst/>
          </a:prstGeom>
          <a:noFill/>
          <a:ln/>
        </p:spPr>
        <p:txBody>
          <a:bodyPr wrap="square" lIns="0" tIns="0" rIns="0" bIns="0" rtlCol="0" anchor="t"/>
          <a:lstStyle/>
          <a:p>
            <a:pPr indent="0" marL="0">
              <a:buNone/>
            </a:pPr>
            <a:r>
              <a:rPr lang="en-US" sz="1100" b="1" spc="200" kern="0" dirty="0">
                <a:solidFill>
                  <a:schemeClr val="tx2"/>
                </a:solidFill>
                <a:latin typeface="Calibri" pitchFamily="34" charset="0"/>
                <a:ea typeface="Calibri" pitchFamily="34" charset="-122"/>
                <a:cs typeface="Calibri" pitchFamily="34" charset="-120"/>
              </a:rPr>
              <a:t>WHO GETS THE FLAG</a:t>
            </a:r>
            <a:endParaRPr lang="en-US" sz="1100" dirty="0"/>
          </a:p>
        </p:txBody>
      </p:sp>
      <p:sp>
        <p:nvSpPr>
          <p:cNvPr id="31" name="icon-circle-246"/>
          <p:cNvSpPr/>
          <p:nvPr/>
        </p:nvSpPr>
        <p:spPr>
          <a:xfrm>
            <a:off x="6492240" y="2103120"/>
            <a:ext cx="502920" cy="502920"/>
          </a:xfrm>
          <a:prstGeom prst="ellipse">
            <a:avLst/>
          </a:prstGeom>
          <a:solidFill>
            <a:schemeClr val="accent1"/>
          </a:solidFill>
          <a:ln w="12700">
            <a:solidFill>
              <a:schemeClr val="accent1"/>
            </a:solidFill>
            <a:prstDash val="solid"/>
          </a:ln>
        </p:spPr>
      </p:sp>
      <p:pic>
        <p:nvPicPr>
          <p:cNvPr id="32" name="icon-247" descr="preencoded.png">    </p:cNvPr>
          <p:cNvPicPr>
            <a:picLocks noChangeAspect="1"/>
          </p:cNvPicPr>
          <p:nvPr/>
        </p:nvPicPr>
        <p:blipFill>
          <a:blip r:embed="rId1"/>
          <a:stretch>
            <a:fillRect/>
          </a:stretch>
        </p:blipFill>
        <p:spPr>
          <a:xfrm>
            <a:off x="6617970" y="2228850"/>
            <a:ext cx="251460" cy="251460"/>
          </a:xfrm>
          <a:prstGeom prst="rect">
            <a:avLst/>
          </a:prstGeom>
        </p:spPr>
      </p:pic>
      <p:sp>
        <p:nvSpPr>
          <p:cNvPr id="33" name="text-248"/>
          <p:cNvSpPr txBox="1"/>
          <p:nvPr/>
        </p:nvSpPr>
        <p:spPr>
          <a:xfrm>
            <a:off x="7178040" y="2057400"/>
            <a:ext cx="4480560" cy="301752"/>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Field rep</a:t>
            </a:r>
            <a:endParaRPr lang="en-US" sz="1400" dirty="0"/>
          </a:p>
        </p:txBody>
      </p:sp>
      <p:sp>
        <p:nvSpPr>
          <p:cNvPr id="34" name="text-249"/>
          <p:cNvSpPr txBox="1"/>
          <p:nvPr/>
        </p:nvSpPr>
        <p:spPr>
          <a:xfrm>
            <a:off x="7178040" y="2359152"/>
            <a:ext cx="4480560" cy="41148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Rotate shelf, move to eye level, pause this SKU's re-order, verify count</a:t>
            </a:r>
            <a:endParaRPr lang="en-US" sz="1200" dirty="0"/>
          </a:p>
        </p:txBody>
      </p:sp>
      <p:sp>
        <p:nvSpPr>
          <p:cNvPr id="35" name="icon-circle-250"/>
          <p:cNvSpPr/>
          <p:nvPr/>
        </p:nvSpPr>
        <p:spPr>
          <a:xfrm>
            <a:off x="6492240" y="2889504"/>
            <a:ext cx="502920" cy="502920"/>
          </a:xfrm>
          <a:prstGeom prst="ellipse">
            <a:avLst/>
          </a:prstGeom>
          <a:solidFill>
            <a:schemeClr val="accent1"/>
          </a:solidFill>
          <a:ln w="12700">
            <a:solidFill>
              <a:schemeClr val="accent1"/>
            </a:solidFill>
            <a:prstDash val="solid"/>
          </a:ln>
        </p:spPr>
      </p:sp>
      <p:pic>
        <p:nvPicPr>
          <p:cNvPr id="36" name="icon-251" descr="preencoded.png">    </p:cNvPr>
          <p:cNvPicPr>
            <a:picLocks noChangeAspect="1"/>
          </p:cNvPicPr>
          <p:nvPr/>
        </p:nvPicPr>
        <p:blipFill>
          <a:blip r:embed="rId2"/>
          <a:stretch>
            <a:fillRect/>
          </a:stretch>
        </p:blipFill>
        <p:spPr>
          <a:xfrm>
            <a:off x="6617970" y="3015234"/>
            <a:ext cx="251460" cy="251460"/>
          </a:xfrm>
          <a:prstGeom prst="rect">
            <a:avLst/>
          </a:prstGeom>
        </p:spPr>
      </p:pic>
      <p:sp>
        <p:nvSpPr>
          <p:cNvPr id="37" name="text-252"/>
          <p:cNvSpPr txBox="1"/>
          <p:nvPr/>
        </p:nvSpPr>
        <p:spPr>
          <a:xfrm>
            <a:off x="7178040" y="2843784"/>
            <a:ext cx="4480560" cy="301752"/>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Distributor</a:t>
            </a:r>
            <a:endParaRPr lang="en-US" sz="1400" dirty="0"/>
          </a:p>
        </p:txBody>
      </p:sp>
      <p:sp>
        <p:nvSpPr>
          <p:cNvPr id="38" name="text-253"/>
          <p:cNvSpPr txBox="1"/>
          <p:nvPr/>
        </p:nvSpPr>
        <p:spPr>
          <a:xfrm>
            <a:off x="7178040" y="3145536"/>
            <a:ext cx="4480560" cy="41148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Execute transfers, FEFO in the godown, monthly ageing review</a:t>
            </a:r>
            <a:endParaRPr lang="en-US" sz="1200" dirty="0"/>
          </a:p>
        </p:txBody>
      </p:sp>
      <p:sp>
        <p:nvSpPr>
          <p:cNvPr id="39" name="icon-circle-254"/>
          <p:cNvSpPr/>
          <p:nvPr/>
        </p:nvSpPr>
        <p:spPr>
          <a:xfrm>
            <a:off x="6492240" y="3675888"/>
            <a:ext cx="502920" cy="502920"/>
          </a:xfrm>
          <a:prstGeom prst="ellipse">
            <a:avLst/>
          </a:prstGeom>
          <a:solidFill>
            <a:schemeClr val="accent1"/>
          </a:solidFill>
          <a:ln w="12700">
            <a:solidFill>
              <a:schemeClr val="accent1"/>
            </a:solidFill>
            <a:prstDash val="solid"/>
          </a:ln>
        </p:spPr>
      </p:sp>
      <p:pic>
        <p:nvPicPr>
          <p:cNvPr id="40" name="icon-255" descr="preencoded.png">    </p:cNvPr>
          <p:cNvPicPr>
            <a:picLocks noChangeAspect="1"/>
          </p:cNvPicPr>
          <p:nvPr/>
        </p:nvPicPr>
        <p:blipFill>
          <a:blip r:embed="rId3"/>
          <a:stretch>
            <a:fillRect/>
          </a:stretch>
        </p:blipFill>
        <p:spPr>
          <a:xfrm>
            <a:off x="6617970" y="3801618"/>
            <a:ext cx="251460" cy="251460"/>
          </a:xfrm>
          <a:prstGeom prst="rect">
            <a:avLst/>
          </a:prstGeom>
        </p:spPr>
      </p:pic>
      <p:sp>
        <p:nvSpPr>
          <p:cNvPr id="41" name="text-256"/>
          <p:cNvSpPr txBox="1"/>
          <p:nvPr/>
        </p:nvSpPr>
        <p:spPr>
          <a:xfrm>
            <a:off x="7178040" y="3630168"/>
            <a:ext cx="4480560" cy="301752"/>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Area Sales Manager</a:t>
            </a:r>
            <a:endParaRPr lang="en-US" sz="1400" dirty="0"/>
          </a:p>
        </p:txBody>
      </p:sp>
      <p:sp>
        <p:nvSpPr>
          <p:cNvPr id="42" name="text-257"/>
          <p:cNvSpPr txBox="1"/>
          <p:nvPr/>
        </p:nvSpPr>
        <p:spPr>
          <a:xfrm>
            <a:off x="7178040" y="3931920"/>
            <a:ext cx="4480560" cy="41148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Approve transfers over ₹10k, schemes, sampling budget, end-of-life</a:t>
            </a:r>
            <a:endParaRPr lang="en-US" sz="1200" dirty="0"/>
          </a:p>
        </p:txBody>
      </p:sp>
      <p:sp>
        <p:nvSpPr>
          <p:cNvPr id="43" name="icon-circle-258"/>
          <p:cNvSpPr/>
          <p:nvPr/>
        </p:nvSpPr>
        <p:spPr>
          <a:xfrm>
            <a:off x="6492240" y="4462272"/>
            <a:ext cx="502920" cy="502920"/>
          </a:xfrm>
          <a:prstGeom prst="ellipse">
            <a:avLst/>
          </a:prstGeom>
          <a:solidFill>
            <a:schemeClr val="accent1"/>
          </a:solidFill>
          <a:ln w="12700">
            <a:solidFill>
              <a:schemeClr val="accent1"/>
            </a:solidFill>
            <a:prstDash val="solid"/>
          </a:ln>
        </p:spPr>
      </p:sp>
      <p:pic>
        <p:nvPicPr>
          <p:cNvPr id="44" name="icon-259" descr="preencoded.png">    </p:cNvPr>
          <p:cNvPicPr>
            <a:picLocks noChangeAspect="1"/>
          </p:cNvPicPr>
          <p:nvPr/>
        </p:nvPicPr>
        <p:blipFill>
          <a:blip r:embed="rId4"/>
          <a:stretch>
            <a:fillRect/>
          </a:stretch>
        </p:blipFill>
        <p:spPr>
          <a:xfrm>
            <a:off x="6617970" y="4588002"/>
            <a:ext cx="251460" cy="251460"/>
          </a:xfrm>
          <a:prstGeom prst="rect">
            <a:avLst/>
          </a:prstGeom>
        </p:spPr>
      </p:pic>
      <p:sp>
        <p:nvSpPr>
          <p:cNvPr id="45" name="text-260"/>
          <p:cNvSpPr txBox="1"/>
          <p:nvPr/>
        </p:nvSpPr>
        <p:spPr>
          <a:xfrm>
            <a:off x="7178040" y="4416552"/>
            <a:ext cx="4480560" cy="301752"/>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Brand team</a:t>
            </a:r>
            <a:endParaRPr lang="en-US" sz="1400" dirty="0"/>
          </a:p>
        </p:txBody>
      </p:sp>
      <p:sp>
        <p:nvSpPr>
          <p:cNvPr id="46" name="text-261"/>
          <p:cNvSpPr txBox="1"/>
          <p:nvPr/>
        </p:nvSpPr>
        <p:spPr>
          <a:xfrm>
            <a:off x="7178040" y="4718304"/>
            <a:ext cx="4480560" cy="41148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Same SKU slow in 3+ outlets: range or shade issue</a:t>
            </a:r>
            <a:endParaRPr lang="en-US" sz="1200" dirty="0"/>
          </a:p>
        </p:txBody>
      </p:sp>
      <p:sp>
        <p:nvSpPr>
          <p:cNvPr id="47" name="icon-circle-262"/>
          <p:cNvSpPr/>
          <p:nvPr/>
        </p:nvSpPr>
        <p:spPr>
          <a:xfrm>
            <a:off x="6492240" y="5248656"/>
            <a:ext cx="502920" cy="502920"/>
          </a:xfrm>
          <a:prstGeom prst="ellipse">
            <a:avLst/>
          </a:prstGeom>
          <a:solidFill>
            <a:srgbClr val="5B3A8A"/>
          </a:solidFill>
          <a:ln w="12700">
            <a:solidFill>
              <a:srgbClr val="5B3A8A"/>
            </a:solidFill>
            <a:prstDash val="solid"/>
          </a:ln>
        </p:spPr>
      </p:sp>
      <p:pic>
        <p:nvPicPr>
          <p:cNvPr id="48" name="icon-263" descr="preencoded.png">    </p:cNvPr>
          <p:cNvPicPr>
            <a:picLocks noChangeAspect="1"/>
          </p:cNvPicPr>
          <p:nvPr/>
        </p:nvPicPr>
        <p:blipFill>
          <a:blip r:embed="rId5"/>
          <a:stretch>
            <a:fillRect/>
          </a:stretch>
        </p:blipFill>
        <p:spPr>
          <a:xfrm>
            <a:off x="6617970" y="5374386"/>
            <a:ext cx="251460" cy="251460"/>
          </a:xfrm>
          <a:prstGeom prst="rect">
            <a:avLst/>
          </a:prstGeom>
        </p:spPr>
      </p:pic>
      <p:sp>
        <p:nvSpPr>
          <p:cNvPr id="49" name="text-264"/>
          <p:cNvSpPr txBox="1"/>
          <p:nvPr/>
        </p:nvSpPr>
        <p:spPr>
          <a:xfrm>
            <a:off x="7178040" y="5202936"/>
            <a:ext cx="4480560" cy="301752"/>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Quick-commerce KAM</a:t>
            </a:r>
            <a:endParaRPr lang="en-US" sz="1400" dirty="0"/>
          </a:p>
        </p:txBody>
      </p:sp>
      <p:sp>
        <p:nvSpPr>
          <p:cNvPr id="50" name="text-265"/>
          <p:cNvSpPr txBox="1"/>
          <p:nvPr/>
        </p:nvSpPr>
        <p:spPr>
          <a:xfrm>
            <a:off x="7178040" y="5504688"/>
            <a:ext cx="4480560" cy="41148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Demand moving online: shift allocation, stop loading general trade</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229600" cy="274320"/>
          </a:xfrm>
          <a:prstGeom prst="rect">
            <a:avLst/>
          </a:prstGeom>
          <a:noFill/>
          <a:ln/>
        </p:spPr>
        <p:txBody>
          <a:bodyPr wrap="square" lIns="0" tIns="0" rIns="0" bIns="0" rtlCol="0" anchor="t"/>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INVENTORY RISK ENGINE</a:t>
            </a:r>
            <a:endParaRPr lang="en-US" sz="1100" dirty="0"/>
          </a:p>
        </p:txBody>
      </p:sp>
      <p:sp>
        <p:nvSpPr>
          <p:cNvPr id="3" name="Text 0"/>
          <p:cNvSpPr/>
          <p:nvPr>
            <p:ph idx="101" type="title" hasCustomPrompt="1"/>
          </p:nvPr>
        </p:nvSpPr>
        <p:spPr>
          <a:xfrm>
            <a:off x="548640" y="566928"/>
            <a:ext cx="11064240" cy="96012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Rupees at risk and days to act, not a black-box score</a:t>
            </a:r>
            <a:endParaRPr lang="en-US" sz="3000" dirty="0"/>
          </a:p>
        </p:txBody>
      </p:sp>
      <p:sp>
        <p:nvSpPr>
          <p:cNvPr id="4" name="Text 0"/>
          <p:cNvSpPr/>
          <p:nvPr>
            <p:ph idx="102" type="body" hasCustomPrompt="1"/>
          </p:nvPr>
        </p:nvSpPr>
        <p:spPr>
          <a:xfrm>
            <a:off x="548640" y="6382512"/>
            <a:ext cx="9692640" cy="329184"/>
          </a:xfrm>
          <a:prstGeom prst="rect">
            <a:avLst/>
          </a:prstGeom>
          <a:noFill/>
          <a:ln/>
        </p:spPr>
        <p:txBody>
          <a:bodyPr wrap="square" lIns="0" tIns="0" rIns="0" bIns="0" rtlCol="0" anchor="t"/>
          <a:lstStyle/>
          <a:p>
            <a:pPr indent="0" marL="0">
              <a:buNone/>
            </a:pPr>
            <a:r>
              <a:rPr lang="en-US" sz="1000" dirty="0">
                <a:solidFill>
                  <a:schemeClr val="tx2"/>
                </a:solidFill>
                <a:latin typeface="Calibri" pitchFamily="34" charset="0"/>
                <a:ea typeface="Calibri" pitchFamily="34" charset="-122"/>
                <a:cs typeface="Calibri" pitchFamily="34" charset="-120"/>
              </a:rPr>
              <a:t>Parameters are assumptions to calibrate in the pilot: 30-day sellable buffer at outlets, 120 days at distributors; 30-day cover norm; reorder at ≤14 days. Example uses synthetic data from the live prototype.</a:t>
            </a:r>
            <a:endParaRPr lang="en-US" sz="1000" dirty="0"/>
          </a:p>
        </p:txBody>
      </p:sp>
      <p:sp>
        <p:nvSpPr>
          <p:cNvPr id="5" name="text-266"/>
          <p:cNvSpPr txBox="1"/>
          <p:nvPr/>
        </p:nvSpPr>
        <p:spPr>
          <a:xfrm>
            <a:off x="548640" y="1691640"/>
            <a:ext cx="5029200" cy="274320"/>
          </a:xfrm>
          <a:prstGeom prst="rect">
            <a:avLst/>
          </a:prstGeom>
          <a:noFill/>
          <a:ln/>
        </p:spPr>
        <p:txBody>
          <a:bodyPr wrap="square" lIns="0" tIns="0" rIns="0" bIns="0" rtlCol="0" anchor="t"/>
          <a:lstStyle/>
          <a:p>
            <a:pPr indent="0" marL="0">
              <a:buNone/>
            </a:pPr>
            <a:r>
              <a:rPr lang="en-US" sz="1100" b="1" spc="200" kern="0" dirty="0">
                <a:solidFill>
                  <a:schemeClr val="tx2"/>
                </a:solidFill>
                <a:latin typeface="Calibri" pitchFamily="34" charset="0"/>
                <a:ea typeface="Calibri" pitchFamily="34" charset="-122"/>
                <a:cs typeface="Calibri" pitchFamily="34" charset="-120"/>
              </a:rPr>
              <a:t>HOW EACH SKU IS SCORED</a:t>
            </a:r>
            <a:endParaRPr lang="en-US" sz="1100" dirty="0"/>
          </a:p>
        </p:txBody>
      </p:sp>
      <p:sp>
        <p:nvSpPr>
          <p:cNvPr id="6" name="text-267"/>
          <p:cNvSpPr txBox="1"/>
          <p:nvPr/>
        </p:nvSpPr>
        <p:spPr>
          <a:xfrm>
            <a:off x="548640" y="2057400"/>
            <a:ext cx="365760" cy="457200"/>
          </a:xfrm>
          <a:prstGeom prst="rect">
            <a:avLst/>
          </a:prstGeom>
          <a:noFill/>
          <a:ln/>
        </p:spPr>
        <p:txBody>
          <a:bodyPr wrap="square" lIns="0" tIns="0" rIns="0" bIns="0" rtlCol="0" anchor="t"/>
          <a:lstStyle/>
          <a:p>
            <a:pPr indent="0" marL="0">
              <a:buNone/>
            </a:pPr>
            <a:r>
              <a:rPr lang="en-US" sz="2400" b="1" dirty="0">
                <a:solidFill>
                  <a:schemeClr val="accent2"/>
                </a:solidFill>
                <a:latin typeface="Cambria" pitchFamily="34" charset="0"/>
                <a:ea typeface="Cambria" pitchFamily="34" charset="-122"/>
                <a:cs typeface="Cambria" pitchFamily="34" charset="-120"/>
              </a:rPr>
              <a:t>1</a:t>
            </a:r>
            <a:endParaRPr lang="en-US" sz="2400" dirty="0"/>
          </a:p>
        </p:txBody>
      </p:sp>
      <p:sp>
        <p:nvSpPr>
          <p:cNvPr id="7" name="text-268"/>
          <p:cNvSpPr txBox="1"/>
          <p:nvPr/>
        </p:nvSpPr>
        <p:spPr>
          <a:xfrm>
            <a:off x="960120" y="2057400"/>
            <a:ext cx="1463040" cy="45720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Velocity</a:t>
            </a:r>
            <a:endParaRPr lang="en-US" sz="1400" dirty="0"/>
          </a:p>
        </p:txBody>
      </p:sp>
      <p:sp>
        <p:nvSpPr>
          <p:cNvPr id="8" name="text-269"/>
          <p:cNvSpPr txBox="1"/>
          <p:nvPr/>
        </p:nvSpPr>
        <p:spPr>
          <a:xfrm>
            <a:off x="2423160" y="2057400"/>
            <a:ext cx="3429000" cy="658368"/>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monthly sell-out ÷ 30 (stock-flow: last count + deliveries − today's count)</a:t>
            </a:r>
            <a:endParaRPr lang="en-US" sz="1200" dirty="0"/>
          </a:p>
        </p:txBody>
      </p:sp>
      <p:sp>
        <p:nvSpPr>
          <p:cNvPr id="9" name="text-270"/>
          <p:cNvSpPr txBox="1"/>
          <p:nvPr/>
        </p:nvSpPr>
        <p:spPr>
          <a:xfrm>
            <a:off x="548640" y="2770632"/>
            <a:ext cx="365760" cy="457200"/>
          </a:xfrm>
          <a:prstGeom prst="rect">
            <a:avLst/>
          </a:prstGeom>
          <a:noFill/>
          <a:ln/>
        </p:spPr>
        <p:txBody>
          <a:bodyPr wrap="square" lIns="0" tIns="0" rIns="0" bIns="0" rtlCol="0" anchor="t"/>
          <a:lstStyle/>
          <a:p>
            <a:pPr indent="0" marL="0">
              <a:buNone/>
            </a:pPr>
            <a:r>
              <a:rPr lang="en-US" sz="2400" b="1" dirty="0">
                <a:solidFill>
                  <a:schemeClr val="accent2"/>
                </a:solidFill>
                <a:latin typeface="Cambria" pitchFamily="34" charset="0"/>
                <a:ea typeface="Cambria" pitchFamily="34" charset="-122"/>
                <a:cs typeface="Cambria" pitchFamily="34" charset="-120"/>
              </a:rPr>
              <a:t>2</a:t>
            </a:r>
            <a:endParaRPr lang="en-US" sz="2400" dirty="0"/>
          </a:p>
        </p:txBody>
      </p:sp>
      <p:sp>
        <p:nvSpPr>
          <p:cNvPr id="10" name="text-271"/>
          <p:cNvSpPr txBox="1"/>
          <p:nvPr/>
        </p:nvSpPr>
        <p:spPr>
          <a:xfrm>
            <a:off x="960120" y="2770632"/>
            <a:ext cx="1463040" cy="45720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FEFO projection</a:t>
            </a:r>
            <a:endParaRPr lang="en-US" sz="1400" dirty="0"/>
          </a:p>
        </p:txBody>
      </p:sp>
      <p:sp>
        <p:nvSpPr>
          <p:cNvPr id="11" name="text-272"/>
          <p:cNvSpPr txBox="1"/>
          <p:nvPr/>
        </p:nvSpPr>
        <p:spPr>
          <a:xfrm>
            <a:off x="2423160" y="2770632"/>
            <a:ext cx="3429000" cy="658368"/>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each batch sells oldest-first until expiry − buffer; what's left is projected unsold</a:t>
            </a:r>
            <a:endParaRPr lang="en-US" sz="1200" dirty="0"/>
          </a:p>
        </p:txBody>
      </p:sp>
      <p:sp>
        <p:nvSpPr>
          <p:cNvPr id="12" name="text-273"/>
          <p:cNvSpPr txBox="1"/>
          <p:nvPr/>
        </p:nvSpPr>
        <p:spPr>
          <a:xfrm>
            <a:off x="548640" y="3483864"/>
            <a:ext cx="365760" cy="457200"/>
          </a:xfrm>
          <a:prstGeom prst="rect">
            <a:avLst/>
          </a:prstGeom>
          <a:noFill/>
          <a:ln/>
        </p:spPr>
        <p:txBody>
          <a:bodyPr wrap="square" lIns="0" tIns="0" rIns="0" bIns="0" rtlCol="0" anchor="t"/>
          <a:lstStyle/>
          <a:p>
            <a:pPr indent="0" marL="0">
              <a:buNone/>
            </a:pPr>
            <a:r>
              <a:rPr lang="en-US" sz="2400" b="1" dirty="0">
                <a:solidFill>
                  <a:schemeClr val="accent2"/>
                </a:solidFill>
                <a:latin typeface="Cambria" pitchFamily="34" charset="0"/>
                <a:ea typeface="Cambria" pitchFamily="34" charset="-122"/>
                <a:cs typeface="Cambria" pitchFamily="34" charset="-120"/>
              </a:rPr>
              <a:t>3</a:t>
            </a:r>
            <a:endParaRPr lang="en-US" sz="2400" dirty="0"/>
          </a:p>
        </p:txBody>
      </p:sp>
      <p:sp>
        <p:nvSpPr>
          <p:cNvPr id="13" name="text-274"/>
          <p:cNvSpPr txBox="1"/>
          <p:nvPr/>
        </p:nvSpPr>
        <p:spPr>
          <a:xfrm>
            <a:off x="960120" y="3483864"/>
            <a:ext cx="1463040" cy="45720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 at risk</a:t>
            </a:r>
            <a:endParaRPr lang="en-US" sz="1400" dirty="0"/>
          </a:p>
        </p:txBody>
      </p:sp>
      <p:sp>
        <p:nvSpPr>
          <p:cNvPr id="14" name="text-275"/>
          <p:cNvSpPr txBox="1"/>
          <p:nvPr/>
        </p:nvSpPr>
        <p:spPr>
          <a:xfrm>
            <a:off x="2423160" y="3483864"/>
            <a:ext cx="3429000" cy="658368"/>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projected unsold × unit value; days to act = days until that batch hits its buffer</a:t>
            </a:r>
            <a:endParaRPr lang="en-US" sz="1200" dirty="0"/>
          </a:p>
        </p:txBody>
      </p:sp>
      <p:sp>
        <p:nvSpPr>
          <p:cNvPr id="15" name="text-276"/>
          <p:cNvSpPr txBox="1"/>
          <p:nvPr/>
        </p:nvSpPr>
        <p:spPr>
          <a:xfrm>
            <a:off x="548640" y="4197096"/>
            <a:ext cx="365760" cy="457200"/>
          </a:xfrm>
          <a:prstGeom prst="rect">
            <a:avLst/>
          </a:prstGeom>
          <a:noFill/>
          <a:ln/>
        </p:spPr>
        <p:txBody>
          <a:bodyPr wrap="square" lIns="0" tIns="0" rIns="0" bIns="0" rtlCol="0" anchor="t"/>
          <a:lstStyle/>
          <a:p>
            <a:pPr indent="0" marL="0">
              <a:buNone/>
            </a:pPr>
            <a:r>
              <a:rPr lang="en-US" sz="2400" b="1" dirty="0">
                <a:solidFill>
                  <a:schemeClr val="accent2"/>
                </a:solidFill>
                <a:latin typeface="Cambria" pitchFamily="34" charset="0"/>
                <a:ea typeface="Cambria" pitchFamily="34" charset="-122"/>
                <a:cs typeface="Cambria" pitchFamily="34" charset="-120"/>
              </a:rPr>
              <a:t>4</a:t>
            </a:r>
            <a:endParaRPr lang="en-US" sz="2400" dirty="0"/>
          </a:p>
        </p:txBody>
      </p:sp>
      <p:sp>
        <p:nvSpPr>
          <p:cNvPr id="16" name="text-277"/>
          <p:cNvSpPr txBox="1"/>
          <p:nvPr/>
        </p:nvSpPr>
        <p:spPr>
          <a:xfrm>
            <a:off x="960120" y="4197096"/>
            <a:ext cx="1463040" cy="45720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Priority</a:t>
            </a:r>
            <a:endParaRPr lang="en-US" sz="1400" dirty="0"/>
          </a:p>
        </p:txBody>
      </p:sp>
      <p:sp>
        <p:nvSpPr>
          <p:cNvPr id="17" name="text-278"/>
          <p:cNvSpPr txBox="1"/>
          <p:nvPr/>
        </p:nvSpPr>
        <p:spPr>
          <a:xfrm>
            <a:off x="2423160" y="4197096"/>
            <a:ext cx="3429000" cy="658368"/>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 at stake × urgency × data confidence, so uncertain data ranks lower but is never hidden</a:t>
            </a:r>
            <a:endParaRPr lang="en-US" sz="1200" dirty="0"/>
          </a:p>
        </p:txBody>
      </p:sp>
      <p:sp>
        <p:nvSpPr>
          <p:cNvPr id="18" name="dot-279"/>
          <p:cNvSpPr/>
          <p:nvPr/>
        </p:nvSpPr>
        <p:spPr>
          <a:xfrm>
            <a:off x="548640" y="5001768"/>
            <a:ext cx="146304" cy="146304"/>
          </a:xfrm>
          <a:prstGeom prst="ellipse">
            <a:avLst/>
          </a:prstGeom>
          <a:solidFill>
            <a:schemeClr val="accent5"/>
          </a:solidFill>
          <a:ln w="12700">
            <a:solidFill>
              <a:schemeClr val="accent5"/>
            </a:solidFill>
            <a:prstDash val="solid"/>
          </a:ln>
        </p:spPr>
      </p:sp>
      <p:sp>
        <p:nvSpPr>
          <p:cNvPr id="19" name="text-280"/>
          <p:cNvSpPr txBox="1"/>
          <p:nvPr/>
        </p:nvSpPr>
        <p:spPr>
          <a:xfrm>
            <a:off x="804672" y="4937760"/>
            <a:ext cx="1463040" cy="274320"/>
          </a:xfrm>
          <a:prstGeom prst="rect">
            <a:avLst/>
          </a:prstGeom>
          <a:noFill/>
          <a:ln/>
        </p:spPr>
        <p:txBody>
          <a:bodyPr wrap="square" lIns="0" tIns="0" rIns="0" bIns="0" rtlCol="0" anchor="t"/>
          <a:lstStyle/>
          <a:p>
            <a:pPr indent="0" marL="0">
              <a:buNone/>
            </a:pPr>
            <a:r>
              <a:rPr lang="en-US" sz="1200" b="1" dirty="0">
                <a:solidFill>
                  <a:schemeClr val="tx1"/>
                </a:solidFill>
                <a:latin typeface="Calibri" pitchFamily="34" charset="0"/>
                <a:ea typeface="Calibri" pitchFamily="34" charset="-122"/>
                <a:cs typeface="Calibri" pitchFamily="34" charset="-120"/>
              </a:rPr>
              <a:t>Near-expiry</a:t>
            </a:r>
            <a:endParaRPr lang="en-US" sz="1200" dirty="0"/>
          </a:p>
        </p:txBody>
      </p:sp>
      <p:sp>
        <p:nvSpPr>
          <p:cNvPr id="20" name="text-281"/>
          <p:cNvSpPr txBox="1"/>
          <p:nvPr/>
        </p:nvSpPr>
        <p:spPr>
          <a:xfrm>
            <a:off x="2286000" y="4937760"/>
            <a:ext cx="2103120" cy="274320"/>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Unsold units, ≤90 days to act</a:t>
            </a:r>
            <a:endParaRPr lang="en-US" sz="1100" dirty="0"/>
          </a:p>
        </p:txBody>
      </p:sp>
      <p:sp>
        <p:nvSpPr>
          <p:cNvPr id="21" name="text-282"/>
          <p:cNvSpPr txBox="1"/>
          <p:nvPr/>
        </p:nvSpPr>
        <p:spPr>
          <a:xfrm>
            <a:off x="4389120" y="4937760"/>
            <a:ext cx="1508760" cy="274320"/>
          </a:xfrm>
          <a:prstGeom prst="rect">
            <a:avLst/>
          </a:prstGeom>
          <a:noFill/>
          <a:ln/>
        </p:spPr>
        <p:txBody>
          <a:bodyPr wrap="square" lIns="0" tIns="0" rIns="0" bIns="0" rtlCol="0" anchor="t"/>
          <a:lstStyle/>
          <a:p>
            <a:pPr indent="0" marL="0">
              <a:buNone/>
            </a:pPr>
            <a:r>
              <a:rPr lang="en-US" sz="1100" b="1" dirty="0">
                <a:solidFill>
                  <a:schemeClr val="accent5"/>
                </a:solidFill>
                <a:latin typeface="Calibri" pitchFamily="34" charset="0"/>
                <a:ea typeface="Calibri" pitchFamily="34" charset="-122"/>
                <a:cs typeface="Calibri" pitchFamily="34" charset="-120"/>
              </a:rPr>
              <a:t>Speed</a:t>
            </a:r>
            <a:endParaRPr lang="en-US" sz="1100" dirty="0"/>
          </a:p>
        </p:txBody>
      </p:sp>
      <p:sp>
        <p:nvSpPr>
          <p:cNvPr id="22" name="dot-283"/>
          <p:cNvSpPr/>
          <p:nvPr/>
        </p:nvSpPr>
        <p:spPr>
          <a:xfrm>
            <a:off x="548640" y="5276088"/>
            <a:ext cx="146304" cy="146304"/>
          </a:xfrm>
          <a:prstGeom prst="ellipse">
            <a:avLst/>
          </a:prstGeom>
          <a:solidFill>
            <a:schemeClr val="accent6"/>
          </a:solidFill>
          <a:ln w="12700">
            <a:solidFill>
              <a:schemeClr val="accent6"/>
            </a:solidFill>
            <a:prstDash val="solid"/>
          </a:ln>
        </p:spPr>
      </p:sp>
      <p:sp>
        <p:nvSpPr>
          <p:cNvPr id="23" name="text-284"/>
          <p:cNvSpPr txBox="1"/>
          <p:nvPr/>
        </p:nvSpPr>
        <p:spPr>
          <a:xfrm>
            <a:off x="804672" y="5212080"/>
            <a:ext cx="1463040" cy="274320"/>
          </a:xfrm>
          <a:prstGeom prst="rect">
            <a:avLst/>
          </a:prstGeom>
          <a:noFill/>
          <a:ln/>
        </p:spPr>
        <p:txBody>
          <a:bodyPr wrap="square" lIns="0" tIns="0" rIns="0" bIns="0" rtlCol="0" anchor="t"/>
          <a:lstStyle/>
          <a:p>
            <a:pPr indent="0" marL="0">
              <a:buNone/>
            </a:pPr>
            <a:r>
              <a:rPr lang="en-US" sz="1200" b="1" dirty="0">
                <a:solidFill>
                  <a:schemeClr val="tx1"/>
                </a:solidFill>
                <a:latin typeface="Calibri" pitchFamily="34" charset="0"/>
                <a:ea typeface="Calibri" pitchFamily="34" charset="-122"/>
                <a:cs typeface="Calibri" pitchFamily="34" charset="-120"/>
              </a:rPr>
              <a:t>Ageing risk</a:t>
            </a:r>
            <a:endParaRPr lang="en-US" sz="1200" dirty="0"/>
          </a:p>
        </p:txBody>
      </p:sp>
      <p:sp>
        <p:nvSpPr>
          <p:cNvPr id="24" name="text-285"/>
          <p:cNvSpPr txBox="1"/>
          <p:nvPr/>
        </p:nvSpPr>
        <p:spPr>
          <a:xfrm>
            <a:off x="2286000" y="5212080"/>
            <a:ext cx="2103120" cy="274320"/>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Unsold units, &gt;90 days to act</a:t>
            </a:r>
            <a:endParaRPr lang="en-US" sz="1100" dirty="0"/>
          </a:p>
        </p:txBody>
      </p:sp>
      <p:sp>
        <p:nvSpPr>
          <p:cNvPr id="25" name="text-286"/>
          <p:cNvSpPr txBox="1"/>
          <p:nvPr/>
        </p:nvSpPr>
        <p:spPr>
          <a:xfrm>
            <a:off x="4389120" y="5212080"/>
            <a:ext cx="1508760" cy="274320"/>
          </a:xfrm>
          <a:prstGeom prst="rect">
            <a:avLst/>
          </a:prstGeom>
          <a:noFill/>
          <a:ln/>
        </p:spPr>
        <p:txBody>
          <a:bodyPr wrap="square" lIns="0" tIns="0" rIns="0" bIns="0" rtlCol="0" anchor="t"/>
          <a:lstStyle/>
          <a:p>
            <a:pPr indent="0" marL="0">
              <a:buNone/>
            </a:pPr>
            <a:r>
              <a:rPr lang="en-US" sz="1100" b="1" dirty="0">
                <a:solidFill>
                  <a:schemeClr val="accent6"/>
                </a:solidFill>
                <a:latin typeface="Calibri" pitchFamily="34" charset="0"/>
                <a:ea typeface="Calibri" pitchFamily="34" charset="-122"/>
                <a:cs typeface="Calibri" pitchFamily="34" charset="-120"/>
              </a:rPr>
              <a:t>Fix demand early</a:t>
            </a:r>
            <a:endParaRPr lang="en-US" sz="1100" dirty="0"/>
          </a:p>
        </p:txBody>
      </p:sp>
      <p:sp>
        <p:nvSpPr>
          <p:cNvPr id="26" name="dot-287"/>
          <p:cNvSpPr/>
          <p:nvPr/>
        </p:nvSpPr>
        <p:spPr>
          <a:xfrm>
            <a:off x="548640" y="5550408"/>
            <a:ext cx="146304" cy="146304"/>
          </a:xfrm>
          <a:prstGeom prst="ellipse">
            <a:avLst/>
          </a:prstGeom>
          <a:solidFill>
            <a:schemeClr val="accent4"/>
          </a:solidFill>
          <a:ln w="12700">
            <a:solidFill>
              <a:schemeClr val="accent4"/>
            </a:solidFill>
            <a:prstDash val="solid"/>
          </a:ln>
        </p:spPr>
      </p:sp>
      <p:sp>
        <p:nvSpPr>
          <p:cNvPr id="27" name="text-288"/>
          <p:cNvSpPr txBox="1"/>
          <p:nvPr/>
        </p:nvSpPr>
        <p:spPr>
          <a:xfrm>
            <a:off x="804672" y="5486400"/>
            <a:ext cx="1463040" cy="274320"/>
          </a:xfrm>
          <a:prstGeom prst="rect">
            <a:avLst/>
          </a:prstGeom>
          <a:noFill/>
          <a:ln/>
        </p:spPr>
        <p:txBody>
          <a:bodyPr wrap="square" lIns="0" tIns="0" rIns="0" bIns="0" rtlCol="0" anchor="t"/>
          <a:lstStyle/>
          <a:p>
            <a:pPr indent="0" marL="0">
              <a:buNone/>
            </a:pPr>
            <a:r>
              <a:rPr lang="en-US" sz="1200" b="1" dirty="0">
                <a:solidFill>
                  <a:schemeClr val="tx1"/>
                </a:solidFill>
                <a:latin typeface="Calibri" pitchFamily="34" charset="0"/>
                <a:ea typeface="Calibri" pitchFamily="34" charset="-122"/>
                <a:cs typeface="Calibri" pitchFamily="34" charset="-120"/>
              </a:rPr>
              <a:t>Stock-out risk</a:t>
            </a:r>
            <a:endParaRPr lang="en-US" sz="1200" dirty="0"/>
          </a:p>
        </p:txBody>
      </p:sp>
      <p:sp>
        <p:nvSpPr>
          <p:cNvPr id="28" name="text-289"/>
          <p:cNvSpPr txBox="1"/>
          <p:nvPr/>
        </p:nvSpPr>
        <p:spPr>
          <a:xfrm>
            <a:off x="2286000" y="5486400"/>
            <a:ext cx="2103120" cy="274320"/>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Cover ≤ reorder point</a:t>
            </a:r>
            <a:endParaRPr lang="en-US" sz="1100" dirty="0"/>
          </a:p>
        </p:txBody>
      </p:sp>
      <p:sp>
        <p:nvSpPr>
          <p:cNvPr id="29" name="text-290"/>
          <p:cNvSpPr txBox="1"/>
          <p:nvPr/>
        </p:nvSpPr>
        <p:spPr>
          <a:xfrm>
            <a:off x="4389120" y="5486400"/>
            <a:ext cx="1508760" cy="274320"/>
          </a:xfrm>
          <a:prstGeom prst="rect">
            <a:avLst/>
          </a:prstGeom>
          <a:noFill/>
          <a:ln/>
        </p:spPr>
        <p:txBody>
          <a:bodyPr wrap="square" lIns="0" tIns="0" rIns="0" bIns="0" rtlCol="0" anchor="t"/>
          <a:lstStyle/>
          <a:p>
            <a:pPr indent="0" marL="0">
              <a:buNone/>
            </a:pPr>
            <a:r>
              <a:rPr lang="en-US" sz="1100" b="1" dirty="0">
                <a:solidFill>
                  <a:schemeClr val="accent4"/>
                </a:solidFill>
                <a:latin typeface="Calibri" pitchFamily="34" charset="0"/>
                <a:ea typeface="Calibri" pitchFamily="34" charset="-122"/>
                <a:cs typeface="Calibri" pitchFamily="34" charset="-120"/>
              </a:rPr>
              <a:t>Replenish, rebalance</a:t>
            </a:r>
            <a:endParaRPr lang="en-US" sz="1100" dirty="0"/>
          </a:p>
        </p:txBody>
      </p:sp>
      <p:sp>
        <p:nvSpPr>
          <p:cNvPr id="30" name="dot-291"/>
          <p:cNvSpPr/>
          <p:nvPr/>
        </p:nvSpPr>
        <p:spPr>
          <a:xfrm>
            <a:off x="548640" y="5824728"/>
            <a:ext cx="146304" cy="146304"/>
          </a:xfrm>
          <a:prstGeom prst="ellipse">
            <a:avLst/>
          </a:prstGeom>
          <a:solidFill>
            <a:srgbClr val="A58A5C"/>
          </a:solidFill>
          <a:ln w="12700">
            <a:solidFill>
              <a:srgbClr val="A58A5C"/>
            </a:solidFill>
            <a:prstDash val="solid"/>
          </a:ln>
        </p:spPr>
      </p:sp>
      <p:sp>
        <p:nvSpPr>
          <p:cNvPr id="31" name="text-292"/>
          <p:cNvSpPr txBox="1"/>
          <p:nvPr/>
        </p:nvSpPr>
        <p:spPr>
          <a:xfrm>
            <a:off x="804672" y="5760720"/>
            <a:ext cx="1463040" cy="274320"/>
          </a:xfrm>
          <a:prstGeom prst="rect">
            <a:avLst/>
          </a:prstGeom>
          <a:noFill/>
          <a:ln/>
        </p:spPr>
        <p:txBody>
          <a:bodyPr wrap="square" lIns="0" tIns="0" rIns="0" bIns="0" rtlCol="0" anchor="t"/>
          <a:lstStyle/>
          <a:p>
            <a:pPr indent="0" marL="0">
              <a:buNone/>
            </a:pPr>
            <a:r>
              <a:rPr lang="en-US" sz="1200" b="1" dirty="0">
                <a:solidFill>
                  <a:schemeClr val="tx1"/>
                </a:solidFill>
                <a:latin typeface="Calibri" pitchFamily="34" charset="0"/>
                <a:ea typeface="Calibri" pitchFamily="34" charset="-122"/>
                <a:cs typeface="Calibri" pitchFamily="34" charset="-120"/>
              </a:rPr>
              <a:t>Slow / overstock</a:t>
            </a:r>
            <a:endParaRPr lang="en-US" sz="1200" dirty="0"/>
          </a:p>
        </p:txBody>
      </p:sp>
      <p:sp>
        <p:nvSpPr>
          <p:cNvPr id="32" name="text-293"/>
          <p:cNvSpPr txBox="1"/>
          <p:nvPr/>
        </p:nvSpPr>
        <p:spPr>
          <a:xfrm>
            <a:off x="2286000" y="5760720"/>
            <a:ext cx="2103120" cy="274320"/>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Cover &gt;2× norm, sells in time</a:t>
            </a:r>
            <a:endParaRPr lang="en-US" sz="1100" dirty="0"/>
          </a:p>
        </p:txBody>
      </p:sp>
      <p:sp>
        <p:nvSpPr>
          <p:cNvPr id="33" name="text-294"/>
          <p:cNvSpPr txBox="1"/>
          <p:nvPr/>
        </p:nvSpPr>
        <p:spPr>
          <a:xfrm>
            <a:off x="4389120" y="5760720"/>
            <a:ext cx="1508760" cy="274320"/>
          </a:xfrm>
          <a:prstGeom prst="rect">
            <a:avLst/>
          </a:prstGeom>
          <a:noFill/>
          <a:ln/>
        </p:spPr>
        <p:txBody>
          <a:bodyPr wrap="square" lIns="0" tIns="0" rIns="0" bIns="0" rtlCol="0" anchor="t"/>
          <a:lstStyle/>
          <a:p>
            <a:pPr indent="0" marL="0">
              <a:buNone/>
            </a:pPr>
            <a:r>
              <a:rPr lang="en-US" sz="1100" b="1" dirty="0">
                <a:solidFill>
                  <a:srgbClr val="A58A5C"/>
                </a:solidFill>
                <a:latin typeface="Calibri" pitchFamily="34" charset="0"/>
                <a:ea typeface="Calibri" pitchFamily="34" charset="-122"/>
                <a:cs typeface="Calibri" pitchFamily="34" charset="-120"/>
              </a:rPr>
              <a:t>Diagnose, no discount</a:t>
            </a:r>
            <a:endParaRPr lang="en-US" sz="1100" dirty="0"/>
          </a:p>
        </p:txBody>
      </p:sp>
      <p:sp>
        <p:nvSpPr>
          <p:cNvPr id="34" name="dot-295"/>
          <p:cNvSpPr/>
          <p:nvPr/>
        </p:nvSpPr>
        <p:spPr>
          <a:xfrm>
            <a:off x="548640" y="6099048"/>
            <a:ext cx="146304" cy="146304"/>
          </a:xfrm>
          <a:prstGeom prst="ellipse">
            <a:avLst/>
          </a:prstGeom>
          <a:solidFill>
            <a:srgbClr val="5B3A8A"/>
          </a:solidFill>
          <a:ln w="12700">
            <a:solidFill>
              <a:srgbClr val="5B3A8A"/>
            </a:solidFill>
            <a:prstDash val="solid"/>
          </a:ln>
        </p:spPr>
      </p:sp>
      <p:sp>
        <p:nvSpPr>
          <p:cNvPr id="35" name="text-296"/>
          <p:cNvSpPr txBox="1"/>
          <p:nvPr/>
        </p:nvSpPr>
        <p:spPr>
          <a:xfrm>
            <a:off x="804672" y="6035040"/>
            <a:ext cx="1463040" cy="274320"/>
          </a:xfrm>
          <a:prstGeom prst="rect">
            <a:avLst/>
          </a:prstGeom>
          <a:noFill/>
          <a:ln/>
        </p:spPr>
        <p:txBody>
          <a:bodyPr wrap="square" lIns="0" tIns="0" rIns="0" bIns="0" rtlCol="0" anchor="t"/>
          <a:lstStyle/>
          <a:p>
            <a:pPr indent="0" marL="0">
              <a:buNone/>
            </a:pPr>
            <a:r>
              <a:rPr lang="en-US" sz="1200" b="1" dirty="0">
                <a:solidFill>
                  <a:schemeClr val="tx1"/>
                </a:solidFill>
                <a:latin typeface="Calibri" pitchFamily="34" charset="0"/>
                <a:ea typeface="Calibri" pitchFamily="34" charset="-122"/>
                <a:cs typeface="Calibri" pitchFamily="34" charset="-120"/>
              </a:rPr>
              <a:t>Channel shift</a:t>
            </a:r>
            <a:endParaRPr lang="en-US" sz="1200" dirty="0"/>
          </a:p>
        </p:txBody>
      </p:sp>
      <p:sp>
        <p:nvSpPr>
          <p:cNvPr id="36" name="text-297"/>
          <p:cNvSpPr txBox="1"/>
          <p:nvPr/>
        </p:nvSpPr>
        <p:spPr>
          <a:xfrm>
            <a:off x="2286000" y="6035040"/>
            <a:ext cx="2103120" cy="274320"/>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Outlet falling, online rising</a:t>
            </a:r>
            <a:endParaRPr lang="en-US" sz="1100" dirty="0"/>
          </a:p>
        </p:txBody>
      </p:sp>
      <p:sp>
        <p:nvSpPr>
          <p:cNvPr id="37" name="text-298"/>
          <p:cNvSpPr txBox="1"/>
          <p:nvPr/>
        </p:nvSpPr>
        <p:spPr>
          <a:xfrm>
            <a:off x="4389120" y="6035040"/>
            <a:ext cx="1508760" cy="274320"/>
          </a:xfrm>
          <a:prstGeom prst="rect">
            <a:avLst/>
          </a:prstGeom>
          <a:noFill/>
          <a:ln/>
        </p:spPr>
        <p:txBody>
          <a:bodyPr wrap="square" lIns="0" tIns="0" rIns="0" bIns="0" rtlCol="0" anchor="t"/>
          <a:lstStyle/>
          <a:p>
            <a:pPr indent="0" marL="0">
              <a:buNone/>
            </a:pPr>
            <a:r>
              <a:rPr lang="en-US" sz="1100" b="1" dirty="0">
                <a:solidFill>
                  <a:srgbClr val="5B3A8A"/>
                </a:solidFill>
                <a:latin typeface="Calibri" pitchFamily="34" charset="0"/>
                <a:ea typeface="Calibri" pitchFamily="34" charset="-122"/>
                <a:cs typeface="Calibri" pitchFamily="34" charset="-120"/>
              </a:rPr>
              <a:t>Resize + hand off</a:t>
            </a:r>
            <a:endParaRPr lang="en-US" sz="1100" dirty="0"/>
          </a:p>
        </p:txBody>
      </p:sp>
      <p:sp>
        <p:nvSpPr>
          <p:cNvPr id="38" name="card-299"/>
          <p:cNvSpPr/>
          <p:nvPr/>
        </p:nvSpPr>
        <p:spPr>
          <a:xfrm>
            <a:off x="6172200" y="1691640"/>
            <a:ext cx="5468112" cy="1417320"/>
          </a:xfrm>
          <a:prstGeom prst="roundRect">
            <a:avLst>
              <a:gd name="adj" fmla="val 5161"/>
            </a:avLst>
          </a:prstGeom>
          <a:solidFill>
            <a:schemeClr val="bg2"/>
          </a:solidFill>
          <a:ln w="12700">
            <a:solidFill>
              <a:schemeClr val="bg2"/>
            </a:solidFill>
            <a:prstDash val="solid"/>
          </a:ln>
        </p:spPr>
      </p:sp>
      <p:sp>
        <p:nvSpPr>
          <p:cNvPr id="39" name="text-300"/>
          <p:cNvSpPr txBox="1"/>
          <p:nvPr/>
        </p:nvSpPr>
        <p:spPr>
          <a:xfrm>
            <a:off x="6355080" y="1783080"/>
            <a:ext cx="5120640" cy="32004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Shree Beauty · Lumea shampoo: 120 units · 20 a month · expiry in 105 days</a:t>
            </a:r>
            <a:endParaRPr lang="en-US" sz="1200" dirty="0"/>
          </a:p>
        </p:txBody>
      </p:sp>
      <p:sp>
        <p:nvSpPr>
          <p:cNvPr id="40" name="text-301"/>
          <p:cNvSpPr txBox="1"/>
          <p:nvPr/>
        </p:nvSpPr>
        <p:spPr>
          <a:xfrm>
            <a:off x="6355080" y="2103120"/>
            <a:ext cx="5120640" cy="502920"/>
          </a:xfrm>
          <a:prstGeom prst="rect">
            <a:avLst/>
          </a:prstGeom>
          <a:noFill/>
          <a:ln/>
        </p:spPr>
        <p:txBody>
          <a:bodyPr wrap="square" lIns="0" tIns="0" rIns="0" bIns="0" rtlCol="0" anchor="t"/>
          <a:lstStyle/>
          <a:p>
            <a:pPr indent="0" marL="0">
              <a:buNone/>
            </a:pPr>
            <a:r>
              <a:rPr lang="en-US" sz="3000" b="1" dirty="0">
                <a:solidFill>
                  <a:schemeClr val="accent5"/>
                </a:solidFill>
                <a:latin typeface="Cambria" pitchFamily="34" charset="0"/>
                <a:ea typeface="Cambria" pitchFamily="34" charset="-122"/>
                <a:cs typeface="Cambria" pitchFamily="34" charset="-120"/>
              </a:rPr>
              <a:t>₹14,700</a:t>
            </a:r>
            <a:pPr indent="0" marL="0">
              <a:buNone/>
            </a:pPr>
            <a:r>
              <a:rPr lang="en-US" sz="1400" b="1" dirty="0">
                <a:solidFill>
                  <a:schemeClr val="tx1"/>
                </a:solidFill>
                <a:latin typeface="Calibri" pitchFamily="34" charset="0"/>
                <a:ea typeface="Calibri" pitchFamily="34" charset="-122"/>
                <a:cs typeface="Calibri" pitchFamily="34" charset="-120"/>
              </a:rPr>
              <a:t>  at risk today · 75 days to act</a:t>
            </a:r>
            <a:endParaRPr lang="en-US" sz="1400" dirty="0"/>
          </a:p>
        </p:txBody>
      </p:sp>
      <p:sp>
        <p:nvSpPr>
          <p:cNvPr id="41" name="text-302"/>
          <p:cNvSpPr txBox="1"/>
          <p:nvPr/>
        </p:nvSpPr>
        <p:spPr>
          <a:xfrm>
            <a:off x="6355080" y="2606040"/>
            <a:ext cx="5120640" cy="411480"/>
          </a:xfrm>
          <a:prstGeom prst="rect">
            <a:avLst/>
          </a:prstGeom>
          <a:noFill/>
          <a:ln/>
        </p:spPr>
        <p:txBody>
          <a:bodyPr wrap="square" lIns="0" tIns="0" rIns="0" bIns="0" rtlCol="0" anchor="t"/>
          <a:lstStyle/>
          <a:p>
            <a:pPr indent="0" marL="0">
              <a:buNone/>
            </a:pPr>
            <a:r>
              <a:rPr lang="en-US" sz="2200" b="1" dirty="0">
                <a:solidFill>
                  <a:schemeClr val="accent3"/>
                </a:solidFill>
                <a:latin typeface="Cambria" pitchFamily="34" charset="0"/>
                <a:ea typeface="Cambria" pitchFamily="34" charset="-122"/>
                <a:cs typeface="Cambria" pitchFamily="34" charset="-120"/>
              </a:rPr>
              <a:t>₹0</a:t>
            </a:r>
            <a:pPr indent="0" marL="0">
              <a:buNone/>
            </a:pPr>
            <a:r>
              <a:rPr lang="en-US" sz="1300" dirty="0">
                <a:solidFill>
                  <a:schemeClr val="tx1"/>
                </a:solidFill>
                <a:latin typeface="Calibri" pitchFamily="34" charset="0"/>
                <a:ea typeface="Calibri" pitchFamily="34" charset="-122"/>
                <a:cs typeface="Calibri" pitchFamily="34" charset="-120"/>
              </a:rPr>
              <a:t>  if the same shelf had been caught 150 days earlier</a:t>
            </a:r>
            <a:endParaRPr lang="en-US" sz="1400" dirty="0"/>
          </a:p>
        </p:txBody>
      </p:sp>
      <p:sp>
        <p:nvSpPr>
          <p:cNvPr id="42" name="shot-frame-303"/>
          <p:cNvSpPr/>
          <p:nvPr/>
        </p:nvSpPr>
        <p:spPr>
          <a:xfrm>
            <a:off x="6153912" y="3273552"/>
            <a:ext cx="5504688" cy="2355055"/>
          </a:xfrm>
          <a:prstGeom prst="rect">
            <a:avLst/>
          </a:prstGeom>
          <a:solidFill>
            <a:srgbClr val="E4DDD6"/>
          </a:solidFill>
          <a:ln w="12700">
            <a:solidFill>
              <a:srgbClr val="E4DDD6"/>
            </a:solidFill>
            <a:prstDash val="solid"/>
          </a:ln>
          <a:effectLst>
            <a:outerShdw sx="100000" sy="100000" kx="0" ky="0" algn="bl" rotWithShape="0" blurRad="76200" dist="25400" dir="5400000">
              <a:srgbClr val="000000">
                <a:alpha val="12000"/>
              </a:srgbClr>
            </a:outerShdw>
          </a:effectLst>
        </p:spPr>
      </p:sp>
      <p:pic>
        <p:nvPicPr>
          <p:cNvPr id="43" name="screenshot-304" descr="What-if lab: caught 150 days earlier">    </p:cNvPr>
          <p:cNvPicPr>
            <a:picLocks noChangeAspect="1"/>
          </p:cNvPicPr>
          <p:nvPr/>
        </p:nvPicPr>
        <p:blipFill>
          <a:blip r:embed="rId1"/>
          <a:stretch>
            <a:fillRect/>
          </a:stretch>
        </p:blipFill>
        <p:spPr>
          <a:xfrm>
            <a:off x="6172200" y="3291840"/>
            <a:ext cx="5468112" cy="2318479"/>
          </a:xfrm>
          <a:prstGeom prst="rect">
            <a:avLst/>
          </a:prstGeom>
        </p:spPr>
      </p:pic>
      <p:sp>
        <p:nvSpPr>
          <p:cNvPr id="44" name="text-305"/>
          <p:cNvSpPr txBox="1"/>
          <p:nvPr/>
        </p:nvSpPr>
        <p:spPr>
          <a:xfrm>
            <a:off x="6172200" y="5650992"/>
            <a:ext cx="5468112" cy="365760"/>
          </a:xfrm>
          <a:prstGeom prst="rect">
            <a:avLst/>
          </a:prstGeom>
          <a:noFill/>
          <a:ln/>
        </p:spPr>
        <p:txBody>
          <a:bodyPr wrap="square" lIns="0" tIns="0" rIns="0" bIns="0" rtlCol="0" anchor="t"/>
          <a:lstStyle/>
          <a:p>
            <a:pPr indent="0" marL="0">
              <a:buNone/>
            </a:pPr>
            <a:r>
              <a:rPr lang="en-US" sz="1100" i="1" dirty="0">
                <a:solidFill>
                  <a:schemeClr val="tx2"/>
                </a:solidFill>
                <a:latin typeface="Calibri" pitchFamily="34" charset="0"/>
                <a:ea typeface="Calibri" pitchFamily="34" charset="-122"/>
                <a:cs typeface="Calibri" pitchFamily="34" charset="-120"/>
              </a:rPr>
              <a:t>Live what-if lab: judges can drag stock, sales and expiry and watch every number update</a:t>
            </a:r>
            <a:endParaRPr lang="en-US" sz="11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229600" cy="274320"/>
          </a:xfrm>
          <a:prstGeom prst="rect">
            <a:avLst/>
          </a:prstGeom>
          <a:noFill/>
          <a:ln/>
        </p:spPr>
        <p:txBody>
          <a:bodyPr wrap="square" lIns="0" tIns="0" rIns="0" bIns="0" rtlCol="0" anchor="t"/>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NEXT BEST ACTION ENGINE</a:t>
            </a:r>
            <a:endParaRPr lang="en-US" sz="1100" dirty="0"/>
          </a:p>
        </p:txBody>
      </p:sp>
      <p:sp>
        <p:nvSpPr>
          <p:cNvPr id="3" name="Text 0"/>
          <p:cNvSpPr/>
          <p:nvPr>
            <p:ph idx="101" type="title" hasCustomPrompt="1"/>
          </p:nvPr>
        </p:nvSpPr>
        <p:spPr>
          <a:xfrm>
            <a:off x="548640" y="566928"/>
            <a:ext cx="11064240" cy="96012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Cheapest fix first: near-expiry needs speed, slow-moving needs diagnosis</a:t>
            </a:r>
            <a:endParaRPr lang="en-US" sz="3000" dirty="0"/>
          </a:p>
        </p:txBody>
      </p:sp>
      <p:sp>
        <p:nvSpPr>
          <p:cNvPr id="4" name="Text 0"/>
          <p:cNvSpPr/>
          <p:nvPr>
            <p:ph idx="102" type="body" hasCustomPrompt="1"/>
          </p:nvPr>
        </p:nvSpPr>
        <p:spPr>
          <a:xfrm>
            <a:off x="548640" y="6382512"/>
            <a:ext cx="9692640" cy="329184"/>
          </a:xfrm>
          <a:prstGeom prst="rect">
            <a:avLst/>
          </a:prstGeom>
          <a:noFill/>
          <a:ln/>
        </p:spPr>
        <p:txBody>
          <a:bodyPr wrap="square" lIns="0" tIns="0" rIns="0" bIns="0" rtlCol="0" anchor="t"/>
          <a:lstStyle/>
          <a:p>
            <a:pPr indent="0" marL="0">
              <a:buNone/>
            </a:pPr>
            <a:r>
              <a:rPr lang="en-US" sz="1000" dirty="0">
                <a:solidFill>
                  <a:schemeClr val="tx2"/>
                </a:solidFill>
                <a:latin typeface="Calibri" pitchFamily="34" charset="0"/>
                <a:ea typeface="Calibri" pitchFamily="34" charset="-122"/>
                <a:cs typeface="Calibri" pitchFamily="34" charset="-120"/>
              </a:rPr>
              <a:t>Case question B: "What specific on-ground actions would you use to move slow SKUs? What can we do differently for a near-expiry SKU versus a slow-moving one?" Costs and uplifts are assumptions to validate in the pilot.</a:t>
            </a:r>
            <a:endParaRPr lang="en-US" sz="1000" dirty="0"/>
          </a:p>
        </p:txBody>
      </p:sp>
      <p:sp>
        <p:nvSpPr>
          <p:cNvPr id="5" name="text-306"/>
          <p:cNvSpPr txBox="1"/>
          <p:nvPr/>
        </p:nvSpPr>
        <p:spPr>
          <a:xfrm>
            <a:off x="548640" y="1691640"/>
            <a:ext cx="4572000" cy="274320"/>
          </a:xfrm>
          <a:prstGeom prst="rect">
            <a:avLst/>
          </a:prstGeom>
          <a:noFill/>
          <a:ln/>
        </p:spPr>
        <p:txBody>
          <a:bodyPr wrap="square" lIns="0" tIns="0" rIns="0" bIns="0" rtlCol="0" anchor="t"/>
          <a:lstStyle/>
          <a:p>
            <a:pPr indent="0" marL="0">
              <a:buNone/>
            </a:pPr>
            <a:r>
              <a:rPr lang="en-US" sz="1100" b="1" spc="200" kern="0" dirty="0">
                <a:solidFill>
                  <a:schemeClr val="tx2"/>
                </a:solidFill>
                <a:latin typeface="Calibri" pitchFamily="34" charset="0"/>
                <a:ea typeface="Calibri" pitchFamily="34" charset="-122"/>
                <a:cs typeface="Calibri" pitchFamily="34" charset="-120"/>
              </a:rPr>
              <a:t>THE 8-STEP LADDER</a:t>
            </a:r>
            <a:endParaRPr lang="en-US" sz="1100" dirty="0"/>
          </a:p>
        </p:txBody>
      </p:sp>
      <p:sp>
        <p:nvSpPr>
          <p:cNvPr id="6" name="card-307"/>
          <p:cNvSpPr/>
          <p:nvPr/>
        </p:nvSpPr>
        <p:spPr>
          <a:xfrm>
            <a:off x="548640" y="2011680"/>
            <a:ext cx="3108960" cy="384048"/>
          </a:xfrm>
          <a:prstGeom prst="roundRect">
            <a:avLst>
              <a:gd name="adj" fmla="val 19048"/>
            </a:avLst>
          </a:prstGeom>
          <a:solidFill>
            <a:srgbClr val="E6F0EA"/>
          </a:solidFill>
          <a:ln w="12700">
            <a:solidFill>
              <a:srgbClr val="E6F0EA"/>
            </a:solidFill>
            <a:prstDash val="solid"/>
          </a:ln>
        </p:spPr>
      </p:sp>
      <p:sp>
        <p:nvSpPr>
          <p:cNvPr id="7" name="text-308"/>
          <p:cNvSpPr txBox="1"/>
          <p:nvPr/>
        </p:nvSpPr>
        <p:spPr>
          <a:xfrm>
            <a:off x="658368" y="2011680"/>
            <a:ext cx="411480" cy="384048"/>
          </a:xfrm>
          <a:prstGeom prst="rect">
            <a:avLst/>
          </a:prstGeom>
          <a:noFill/>
          <a:ln/>
        </p:spPr>
        <p:txBody>
          <a:bodyPr wrap="square" lIns="0" tIns="0" rIns="0" bIns="0" rtlCol="0" anchor="ctr"/>
          <a:lstStyle/>
          <a:p>
            <a:pPr indent="0" marL="0">
              <a:buNone/>
            </a:pPr>
            <a:r>
              <a:rPr lang="en-US" sz="1200" b="1" dirty="0">
                <a:solidFill>
                  <a:schemeClr val="accent1"/>
                </a:solidFill>
                <a:latin typeface="Calibri" pitchFamily="34" charset="0"/>
                <a:ea typeface="Calibri" pitchFamily="34" charset="-122"/>
                <a:cs typeface="Calibri" pitchFamily="34" charset="-120"/>
              </a:rPr>
              <a:t>L0</a:t>
            </a:r>
            <a:endParaRPr lang="en-US" sz="1200" dirty="0"/>
          </a:p>
        </p:txBody>
      </p:sp>
      <p:sp>
        <p:nvSpPr>
          <p:cNvPr id="8" name="text-309"/>
          <p:cNvSpPr txBox="1"/>
          <p:nvPr/>
        </p:nvSpPr>
        <p:spPr>
          <a:xfrm>
            <a:off x="1051560" y="2011680"/>
            <a:ext cx="2011680" cy="384048"/>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Verify / diagnose</a:t>
            </a:r>
            <a:endParaRPr lang="en-US" sz="1200" dirty="0"/>
          </a:p>
        </p:txBody>
      </p:sp>
      <p:sp>
        <p:nvSpPr>
          <p:cNvPr id="9" name="text-310"/>
          <p:cNvSpPr txBox="1"/>
          <p:nvPr/>
        </p:nvSpPr>
        <p:spPr>
          <a:xfrm>
            <a:off x="2651760" y="2011680"/>
            <a:ext cx="914400" cy="384048"/>
          </a:xfrm>
          <a:prstGeom prst="rect">
            <a:avLst/>
          </a:prstGeom>
          <a:noFill/>
          <a:ln/>
        </p:spPr>
        <p:txBody>
          <a:bodyPr wrap="square" lIns="0" tIns="0" rIns="0" bIns="0" rtlCol="0" anchor="ctr"/>
          <a:lstStyle/>
          <a:p>
            <a:pPr algn="r" indent="0" marL="0">
              <a:buNone/>
            </a:pPr>
            <a:r>
              <a:rPr lang="en-US" sz="1000" dirty="0">
                <a:solidFill>
                  <a:schemeClr val="tx2"/>
                </a:solidFill>
                <a:latin typeface="Calibri" pitchFamily="34" charset="0"/>
                <a:ea typeface="Calibri" pitchFamily="34" charset="-122"/>
                <a:cs typeface="Calibri" pitchFamily="34" charset="-120"/>
              </a:rPr>
              <a:t>₹0</a:t>
            </a:r>
            <a:endParaRPr lang="en-US" sz="1000" dirty="0"/>
          </a:p>
        </p:txBody>
      </p:sp>
      <p:sp>
        <p:nvSpPr>
          <p:cNvPr id="10" name="card-311"/>
          <p:cNvSpPr/>
          <p:nvPr/>
        </p:nvSpPr>
        <p:spPr>
          <a:xfrm>
            <a:off x="548640" y="2468880"/>
            <a:ext cx="3337560" cy="384048"/>
          </a:xfrm>
          <a:prstGeom prst="roundRect">
            <a:avLst>
              <a:gd name="adj" fmla="val 19048"/>
            </a:avLst>
          </a:prstGeom>
          <a:solidFill>
            <a:srgbClr val="E6F0EA"/>
          </a:solidFill>
          <a:ln w="12700">
            <a:solidFill>
              <a:srgbClr val="E6F0EA"/>
            </a:solidFill>
            <a:prstDash val="solid"/>
          </a:ln>
        </p:spPr>
      </p:sp>
      <p:sp>
        <p:nvSpPr>
          <p:cNvPr id="11" name="text-312"/>
          <p:cNvSpPr txBox="1"/>
          <p:nvPr/>
        </p:nvSpPr>
        <p:spPr>
          <a:xfrm>
            <a:off x="658368" y="2468880"/>
            <a:ext cx="411480" cy="384048"/>
          </a:xfrm>
          <a:prstGeom prst="rect">
            <a:avLst/>
          </a:prstGeom>
          <a:noFill/>
          <a:ln/>
        </p:spPr>
        <p:txBody>
          <a:bodyPr wrap="square" lIns="0" tIns="0" rIns="0" bIns="0" rtlCol="0" anchor="ctr"/>
          <a:lstStyle/>
          <a:p>
            <a:pPr indent="0" marL="0">
              <a:buNone/>
            </a:pPr>
            <a:r>
              <a:rPr lang="en-US" sz="1200" b="1" dirty="0">
                <a:solidFill>
                  <a:schemeClr val="accent1"/>
                </a:solidFill>
                <a:latin typeface="Calibri" pitchFamily="34" charset="0"/>
                <a:ea typeface="Calibri" pitchFamily="34" charset="-122"/>
                <a:cs typeface="Calibri" pitchFamily="34" charset="-120"/>
              </a:rPr>
              <a:t>L1</a:t>
            </a:r>
            <a:endParaRPr lang="en-US" sz="1200" dirty="0"/>
          </a:p>
        </p:txBody>
      </p:sp>
      <p:sp>
        <p:nvSpPr>
          <p:cNvPr id="12" name="text-313"/>
          <p:cNvSpPr txBox="1"/>
          <p:nvPr/>
        </p:nvSpPr>
        <p:spPr>
          <a:xfrm>
            <a:off x="1051560" y="2468880"/>
            <a:ext cx="2240280" cy="384048"/>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Rotate &amp; re-place (FEFO, eye level)</a:t>
            </a:r>
            <a:endParaRPr lang="en-US" sz="1200" dirty="0"/>
          </a:p>
        </p:txBody>
      </p:sp>
      <p:sp>
        <p:nvSpPr>
          <p:cNvPr id="13" name="text-314"/>
          <p:cNvSpPr txBox="1"/>
          <p:nvPr/>
        </p:nvSpPr>
        <p:spPr>
          <a:xfrm>
            <a:off x="2880360" y="2468880"/>
            <a:ext cx="914400" cy="384048"/>
          </a:xfrm>
          <a:prstGeom prst="rect">
            <a:avLst/>
          </a:prstGeom>
          <a:noFill/>
          <a:ln/>
        </p:spPr>
        <p:txBody>
          <a:bodyPr wrap="square" lIns="0" tIns="0" rIns="0" bIns="0" rtlCol="0" anchor="ctr"/>
          <a:lstStyle/>
          <a:p>
            <a:pPr algn="r" indent="0" marL="0">
              <a:buNone/>
            </a:pPr>
            <a:r>
              <a:rPr lang="en-US" sz="1000" dirty="0">
                <a:solidFill>
                  <a:schemeClr val="tx2"/>
                </a:solidFill>
                <a:latin typeface="Calibri" pitchFamily="34" charset="0"/>
                <a:ea typeface="Calibri" pitchFamily="34" charset="-122"/>
                <a:cs typeface="Calibri" pitchFamily="34" charset="-120"/>
              </a:rPr>
              <a:t>₹0</a:t>
            </a:r>
            <a:endParaRPr lang="en-US" sz="1000" dirty="0"/>
          </a:p>
        </p:txBody>
      </p:sp>
      <p:sp>
        <p:nvSpPr>
          <p:cNvPr id="14" name="card-315"/>
          <p:cNvSpPr/>
          <p:nvPr/>
        </p:nvSpPr>
        <p:spPr>
          <a:xfrm>
            <a:off x="548640" y="2926080"/>
            <a:ext cx="3566160" cy="384048"/>
          </a:xfrm>
          <a:prstGeom prst="roundRect">
            <a:avLst>
              <a:gd name="adj" fmla="val 19048"/>
            </a:avLst>
          </a:prstGeom>
          <a:solidFill>
            <a:srgbClr val="E6F0EA"/>
          </a:solidFill>
          <a:ln w="12700">
            <a:solidFill>
              <a:srgbClr val="E6F0EA"/>
            </a:solidFill>
            <a:prstDash val="solid"/>
          </a:ln>
        </p:spPr>
      </p:sp>
      <p:sp>
        <p:nvSpPr>
          <p:cNvPr id="15" name="text-316"/>
          <p:cNvSpPr txBox="1"/>
          <p:nvPr/>
        </p:nvSpPr>
        <p:spPr>
          <a:xfrm>
            <a:off x="658368" y="2926080"/>
            <a:ext cx="411480" cy="384048"/>
          </a:xfrm>
          <a:prstGeom prst="rect">
            <a:avLst/>
          </a:prstGeom>
          <a:noFill/>
          <a:ln/>
        </p:spPr>
        <p:txBody>
          <a:bodyPr wrap="square" lIns="0" tIns="0" rIns="0" bIns="0" rtlCol="0" anchor="ctr"/>
          <a:lstStyle/>
          <a:p>
            <a:pPr indent="0" marL="0">
              <a:buNone/>
            </a:pPr>
            <a:r>
              <a:rPr lang="en-US" sz="1200" b="1" dirty="0">
                <a:solidFill>
                  <a:schemeClr val="accent1"/>
                </a:solidFill>
                <a:latin typeface="Calibri" pitchFamily="34" charset="0"/>
                <a:ea typeface="Calibri" pitchFamily="34" charset="-122"/>
                <a:cs typeface="Calibri" pitchFamily="34" charset="-120"/>
              </a:rPr>
              <a:t>L2</a:t>
            </a:r>
            <a:endParaRPr lang="en-US" sz="1200" dirty="0"/>
          </a:p>
        </p:txBody>
      </p:sp>
      <p:sp>
        <p:nvSpPr>
          <p:cNvPr id="16" name="text-317"/>
          <p:cNvSpPr txBox="1"/>
          <p:nvPr/>
        </p:nvSpPr>
        <p:spPr>
          <a:xfrm>
            <a:off x="1051560" y="2926080"/>
            <a:ext cx="2468880" cy="384048"/>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Order guardrail: pause this SKU</a:t>
            </a:r>
            <a:endParaRPr lang="en-US" sz="1200" dirty="0"/>
          </a:p>
        </p:txBody>
      </p:sp>
      <p:sp>
        <p:nvSpPr>
          <p:cNvPr id="17" name="text-318"/>
          <p:cNvSpPr txBox="1"/>
          <p:nvPr/>
        </p:nvSpPr>
        <p:spPr>
          <a:xfrm>
            <a:off x="3108960" y="2926080"/>
            <a:ext cx="914400" cy="384048"/>
          </a:xfrm>
          <a:prstGeom prst="rect">
            <a:avLst/>
          </a:prstGeom>
          <a:noFill/>
          <a:ln/>
        </p:spPr>
        <p:txBody>
          <a:bodyPr wrap="square" lIns="0" tIns="0" rIns="0" bIns="0" rtlCol="0" anchor="ctr"/>
          <a:lstStyle/>
          <a:p>
            <a:pPr algn="r" indent="0" marL="0">
              <a:buNone/>
            </a:pPr>
            <a:r>
              <a:rPr lang="en-US" sz="1000" dirty="0">
                <a:solidFill>
                  <a:schemeClr val="tx2"/>
                </a:solidFill>
                <a:latin typeface="Calibri" pitchFamily="34" charset="0"/>
                <a:ea typeface="Calibri" pitchFamily="34" charset="-122"/>
                <a:cs typeface="Calibri" pitchFamily="34" charset="-120"/>
              </a:rPr>
              <a:t>₹0</a:t>
            </a:r>
            <a:endParaRPr lang="en-US" sz="1000" dirty="0"/>
          </a:p>
        </p:txBody>
      </p:sp>
      <p:sp>
        <p:nvSpPr>
          <p:cNvPr id="18" name="card-319"/>
          <p:cNvSpPr/>
          <p:nvPr/>
        </p:nvSpPr>
        <p:spPr>
          <a:xfrm>
            <a:off x="548640" y="3383280"/>
            <a:ext cx="3794760" cy="384048"/>
          </a:xfrm>
          <a:prstGeom prst="roundRect">
            <a:avLst>
              <a:gd name="adj" fmla="val 19048"/>
            </a:avLst>
          </a:prstGeom>
          <a:solidFill>
            <a:srgbClr val="F6EEDD"/>
          </a:solidFill>
          <a:ln w="12700">
            <a:solidFill>
              <a:srgbClr val="F6EEDD"/>
            </a:solidFill>
            <a:prstDash val="solid"/>
          </a:ln>
        </p:spPr>
      </p:sp>
      <p:sp>
        <p:nvSpPr>
          <p:cNvPr id="19" name="text-320"/>
          <p:cNvSpPr txBox="1"/>
          <p:nvPr/>
        </p:nvSpPr>
        <p:spPr>
          <a:xfrm>
            <a:off x="658368" y="3383280"/>
            <a:ext cx="411480" cy="384048"/>
          </a:xfrm>
          <a:prstGeom prst="rect">
            <a:avLst/>
          </a:prstGeom>
          <a:noFill/>
          <a:ln/>
        </p:spPr>
        <p:txBody>
          <a:bodyPr wrap="square" lIns="0" tIns="0" rIns="0" bIns="0" rtlCol="0" anchor="ctr"/>
          <a:lstStyle/>
          <a:p>
            <a:pPr indent="0" marL="0">
              <a:buNone/>
            </a:pPr>
            <a:r>
              <a:rPr lang="en-US" sz="1200" b="1" dirty="0">
                <a:solidFill>
                  <a:schemeClr val="accent1"/>
                </a:solidFill>
                <a:latin typeface="Calibri" pitchFamily="34" charset="0"/>
                <a:ea typeface="Calibri" pitchFamily="34" charset="-122"/>
                <a:cs typeface="Calibri" pitchFamily="34" charset="-120"/>
              </a:rPr>
              <a:t>L3</a:t>
            </a:r>
            <a:endParaRPr lang="en-US" sz="1200" dirty="0"/>
          </a:p>
        </p:txBody>
      </p:sp>
      <p:sp>
        <p:nvSpPr>
          <p:cNvPr id="20" name="text-321"/>
          <p:cNvSpPr txBox="1"/>
          <p:nvPr/>
        </p:nvSpPr>
        <p:spPr>
          <a:xfrm>
            <a:off x="1051560" y="3383280"/>
            <a:ext cx="2697480" cy="384048"/>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Rebalance to a faster outlet</a:t>
            </a:r>
            <a:endParaRPr lang="en-US" sz="1200" dirty="0"/>
          </a:p>
        </p:txBody>
      </p:sp>
      <p:sp>
        <p:nvSpPr>
          <p:cNvPr id="21" name="text-322"/>
          <p:cNvSpPr txBox="1"/>
          <p:nvPr/>
        </p:nvSpPr>
        <p:spPr>
          <a:xfrm>
            <a:off x="3337560" y="3383280"/>
            <a:ext cx="914400" cy="384048"/>
          </a:xfrm>
          <a:prstGeom prst="rect">
            <a:avLst/>
          </a:prstGeom>
          <a:noFill/>
          <a:ln/>
        </p:spPr>
        <p:txBody>
          <a:bodyPr wrap="square" lIns="0" tIns="0" rIns="0" bIns="0" rtlCol="0" anchor="ctr"/>
          <a:lstStyle/>
          <a:p>
            <a:pPr algn="r" indent="0" marL="0">
              <a:buNone/>
            </a:pPr>
            <a:r>
              <a:rPr lang="en-US" sz="1000" dirty="0">
                <a:solidFill>
                  <a:schemeClr val="tx2"/>
                </a:solidFill>
                <a:latin typeface="Calibri" pitchFamily="34" charset="0"/>
                <a:ea typeface="Calibri" pitchFamily="34" charset="-122"/>
                <a:cs typeface="Calibri" pitchFamily="34" charset="-120"/>
              </a:rPr>
              <a:t>~3% logistics</a:t>
            </a:r>
            <a:endParaRPr lang="en-US" sz="1000" dirty="0"/>
          </a:p>
        </p:txBody>
      </p:sp>
      <p:sp>
        <p:nvSpPr>
          <p:cNvPr id="22" name="card-323"/>
          <p:cNvSpPr/>
          <p:nvPr/>
        </p:nvSpPr>
        <p:spPr>
          <a:xfrm>
            <a:off x="548640" y="3840480"/>
            <a:ext cx="4023360" cy="384048"/>
          </a:xfrm>
          <a:prstGeom prst="roundRect">
            <a:avLst>
              <a:gd name="adj" fmla="val 19048"/>
            </a:avLst>
          </a:prstGeom>
          <a:solidFill>
            <a:srgbClr val="F6EEDD"/>
          </a:solidFill>
          <a:ln w="12700">
            <a:solidFill>
              <a:srgbClr val="F6EEDD"/>
            </a:solidFill>
            <a:prstDash val="solid"/>
          </a:ln>
        </p:spPr>
      </p:sp>
      <p:sp>
        <p:nvSpPr>
          <p:cNvPr id="23" name="text-324"/>
          <p:cNvSpPr txBox="1"/>
          <p:nvPr/>
        </p:nvSpPr>
        <p:spPr>
          <a:xfrm>
            <a:off x="658368" y="3840480"/>
            <a:ext cx="411480" cy="384048"/>
          </a:xfrm>
          <a:prstGeom prst="rect">
            <a:avLst/>
          </a:prstGeom>
          <a:noFill/>
          <a:ln/>
        </p:spPr>
        <p:txBody>
          <a:bodyPr wrap="square" lIns="0" tIns="0" rIns="0" bIns="0" rtlCol="0" anchor="ctr"/>
          <a:lstStyle/>
          <a:p>
            <a:pPr indent="0" marL="0">
              <a:buNone/>
            </a:pPr>
            <a:r>
              <a:rPr lang="en-US" sz="1200" b="1" dirty="0">
                <a:solidFill>
                  <a:schemeClr val="accent1"/>
                </a:solidFill>
                <a:latin typeface="Calibri" pitchFamily="34" charset="0"/>
                <a:ea typeface="Calibri" pitchFamily="34" charset="-122"/>
                <a:cs typeface="Calibri" pitchFamily="34" charset="-120"/>
              </a:rPr>
              <a:t>L4</a:t>
            </a:r>
            <a:endParaRPr lang="en-US" sz="1200" dirty="0"/>
          </a:p>
        </p:txBody>
      </p:sp>
      <p:sp>
        <p:nvSpPr>
          <p:cNvPr id="24" name="text-325"/>
          <p:cNvSpPr txBox="1"/>
          <p:nvPr/>
        </p:nvSpPr>
        <p:spPr>
          <a:xfrm>
            <a:off x="1051560" y="3840480"/>
            <a:ext cx="2926080" cy="384048"/>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Activate: tester, sampling, advisor</a:t>
            </a:r>
            <a:endParaRPr lang="en-US" sz="1200" dirty="0"/>
          </a:p>
        </p:txBody>
      </p:sp>
      <p:sp>
        <p:nvSpPr>
          <p:cNvPr id="25" name="text-326"/>
          <p:cNvSpPr txBox="1"/>
          <p:nvPr/>
        </p:nvSpPr>
        <p:spPr>
          <a:xfrm>
            <a:off x="3566160" y="3840480"/>
            <a:ext cx="914400" cy="384048"/>
          </a:xfrm>
          <a:prstGeom prst="rect">
            <a:avLst/>
          </a:prstGeom>
          <a:noFill/>
          <a:ln/>
        </p:spPr>
        <p:txBody>
          <a:bodyPr wrap="square" lIns="0" tIns="0" rIns="0" bIns="0" rtlCol="0" anchor="ctr"/>
          <a:lstStyle/>
          <a:p>
            <a:pPr algn="r" indent="0" marL="0">
              <a:buNone/>
            </a:pPr>
            <a:r>
              <a:rPr lang="en-US" sz="1000" dirty="0">
                <a:solidFill>
                  <a:schemeClr val="tx2"/>
                </a:solidFill>
                <a:latin typeface="Calibri" pitchFamily="34" charset="0"/>
                <a:ea typeface="Calibri" pitchFamily="34" charset="-122"/>
                <a:cs typeface="Calibri" pitchFamily="34" charset="-120"/>
              </a:rPr>
              <a:t>Budget</a:t>
            </a:r>
            <a:endParaRPr lang="en-US" sz="1000" dirty="0"/>
          </a:p>
        </p:txBody>
      </p:sp>
      <p:sp>
        <p:nvSpPr>
          <p:cNvPr id="26" name="card-327"/>
          <p:cNvSpPr/>
          <p:nvPr/>
        </p:nvSpPr>
        <p:spPr>
          <a:xfrm>
            <a:off x="548640" y="4297680"/>
            <a:ext cx="4251960" cy="384048"/>
          </a:xfrm>
          <a:prstGeom prst="roundRect">
            <a:avLst>
              <a:gd name="adj" fmla="val 19048"/>
            </a:avLst>
          </a:prstGeom>
          <a:solidFill>
            <a:srgbClr val="F6EEDD"/>
          </a:solidFill>
          <a:ln w="12700">
            <a:solidFill>
              <a:srgbClr val="F6EEDD"/>
            </a:solidFill>
            <a:prstDash val="solid"/>
          </a:ln>
        </p:spPr>
      </p:sp>
      <p:sp>
        <p:nvSpPr>
          <p:cNvPr id="27" name="text-328"/>
          <p:cNvSpPr txBox="1"/>
          <p:nvPr/>
        </p:nvSpPr>
        <p:spPr>
          <a:xfrm>
            <a:off x="658368" y="4297680"/>
            <a:ext cx="411480" cy="384048"/>
          </a:xfrm>
          <a:prstGeom prst="rect">
            <a:avLst/>
          </a:prstGeom>
          <a:noFill/>
          <a:ln/>
        </p:spPr>
        <p:txBody>
          <a:bodyPr wrap="square" lIns="0" tIns="0" rIns="0" bIns="0" rtlCol="0" anchor="ctr"/>
          <a:lstStyle/>
          <a:p>
            <a:pPr indent="0" marL="0">
              <a:buNone/>
            </a:pPr>
            <a:r>
              <a:rPr lang="en-US" sz="1200" b="1" dirty="0">
                <a:solidFill>
                  <a:schemeClr val="accent1"/>
                </a:solidFill>
                <a:latin typeface="Calibri" pitchFamily="34" charset="0"/>
                <a:ea typeface="Calibri" pitchFamily="34" charset="-122"/>
                <a:cs typeface="Calibri" pitchFamily="34" charset="-120"/>
              </a:rPr>
              <a:t>L5</a:t>
            </a:r>
            <a:endParaRPr lang="en-US" sz="1200" dirty="0"/>
          </a:p>
        </p:txBody>
      </p:sp>
      <p:sp>
        <p:nvSpPr>
          <p:cNvPr id="28" name="text-329"/>
          <p:cNvSpPr txBox="1"/>
          <p:nvPr/>
        </p:nvSpPr>
        <p:spPr>
          <a:xfrm>
            <a:off x="1051560" y="4297680"/>
            <a:ext cx="3154680" cy="384048"/>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Approved bundle</a:t>
            </a:r>
            <a:endParaRPr lang="en-US" sz="1200" dirty="0"/>
          </a:p>
        </p:txBody>
      </p:sp>
      <p:sp>
        <p:nvSpPr>
          <p:cNvPr id="29" name="text-330"/>
          <p:cNvSpPr txBox="1"/>
          <p:nvPr/>
        </p:nvSpPr>
        <p:spPr>
          <a:xfrm>
            <a:off x="3794760" y="4297680"/>
            <a:ext cx="914400" cy="384048"/>
          </a:xfrm>
          <a:prstGeom prst="rect">
            <a:avLst/>
          </a:prstGeom>
          <a:noFill/>
          <a:ln/>
        </p:spPr>
        <p:txBody>
          <a:bodyPr wrap="square" lIns="0" tIns="0" rIns="0" bIns="0" rtlCol="0" anchor="ctr"/>
          <a:lstStyle/>
          <a:p>
            <a:pPr algn="r" indent="0" marL="0">
              <a:buNone/>
            </a:pPr>
            <a:r>
              <a:rPr lang="en-US" sz="1000" dirty="0">
                <a:solidFill>
                  <a:schemeClr val="tx2"/>
                </a:solidFill>
                <a:latin typeface="Calibri" pitchFamily="34" charset="0"/>
                <a:ea typeface="Calibri" pitchFamily="34" charset="-122"/>
                <a:cs typeface="Calibri" pitchFamily="34" charset="-120"/>
              </a:rPr>
              <a:t>Bundle cost</a:t>
            </a:r>
            <a:endParaRPr lang="en-US" sz="1000" dirty="0"/>
          </a:p>
        </p:txBody>
      </p:sp>
      <p:sp>
        <p:nvSpPr>
          <p:cNvPr id="30" name="card-331"/>
          <p:cNvSpPr/>
          <p:nvPr/>
        </p:nvSpPr>
        <p:spPr>
          <a:xfrm>
            <a:off x="548640" y="4754880"/>
            <a:ext cx="4480560" cy="384048"/>
          </a:xfrm>
          <a:prstGeom prst="roundRect">
            <a:avLst>
              <a:gd name="adj" fmla="val 19048"/>
            </a:avLst>
          </a:prstGeom>
          <a:solidFill>
            <a:srgbClr val="F7E4E1"/>
          </a:solidFill>
          <a:ln w="12700">
            <a:solidFill>
              <a:srgbClr val="F7E4E1"/>
            </a:solidFill>
            <a:prstDash val="solid"/>
          </a:ln>
        </p:spPr>
      </p:sp>
      <p:sp>
        <p:nvSpPr>
          <p:cNvPr id="31" name="text-332"/>
          <p:cNvSpPr txBox="1"/>
          <p:nvPr/>
        </p:nvSpPr>
        <p:spPr>
          <a:xfrm>
            <a:off x="658368" y="4754880"/>
            <a:ext cx="411480" cy="384048"/>
          </a:xfrm>
          <a:prstGeom prst="rect">
            <a:avLst/>
          </a:prstGeom>
          <a:noFill/>
          <a:ln/>
        </p:spPr>
        <p:txBody>
          <a:bodyPr wrap="square" lIns="0" tIns="0" rIns="0" bIns="0" rtlCol="0" anchor="ctr"/>
          <a:lstStyle/>
          <a:p>
            <a:pPr indent="0" marL="0">
              <a:buNone/>
            </a:pPr>
            <a:r>
              <a:rPr lang="en-US" sz="1200" b="1" dirty="0">
                <a:solidFill>
                  <a:schemeClr val="accent1"/>
                </a:solidFill>
                <a:latin typeface="Calibri" pitchFamily="34" charset="0"/>
                <a:ea typeface="Calibri" pitchFamily="34" charset="-122"/>
                <a:cs typeface="Calibri" pitchFamily="34" charset="-120"/>
              </a:rPr>
              <a:t>L6</a:t>
            </a:r>
            <a:endParaRPr lang="en-US" sz="1200" dirty="0"/>
          </a:p>
        </p:txBody>
      </p:sp>
      <p:sp>
        <p:nvSpPr>
          <p:cNvPr id="32" name="text-333"/>
          <p:cNvSpPr txBox="1"/>
          <p:nvPr/>
        </p:nvSpPr>
        <p:spPr>
          <a:xfrm>
            <a:off x="1051560" y="4754880"/>
            <a:ext cx="3383280" cy="384048"/>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Time-boxed approved scheme</a:t>
            </a:r>
            <a:endParaRPr lang="en-US" sz="1200" dirty="0"/>
          </a:p>
        </p:txBody>
      </p:sp>
      <p:sp>
        <p:nvSpPr>
          <p:cNvPr id="33" name="text-334"/>
          <p:cNvSpPr txBox="1"/>
          <p:nvPr/>
        </p:nvSpPr>
        <p:spPr>
          <a:xfrm>
            <a:off x="4023360" y="4754880"/>
            <a:ext cx="914400" cy="384048"/>
          </a:xfrm>
          <a:prstGeom prst="rect">
            <a:avLst/>
          </a:prstGeom>
          <a:noFill/>
          <a:ln/>
        </p:spPr>
        <p:txBody>
          <a:bodyPr wrap="square" lIns="0" tIns="0" rIns="0" bIns="0" rtlCol="0" anchor="ctr"/>
          <a:lstStyle/>
          <a:p>
            <a:pPr algn="r" indent="0" marL="0">
              <a:buNone/>
            </a:pPr>
            <a:r>
              <a:rPr lang="en-US" sz="1000" dirty="0">
                <a:solidFill>
                  <a:schemeClr val="tx2"/>
                </a:solidFill>
                <a:latin typeface="Calibri" pitchFamily="34" charset="0"/>
                <a:ea typeface="Calibri" pitchFamily="34" charset="-122"/>
                <a:cs typeface="Calibri" pitchFamily="34" charset="-120"/>
              </a:rPr>
              <a:t>Trade spend</a:t>
            </a:r>
            <a:endParaRPr lang="en-US" sz="1000" dirty="0"/>
          </a:p>
        </p:txBody>
      </p:sp>
      <p:sp>
        <p:nvSpPr>
          <p:cNvPr id="34" name="card-335"/>
          <p:cNvSpPr/>
          <p:nvPr/>
        </p:nvSpPr>
        <p:spPr>
          <a:xfrm>
            <a:off x="548640" y="5212080"/>
            <a:ext cx="4709160" cy="384048"/>
          </a:xfrm>
          <a:prstGeom prst="roundRect">
            <a:avLst>
              <a:gd name="adj" fmla="val 19048"/>
            </a:avLst>
          </a:prstGeom>
          <a:solidFill>
            <a:srgbClr val="F7E4E1"/>
          </a:solidFill>
          <a:ln w="12700">
            <a:solidFill>
              <a:srgbClr val="F7E4E1"/>
            </a:solidFill>
            <a:prstDash val="solid"/>
          </a:ln>
        </p:spPr>
      </p:sp>
      <p:sp>
        <p:nvSpPr>
          <p:cNvPr id="35" name="text-336"/>
          <p:cNvSpPr txBox="1"/>
          <p:nvPr/>
        </p:nvSpPr>
        <p:spPr>
          <a:xfrm>
            <a:off x="658368" y="5212080"/>
            <a:ext cx="411480" cy="384048"/>
          </a:xfrm>
          <a:prstGeom prst="rect">
            <a:avLst/>
          </a:prstGeom>
          <a:noFill/>
          <a:ln/>
        </p:spPr>
        <p:txBody>
          <a:bodyPr wrap="square" lIns="0" tIns="0" rIns="0" bIns="0" rtlCol="0" anchor="ctr"/>
          <a:lstStyle/>
          <a:p>
            <a:pPr indent="0" marL="0">
              <a:buNone/>
            </a:pPr>
            <a:r>
              <a:rPr lang="en-US" sz="1200" b="1" dirty="0">
                <a:solidFill>
                  <a:schemeClr val="accent1"/>
                </a:solidFill>
                <a:latin typeface="Calibri" pitchFamily="34" charset="0"/>
                <a:ea typeface="Calibri" pitchFamily="34" charset="-122"/>
                <a:cs typeface="Calibri" pitchFamily="34" charset="-120"/>
              </a:rPr>
              <a:t>L7</a:t>
            </a:r>
            <a:endParaRPr lang="en-US" sz="1200" dirty="0"/>
          </a:p>
        </p:txBody>
      </p:sp>
      <p:sp>
        <p:nvSpPr>
          <p:cNvPr id="36" name="text-337"/>
          <p:cNvSpPr txBox="1"/>
          <p:nvPr/>
        </p:nvSpPr>
        <p:spPr>
          <a:xfrm>
            <a:off x="1051560" y="5212080"/>
            <a:ext cx="3611880" cy="384048"/>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Controlled end-of-life, pre-expiry</a:t>
            </a:r>
            <a:endParaRPr lang="en-US" sz="1200" dirty="0"/>
          </a:p>
        </p:txBody>
      </p:sp>
      <p:sp>
        <p:nvSpPr>
          <p:cNvPr id="37" name="text-338"/>
          <p:cNvSpPr txBox="1"/>
          <p:nvPr/>
        </p:nvSpPr>
        <p:spPr>
          <a:xfrm>
            <a:off x="4251960" y="5212080"/>
            <a:ext cx="914400" cy="384048"/>
          </a:xfrm>
          <a:prstGeom prst="rect">
            <a:avLst/>
          </a:prstGeom>
          <a:noFill/>
          <a:ln/>
        </p:spPr>
        <p:txBody>
          <a:bodyPr wrap="square" lIns="0" tIns="0" rIns="0" bIns="0" rtlCol="0" anchor="ctr"/>
          <a:lstStyle/>
          <a:p>
            <a:pPr algn="r" indent="0" marL="0">
              <a:buNone/>
            </a:pPr>
            <a:r>
              <a:rPr lang="en-US" sz="1000" dirty="0">
                <a:solidFill>
                  <a:schemeClr val="tx2"/>
                </a:solidFill>
                <a:latin typeface="Calibri" pitchFamily="34" charset="0"/>
                <a:ea typeface="Calibri" pitchFamily="34" charset="-122"/>
                <a:cs typeface="Calibri" pitchFamily="34" charset="-120"/>
              </a:rPr>
              <a:t>~50% margin</a:t>
            </a:r>
            <a:endParaRPr lang="en-US" sz="1000" dirty="0"/>
          </a:p>
        </p:txBody>
      </p:sp>
      <p:sp>
        <p:nvSpPr>
          <p:cNvPr id="38" name="card-339"/>
          <p:cNvSpPr/>
          <p:nvPr/>
        </p:nvSpPr>
        <p:spPr>
          <a:xfrm>
            <a:off x="548640" y="5669280"/>
            <a:ext cx="4937760" cy="384048"/>
          </a:xfrm>
          <a:prstGeom prst="roundRect">
            <a:avLst>
              <a:gd name="adj" fmla="val 19048"/>
            </a:avLst>
          </a:prstGeom>
          <a:solidFill>
            <a:srgbClr val="F7E4E1"/>
          </a:solidFill>
          <a:ln w="12700">
            <a:solidFill>
              <a:srgbClr val="F7E4E1"/>
            </a:solidFill>
            <a:prstDash val="solid"/>
          </a:ln>
        </p:spPr>
      </p:sp>
      <p:sp>
        <p:nvSpPr>
          <p:cNvPr id="39" name="text-340"/>
          <p:cNvSpPr txBox="1"/>
          <p:nvPr/>
        </p:nvSpPr>
        <p:spPr>
          <a:xfrm>
            <a:off x="658368" y="5669280"/>
            <a:ext cx="411480" cy="384048"/>
          </a:xfrm>
          <a:prstGeom prst="rect">
            <a:avLst/>
          </a:prstGeom>
          <a:noFill/>
          <a:ln/>
        </p:spPr>
        <p:txBody>
          <a:bodyPr wrap="square" lIns="0" tIns="0" rIns="0" bIns="0" rtlCol="0" anchor="ctr"/>
          <a:lstStyle/>
          <a:p>
            <a:pPr indent="0" marL="0">
              <a:buNone/>
            </a:pPr>
            <a:r>
              <a:rPr lang="en-US" sz="1200" b="1" dirty="0">
                <a:solidFill>
                  <a:schemeClr val="accent1"/>
                </a:solidFill>
                <a:latin typeface="Calibri" pitchFamily="34" charset="0"/>
                <a:ea typeface="Calibri" pitchFamily="34" charset="-122"/>
                <a:cs typeface="Calibri" pitchFamily="34" charset="-120"/>
              </a:rPr>
              <a:t>L8</a:t>
            </a:r>
            <a:endParaRPr lang="en-US" sz="1200" dirty="0"/>
          </a:p>
        </p:txBody>
      </p:sp>
      <p:sp>
        <p:nvSpPr>
          <p:cNvPr id="40" name="text-341"/>
          <p:cNvSpPr txBox="1"/>
          <p:nvPr/>
        </p:nvSpPr>
        <p:spPr>
          <a:xfrm>
            <a:off x="1051560" y="5669280"/>
            <a:ext cx="3840480" cy="384048"/>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Return and record root cause</a:t>
            </a:r>
            <a:endParaRPr lang="en-US" sz="1200" dirty="0"/>
          </a:p>
        </p:txBody>
      </p:sp>
      <p:sp>
        <p:nvSpPr>
          <p:cNvPr id="41" name="text-342"/>
          <p:cNvSpPr txBox="1"/>
          <p:nvPr/>
        </p:nvSpPr>
        <p:spPr>
          <a:xfrm>
            <a:off x="4480560" y="5669280"/>
            <a:ext cx="914400" cy="384048"/>
          </a:xfrm>
          <a:prstGeom prst="rect">
            <a:avLst/>
          </a:prstGeom>
          <a:noFill/>
          <a:ln/>
        </p:spPr>
        <p:txBody>
          <a:bodyPr wrap="square" lIns="0" tIns="0" rIns="0" bIns="0" rtlCol="0" anchor="ctr"/>
          <a:lstStyle/>
          <a:p>
            <a:pPr algn="r" indent="0" marL="0">
              <a:buNone/>
            </a:pPr>
            <a:r>
              <a:rPr lang="en-US" sz="1000" dirty="0">
                <a:solidFill>
                  <a:schemeClr val="tx2"/>
                </a:solidFill>
                <a:latin typeface="Calibri" pitchFamily="34" charset="0"/>
                <a:ea typeface="Calibri" pitchFamily="34" charset="-122"/>
                <a:cs typeface="Calibri" pitchFamily="34" charset="-120"/>
              </a:rPr>
              <a:t>Full loss</a:t>
            </a:r>
            <a:endParaRPr lang="en-US" sz="1000" dirty="0"/>
          </a:p>
        </p:txBody>
      </p:sp>
      <p:sp>
        <p:nvSpPr>
          <p:cNvPr id="42" name="text-343"/>
          <p:cNvSpPr txBox="1"/>
          <p:nvPr/>
        </p:nvSpPr>
        <p:spPr>
          <a:xfrm>
            <a:off x="548640" y="6126480"/>
            <a:ext cx="4572000" cy="228600"/>
          </a:xfrm>
          <a:prstGeom prst="rect">
            <a:avLst/>
          </a:prstGeom>
          <a:noFill/>
          <a:ln/>
        </p:spPr>
        <p:txBody>
          <a:bodyPr wrap="square" lIns="0" tIns="0" rIns="0" bIns="0" rtlCol="0" anchor="t"/>
          <a:lstStyle/>
          <a:p>
            <a:pPr indent="0" marL="0">
              <a:buNone/>
            </a:pPr>
            <a:r>
              <a:rPr lang="en-US" sz="1100" b="1" dirty="0">
                <a:solidFill>
                  <a:schemeClr val="accent5"/>
                </a:solidFill>
                <a:latin typeface="Calibri" pitchFamily="34" charset="0"/>
                <a:ea typeface="Calibri" pitchFamily="34" charset="-122"/>
                <a:cs typeface="Calibri" pitchFamily="34" charset="-120"/>
              </a:rPr>
              <a:t>L6 is a last resort and never offered for Luxe or Derma brands</a:t>
            </a:r>
            <a:endParaRPr lang="en-US" sz="1100" dirty="0"/>
          </a:p>
        </p:txBody>
      </p:sp>
      <p:graphicFrame>
        <p:nvGraphicFramePr>
          <p:cNvPr id="10" name="comparison-table-344"/>
          <p:cNvGraphicFramePr>
            <a:graphicFrameLocks noGrp="1"/>
          </p:cNvGraphicFramePr>
          <p:nvPr>
            <p:extLst>
              <p:ext uri="{D42A27DB-BD31-4B8C-83A1-F6EECF244321}">
                <p14:modId xmlns:p14="http://schemas.microsoft.com/office/powerpoint/2010/main" val="1579011935"/>
              </p:ext>
            </p:extLst>
          </p:nvPr>
        </p:nvGraphicFramePr>
        <p:xfrm>
          <a:off x="6035040" y="1691640"/>
          <a:ext cx="5605272" cy="914400"/>
        </p:xfrm>
        <a:graphic>
          <a:graphicData uri="http://schemas.openxmlformats.org/drawingml/2006/table">
            <a:tbl>
              <a:tblPr/>
              <a:tblGrid>
                <a:gridCol w="1234440"/>
                <a:gridCol w="2185416"/>
                <a:gridCol w="2185416"/>
              </a:tblGrid>
              <a:tr h="384048">
                <a:tc>
                  <a:txBody>
                    <a:bodyPr/>
                    <a:lstStyle/>
                    <a:p>
                      <a:pPr indent="0" marL="0">
                        <a:buNone/>
                      </a:pPr>
                      <a:endParaRPr lang="en-US" sz="1200" dirty="0">
                        <a:latin typeface="Calibri" charset="0"/>
                        <a:ea typeface="Calibri" charset="0"/>
                        <a:cs typeface="Calibri" charset="0"/>
                      </a:endParaRPr>
                    </a:p>
                  </a:txBody>
                  <a:tcPr marL="91440" marR="91440" marT="45720" marB="45720" anchor="ctr">
                    <a:lnL w="9525" cap="flat" cmpd="sng" algn="ctr">
                      <a:solidFill>
                        <a:srgbClr val="E4DDD6"/>
                      </a:solidFill>
                      <a:prstDash val="solid"/>
                      <a:round/>
                      <a:headEnd type="none" w="med" len="med"/>
                      <a:tailEnd type="none" w="med" len="med"/>
                    </a:lnL>
                    <a:lnR w="9525" cap="flat" cmpd="sng" algn="ctr">
                      <a:solidFill>
                        <a:srgbClr val="E4DDD6"/>
                      </a:solidFill>
                      <a:prstDash val="solid"/>
                      <a:round/>
                      <a:headEnd type="none" w="med" len="med"/>
                      <a:tailEnd type="none" w="med" len="med"/>
                    </a:lnR>
                    <a:lnT w="9525" cap="flat" cmpd="sng" algn="ctr">
                      <a:solidFill>
                        <a:srgbClr val="E4DDD6"/>
                      </a:solidFill>
                      <a:prstDash val="solid"/>
                      <a:round/>
                      <a:headEnd type="none" w="med" len="med"/>
                      <a:tailEnd type="none" w="med" len="med"/>
                    </a:lnT>
                    <a:lnB w="9525" cap="flat" cmpd="sng" algn="ctr">
                      <a:solidFill>
                        <a:srgbClr val="E4DDD6"/>
                      </a:solidFill>
                      <a:prstDash val="solid"/>
                      <a:round/>
                      <a:headEnd type="none" w="med" len="med"/>
                      <a:tailEnd type="none" w="med" len="med"/>
                    </a:lnB>
                    <a:solidFill>
                      <a:srgbClr val="FFFFFF"/>
                    </a:solidFill>
                  </a:tcPr>
                </a:tc>
                <a:tc>
                  <a:txBody>
                    <a:bodyPr/>
                    <a:lstStyle/>
                    <a:p>
                      <a:pPr indent="0" marL="0">
                        <a:buNone/>
                      </a:pPr>
                      <a:r>
                        <a:rPr lang="en-US" sz="1200" b="1" dirty="0">
                          <a:solidFill>
                            <a:srgbClr val="B4321F"/>
                          </a:solidFill>
                          <a:latin typeface="Calibri" pitchFamily="34" charset="0"/>
                          <a:ea typeface="Calibri" pitchFamily="34" charset="-122"/>
                          <a:cs typeface="Calibri" pitchFamily="34" charset="-120"/>
                        </a:rPr>
                        <a:t>Near-expiry</a:t>
                      </a:r>
                      <a:endParaRPr lang="en-US" sz="1200" dirty="0">
                        <a:latin typeface="Calibri" charset="0"/>
                        <a:ea typeface="Calibri" charset="0"/>
                        <a:cs typeface="Calibri" charset="0"/>
                      </a:endParaRPr>
                    </a:p>
                  </a:txBody>
                  <a:tcPr marL="91440" marR="91440" marT="45720" marB="45720" anchor="ctr">
                    <a:lnL w="9525" cap="flat" cmpd="sng" algn="ctr">
                      <a:solidFill>
                        <a:srgbClr val="E4DDD6"/>
                      </a:solidFill>
                      <a:prstDash val="solid"/>
                      <a:round/>
                      <a:headEnd type="none" w="med" len="med"/>
                      <a:tailEnd type="none" w="med" len="med"/>
                    </a:lnL>
                    <a:lnR w="9525" cap="flat" cmpd="sng" algn="ctr">
                      <a:solidFill>
                        <a:srgbClr val="E4DDD6"/>
                      </a:solidFill>
                      <a:prstDash val="solid"/>
                      <a:round/>
                      <a:headEnd type="none" w="med" len="med"/>
                      <a:tailEnd type="none" w="med" len="med"/>
                    </a:lnR>
                    <a:lnT w="9525" cap="flat" cmpd="sng" algn="ctr">
                      <a:solidFill>
                        <a:srgbClr val="E4DDD6"/>
                      </a:solidFill>
                      <a:prstDash val="solid"/>
                      <a:round/>
                      <a:headEnd type="none" w="med" len="med"/>
                      <a:tailEnd type="none" w="med" len="med"/>
                    </a:lnT>
                    <a:lnB w="9525" cap="flat" cmpd="sng" algn="ctr">
                      <a:solidFill>
                        <a:srgbClr val="E4DDD6"/>
                      </a:solidFill>
                      <a:prstDash val="solid"/>
                      <a:round/>
                      <a:headEnd type="none" w="med" len="med"/>
                      <a:tailEnd type="none" w="med" len="med"/>
                    </a:lnB>
                    <a:solidFill>
                      <a:srgbClr val="FFFFFF"/>
                    </a:solidFill>
                  </a:tcPr>
                </a:tc>
                <a:tc>
                  <a:txBody>
                    <a:bodyPr/>
                    <a:lstStyle/>
                    <a:p>
                      <a:pPr indent="0" marL="0">
                        <a:buNone/>
                      </a:pPr>
                      <a:r>
                        <a:rPr lang="en-US" sz="1200" b="1" dirty="0">
                          <a:solidFill>
                            <a:srgbClr val="C08A2B"/>
                          </a:solidFill>
                          <a:latin typeface="Calibri" pitchFamily="34" charset="0"/>
                          <a:ea typeface="Calibri" pitchFamily="34" charset="-122"/>
                          <a:cs typeface="Calibri" pitchFamily="34" charset="-120"/>
                        </a:rPr>
                        <a:t>Slow-moving, healthy shelf life</a:t>
                      </a:r>
                      <a:endParaRPr lang="en-US" sz="1200" dirty="0">
                        <a:latin typeface="Calibri" charset="0"/>
                        <a:ea typeface="Calibri" charset="0"/>
                        <a:cs typeface="Calibri" charset="0"/>
                      </a:endParaRPr>
                    </a:p>
                  </a:txBody>
                  <a:tcPr marL="91440" marR="91440" marT="45720" marB="45720" anchor="ctr">
                    <a:lnL w="9525" cap="flat" cmpd="sng" algn="ctr">
                      <a:solidFill>
                        <a:srgbClr val="E4DDD6"/>
                      </a:solidFill>
                      <a:prstDash val="solid"/>
                      <a:round/>
                      <a:headEnd type="none" w="med" len="med"/>
                      <a:tailEnd type="none" w="med" len="med"/>
                    </a:lnL>
                    <a:lnR w="9525" cap="flat" cmpd="sng" algn="ctr">
                      <a:solidFill>
                        <a:srgbClr val="E4DDD6"/>
                      </a:solidFill>
                      <a:prstDash val="solid"/>
                      <a:round/>
                      <a:headEnd type="none" w="med" len="med"/>
                      <a:tailEnd type="none" w="med" len="med"/>
                    </a:lnR>
                    <a:lnT w="9525" cap="flat" cmpd="sng" algn="ctr">
                      <a:solidFill>
                        <a:srgbClr val="E4DDD6"/>
                      </a:solidFill>
                      <a:prstDash val="solid"/>
                      <a:round/>
                      <a:headEnd type="none" w="med" len="med"/>
                      <a:tailEnd type="none" w="med" len="med"/>
                    </a:lnT>
                    <a:lnB w="9525" cap="flat" cmpd="sng" algn="ctr">
                      <a:solidFill>
                        <a:srgbClr val="E4DDD6"/>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1C1A1B"/>
                          </a:solidFill>
                          <a:latin typeface="Calibri" pitchFamily="34" charset="0"/>
                          <a:ea typeface="Calibri" pitchFamily="34" charset="-122"/>
                          <a:cs typeface="Calibri" pitchFamily="34" charset="-120"/>
                        </a:rPr>
                        <a:t>Core question</a:t>
                      </a:r>
                      <a:endParaRPr lang="en-US" sz="1200" dirty="0">
                        <a:latin typeface="Calibri" charset="0"/>
                        <a:ea typeface="Calibri" charset="0"/>
                        <a:cs typeface="Calibri" charset="0"/>
                      </a:endParaRPr>
                    </a:p>
                  </a:txBody>
                  <a:tcPr marL="91440" marR="91440" marT="45720" marB="45720" anchor="ctr">
                    <a:lnL w="9525" cap="flat" cmpd="sng" algn="ctr">
                      <a:solidFill>
                        <a:srgbClr val="E4DDD6"/>
                      </a:solidFill>
                      <a:prstDash val="solid"/>
                      <a:round/>
                      <a:headEnd type="none" w="med" len="med"/>
                      <a:tailEnd type="none" w="med" len="med"/>
                    </a:lnL>
                    <a:lnR w="9525" cap="flat" cmpd="sng" algn="ctr">
                      <a:solidFill>
                        <a:srgbClr val="E4DDD6"/>
                      </a:solidFill>
                      <a:prstDash val="solid"/>
                      <a:round/>
                      <a:headEnd type="none" w="med" len="med"/>
                      <a:tailEnd type="none" w="med" len="med"/>
                    </a:lnR>
                    <a:lnT w="9525" cap="flat" cmpd="sng" algn="ctr">
                      <a:solidFill>
                        <a:srgbClr val="E4DDD6"/>
                      </a:solidFill>
                      <a:prstDash val="solid"/>
                      <a:round/>
                      <a:headEnd type="none" w="med" len="med"/>
                      <a:tailEnd type="none" w="med" len="med"/>
                    </a:lnT>
                    <a:lnB w="9525" cap="flat" cmpd="sng" algn="ctr">
                      <a:solidFill>
                        <a:srgbClr val="E4DDD6"/>
                      </a:solidFill>
                      <a:prstDash val="solid"/>
                      <a:round/>
                      <a:headEnd type="none" w="med" len="med"/>
                      <a:tailEnd type="none" w="med" len="med"/>
                    </a:lnB>
                    <a:solidFill>
                      <a:srgbClr val="F4EFEA"/>
                    </a:solidFill>
                  </a:tcPr>
                </a:tc>
                <a:tc>
                  <a:txBody>
                    <a:bodyPr/>
                    <a:lstStyle/>
                    <a:p>
                      <a:pPr indent="0" marL="0">
                        <a:buNone/>
                      </a:pPr>
                      <a:r>
                        <a:rPr lang="en-US" sz="1200" dirty="0">
                          <a:solidFill>
                            <a:srgbClr val="1C1A1B"/>
                          </a:solidFill>
                          <a:latin typeface="Calibri" pitchFamily="34" charset="0"/>
                          <a:ea typeface="Calibri" pitchFamily="34" charset="-122"/>
                          <a:cs typeface="Calibri" pitchFamily="34" charset="-120"/>
                        </a:rPr>
                        <a:t>Where can it sell before it's too late?</a:t>
                      </a:r>
                      <a:endParaRPr lang="en-US" sz="1200" dirty="0">
                        <a:latin typeface="Calibri" charset="0"/>
                        <a:ea typeface="Calibri" charset="0"/>
                        <a:cs typeface="Calibri" charset="0"/>
                      </a:endParaRPr>
                    </a:p>
                  </a:txBody>
                  <a:tcPr marL="91440" marR="91440" marT="45720" marB="45720" anchor="ctr">
                    <a:lnL w="9525" cap="flat" cmpd="sng" algn="ctr">
                      <a:solidFill>
                        <a:srgbClr val="E4DDD6"/>
                      </a:solidFill>
                      <a:prstDash val="solid"/>
                      <a:round/>
                      <a:headEnd type="none" w="med" len="med"/>
                      <a:tailEnd type="none" w="med" len="med"/>
                    </a:lnL>
                    <a:lnR w="9525" cap="flat" cmpd="sng" algn="ctr">
                      <a:solidFill>
                        <a:srgbClr val="E4DDD6"/>
                      </a:solidFill>
                      <a:prstDash val="solid"/>
                      <a:round/>
                      <a:headEnd type="none" w="med" len="med"/>
                      <a:tailEnd type="none" w="med" len="med"/>
                    </a:lnR>
                    <a:lnT w="9525" cap="flat" cmpd="sng" algn="ctr">
                      <a:solidFill>
                        <a:srgbClr val="E4DDD6"/>
                      </a:solidFill>
                      <a:prstDash val="solid"/>
                      <a:round/>
                      <a:headEnd type="none" w="med" len="med"/>
                      <a:tailEnd type="none" w="med" len="med"/>
                    </a:lnT>
                    <a:lnB w="9525" cap="flat" cmpd="sng" algn="ctr">
                      <a:solidFill>
                        <a:srgbClr val="E4DDD6"/>
                      </a:solidFill>
                      <a:prstDash val="solid"/>
                      <a:round/>
                      <a:headEnd type="none" w="med" len="med"/>
                      <a:tailEnd type="none" w="med" len="med"/>
                    </a:lnB>
                    <a:solidFill>
                      <a:srgbClr val="FFFFFF"/>
                    </a:solidFill>
                  </a:tcPr>
                </a:tc>
                <a:tc>
                  <a:txBody>
                    <a:bodyPr/>
                    <a:lstStyle/>
                    <a:p>
                      <a:pPr indent="0" marL="0">
                        <a:buNone/>
                      </a:pPr>
                      <a:r>
                        <a:rPr lang="en-US" sz="1200" dirty="0">
                          <a:solidFill>
                            <a:srgbClr val="1C1A1B"/>
                          </a:solidFill>
                          <a:latin typeface="Calibri" pitchFamily="34" charset="0"/>
                          <a:ea typeface="Calibri" pitchFamily="34" charset="-122"/>
                          <a:cs typeface="Calibri" pitchFamily="34" charset="-120"/>
                        </a:rPr>
                        <a:t>Why isn't it selling here?</a:t>
                      </a:r>
                      <a:endParaRPr lang="en-US" sz="1200" dirty="0">
                        <a:latin typeface="Calibri" charset="0"/>
                        <a:ea typeface="Calibri" charset="0"/>
                        <a:cs typeface="Calibri" charset="0"/>
                      </a:endParaRPr>
                    </a:p>
                  </a:txBody>
                  <a:tcPr marL="91440" marR="91440" marT="45720" marB="45720" anchor="ctr">
                    <a:lnL w="9525" cap="flat" cmpd="sng" algn="ctr">
                      <a:solidFill>
                        <a:srgbClr val="E4DDD6"/>
                      </a:solidFill>
                      <a:prstDash val="solid"/>
                      <a:round/>
                      <a:headEnd type="none" w="med" len="med"/>
                      <a:tailEnd type="none" w="med" len="med"/>
                    </a:lnL>
                    <a:lnR w="9525" cap="flat" cmpd="sng" algn="ctr">
                      <a:solidFill>
                        <a:srgbClr val="E4DDD6"/>
                      </a:solidFill>
                      <a:prstDash val="solid"/>
                      <a:round/>
                      <a:headEnd type="none" w="med" len="med"/>
                      <a:tailEnd type="none" w="med" len="med"/>
                    </a:lnR>
                    <a:lnT w="9525" cap="flat" cmpd="sng" algn="ctr">
                      <a:solidFill>
                        <a:srgbClr val="E4DDD6"/>
                      </a:solidFill>
                      <a:prstDash val="solid"/>
                      <a:round/>
                      <a:headEnd type="none" w="med" len="med"/>
                      <a:tailEnd type="none" w="med" len="med"/>
                    </a:lnT>
                    <a:lnB w="9525" cap="flat" cmpd="sng" algn="ctr">
                      <a:solidFill>
                        <a:srgbClr val="E4DDD6"/>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1C1A1B"/>
                          </a:solidFill>
                          <a:latin typeface="Calibri" pitchFamily="34" charset="0"/>
                          <a:ea typeface="Calibri" pitchFamily="34" charset="-122"/>
                          <a:cs typeface="Calibri" pitchFamily="34" charset="-120"/>
                        </a:rPr>
                        <a:t>First move</a:t>
                      </a:r>
                      <a:endParaRPr lang="en-US" sz="1200" dirty="0">
                        <a:latin typeface="Calibri" charset="0"/>
                        <a:ea typeface="Calibri" charset="0"/>
                        <a:cs typeface="Calibri" charset="0"/>
                      </a:endParaRPr>
                    </a:p>
                  </a:txBody>
                  <a:tcPr marL="91440" marR="91440" marT="45720" marB="45720" anchor="ctr">
                    <a:lnL w="9525" cap="flat" cmpd="sng" algn="ctr">
                      <a:solidFill>
                        <a:srgbClr val="E4DDD6"/>
                      </a:solidFill>
                      <a:prstDash val="solid"/>
                      <a:round/>
                      <a:headEnd type="none" w="med" len="med"/>
                      <a:tailEnd type="none" w="med" len="med"/>
                    </a:lnL>
                    <a:lnR w="9525" cap="flat" cmpd="sng" algn="ctr">
                      <a:solidFill>
                        <a:srgbClr val="E4DDD6"/>
                      </a:solidFill>
                      <a:prstDash val="solid"/>
                      <a:round/>
                      <a:headEnd type="none" w="med" len="med"/>
                      <a:tailEnd type="none" w="med" len="med"/>
                    </a:lnR>
                    <a:lnT w="9525" cap="flat" cmpd="sng" algn="ctr">
                      <a:solidFill>
                        <a:srgbClr val="E4DDD6"/>
                      </a:solidFill>
                      <a:prstDash val="solid"/>
                      <a:round/>
                      <a:headEnd type="none" w="med" len="med"/>
                      <a:tailEnd type="none" w="med" len="med"/>
                    </a:lnT>
                    <a:lnB w="9525" cap="flat" cmpd="sng" algn="ctr">
                      <a:solidFill>
                        <a:srgbClr val="E4DDD6"/>
                      </a:solidFill>
                      <a:prstDash val="solid"/>
                      <a:round/>
                      <a:headEnd type="none" w="med" len="med"/>
                      <a:tailEnd type="none" w="med" len="med"/>
                    </a:lnB>
                    <a:solidFill>
                      <a:srgbClr val="F4EFEA"/>
                    </a:solidFill>
                  </a:tcPr>
                </a:tc>
                <a:tc>
                  <a:txBody>
                    <a:bodyPr/>
                    <a:lstStyle/>
                    <a:p>
                      <a:pPr indent="0" marL="0">
                        <a:buNone/>
                      </a:pPr>
                      <a:r>
                        <a:rPr lang="en-US" sz="1200" dirty="0">
                          <a:solidFill>
                            <a:srgbClr val="1C1A1B"/>
                          </a:solidFill>
                          <a:latin typeface="Calibri" pitchFamily="34" charset="0"/>
                          <a:ea typeface="Calibri" pitchFamily="34" charset="-122"/>
                          <a:cs typeface="Calibri" pitchFamily="34" charset="-120"/>
                        </a:rPr>
                        <a:t>Pause re-order, transfer to the fastest outlets</a:t>
                      </a:r>
                      <a:endParaRPr lang="en-US" sz="1200" dirty="0">
                        <a:latin typeface="Calibri" charset="0"/>
                        <a:ea typeface="Calibri" charset="0"/>
                        <a:cs typeface="Calibri" charset="0"/>
                      </a:endParaRPr>
                    </a:p>
                  </a:txBody>
                  <a:tcPr marL="91440" marR="91440" marT="45720" marB="45720" anchor="ctr">
                    <a:lnL w="9525" cap="flat" cmpd="sng" algn="ctr">
                      <a:solidFill>
                        <a:srgbClr val="E4DDD6"/>
                      </a:solidFill>
                      <a:prstDash val="solid"/>
                      <a:round/>
                      <a:headEnd type="none" w="med" len="med"/>
                      <a:tailEnd type="none" w="med" len="med"/>
                    </a:lnL>
                    <a:lnR w="9525" cap="flat" cmpd="sng" algn="ctr">
                      <a:solidFill>
                        <a:srgbClr val="E4DDD6"/>
                      </a:solidFill>
                      <a:prstDash val="solid"/>
                      <a:round/>
                      <a:headEnd type="none" w="med" len="med"/>
                      <a:tailEnd type="none" w="med" len="med"/>
                    </a:lnR>
                    <a:lnT w="9525" cap="flat" cmpd="sng" algn="ctr">
                      <a:solidFill>
                        <a:srgbClr val="E4DDD6"/>
                      </a:solidFill>
                      <a:prstDash val="solid"/>
                      <a:round/>
                      <a:headEnd type="none" w="med" len="med"/>
                      <a:tailEnd type="none" w="med" len="med"/>
                    </a:lnT>
                    <a:lnB w="9525" cap="flat" cmpd="sng" algn="ctr">
                      <a:solidFill>
                        <a:srgbClr val="E4DDD6"/>
                      </a:solidFill>
                      <a:prstDash val="solid"/>
                      <a:round/>
                      <a:headEnd type="none" w="med" len="med"/>
                      <a:tailEnd type="none" w="med" len="med"/>
                    </a:lnB>
                    <a:solidFill>
                      <a:srgbClr val="FFFFFF"/>
                    </a:solidFill>
                  </a:tcPr>
                </a:tc>
                <a:tc>
                  <a:txBody>
                    <a:bodyPr/>
                    <a:lstStyle/>
                    <a:p>
                      <a:pPr indent="0" marL="0">
                        <a:buNone/>
                      </a:pPr>
                      <a:r>
                        <a:rPr lang="en-US" sz="1200" dirty="0">
                          <a:solidFill>
                            <a:srgbClr val="1C1A1B"/>
                          </a:solidFill>
                          <a:latin typeface="Calibri" pitchFamily="34" charset="0"/>
                          <a:ea typeface="Calibri" pitchFamily="34" charset="-122"/>
                          <a:cs typeface="Calibri" pitchFamily="34" charset="-120"/>
                        </a:rPr>
                        <a:t>Diagnose, then fix visibility, trial or range</a:t>
                      </a:r>
                      <a:endParaRPr lang="en-US" sz="1200" dirty="0">
                        <a:latin typeface="Calibri" charset="0"/>
                        <a:ea typeface="Calibri" charset="0"/>
                        <a:cs typeface="Calibri" charset="0"/>
                      </a:endParaRPr>
                    </a:p>
                  </a:txBody>
                  <a:tcPr marL="91440" marR="91440" marT="45720" marB="45720" anchor="ctr">
                    <a:lnL w="9525" cap="flat" cmpd="sng" algn="ctr">
                      <a:solidFill>
                        <a:srgbClr val="E4DDD6"/>
                      </a:solidFill>
                      <a:prstDash val="solid"/>
                      <a:round/>
                      <a:headEnd type="none" w="med" len="med"/>
                      <a:tailEnd type="none" w="med" len="med"/>
                    </a:lnL>
                    <a:lnR w="9525" cap="flat" cmpd="sng" algn="ctr">
                      <a:solidFill>
                        <a:srgbClr val="E4DDD6"/>
                      </a:solidFill>
                      <a:prstDash val="solid"/>
                      <a:round/>
                      <a:headEnd type="none" w="med" len="med"/>
                      <a:tailEnd type="none" w="med" len="med"/>
                    </a:lnR>
                    <a:lnT w="9525" cap="flat" cmpd="sng" algn="ctr">
                      <a:solidFill>
                        <a:srgbClr val="E4DDD6"/>
                      </a:solidFill>
                      <a:prstDash val="solid"/>
                      <a:round/>
                      <a:headEnd type="none" w="med" len="med"/>
                      <a:tailEnd type="none" w="med" len="med"/>
                    </a:lnT>
                    <a:lnB w="9525" cap="flat" cmpd="sng" algn="ctr">
                      <a:solidFill>
                        <a:srgbClr val="E4DDD6"/>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1C1A1B"/>
                          </a:solidFill>
                          <a:latin typeface="Calibri" pitchFamily="34" charset="0"/>
                          <a:ea typeface="Calibri" pitchFamily="34" charset="-122"/>
                          <a:cs typeface="Calibri" pitchFamily="34" charset="-120"/>
                        </a:rPr>
                        <a:t>Discount?</a:t>
                      </a:r>
                      <a:endParaRPr lang="en-US" sz="1200" dirty="0">
                        <a:latin typeface="Calibri" charset="0"/>
                        <a:ea typeface="Calibri" charset="0"/>
                        <a:cs typeface="Calibri" charset="0"/>
                      </a:endParaRPr>
                    </a:p>
                  </a:txBody>
                  <a:tcPr marL="91440" marR="91440" marT="45720" marB="45720" anchor="ctr">
                    <a:lnL w="9525" cap="flat" cmpd="sng" algn="ctr">
                      <a:solidFill>
                        <a:srgbClr val="E4DDD6"/>
                      </a:solidFill>
                      <a:prstDash val="solid"/>
                      <a:round/>
                      <a:headEnd type="none" w="med" len="med"/>
                      <a:tailEnd type="none" w="med" len="med"/>
                    </a:lnL>
                    <a:lnR w="9525" cap="flat" cmpd="sng" algn="ctr">
                      <a:solidFill>
                        <a:srgbClr val="E4DDD6"/>
                      </a:solidFill>
                      <a:prstDash val="solid"/>
                      <a:round/>
                      <a:headEnd type="none" w="med" len="med"/>
                      <a:tailEnd type="none" w="med" len="med"/>
                    </a:lnR>
                    <a:lnT w="9525" cap="flat" cmpd="sng" algn="ctr">
                      <a:solidFill>
                        <a:srgbClr val="E4DDD6"/>
                      </a:solidFill>
                      <a:prstDash val="solid"/>
                      <a:round/>
                      <a:headEnd type="none" w="med" len="med"/>
                      <a:tailEnd type="none" w="med" len="med"/>
                    </a:lnT>
                    <a:lnB w="9525" cap="flat" cmpd="sng" algn="ctr">
                      <a:solidFill>
                        <a:srgbClr val="E4DDD6"/>
                      </a:solidFill>
                      <a:prstDash val="solid"/>
                      <a:round/>
                      <a:headEnd type="none" w="med" len="med"/>
                      <a:tailEnd type="none" w="med" len="med"/>
                    </a:lnB>
                    <a:solidFill>
                      <a:srgbClr val="F4EFEA"/>
                    </a:solidFill>
                  </a:tcPr>
                </a:tc>
                <a:tc>
                  <a:txBody>
                    <a:bodyPr/>
                    <a:lstStyle/>
                    <a:p>
                      <a:pPr indent="0" marL="0">
                        <a:buNone/>
                      </a:pPr>
                      <a:r>
                        <a:rPr lang="en-US" sz="1200" dirty="0">
                          <a:solidFill>
                            <a:srgbClr val="1C1A1B"/>
                          </a:solidFill>
                          <a:latin typeface="Calibri" pitchFamily="34" charset="0"/>
                          <a:ea typeface="Calibri" pitchFamily="34" charset="-122"/>
                          <a:cs typeface="Calibri" pitchFamily="34" charset="-120"/>
                        </a:rPr>
                        <a:t>Late, approved, mass brands only</a:t>
                      </a:r>
                      <a:endParaRPr lang="en-US" sz="1200" dirty="0">
                        <a:latin typeface="Calibri" charset="0"/>
                        <a:ea typeface="Calibri" charset="0"/>
                        <a:cs typeface="Calibri" charset="0"/>
                      </a:endParaRPr>
                    </a:p>
                  </a:txBody>
                  <a:tcPr marL="91440" marR="91440" marT="45720" marB="45720" anchor="ctr">
                    <a:lnL w="9525" cap="flat" cmpd="sng" algn="ctr">
                      <a:solidFill>
                        <a:srgbClr val="E4DDD6"/>
                      </a:solidFill>
                      <a:prstDash val="solid"/>
                      <a:round/>
                      <a:headEnd type="none" w="med" len="med"/>
                      <a:tailEnd type="none" w="med" len="med"/>
                    </a:lnL>
                    <a:lnR w="9525" cap="flat" cmpd="sng" algn="ctr">
                      <a:solidFill>
                        <a:srgbClr val="E4DDD6"/>
                      </a:solidFill>
                      <a:prstDash val="solid"/>
                      <a:round/>
                      <a:headEnd type="none" w="med" len="med"/>
                      <a:tailEnd type="none" w="med" len="med"/>
                    </a:lnR>
                    <a:lnT w="9525" cap="flat" cmpd="sng" algn="ctr">
                      <a:solidFill>
                        <a:srgbClr val="E4DDD6"/>
                      </a:solidFill>
                      <a:prstDash val="solid"/>
                      <a:round/>
                      <a:headEnd type="none" w="med" len="med"/>
                      <a:tailEnd type="none" w="med" len="med"/>
                    </a:lnT>
                    <a:lnB w="9525" cap="flat" cmpd="sng" algn="ctr">
                      <a:solidFill>
                        <a:srgbClr val="E4DDD6"/>
                      </a:solidFill>
                      <a:prstDash val="solid"/>
                      <a:round/>
                      <a:headEnd type="none" w="med" len="med"/>
                      <a:tailEnd type="none" w="med" len="med"/>
                    </a:lnB>
                    <a:solidFill>
                      <a:srgbClr val="FFFFFF"/>
                    </a:solidFill>
                  </a:tcPr>
                </a:tc>
                <a:tc>
                  <a:txBody>
                    <a:bodyPr/>
                    <a:lstStyle/>
                    <a:p>
                      <a:pPr indent="0" marL="0">
                        <a:buNone/>
                      </a:pPr>
                      <a:r>
                        <a:rPr lang="en-US" sz="1200" dirty="0">
                          <a:solidFill>
                            <a:srgbClr val="1C1A1B"/>
                          </a:solidFill>
                          <a:latin typeface="Calibri" pitchFamily="34" charset="0"/>
                          <a:ea typeface="Calibri" pitchFamily="34" charset="-122"/>
                          <a:cs typeface="Calibri" pitchFamily="34" charset="-120"/>
                        </a:rPr>
                        <a:t>Avoid: it hides the cause</a:t>
                      </a:r>
                      <a:endParaRPr lang="en-US" sz="1200" dirty="0">
                        <a:latin typeface="Calibri" charset="0"/>
                        <a:ea typeface="Calibri" charset="0"/>
                        <a:cs typeface="Calibri" charset="0"/>
                      </a:endParaRPr>
                    </a:p>
                  </a:txBody>
                  <a:tcPr marL="91440" marR="91440" marT="45720" marB="45720" anchor="ctr">
                    <a:lnL w="9525" cap="flat" cmpd="sng" algn="ctr">
                      <a:solidFill>
                        <a:srgbClr val="E4DDD6"/>
                      </a:solidFill>
                      <a:prstDash val="solid"/>
                      <a:round/>
                      <a:headEnd type="none" w="med" len="med"/>
                      <a:tailEnd type="none" w="med" len="med"/>
                    </a:lnL>
                    <a:lnR w="9525" cap="flat" cmpd="sng" algn="ctr">
                      <a:solidFill>
                        <a:srgbClr val="E4DDD6"/>
                      </a:solidFill>
                      <a:prstDash val="solid"/>
                      <a:round/>
                      <a:headEnd type="none" w="med" len="med"/>
                      <a:tailEnd type="none" w="med" len="med"/>
                    </a:lnR>
                    <a:lnT w="9525" cap="flat" cmpd="sng" algn="ctr">
                      <a:solidFill>
                        <a:srgbClr val="E4DDD6"/>
                      </a:solidFill>
                      <a:prstDash val="solid"/>
                      <a:round/>
                      <a:headEnd type="none" w="med" len="med"/>
                      <a:tailEnd type="none" w="med" len="med"/>
                    </a:lnT>
                    <a:lnB w="9525" cap="flat" cmpd="sng" algn="ctr">
                      <a:solidFill>
                        <a:srgbClr val="E4DDD6"/>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1C1A1B"/>
                          </a:solidFill>
                          <a:latin typeface="Calibri" pitchFamily="34" charset="0"/>
                          <a:ea typeface="Calibri" pitchFamily="34" charset="-122"/>
                          <a:cs typeface="Calibri" pitchFamily="34" charset="-120"/>
                        </a:rPr>
                        <a:t>Success =</a:t>
                      </a:r>
                      <a:endParaRPr lang="en-US" sz="1200" dirty="0">
                        <a:latin typeface="Calibri" charset="0"/>
                        <a:ea typeface="Calibri" charset="0"/>
                        <a:cs typeface="Calibri" charset="0"/>
                      </a:endParaRPr>
                    </a:p>
                  </a:txBody>
                  <a:tcPr marL="91440" marR="91440" marT="45720" marB="45720" anchor="ctr">
                    <a:lnL w="9525" cap="flat" cmpd="sng" algn="ctr">
                      <a:solidFill>
                        <a:srgbClr val="E4DDD6"/>
                      </a:solidFill>
                      <a:prstDash val="solid"/>
                      <a:round/>
                      <a:headEnd type="none" w="med" len="med"/>
                      <a:tailEnd type="none" w="med" len="med"/>
                    </a:lnL>
                    <a:lnR w="9525" cap="flat" cmpd="sng" algn="ctr">
                      <a:solidFill>
                        <a:srgbClr val="E4DDD6"/>
                      </a:solidFill>
                      <a:prstDash val="solid"/>
                      <a:round/>
                      <a:headEnd type="none" w="med" len="med"/>
                      <a:tailEnd type="none" w="med" len="med"/>
                    </a:lnR>
                    <a:lnT w="9525" cap="flat" cmpd="sng" algn="ctr">
                      <a:solidFill>
                        <a:srgbClr val="E4DDD6"/>
                      </a:solidFill>
                      <a:prstDash val="solid"/>
                      <a:round/>
                      <a:headEnd type="none" w="med" len="med"/>
                      <a:tailEnd type="none" w="med" len="med"/>
                    </a:lnT>
                    <a:lnB w="9525" cap="flat" cmpd="sng" algn="ctr">
                      <a:solidFill>
                        <a:srgbClr val="E4DDD6"/>
                      </a:solidFill>
                      <a:prstDash val="solid"/>
                      <a:round/>
                      <a:headEnd type="none" w="med" len="med"/>
                      <a:tailEnd type="none" w="med" len="med"/>
                    </a:lnB>
                    <a:solidFill>
                      <a:srgbClr val="F4EFEA"/>
                    </a:solidFill>
                  </a:tcPr>
                </a:tc>
                <a:tc>
                  <a:txBody>
                    <a:bodyPr/>
                    <a:lstStyle/>
                    <a:p>
                      <a:pPr indent="0" marL="0">
                        <a:buNone/>
                      </a:pPr>
                      <a:r>
                        <a:rPr lang="en-US" sz="1200" dirty="0">
                          <a:solidFill>
                            <a:srgbClr val="1C1A1B"/>
                          </a:solidFill>
                          <a:latin typeface="Calibri" pitchFamily="34" charset="0"/>
                          <a:ea typeface="Calibri" pitchFamily="34" charset="-122"/>
                          <a:cs typeface="Calibri" pitchFamily="34" charset="-120"/>
                        </a:rPr>
                        <a:t>Units sold before the buffer date</a:t>
                      </a:r>
                      <a:endParaRPr lang="en-US" sz="1200" dirty="0">
                        <a:latin typeface="Calibri" charset="0"/>
                        <a:ea typeface="Calibri" charset="0"/>
                        <a:cs typeface="Calibri" charset="0"/>
                      </a:endParaRPr>
                    </a:p>
                  </a:txBody>
                  <a:tcPr marL="91440" marR="91440" marT="45720" marB="45720" anchor="ctr">
                    <a:lnL w="9525" cap="flat" cmpd="sng" algn="ctr">
                      <a:solidFill>
                        <a:srgbClr val="E4DDD6"/>
                      </a:solidFill>
                      <a:prstDash val="solid"/>
                      <a:round/>
                      <a:headEnd type="none" w="med" len="med"/>
                      <a:tailEnd type="none" w="med" len="med"/>
                    </a:lnL>
                    <a:lnR w="9525" cap="flat" cmpd="sng" algn="ctr">
                      <a:solidFill>
                        <a:srgbClr val="E4DDD6"/>
                      </a:solidFill>
                      <a:prstDash val="solid"/>
                      <a:round/>
                      <a:headEnd type="none" w="med" len="med"/>
                      <a:tailEnd type="none" w="med" len="med"/>
                    </a:lnR>
                    <a:lnT w="9525" cap="flat" cmpd="sng" algn="ctr">
                      <a:solidFill>
                        <a:srgbClr val="E4DDD6"/>
                      </a:solidFill>
                      <a:prstDash val="solid"/>
                      <a:round/>
                      <a:headEnd type="none" w="med" len="med"/>
                      <a:tailEnd type="none" w="med" len="med"/>
                    </a:lnT>
                    <a:lnB w="9525" cap="flat" cmpd="sng" algn="ctr">
                      <a:solidFill>
                        <a:srgbClr val="E4DDD6"/>
                      </a:solidFill>
                      <a:prstDash val="solid"/>
                      <a:round/>
                      <a:headEnd type="none" w="med" len="med"/>
                      <a:tailEnd type="none" w="med" len="med"/>
                    </a:lnB>
                    <a:solidFill>
                      <a:srgbClr val="FFFFFF"/>
                    </a:solidFill>
                  </a:tcPr>
                </a:tc>
                <a:tc>
                  <a:txBody>
                    <a:bodyPr/>
                    <a:lstStyle/>
                    <a:p>
                      <a:pPr indent="0" marL="0">
                        <a:buNone/>
                      </a:pPr>
                      <a:r>
                        <a:rPr lang="en-US" sz="1200" dirty="0">
                          <a:solidFill>
                            <a:srgbClr val="1C1A1B"/>
                          </a:solidFill>
                          <a:latin typeface="Calibri" pitchFamily="34" charset="0"/>
                          <a:ea typeface="Calibri" pitchFamily="34" charset="-122"/>
                          <a:cs typeface="Calibri" pitchFamily="34" charset="-120"/>
                        </a:rPr>
                        <a:t>Sell-out uplift at the same outlet</a:t>
                      </a:r>
                      <a:endParaRPr lang="en-US" sz="1200" dirty="0">
                        <a:latin typeface="Calibri" charset="0"/>
                        <a:ea typeface="Calibri" charset="0"/>
                        <a:cs typeface="Calibri" charset="0"/>
                      </a:endParaRPr>
                    </a:p>
                  </a:txBody>
                  <a:tcPr marL="91440" marR="91440" marT="45720" marB="45720" anchor="ctr">
                    <a:lnL w="9525" cap="flat" cmpd="sng" algn="ctr">
                      <a:solidFill>
                        <a:srgbClr val="E4DDD6"/>
                      </a:solidFill>
                      <a:prstDash val="solid"/>
                      <a:round/>
                      <a:headEnd type="none" w="med" len="med"/>
                      <a:tailEnd type="none" w="med" len="med"/>
                    </a:lnL>
                    <a:lnR w="9525" cap="flat" cmpd="sng" algn="ctr">
                      <a:solidFill>
                        <a:srgbClr val="E4DDD6"/>
                      </a:solidFill>
                      <a:prstDash val="solid"/>
                      <a:round/>
                      <a:headEnd type="none" w="med" len="med"/>
                      <a:tailEnd type="none" w="med" len="med"/>
                    </a:lnR>
                    <a:lnT w="9525" cap="flat" cmpd="sng" algn="ctr">
                      <a:solidFill>
                        <a:srgbClr val="E4DDD6"/>
                      </a:solidFill>
                      <a:prstDash val="solid"/>
                      <a:round/>
                      <a:headEnd type="none" w="med" len="med"/>
                      <a:tailEnd type="none" w="med" len="med"/>
                    </a:lnT>
                    <a:lnB w="9525" cap="flat" cmpd="sng" algn="ctr">
                      <a:solidFill>
                        <a:srgbClr val="E4DDD6"/>
                      </a:solidFill>
                      <a:prstDash val="solid"/>
                      <a:round/>
                      <a:headEnd type="none" w="med" len="med"/>
                      <a:tailEnd type="none" w="med" len="med"/>
                    </a:lnB>
                    <a:solidFill>
                      <a:srgbClr val="FFFFFF"/>
                    </a:solidFill>
                  </a:tcPr>
                </a:tc>
              </a:tr>
            </a:tbl>
          </a:graphicData>
        </a:graphic>
      </p:graphicFrame>
      <p:sp>
        <p:nvSpPr>
          <p:cNvPr id="44" name="shot-frame-345"/>
          <p:cNvSpPr/>
          <p:nvPr/>
        </p:nvSpPr>
        <p:spPr>
          <a:xfrm>
            <a:off x="6016752" y="4096512"/>
            <a:ext cx="3328416" cy="2093976"/>
          </a:xfrm>
          <a:prstGeom prst="rect">
            <a:avLst/>
          </a:prstGeom>
          <a:solidFill>
            <a:srgbClr val="E4DDD6"/>
          </a:solidFill>
          <a:ln w="12700">
            <a:solidFill>
              <a:srgbClr val="E4DDD6"/>
            </a:solidFill>
            <a:prstDash val="solid"/>
          </a:ln>
          <a:effectLst>
            <a:outerShdw sx="100000" sy="100000" kx="0" ky="0" algn="bl" rotWithShape="0" blurRad="76200" dist="25400" dir="5400000">
              <a:srgbClr val="000000">
                <a:alpha val="12000"/>
              </a:srgbClr>
            </a:outerShdw>
          </a:effectLst>
        </p:spPr>
      </p:sp>
      <p:pic>
        <p:nvPicPr>
          <p:cNvPr id="45" name="screenshot-346" descr="Recommended actions screen">    </p:cNvPr>
          <p:cNvPicPr>
            <a:picLocks noChangeAspect="1"/>
          </p:cNvPicPr>
          <p:nvPr/>
        </p:nvPicPr>
        <p:blipFill>
          <a:blip r:embed="rId1"/>
          <a:stretch>
            <a:fillRect/>
          </a:stretch>
        </p:blipFill>
        <p:spPr>
          <a:xfrm>
            <a:off x="6035040" y="4114800"/>
            <a:ext cx="3291840" cy="2057400"/>
          </a:xfrm>
          <a:prstGeom prst="rect">
            <a:avLst/>
          </a:prstGeom>
        </p:spPr>
      </p:pic>
      <p:sp>
        <p:nvSpPr>
          <p:cNvPr id="46" name="text-347"/>
          <p:cNvSpPr txBox="1"/>
          <p:nvPr/>
        </p:nvSpPr>
        <p:spPr>
          <a:xfrm>
            <a:off x="9555480" y="4160520"/>
            <a:ext cx="2084832" cy="205740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In the app: ranked actions with rationale, effect, cost, owner and approval need. Accept, modify or reject with a reason.</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229600" cy="274320"/>
          </a:xfrm>
          <a:prstGeom prst="rect">
            <a:avLst/>
          </a:prstGeom>
          <a:noFill/>
          <a:ln/>
        </p:spPr>
        <p:txBody>
          <a:bodyPr wrap="square" lIns="0" tIns="0" rIns="0" bIns="0" rtlCol="0" anchor="t"/>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IN THE FIELD</a:t>
            </a:r>
            <a:endParaRPr lang="en-US" sz="1100" dirty="0"/>
          </a:p>
        </p:txBody>
      </p:sp>
      <p:sp>
        <p:nvSpPr>
          <p:cNvPr id="3" name="Text 0"/>
          <p:cNvSpPr/>
          <p:nvPr>
            <p:ph idx="101" type="title" hasCustomPrompt="1"/>
          </p:nvPr>
        </p:nvSpPr>
        <p:spPr>
          <a:xfrm>
            <a:off x="548640" y="566928"/>
            <a:ext cx="11064240" cy="96012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Four outlets, four different right answers</a:t>
            </a:r>
            <a:endParaRPr lang="en-US" sz="3000" dirty="0"/>
          </a:p>
        </p:txBody>
      </p:sp>
      <p:sp>
        <p:nvSpPr>
          <p:cNvPr id="4" name="Text 0"/>
          <p:cNvSpPr/>
          <p:nvPr>
            <p:ph idx="102" type="body" hasCustomPrompt="1"/>
          </p:nvPr>
        </p:nvSpPr>
        <p:spPr>
          <a:xfrm>
            <a:off x="548640" y="6382512"/>
            <a:ext cx="9692640" cy="329184"/>
          </a:xfrm>
          <a:prstGeom prst="rect">
            <a:avLst/>
          </a:prstGeom>
          <a:noFill/>
          <a:ln/>
        </p:spPr>
        <p:txBody>
          <a:bodyPr wrap="square" lIns="0" tIns="0" rIns="0" bIns="0" rtlCol="0" anchor="t"/>
          <a:lstStyle/>
          <a:p>
            <a:pPr indent="0" marL="0">
              <a:buNone/>
            </a:pPr>
            <a:r>
              <a:rPr lang="en-US" sz="1000" dirty="0">
                <a:solidFill>
                  <a:schemeClr val="tx2"/>
                </a:solidFill>
                <a:latin typeface="Calibri" pitchFamily="34" charset="0"/>
                <a:ea typeface="Calibri" pitchFamily="34" charset="-122"/>
                <a:cs typeface="Calibri" pitchFamily="34" charset="-120"/>
              </a:rPr>
              <a:t>All four examples are seeded scenarios in the live prototype (synthetic data). Transfers are capped at what the recipient can sell before the batch's buffer date, so waste is never pushed downstream.</a:t>
            </a:r>
            <a:endParaRPr lang="en-US" sz="1000" dirty="0"/>
          </a:p>
        </p:txBody>
      </p:sp>
      <p:sp>
        <p:nvSpPr>
          <p:cNvPr id="5" name="text-348"/>
          <p:cNvSpPr txBox="1"/>
          <p:nvPr/>
        </p:nvSpPr>
        <p:spPr>
          <a:xfrm>
            <a:off x="548640" y="1691640"/>
            <a:ext cx="1783080" cy="274320"/>
          </a:xfrm>
          <a:prstGeom prst="rect">
            <a:avLst/>
          </a:prstGeom>
          <a:noFill/>
          <a:ln/>
        </p:spPr>
        <p:txBody>
          <a:bodyPr wrap="square" lIns="0" tIns="0" rIns="0" bIns="0" rtlCol="0" anchor="t"/>
          <a:lstStyle/>
          <a:p>
            <a:pPr indent="0" marL="0">
              <a:buNone/>
            </a:pPr>
            <a:r>
              <a:rPr lang="en-US" sz="1100" b="1" spc="100" kern="0" dirty="0">
                <a:solidFill>
                  <a:schemeClr val="tx2"/>
                </a:solidFill>
                <a:latin typeface="Calibri" pitchFamily="34" charset="0"/>
                <a:ea typeface="Calibri" pitchFamily="34" charset="-122"/>
                <a:cs typeface="Calibri" pitchFamily="34" charset="-120"/>
              </a:rPr>
              <a:t>OUTLET</a:t>
            </a:r>
            <a:endParaRPr lang="en-US" sz="1100" dirty="0"/>
          </a:p>
        </p:txBody>
      </p:sp>
      <p:sp>
        <p:nvSpPr>
          <p:cNvPr id="6" name="text-349"/>
          <p:cNvSpPr txBox="1"/>
          <p:nvPr/>
        </p:nvSpPr>
        <p:spPr>
          <a:xfrm>
            <a:off x="2441448" y="1691640"/>
            <a:ext cx="2514600" cy="274320"/>
          </a:xfrm>
          <a:prstGeom prst="rect">
            <a:avLst/>
          </a:prstGeom>
          <a:noFill/>
          <a:ln/>
        </p:spPr>
        <p:txBody>
          <a:bodyPr wrap="square" lIns="0" tIns="0" rIns="0" bIns="0" rtlCol="0" anchor="t"/>
          <a:lstStyle/>
          <a:p>
            <a:pPr indent="0" marL="0">
              <a:buNone/>
            </a:pPr>
            <a:r>
              <a:rPr lang="en-US" sz="1100" b="1" spc="100" kern="0" dirty="0">
                <a:solidFill>
                  <a:schemeClr val="tx2"/>
                </a:solidFill>
                <a:latin typeface="Calibri" pitchFamily="34" charset="0"/>
                <a:ea typeface="Calibri" pitchFamily="34" charset="-122"/>
                <a:cs typeface="Calibri" pitchFamily="34" charset="-120"/>
              </a:rPr>
              <a:t>SITUATION</a:t>
            </a:r>
            <a:endParaRPr lang="en-US" sz="1100" dirty="0"/>
          </a:p>
        </p:txBody>
      </p:sp>
      <p:sp>
        <p:nvSpPr>
          <p:cNvPr id="7" name="text-350"/>
          <p:cNvSpPr txBox="1"/>
          <p:nvPr/>
        </p:nvSpPr>
        <p:spPr>
          <a:xfrm>
            <a:off x="5065776" y="1691640"/>
            <a:ext cx="3520440" cy="274320"/>
          </a:xfrm>
          <a:prstGeom prst="rect">
            <a:avLst/>
          </a:prstGeom>
          <a:noFill/>
          <a:ln/>
        </p:spPr>
        <p:txBody>
          <a:bodyPr wrap="square" lIns="0" tIns="0" rIns="0" bIns="0" rtlCol="0" anchor="t"/>
          <a:lstStyle/>
          <a:p>
            <a:pPr indent="0" marL="0">
              <a:buNone/>
            </a:pPr>
            <a:r>
              <a:rPr lang="en-US" sz="1100" b="1" spc="100" kern="0" dirty="0">
                <a:solidFill>
                  <a:schemeClr val="tx2"/>
                </a:solidFill>
                <a:latin typeface="Calibri" pitchFamily="34" charset="0"/>
                <a:ea typeface="Calibri" pitchFamily="34" charset="-122"/>
                <a:cs typeface="Calibri" pitchFamily="34" charset="-120"/>
              </a:rPr>
              <a:t>WHAT SMARTSELL RECOMMENDS</a:t>
            </a:r>
            <a:endParaRPr lang="en-US" sz="1100" dirty="0"/>
          </a:p>
        </p:txBody>
      </p:sp>
      <p:sp>
        <p:nvSpPr>
          <p:cNvPr id="8" name="text-351"/>
          <p:cNvSpPr txBox="1"/>
          <p:nvPr/>
        </p:nvSpPr>
        <p:spPr>
          <a:xfrm>
            <a:off x="8695944" y="1691640"/>
            <a:ext cx="1920240" cy="274320"/>
          </a:xfrm>
          <a:prstGeom prst="rect">
            <a:avLst/>
          </a:prstGeom>
          <a:noFill/>
          <a:ln/>
        </p:spPr>
        <p:txBody>
          <a:bodyPr wrap="square" lIns="0" tIns="0" rIns="0" bIns="0" rtlCol="0" anchor="t"/>
          <a:lstStyle/>
          <a:p>
            <a:pPr indent="0" marL="0">
              <a:buNone/>
            </a:pPr>
            <a:r>
              <a:rPr lang="en-US" sz="1100" b="1" spc="100" kern="0" dirty="0">
                <a:solidFill>
                  <a:schemeClr val="tx2"/>
                </a:solidFill>
                <a:latin typeface="Calibri" pitchFamily="34" charset="0"/>
                <a:ea typeface="Calibri" pitchFamily="34" charset="-122"/>
                <a:cs typeface="Calibri" pitchFamily="34" charset="-120"/>
              </a:rPr>
              <a:t>RESULT</a:t>
            </a:r>
            <a:endParaRPr lang="en-US" sz="1100" dirty="0"/>
          </a:p>
        </p:txBody>
      </p:sp>
      <p:sp>
        <p:nvSpPr>
          <p:cNvPr id="9" name="card-352"/>
          <p:cNvSpPr/>
          <p:nvPr/>
        </p:nvSpPr>
        <p:spPr>
          <a:xfrm>
            <a:off x="548640" y="2011680"/>
            <a:ext cx="10058400" cy="960120"/>
          </a:xfrm>
          <a:prstGeom prst="roundRect">
            <a:avLst>
              <a:gd name="adj" fmla="val 7619"/>
            </a:avLst>
          </a:prstGeom>
          <a:solidFill>
            <a:schemeClr val="bg2"/>
          </a:solidFill>
          <a:ln w="12700">
            <a:solidFill>
              <a:schemeClr val="bg2"/>
            </a:solidFill>
            <a:prstDash val="solid"/>
          </a:ln>
        </p:spPr>
      </p:sp>
      <p:sp>
        <p:nvSpPr>
          <p:cNvPr id="10" name="text-353"/>
          <p:cNvSpPr txBox="1"/>
          <p:nvPr/>
        </p:nvSpPr>
        <p:spPr>
          <a:xfrm>
            <a:off x="658368" y="2121408"/>
            <a:ext cx="1691640" cy="411480"/>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Shree Beauty, Andheri</a:t>
            </a:r>
            <a:endParaRPr lang="en-US" sz="1300" dirty="0"/>
          </a:p>
        </p:txBody>
      </p:sp>
      <p:sp>
        <p:nvSpPr>
          <p:cNvPr id="11" name="pill-354"/>
          <p:cNvSpPr/>
          <p:nvPr/>
        </p:nvSpPr>
        <p:spPr>
          <a:xfrm>
            <a:off x="658368" y="2578608"/>
            <a:ext cx="1463040" cy="274320"/>
          </a:xfrm>
          <a:prstGeom prst="roundRect">
            <a:avLst>
              <a:gd name="adj" fmla="val 50000"/>
            </a:avLst>
          </a:prstGeom>
          <a:solidFill>
            <a:schemeClr val="accent5"/>
          </a:solidFill>
          <a:ln w="12700">
            <a:solidFill>
              <a:schemeClr val="accent5"/>
            </a:solidFill>
            <a:prstDash val="solid"/>
          </a:ln>
        </p:spPr>
      </p:sp>
      <p:sp>
        <p:nvSpPr>
          <p:cNvPr id="12" name="text-355"/>
          <p:cNvSpPr txBox="1"/>
          <p:nvPr/>
        </p:nvSpPr>
        <p:spPr>
          <a:xfrm>
            <a:off x="658368" y="2578608"/>
            <a:ext cx="1463040" cy="274320"/>
          </a:xfrm>
          <a:prstGeom prst="rect">
            <a:avLst/>
          </a:prstGeom>
          <a:noFill/>
          <a:ln/>
        </p:spPr>
        <p:txBody>
          <a:bodyPr wrap="square" lIns="0" tIns="0" rIns="0" bIns="0" rtlCol="0" anchor="ctr"/>
          <a:lstStyle/>
          <a:p>
            <a:pPr algn="ctr" indent="0" marL="0">
              <a:buNone/>
            </a:pPr>
            <a:r>
              <a:rPr lang="en-US" sz="1000" b="1" dirty="0">
                <a:solidFill>
                  <a:schemeClr val="bg1"/>
                </a:solidFill>
                <a:latin typeface="Calibri" pitchFamily="34" charset="0"/>
                <a:ea typeface="Calibri" pitchFamily="34" charset="-122"/>
                <a:cs typeface="Calibri" pitchFamily="34" charset="-120"/>
              </a:rPr>
              <a:t>Near-expiry</a:t>
            </a:r>
            <a:endParaRPr lang="en-US" sz="1000" dirty="0"/>
          </a:p>
        </p:txBody>
      </p:sp>
      <p:sp>
        <p:nvSpPr>
          <p:cNvPr id="13" name="text-356"/>
          <p:cNvSpPr txBox="1"/>
          <p:nvPr/>
        </p:nvSpPr>
        <p:spPr>
          <a:xfrm>
            <a:off x="2551176" y="2103120"/>
            <a:ext cx="2468880" cy="82296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120 shampoo units, ≈70 won't sell in time: ₹14,700 at risk</a:t>
            </a:r>
            <a:endParaRPr lang="en-US" sz="1200" dirty="0"/>
          </a:p>
        </p:txBody>
      </p:sp>
      <p:sp>
        <p:nvSpPr>
          <p:cNvPr id="14" name="text-357"/>
          <p:cNvSpPr txBox="1"/>
          <p:nvPr/>
        </p:nvSpPr>
        <p:spPr>
          <a:xfrm>
            <a:off x="5175504" y="2103120"/>
            <a:ext cx="3474720" cy="82296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Pause re-order (retailer asked for 24 more) and transfer 66 units to Glow Chemist, which was 8 days from running out</a:t>
            </a:r>
            <a:endParaRPr lang="en-US" sz="1200" dirty="0"/>
          </a:p>
        </p:txBody>
      </p:sp>
      <p:sp>
        <p:nvSpPr>
          <p:cNvPr id="15" name="text-358"/>
          <p:cNvSpPr txBox="1"/>
          <p:nvPr/>
        </p:nvSpPr>
        <p:spPr>
          <a:xfrm>
            <a:off x="8805672" y="2103120"/>
            <a:ext cx="1737360" cy="822960"/>
          </a:xfrm>
          <a:prstGeom prst="rect">
            <a:avLst/>
          </a:prstGeom>
          <a:noFill/>
          <a:ln/>
        </p:spPr>
        <p:txBody>
          <a:bodyPr wrap="square" lIns="0" tIns="0" rIns="0" bIns="0" rtlCol="0" anchor="ctr"/>
          <a:lstStyle/>
          <a:p>
            <a:pPr indent="0" marL="0">
              <a:buNone/>
            </a:pPr>
            <a:r>
              <a:rPr lang="en-US" sz="1200" b="1" dirty="0">
                <a:solidFill>
                  <a:schemeClr val="accent3"/>
                </a:solidFill>
                <a:latin typeface="Calibri" pitchFamily="34" charset="0"/>
                <a:ea typeface="Calibri" pitchFamily="34" charset="-122"/>
                <a:cs typeface="Calibri" pitchFamily="34" charset="-120"/>
              </a:rPr>
              <a:t>₹14,700 → ₹840 at risk; a stock-out avoided</a:t>
            </a:r>
            <a:endParaRPr lang="en-US" sz="1200" dirty="0"/>
          </a:p>
        </p:txBody>
      </p:sp>
      <p:sp>
        <p:nvSpPr>
          <p:cNvPr id="16" name="card-359"/>
          <p:cNvSpPr/>
          <p:nvPr/>
        </p:nvSpPr>
        <p:spPr>
          <a:xfrm>
            <a:off x="548640" y="3063240"/>
            <a:ext cx="10058400" cy="960120"/>
          </a:xfrm>
          <a:prstGeom prst="roundRect">
            <a:avLst>
              <a:gd name="adj" fmla="val 7619"/>
            </a:avLst>
          </a:prstGeom>
          <a:solidFill>
            <a:srgbClr val="FFFFFF"/>
          </a:solidFill>
          <a:ln w="12700">
            <a:solidFill>
              <a:srgbClr val="FFFFFF"/>
            </a:solidFill>
            <a:prstDash val="solid"/>
          </a:ln>
        </p:spPr>
      </p:sp>
      <p:sp>
        <p:nvSpPr>
          <p:cNvPr id="17" name="text-360"/>
          <p:cNvSpPr txBox="1"/>
          <p:nvPr/>
        </p:nvSpPr>
        <p:spPr>
          <a:xfrm>
            <a:off x="658368" y="3172968"/>
            <a:ext cx="1691640" cy="411480"/>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Sai Kirana, Malad</a:t>
            </a:r>
            <a:endParaRPr lang="en-US" sz="1300" dirty="0"/>
          </a:p>
        </p:txBody>
      </p:sp>
      <p:sp>
        <p:nvSpPr>
          <p:cNvPr id="18" name="pill-361"/>
          <p:cNvSpPr/>
          <p:nvPr/>
        </p:nvSpPr>
        <p:spPr>
          <a:xfrm>
            <a:off x="658368" y="3630168"/>
            <a:ext cx="1463040" cy="274320"/>
          </a:xfrm>
          <a:prstGeom prst="roundRect">
            <a:avLst>
              <a:gd name="adj" fmla="val 50000"/>
            </a:avLst>
          </a:prstGeom>
          <a:solidFill>
            <a:srgbClr val="A58A5C"/>
          </a:solidFill>
          <a:ln w="12700">
            <a:solidFill>
              <a:srgbClr val="A58A5C"/>
            </a:solidFill>
            <a:prstDash val="solid"/>
          </a:ln>
        </p:spPr>
      </p:sp>
      <p:sp>
        <p:nvSpPr>
          <p:cNvPr id="19" name="text-362"/>
          <p:cNvSpPr txBox="1"/>
          <p:nvPr/>
        </p:nvSpPr>
        <p:spPr>
          <a:xfrm>
            <a:off x="658368" y="3630168"/>
            <a:ext cx="1463040" cy="274320"/>
          </a:xfrm>
          <a:prstGeom prst="rect">
            <a:avLst/>
          </a:prstGeom>
          <a:noFill/>
          <a:ln/>
        </p:spPr>
        <p:txBody>
          <a:bodyPr wrap="square" lIns="0" tIns="0" rIns="0" bIns="0" rtlCol="0" anchor="ctr"/>
          <a:lstStyle/>
          <a:p>
            <a:pPr algn="ctr" indent="0" marL="0">
              <a:buNone/>
            </a:pPr>
            <a:r>
              <a:rPr lang="en-US" sz="1000" b="1" dirty="0">
                <a:solidFill>
                  <a:schemeClr val="bg1"/>
                </a:solidFill>
                <a:latin typeface="Calibri" pitchFamily="34" charset="0"/>
                <a:ea typeface="Calibri" pitchFamily="34" charset="-122"/>
                <a:cs typeface="Calibri" pitchFamily="34" charset="-120"/>
              </a:rPr>
              <a:t>Slow-moving</a:t>
            </a:r>
            <a:endParaRPr lang="en-US" sz="1000" dirty="0"/>
          </a:p>
        </p:txBody>
      </p:sp>
      <p:sp>
        <p:nvSpPr>
          <p:cNvPr id="20" name="text-363"/>
          <p:cNvSpPr txBox="1"/>
          <p:nvPr/>
        </p:nvSpPr>
        <p:spPr>
          <a:xfrm>
            <a:off x="2551176" y="3154680"/>
            <a:ext cx="2468880" cy="82296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Premium Vitamin C serum, 240 days of cover, healthy shelf life</a:t>
            </a:r>
            <a:endParaRPr lang="en-US" sz="1200" dirty="0"/>
          </a:p>
        </p:txBody>
      </p:sp>
      <p:sp>
        <p:nvSpPr>
          <p:cNvPr id="21" name="text-364"/>
          <p:cNvSpPr txBox="1"/>
          <p:nvPr/>
        </p:nvSpPr>
        <p:spPr>
          <a:xfrm>
            <a:off x="5175504" y="3154680"/>
            <a:ext cx="3474720" cy="82296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Diagnose: wrong outlet profile. Move to the counter, cap re-orders, move 18 units to CarePoint Chemist. No discount.</a:t>
            </a:r>
            <a:endParaRPr lang="en-US" sz="1200" dirty="0"/>
          </a:p>
        </p:txBody>
      </p:sp>
      <p:sp>
        <p:nvSpPr>
          <p:cNvPr id="22" name="text-365"/>
          <p:cNvSpPr txBox="1"/>
          <p:nvPr/>
        </p:nvSpPr>
        <p:spPr>
          <a:xfrm>
            <a:off x="8805672" y="3154680"/>
            <a:ext cx="1737360" cy="822960"/>
          </a:xfrm>
          <a:prstGeom prst="rect">
            <a:avLst/>
          </a:prstGeom>
          <a:noFill/>
          <a:ln/>
        </p:spPr>
        <p:txBody>
          <a:bodyPr wrap="square" lIns="0" tIns="0" rIns="0" bIns="0" rtlCol="0" anchor="ctr"/>
          <a:lstStyle/>
          <a:p>
            <a:pPr indent="0" marL="0">
              <a:buNone/>
            </a:pPr>
            <a:r>
              <a:rPr lang="en-US" sz="1200" b="1" dirty="0">
                <a:solidFill>
                  <a:schemeClr val="accent3"/>
                </a:solidFill>
                <a:latin typeface="Calibri" pitchFamily="34" charset="0"/>
                <a:ea typeface="Calibri" pitchFamily="34" charset="-122"/>
                <a:cs typeface="Calibri" pitchFamily="34" charset="-120"/>
              </a:rPr>
              <a:t>Cash freed for the retailer, serum sells where it fits</a:t>
            </a:r>
            <a:endParaRPr lang="en-US" sz="1200" dirty="0"/>
          </a:p>
        </p:txBody>
      </p:sp>
      <p:sp>
        <p:nvSpPr>
          <p:cNvPr id="23" name="card-366"/>
          <p:cNvSpPr/>
          <p:nvPr/>
        </p:nvSpPr>
        <p:spPr>
          <a:xfrm>
            <a:off x="548640" y="4114800"/>
            <a:ext cx="10058400" cy="960120"/>
          </a:xfrm>
          <a:prstGeom prst="roundRect">
            <a:avLst>
              <a:gd name="adj" fmla="val 7619"/>
            </a:avLst>
          </a:prstGeom>
          <a:solidFill>
            <a:schemeClr val="bg2"/>
          </a:solidFill>
          <a:ln w="12700">
            <a:solidFill>
              <a:schemeClr val="bg2"/>
            </a:solidFill>
            <a:prstDash val="solid"/>
          </a:ln>
        </p:spPr>
      </p:sp>
      <p:sp>
        <p:nvSpPr>
          <p:cNvPr id="24" name="text-367"/>
          <p:cNvSpPr txBox="1"/>
          <p:nvPr/>
        </p:nvSpPr>
        <p:spPr>
          <a:xfrm>
            <a:off x="658368" y="4224528"/>
            <a:ext cx="1691640" cy="411480"/>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Powai Wellness Chemist</a:t>
            </a:r>
            <a:endParaRPr lang="en-US" sz="1300" dirty="0"/>
          </a:p>
        </p:txBody>
      </p:sp>
      <p:sp>
        <p:nvSpPr>
          <p:cNvPr id="25" name="pill-368"/>
          <p:cNvSpPr/>
          <p:nvPr/>
        </p:nvSpPr>
        <p:spPr>
          <a:xfrm>
            <a:off x="658368" y="4681728"/>
            <a:ext cx="1463040" cy="274320"/>
          </a:xfrm>
          <a:prstGeom prst="roundRect">
            <a:avLst>
              <a:gd name="adj" fmla="val 50000"/>
            </a:avLst>
          </a:prstGeom>
          <a:solidFill>
            <a:schemeClr val="accent4"/>
          </a:solidFill>
          <a:ln w="12700">
            <a:solidFill>
              <a:schemeClr val="accent4"/>
            </a:solidFill>
            <a:prstDash val="solid"/>
          </a:ln>
        </p:spPr>
      </p:sp>
      <p:sp>
        <p:nvSpPr>
          <p:cNvPr id="26" name="text-369"/>
          <p:cNvSpPr txBox="1"/>
          <p:nvPr/>
        </p:nvSpPr>
        <p:spPr>
          <a:xfrm>
            <a:off x="658368" y="4681728"/>
            <a:ext cx="1463040" cy="274320"/>
          </a:xfrm>
          <a:prstGeom prst="rect">
            <a:avLst/>
          </a:prstGeom>
          <a:noFill/>
          <a:ln/>
        </p:spPr>
        <p:txBody>
          <a:bodyPr wrap="square" lIns="0" tIns="0" rIns="0" bIns="0" rtlCol="0" anchor="ctr"/>
          <a:lstStyle/>
          <a:p>
            <a:pPr algn="ctr" indent="0" marL="0">
              <a:buNone/>
            </a:pPr>
            <a:r>
              <a:rPr lang="en-US" sz="1000" b="1" dirty="0">
                <a:solidFill>
                  <a:schemeClr val="bg1"/>
                </a:solidFill>
                <a:latin typeface="Calibri" pitchFamily="34" charset="0"/>
                <a:ea typeface="Calibri" pitchFamily="34" charset="-122"/>
                <a:cs typeface="Calibri" pitchFamily="34" charset="-120"/>
              </a:rPr>
              <a:t>Stock-out risk</a:t>
            </a:r>
            <a:endParaRPr lang="en-US" sz="1000" dirty="0"/>
          </a:p>
        </p:txBody>
      </p:sp>
      <p:sp>
        <p:nvSpPr>
          <p:cNvPr id="27" name="text-370"/>
          <p:cNvSpPr txBox="1"/>
          <p:nvPr/>
        </p:nvSpPr>
        <p:spPr>
          <a:xfrm>
            <a:off x="2551176" y="4206240"/>
            <a:ext cx="2468880" cy="82296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Face wash: 6 days of cover at 60 a month; retailer asked for only 24</a:t>
            </a:r>
            <a:endParaRPr lang="en-US" sz="1200" dirty="0"/>
          </a:p>
        </p:txBody>
      </p:sp>
      <p:sp>
        <p:nvSpPr>
          <p:cNvPr id="28" name="text-371"/>
          <p:cNvSpPr txBox="1"/>
          <p:nvPr/>
        </p:nvSpPr>
        <p:spPr>
          <a:xfrm>
            <a:off x="5175504" y="4206240"/>
            <a:ext cx="3474720" cy="82296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Replenish 60 units, sized to demand plus lead time (no surplus nearby to transfer)</a:t>
            </a:r>
            <a:endParaRPr lang="en-US" sz="1200" dirty="0"/>
          </a:p>
        </p:txBody>
      </p:sp>
      <p:sp>
        <p:nvSpPr>
          <p:cNvPr id="29" name="text-372"/>
          <p:cNvSpPr txBox="1"/>
          <p:nvPr/>
        </p:nvSpPr>
        <p:spPr>
          <a:xfrm>
            <a:off x="8805672" y="4206240"/>
            <a:ext cx="1737360" cy="822960"/>
          </a:xfrm>
          <a:prstGeom prst="rect">
            <a:avLst/>
          </a:prstGeom>
          <a:noFill/>
          <a:ln/>
        </p:spPr>
        <p:txBody>
          <a:bodyPr wrap="square" lIns="0" tIns="0" rIns="0" bIns="0" rtlCol="0" anchor="ctr"/>
          <a:lstStyle/>
          <a:p>
            <a:pPr indent="0" marL="0">
              <a:buNone/>
            </a:pPr>
            <a:r>
              <a:rPr lang="en-US" sz="1200" b="1" dirty="0">
                <a:solidFill>
                  <a:schemeClr val="accent3"/>
                </a:solidFill>
                <a:latin typeface="Calibri" pitchFamily="34" charset="0"/>
                <a:ea typeface="Calibri" pitchFamily="34" charset="-122"/>
                <a:cs typeface="Calibri" pitchFamily="34" charset="-120"/>
              </a:rPr>
              <a:t>Shelf stays full; lost sales protected</a:t>
            </a:r>
            <a:endParaRPr lang="en-US" sz="1200" dirty="0"/>
          </a:p>
        </p:txBody>
      </p:sp>
      <p:sp>
        <p:nvSpPr>
          <p:cNvPr id="30" name="card-373"/>
          <p:cNvSpPr/>
          <p:nvPr/>
        </p:nvSpPr>
        <p:spPr>
          <a:xfrm>
            <a:off x="548640" y="5166360"/>
            <a:ext cx="10058400" cy="960120"/>
          </a:xfrm>
          <a:prstGeom prst="roundRect">
            <a:avLst>
              <a:gd name="adj" fmla="val 7619"/>
            </a:avLst>
          </a:prstGeom>
          <a:solidFill>
            <a:srgbClr val="FFFFFF"/>
          </a:solidFill>
          <a:ln w="12700">
            <a:solidFill>
              <a:srgbClr val="FFFFFF"/>
            </a:solidFill>
            <a:prstDash val="solid"/>
          </a:ln>
        </p:spPr>
      </p:sp>
      <p:sp>
        <p:nvSpPr>
          <p:cNvPr id="31" name="text-374"/>
          <p:cNvSpPr txBox="1"/>
          <p:nvPr/>
        </p:nvSpPr>
        <p:spPr>
          <a:xfrm>
            <a:off x="658368" y="5276088"/>
            <a:ext cx="1691640" cy="411480"/>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Galleria counter, Powai</a:t>
            </a:r>
            <a:endParaRPr lang="en-US" sz="1300" dirty="0"/>
          </a:p>
        </p:txBody>
      </p:sp>
      <p:sp>
        <p:nvSpPr>
          <p:cNvPr id="32" name="pill-375"/>
          <p:cNvSpPr/>
          <p:nvPr/>
        </p:nvSpPr>
        <p:spPr>
          <a:xfrm>
            <a:off x="658368" y="5733288"/>
            <a:ext cx="1463040" cy="274320"/>
          </a:xfrm>
          <a:prstGeom prst="roundRect">
            <a:avLst>
              <a:gd name="adj" fmla="val 50000"/>
            </a:avLst>
          </a:prstGeom>
          <a:solidFill>
            <a:schemeClr val="accent1"/>
          </a:solidFill>
          <a:ln w="12700">
            <a:solidFill>
              <a:schemeClr val="accent1"/>
            </a:solidFill>
            <a:prstDash val="solid"/>
          </a:ln>
        </p:spPr>
      </p:sp>
      <p:sp>
        <p:nvSpPr>
          <p:cNvPr id="33" name="text-376"/>
          <p:cNvSpPr txBox="1"/>
          <p:nvPr/>
        </p:nvSpPr>
        <p:spPr>
          <a:xfrm>
            <a:off x="658368" y="5733288"/>
            <a:ext cx="1463040" cy="274320"/>
          </a:xfrm>
          <a:prstGeom prst="rect">
            <a:avLst/>
          </a:prstGeom>
          <a:noFill/>
          <a:ln/>
        </p:spPr>
        <p:txBody>
          <a:bodyPr wrap="square" lIns="0" tIns="0" rIns="0" bIns="0" rtlCol="0" anchor="ctr"/>
          <a:lstStyle/>
          <a:p>
            <a:pPr algn="ctr" indent="0" marL="0">
              <a:buNone/>
            </a:pPr>
            <a:r>
              <a:rPr lang="en-US" sz="1000" b="1" dirty="0">
                <a:solidFill>
                  <a:schemeClr val="bg1"/>
                </a:solidFill>
                <a:latin typeface="Calibri" pitchFamily="34" charset="0"/>
                <a:ea typeface="Calibri" pitchFamily="34" charset="-122"/>
                <a:cs typeface="Calibri" pitchFamily="34" charset="-120"/>
              </a:rPr>
              <a:t>Luxe guardrail</a:t>
            </a:r>
            <a:endParaRPr lang="en-US" sz="1000" dirty="0"/>
          </a:p>
        </p:txBody>
      </p:sp>
      <p:sp>
        <p:nvSpPr>
          <p:cNvPr id="34" name="text-377"/>
          <p:cNvSpPr txBox="1"/>
          <p:nvPr/>
        </p:nvSpPr>
        <p:spPr>
          <a:xfrm>
            <a:off x="2551176" y="5257800"/>
            <a:ext cx="2468880" cy="82296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Slow luxury fragrance; rep requests a 25% discount</a:t>
            </a:r>
            <a:endParaRPr lang="en-US" sz="1200" dirty="0"/>
          </a:p>
        </p:txBody>
      </p:sp>
      <p:sp>
        <p:nvSpPr>
          <p:cNvPr id="35" name="text-378"/>
          <p:cNvSpPr txBox="1"/>
          <p:nvPr/>
        </p:nvSpPr>
        <p:spPr>
          <a:xfrm>
            <a:off x="5175504" y="5257800"/>
            <a:ext cx="3474720" cy="82296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Request blocked by the brand guardrail; manager redirects to a beauty-advisor day and sample vials</a:t>
            </a:r>
            <a:endParaRPr lang="en-US" sz="1200" dirty="0"/>
          </a:p>
        </p:txBody>
      </p:sp>
      <p:sp>
        <p:nvSpPr>
          <p:cNvPr id="36" name="text-379"/>
          <p:cNvSpPr txBox="1"/>
          <p:nvPr/>
        </p:nvSpPr>
        <p:spPr>
          <a:xfrm>
            <a:off x="8805672" y="5257800"/>
            <a:ext cx="1737360" cy="822960"/>
          </a:xfrm>
          <a:prstGeom prst="rect">
            <a:avLst/>
          </a:prstGeom>
          <a:noFill/>
          <a:ln/>
        </p:spPr>
        <p:txBody>
          <a:bodyPr wrap="square" lIns="0" tIns="0" rIns="0" bIns="0" rtlCol="0" anchor="ctr"/>
          <a:lstStyle/>
          <a:p>
            <a:pPr indent="0" marL="0">
              <a:buNone/>
            </a:pPr>
            <a:r>
              <a:rPr lang="en-US" sz="1200" b="1" dirty="0">
                <a:solidFill>
                  <a:schemeClr val="accent3"/>
                </a:solidFill>
                <a:latin typeface="Calibri" pitchFamily="34" charset="0"/>
                <a:ea typeface="Calibri" pitchFamily="34" charset="-122"/>
                <a:cs typeface="Calibri" pitchFamily="34" charset="-120"/>
              </a:rPr>
              <a:t>Brand equity protected</a:t>
            </a:r>
            <a:endParaRPr lang="en-US" sz="1200" dirty="0"/>
          </a:p>
        </p:txBody>
      </p:sp>
      <p:sp>
        <p:nvSpPr>
          <p:cNvPr id="37" name="icon-circle-380"/>
          <p:cNvSpPr/>
          <p:nvPr/>
        </p:nvSpPr>
        <p:spPr>
          <a:xfrm>
            <a:off x="10835640" y="2011680"/>
            <a:ext cx="685800" cy="685800"/>
          </a:xfrm>
          <a:prstGeom prst="ellipse">
            <a:avLst/>
          </a:prstGeom>
          <a:solidFill>
            <a:schemeClr val="accent3"/>
          </a:solidFill>
          <a:ln w="12700">
            <a:solidFill>
              <a:schemeClr val="accent3"/>
            </a:solidFill>
            <a:prstDash val="solid"/>
          </a:ln>
        </p:spPr>
      </p:sp>
      <p:pic>
        <p:nvPicPr>
          <p:cNvPr id="38" name="icon-381" descr="preencoded.png">    </p:cNvPr>
          <p:cNvPicPr>
            <a:picLocks noChangeAspect="1"/>
          </p:cNvPicPr>
          <p:nvPr/>
        </p:nvPicPr>
        <p:blipFill>
          <a:blip r:embed="rId1"/>
          <a:stretch>
            <a:fillRect/>
          </a:stretch>
        </p:blipFill>
        <p:spPr>
          <a:xfrm>
            <a:off x="11007090" y="2183130"/>
            <a:ext cx="342900" cy="342900"/>
          </a:xfrm>
          <a:prstGeom prst="rect">
            <a:avLst/>
          </a:prstGeom>
        </p:spPr>
      </p:pic>
      <p:sp>
        <p:nvSpPr>
          <p:cNvPr id="39" name="text-382"/>
          <p:cNvSpPr txBox="1"/>
          <p:nvPr/>
        </p:nvSpPr>
        <p:spPr>
          <a:xfrm>
            <a:off x="10652760" y="2743200"/>
            <a:ext cx="1051560" cy="274320"/>
          </a:xfrm>
          <a:prstGeom prst="rect">
            <a:avLst/>
          </a:prstGeom>
          <a:noFill/>
          <a:ln/>
        </p:spPr>
        <p:txBody>
          <a:bodyPr wrap="square" lIns="0" tIns="0" rIns="0" bIns="0" rtlCol="0" anchor="t"/>
          <a:lstStyle/>
          <a:p>
            <a:pPr algn="ctr" indent="0" marL="0">
              <a:buNone/>
            </a:pPr>
            <a:r>
              <a:rPr lang="en-US" sz="1200" b="1" dirty="0">
                <a:solidFill>
                  <a:schemeClr val="tx1"/>
                </a:solidFill>
                <a:latin typeface="Calibri" pitchFamily="34" charset="0"/>
                <a:ea typeface="Calibri" pitchFamily="34" charset="-122"/>
                <a:cs typeface="Calibri" pitchFamily="34" charset="-120"/>
              </a:rPr>
              <a:t>Order guardrail</a:t>
            </a:r>
            <a:endParaRPr lang="en-US" sz="1200" dirty="0"/>
          </a:p>
        </p:txBody>
      </p:sp>
      <p:sp>
        <p:nvSpPr>
          <p:cNvPr id="40" name="text-383"/>
          <p:cNvSpPr txBox="1"/>
          <p:nvPr/>
        </p:nvSpPr>
        <p:spPr>
          <a:xfrm>
            <a:off x="10652760" y="3017520"/>
            <a:ext cx="1051560" cy="1737360"/>
          </a:xfrm>
          <a:prstGeom prst="rect">
            <a:avLst/>
          </a:prstGeom>
          <a:noFill/>
          <a:ln/>
        </p:spPr>
        <p:txBody>
          <a:bodyPr wrap="square" lIns="0" tIns="0" rIns="0" bIns="0" rtlCol="0" anchor="t"/>
          <a:lstStyle/>
          <a:p>
            <a:pPr algn="ctr" indent="0" marL="0">
              <a:buNone/>
            </a:pPr>
            <a:r>
              <a:rPr lang="en-US" sz="1100" dirty="0">
                <a:solidFill>
                  <a:schemeClr val="tx2"/>
                </a:solidFill>
                <a:latin typeface="Calibri" pitchFamily="34" charset="0"/>
                <a:ea typeface="Calibri" pitchFamily="34" charset="-122"/>
                <a:cs typeface="Calibri" pitchFamily="34" charset="-120"/>
              </a:rPr>
              <a:t>Every order shows asked vs suggested, with the reason. Overrides need a reason.</a:t>
            </a:r>
            <a:endParaRPr lang="en-US" sz="11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229600" cy="274320"/>
          </a:xfrm>
          <a:prstGeom prst="rect">
            <a:avLst/>
          </a:prstGeom>
          <a:noFill/>
          <a:ln/>
        </p:spPr>
        <p:txBody>
          <a:bodyPr wrap="square" lIns="0" tIns="0" rIns="0" bIns="0" rtlCol="0" anchor="t"/>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QUICK COMMERCE</a:t>
            </a:r>
            <a:endParaRPr lang="en-US" sz="1100" dirty="0"/>
          </a:p>
        </p:txBody>
      </p:sp>
      <p:sp>
        <p:nvSpPr>
          <p:cNvPr id="3" name="Text 0"/>
          <p:cNvSpPr/>
          <p:nvPr>
            <p:ph idx="101" type="title" hasCustomPrompt="1"/>
          </p:nvPr>
        </p:nvSpPr>
        <p:spPr>
          <a:xfrm>
            <a:off x="548640" y="566928"/>
            <a:ext cx="11064240" cy="96012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Quick commerce becomes a planning signal, not a source of waste</a:t>
            </a:r>
            <a:endParaRPr lang="en-US" sz="3000" dirty="0"/>
          </a:p>
        </p:txBody>
      </p:sp>
      <p:sp>
        <p:nvSpPr>
          <p:cNvPr id="4" name="Text 0"/>
          <p:cNvSpPr/>
          <p:nvPr>
            <p:ph idx="102" type="body" hasCustomPrompt="1"/>
          </p:nvPr>
        </p:nvSpPr>
        <p:spPr>
          <a:xfrm>
            <a:off x="548640" y="6382512"/>
            <a:ext cx="9692640" cy="329184"/>
          </a:xfrm>
          <a:prstGeom prst="rect">
            <a:avLst/>
          </a:prstGeom>
          <a:noFill/>
          <a:ln/>
        </p:spPr>
        <p:txBody>
          <a:bodyPr wrap="square" lIns="0" tIns="0" rIns="0" bIns="0" rtlCol="0" anchor="t"/>
          <a:lstStyle/>
          <a:p>
            <a:pPr indent="0" marL="0">
              <a:buNone/>
            </a:pPr>
            <a:r>
              <a:rPr lang="en-US" sz="1000" dirty="0">
                <a:solidFill>
                  <a:schemeClr val="tx2"/>
                </a:solidFill>
                <a:latin typeface="Calibri" pitchFamily="34" charset="0"/>
                <a:ea typeface="Calibri" pitchFamily="34" charset="-122"/>
                <a:cs typeface="Calibri" pitchFamily="34" charset="-120"/>
              </a:rPr>
              <a:t>Sources: NielsenIQ India FMCG Snapshot Q4 2025 (Mar 2026); Business Standard, 25 Oct 2026; Dabur Q2 FY25 brokerage notes (Oct 2024); AICPDF via Storyboard18 (Nov 2024), allegation. Online growth figures in the prototype are synthetic.</a:t>
            </a:r>
            <a:endParaRPr lang="en-US" sz="1000" dirty="0"/>
          </a:p>
        </p:txBody>
      </p:sp>
      <p:sp>
        <p:nvSpPr>
          <p:cNvPr id="5" name="card-384"/>
          <p:cNvSpPr/>
          <p:nvPr/>
        </p:nvSpPr>
        <p:spPr>
          <a:xfrm>
            <a:off x="548640" y="1691640"/>
            <a:ext cx="2670048" cy="1600200"/>
          </a:xfrm>
          <a:prstGeom prst="roundRect">
            <a:avLst>
              <a:gd name="adj" fmla="val 4571"/>
            </a:avLst>
          </a:prstGeom>
          <a:solidFill>
            <a:schemeClr val="bg2"/>
          </a:solidFill>
          <a:ln w="12700">
            <a:solidFill>
              <a:schemeClr val="bg2"/>
            </a:solidFill>
            <a:prstDash val="solid"/>
          </a:ln>
        </p:spPr>
      </p:sp>
      <p:sp>
        <p:nvSpPr>
          <p:cNvPr id="6" name="text-385"/>
          <p:cNvSpPr txBox="1"/>
          <p:nvPr/>
        </p:nvSpPr>
        <p:spPr>
          <a:xfrm>
            <a:off x="731520" y="1783080"/>
            <a:ext cx="2377440" cy="502920"/>
          </a:xfrm>
          <a:prstGeom prst="rect">
            <a:avLst/>
          </a:prstGeom>
          <a:noFill/>
          <a:ln/>
        </p:spPr>
        <p:txBody>
          <a:bodyPr wrap="square" lIns="0" tIns="0" rIns="0" bIns="0" rtlCol="0" anchor="t"/>
          <a:lstStyle/>
          <a:p>
            <a:pPr indent="0" marL="0">
              <a:buNone/>
            </a:pPr>
            <a:r>
              <a:rPr lang="en-US" sz="2400" b="1" dirty="0">
                <a:solidFill>
                  <a:srgbClr val="5B3A8A"/>
                </a:solidFill>
                <a:latin typeface="Cambria" pitchFamily="34" charset="0"/>
                <a:ea typeface="Cambria" pitchFamily="34" charset="-122"/>
                <a:cs typeface="Cambria" pitchFamily="34" charset="-120"/>
              </a:rPr>
              <a:t>≈18%</a:t>
            </a:r>
            <a:endParaRPr lang="en-US" sz="2400" dirty="0"/>
          </a:p>
        </p:txBody>
      </p:sp>
      <p:sp>
        <p:nvSpPr>
          <p:cNvPr id="7" name="text-386"/>
          <p:cNvSpPr txBox="1"/>
          <p:nvPr/>
        </p:nvSpPr>
        <p:spPr>
          <a:xfrm>
            <a:off x="731520" y="2286000"/>
            <a:ext cx="2377440" cy="68580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of FMCG sales in India's top-8 metros are online, and over ¾ of that is quick commerce</a:t>
            </a:r>
            <a:endParaRPr lang="en-US" sz="1200" dirty="0"/>
          </a:p>
        </p:txBody>
      </p:sp>
      <p:sp>
        <p:nvSpPr>
          <p:cNvPr id="8" name="text-387"/>
          <p:cNvSpPr txBox="1"/>
          <p:nvPr/>
        </p:nvSpPr>
        <p:spPr>
          <a:xfrm>
            <a:off x="731520" y="2990088"/>
            <a:ext cx="2377440" cy="256032"/>
          </a:xfrm>
          <a:prstGeom prst="rect">
            <a:avLst/>
          </a:prstGeom>
          <a:noFill/>
          <a:ln/>
        </p:spPr>
        <p:txBody>
          <a:bodyPr wrap="square" lIns="0" tIns="0" rIns="0" bIns="0" rtlCol="0" anchor="t"/>
          <a:lstStyle/>
          <a:p>
            <a:pPr indent="0" marL="0">
              <a:buNone/>
            </a:pPr>
            <a:r>
              <a:rPr lang="en-US" sz="1000" dirty="0">
                <a:solidFill>
                  <a:schemeClr val="tx2"/>
                </a:solidFill>
                <a:latin typeface="Calibri" pitchFamily="34" charset="0"/>
                <a:ea typeface="Calibri" pitchFamily="34" charset="-122"/>
                <a:cs typeface="Calibri" pitchFamily="34" charset="-120"/>
              </a:rPr>
              <a:t>NielsenIQ, Q4 2025</a:t>
            </a:r>
            <a:endParaRPr lang="en-US" sz="1000" dirty="0"/>
          </a:p>
        </p:txBody>
      </p:sp>
      <p:sp>
        <p:nvSpPr>
          <p:cNvPr id="9" name="card-388"/>
          <p:cNvSpPr/>
          <p:nvPr/>
        </p:nvSpPr>
        <p:spPr>
          <a:xfrm>
            <a:off x="3355848" y="1691640"/>
            <a:ext cx="2670048" cy="1600200"/>
          </a:xfrm>
          <a:prstGeom prst="roundRect">
            <a:avLst>
              <a:gd name="adj" fmla="val 4571"/>
            </a:avLst>
          </a:prstGeom>
          <a:solidFill>
            <a:schemeClr val="bg2"/>
          </a:solidFill>
          <a:ln w="12700">
            <a:solidFill>
              <a:schemeClr val="bg2"/>
            </a:solidFill>
            <a:prstDash val="solid"/>
          </a:ln>
        </p:spPr>
      </p:sp>
      <p:sp>
        <p:nvSpPr>
          <p:cNvPr id="10" name="text-389"/>
          <p:cNvSpPr txBox="1"/>
          <p:nvPr/>
        </p:nvSpPr>
        <p:spPr>
          <a:xfrm>
            <a:off x="3538728" y="1783080"/>
            <a:ext cx="2377440" cy="502920"/>
          </a:xfrm>
          <a:prstGeom prst="rect">
            <a:avLst/>
          </a:prstGeom>
          <a:noFill/>
          <a:ln/>
        </p:spPr>
        <p:txBody>
          <a:bodyPr wrap="square" lIns="0" tIns="0" rIns="0" bIns="0" rtlCol="0" anchor="t"/>
          <a:lstStyle/>
          <a:p>
            <a:pPr indent="0" marL="0">
              <a:buNone/>
            </a:pPr>
            <a:r>
              <a:rPr lang="en-US" sz="2400" b="1" dirty="0">
                <a:solidFill>
                  <a:srgbClr val="5B3A8A"/>
                </a:solidFill>
                <a:latin typeface="Cambria" pitchFamily="34" charset="0"/>
                <a:ea typeface="Cambria" pitchFamily="34" charset="-122"/>
                <a:cs typeface="Cambria" pitchFamily="34" charset="-120"/>
              </a:rPr>
              <a:t>Priority</a:t>
            </a:r>
            <a:endParaRPr lang="en-US" sz="2400" dirty="0"/>
          </a:p>
        </p:txBody>
      </p:sp>
      <p:sp>
        <p:nvSpPr>
          <p:cNvPr id="11" name="text-390"/>
          <p:cNvSpPr txBox="1"/>
          <p:nvPr/>
        </p:nvSpPr>
        <p:spPr>
          <a:xfrm>
            <a:off x="3538728" y="2286000"/>
            <a:ext cx="2377440" cy="68580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L'Oréal named quick commerce a focus for India growth</a:t>
            </a:r>
            <a:endParaRPr lang="en-US" sz="1200" dirty="0"/>
          </a:p>
        </p:txBody>
      </p:sp>
      <p:sp>
        <p:nvSpPr>
          <p:cNvPr id="12" name="text-391"/>
          <p:cNvSpPr txBox="1"/>
          <p:nvPr/>
        </p:nvSpPr>
        <p:spPr>
          <a:xfrm>
            <a:off x="3538728" y="2990088"/>
            <a:ext cx="2377440" cy="256032"/>
          </a:xfrm>
          <a:prstGeom prst="rect">
            <a:avLst/>
          </a:prstGeom>
          <a:noFill/>
          <a:ln/>
        </p:spPr>
        <p:txBody>
          <a:bodyPr wrap="square" lIns="0" tIns="0" rIns="0" bIns="0" rtlCol="0" anchor="t"/>
          <a:lstStyle/>
          <a:p>
            <a:pPr indent="0" marL="0">
              <a:buNone/>
            </a:pPr>
            <a:r>
              <a:rPr lang="en-US" sz="1000" dirty="0">
                <a:solidFill>
                  <a:schemeClr val="tx2"/>
                </a:solidFill>
                <a:latin typeface="Calibri" pitchFamily="34" charset="0"/>
                <a:ea typeface="Calibri" pitchFamily="34" charset="-122"/>
                <a:cs typeface="Calibri" pitchFamily="34" charset="-120"/>
              </a:rPr>
              <a:t>Business Standard, Oct 2026</a:t>
            </a:r>
            <a:endParaRPr lang="en-US" sz="1000" dirty="0"/>
          </a:p>
        </p:txBody>
      </p:sp>
      <p:sp>
        <p:nvSpPr>
          <p:cNvPr id="13" name="card-392"/>
          <p:cNvSpPr/>
          <p:nvPr/>
        </p:nvSpPr>
        <p:spPr>
          <a:xfrm>
            <a:off x="6163056" y="1691640"/>
            <a:ext cx="2670048" cy="1600200"/>
          </a:xfrm>
          <a:prstGeom prst="roundRect">
            <a:avLst>
              <a:gd name="adj" fmla="val 4571"/>
            </a:avLst>
          </a:prstGeom>
          <a:solidFill>
            <a:schemeClr val="bg2"/>
          </a:solidFill>
          <a:ln w="12700">
            <a:solidFill>
              <a:schemeClr val="bg2"/>
            </a:solidFill>
            <a:prstDash val="solid"/>
          </a:ln>
        </p:spPr>
      </p:sp>
      <p:sp>
        <p:nvSpPr>
          <p:cNvPr id="14" name="text-393"/>
          <p:cNvSpPr txBox="1"/>
          <p:nvPr/>
        </p:nvSpPr>
        <p:spPr>
          <a:xfrm>
            <a:off x="6345936" y="1783080"/>
            <a:ext cx="2377440" cy="502920"/>
          </a:xfrm>
          <a:prstGeom prst="rect">
            <a:avLst/>
          </a:prstGeom>
          <a:noFill/>
          <a:ln/>
        </p:spPr>
        <p:txBody>
          <a:bodyPr wrap="square" lIns="0" tIns="0" rIns="0" bIns="0" rtlCol="0" anchor="t"/>
          <a:lstStyle/>
          <a:p>
            <a:pPr indent="0" marL="0">
              <a:buNone/>
            </a:pPr>
            <a:r>
              <a:rPr lang="en-US" sz="2400" b="1" dirty="0">
                <a:solidFill>
                  <a:srgbClr val="5B3A8A"/>
                </a:solidFill>
                <a:latin typeface="Calibri" pitchFamily="34" charset="0"/>
                <a:ea typeface="Calibri" pitchFamily="34" charset="-122"/>
                <a:cs typeface="Calibri" pitchFamily="34" charset="-120"/>
              </a:rPr>
              <a:t>30 → 21 days</a:t>
            </a:r>
            <a:endParaRPr lang="en-US" sz="2400" dirty="0"/>
          </a:p>
        </p:txBody>
      </p:sp>
      <p:sp>
        <p:nvSpPr>
          <p:cNvPr id="15" name="text-394"/>
          <p:cNvSpPr txBox="1"/>
          <p:nvPr/>
        </p:nvSpPr>
        <p:spPr>
          <a:xfrm>
            <a:off x="6345936" y="2286000"/>
            <a:ext cx="2377440" cy="68580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distributor stock cut at Dabur after demand moved channels</a:t>
            </a:r>
            <a:endParaRPr lang="en-US" sz="1200" dirty="0"/>
          </a:p>
        </p:txBody>
      </p:sp>
      <p:sp>
        <p:nvSpPr>
          <p:cNvPr id="16" name="text-395"/>
          <p:cNvSpPr txBox="1"/>
          <p:nvPr/>
        </p:nvSpPr>
        <p:spPr>
          <a:xfrm>
            <a:off x="6345936" y="2990088"/>
            <a:ext cx="2377440" cy="256032"/>
          </a:xfrm>
          <a:prstGeom prst="rect">
            <a:avLst/>
          </a:prstGeom>
          <a:noFill/>
          <a:ln/>
        </p:spPr>
        <p:txBody>
          <a:bodyPr wrap="square" lIns="0" tIns="0" rIns="0" bIns="0" rtlCol="0" anchor="t"/>
          <a:lstStyle/>
          <a:p>
            <a:pPr indent="0" marL="0">
              <a:buNone/>
            </a:pPr>
            <a:r>
              <a:rPr lang="en-US" sz="1000" dirty="0">
                <a:solidFill>
                  <a:schemeClr val="tx2"/>
                </a:solidFill>
                <a:latin typeface="Calibri" pitchFamily="34" charset="0"/>
                <a:ea typeface="Calibri" pitchFamily="34" charset="-122"/>
                <a:cs typeface="Calibri" pitchFamily="34" charset="-120"/>
              </a:rPr>
              <a:t>Brokerage notes, Oct 2024</a:t>
            </a:r>
            <a:endParaRPr lang="en-US" sz="1000" dirty="0"/>
          </a:p>
        </p:txBody>
      </p:sp>
      <p:sp>
        <p:nvSpPr>
          <p:cNvPr id="17" name="card-396"/>
          <p:cNvSpPr/>
          <p:nvPr/>
        </p:nvSpPr>
        <p:spPr>
          <a:xfrm>
            <a:off x="8970264" y="1691640"/>
            <a:ext cx="2670048" cy="1600200"/>
          </a:xfrm>
          <a:prstGeom prst="roundRect">
            <a:avLst>
              <a:gd name="adj" fmla="val 4571"/>
            </a:avLst>
          </a:prstGeom>
          <a:solidFill>
            <a:schemeClr val="bg2"/>
          </a:solidFill>
          <a:ln w="12700">
            <a:solidFill>
              <a:schemeClr val="bg2"/>
            </a:solidFill>
            <a:prstDash val="solid"/>
          </a:ln>
        </p:spPr>
      </p:sp>
      <p:sp>
        <p:nvSpPr>
          <p:cNvPr id="18" name="text-397"/>
          <p:cNvSpPr txBox="1"/>
          <p:nvPr/>
        </p:nvSpPr>
        <p:spPr>
          <a:xfrm>
            <a:off x="9153144" y="1783080"/>
            <a:ext cx="2377440" cy="502920"/>
          </a:xfrm>
          <a:prstGeom prst="rect">
            <a:avLst/>
          </a:prstGeom>
          <a:noFill/>
          <a:ln/>
        </p:spPr>
        <p:txBody>
          <a:bodyPr wrap="square" lIns="0" tIns="0" rIns="0" bIns="0" rtlCol="0" anchor="t"/>
          <a:lstStyle/>
          <a:p>
            <a:pPr indent="0" marL="0">
              <a:buNone/>
            </a:pPr>
            <a:r>
              <a:rPr lang="en-US" sz="2400" b="1" dirty="0">
                <a:solidFill>
                  <a:srgbClr val="5B3A8A"/>
                </a:solidFill>
                <a:latin typeface="Cambria" pitchFamily="34" charset="0"/>
                <a:ea typeface="Cambria" pitchFamily="34" charset="-122"/>
                <a:cs typeface="Cambria" pitchFamily="34" charset="-120"/>
              </a:rPr>
              <a:t>Dumping</a:t>
            </a:r>
            <a:endParaRPr lang="en-US" sz="2400" dirty="0"/>
          </a:p>
        </p:txBody>
      </p:sp>
      <p:sp>
        <p:nvSpPr>
          <p:cNvPr id="19" name="text-398"/>
          <p:cNvSpPr txBox="1"/>
          <p:nvPr/>
        </p:nvSpPr>
        <p:spPr>
          <a:xfrm>
            <a:off x="9153144" y="2286000"/>
            <a:ext cx="2377440" cy="68580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distributors allege near-expiry stock is offloaded on quick commerce at deep discounts</a:t>
            </a:r>
            <a:endParaRPr lang="en-US" sz="1200" dirty="0"/>
          </a:p>
        </p:txBody>
      </p:sp>
      <p:sp>
        <p:nvSpPr>
          <p:cNvPr id="20" name="text-399"/>
          <p:cNvSpPr txBox="1"/>
          <p:nvPr/>
        </p:nvSpPr>
        <p:spPr>
          <a:xfrm>
            <a:off x="9153144" y="2990088"/>
            <a:ext cx="2377440" cy="256032"/>
          </a:xfrm>
          <a:prstGeom prst="rect">
            <a:avLst/>
          </a:prstGeom>
          <a:noFill/>
          <a:ln/>
        </p:spPr>
        <p:txBody>
          <a:bodyPr wrap="square" lIns="0" tIns="0" rIns="0" bIns="0" rtlCol="0" anchor="t"/>
          <a:lstStyle/>
          <a:p>
            <a:pPr indent="0" marL="0">
              <a:buNone/>
            </a:pPr>
            <a:r>
              <a:rPr lang="en-US" sz="1000" dirty="0">
                <a:solidFill>
                  <a:schemeClr val="tx2"/>
                </a:solidFill>
                <a:latin typeface="Calibri" pitchFamily="34" charset="0"/>
                <a:ea typeface="Calibri" pitchFamily="34" charset="-122"/>
                <a:cs typeface="Calibri" pitchFamily="34" charset="-120"/>
              </a:rPr>
              <a:t>AICPDF, Nov 2024</a:t>
            </a:r>
            <a:endParaRPr lang="en-US" sz="1000" dirty="0"/>
          </a:p>
        </p:txBody>
      </p:sp>
      <p:sp>
        <p:nvSpPr>
          <p:cNvPr id="21" name="text-400"/>
          <p:cNvSpPr txBox="1"/>
          <p:nvPr/>
        </p:nvSpPr>
        <p:spPr>
          <a:xfrm>
            <a:off x="548640" y="3520440"/>
            <a:ext cx="4572000" cy="274320"/>
          </a:xfrm>
          <a:prstGeom prst="rect">
            <a:avLst/>
          </a:prstGeom>
          <a:noFill/>
          <a:ln/>
        </p:spPr>
        <p:txBody>
          <a:bodyPr wrap="square" lIns="0" tIns="0" rIns="0" bIns="0" rtlCol="0" anchor="t"/>
          <a:lstStyle/>
          <a:p>
            <a:pPr indent="0" marL="0">
              <a:buNone/>
            </a:pPr>
            <a:r>
              <a:rPr lang="en-US" sz="1100" b="1" spc="200" kern="0" dirty="0">
                <a:solidFill>
                  <a:schemeClr val="tx2"/>
                </a:solidFill>
                <a:latin typeface="Calibri" pitchFamily="34" charset="0"/>
                <a:ea typeface="Calibri" pitchFamily="34" charset="-122"/>
                <a:cs typeface="Calibri" pitchFamily="34" charset="-120"/>
              </a:rPr>
              <a:t>OUR APPROACH</a:t>
            </a:r>
            <a:endParaRPr lang="en-US" sz="1100" dirty="0"/>
          </a:p>
        </p:txBody>
      </p:sp>
      <p:sp>
        <p:nvSpPr>
          <p:cNvPr id="22" name="icon-circle-401"/>
          <p:cNvSpPr/>
          <p:nvPr/>
        </p:nvSpPr>
        <p:spPr>
          <a:xfrm>
            <a:off x="548640" y="3840480"/>
            <a:ext cx="457200" cy="457200"/>
          </a:xfrm>
          <a:prstGeom prst="ellipse">
            <a:avLst/>
          </a:prstGeom>
          <a:solidFill>
            <a:srgbClr val="5B3A8A"/>
          </a:solidFill>
          <a:ln w="12700">
            <a:solidFill>
              <a:srgbClr val="5B3A8A"/>
            </a:solidFill>
            <a:prstDash val="solid"/>
          </a:ln>
        </p:spPr>
      </p:sp>
      <p:pic>
        <p:nvPicPr>
          <p:cNvPr id="23" name="icon-402" descr="preencoded.png">    </p:cNvPr>
          <p:cNvPicPr>
            <a:picLocks noChangeAspect="1"/>
          </p:cNvPicPr>
          <p:nvPr/>
        </p:nvPicPr>
        <p:blipFill>
          <a:blip r:embed="rId1"/>
          <a:stretch>
            <a:fillRect/>
          </a:stretch>
        </p:blipFill>
        <p:spPr>
          <a:xfrm>
            <a:off x="662940" y="3954780"/>
            <a:ext cx="228600" cy="228600"/>
          </a:xfrm>
          <a:prstGeom prst="rect">
            <a:avLst/>
          </a:prstGeom>
        </p:spPr>
      </p:pic>
      <p:sp>
        <p:nvSpPr>
          <p:cNvPr id="24" name="text-403"/>
          <p:cNvSpPr txBox="1"/>
          <p:nvPr/>
        </p:nvSpPr>
        <p:spPr>
          <a:xfrm>
            <a:off x="1143000" y="3840480"/>
            <a:ext cx="1005840" cy="45720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Detect</a:t>
            </a:r>
            <a:endParaRPr lang="en-US" sz="1400" dirty="0"/>
          </a:p>
        </p:txBody>
      </p:sp>
      <p:sp>
        <p:nvSpPr>
          <p:cNvPr id="25" name="text-404"/>
          <p:cNvSpPr txBox="1"/>
          <p:nvPr/>
        </p:nvSpPr>
        <p:spPr>
          <a:xfrm>
            <a:off x="2148840" y="3840480"/>
            <a:ext cx="4069080" cy="54864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Outlet sell-out −20%+ in 3 months while the brand grows 20%+ online, or the rep's signal</a:t>
            </a:r>
            <a:endParaRPr lang="en-US" sz="1200" dirty="0"/>
          </a:p>
        </p:txBody>
      </p:sp>
      <p:sp>
        <p:nvSpPr>
          <p:cNvPr id="26" name="icon-circle-405"/>
          <p:cNvSpPr/>
          <p:nvPr/>
        </p:nvSpPr>
        <p:spPr>
          <a:xfrm>
            <a:off x="548640" y="4443984"/>
            <a:ext cx="457200" cy="457200"/>
          </a:xfrm>
          <a:prstGeom prst="ellipse">
            <a:avLst/>
          </a:prstGeom>
          <a:solidFill>
            <a:srgbClr val="5B3A8A"/>
          </a:solidFill>
          <a:ln w="12700">
            <a:solidFill>
              <a:srgbClr val="5B3A8A"/>
            </a:solidFill>
            <a:prstDash val="solid"/>
          </a:ln>
        </p:spPr>
      </p:sp>
      <p:pic>
        <p:nvPicPr>
          <p:cNvPr id="27" name="icon-406" descr="preencoded.png">    </p:cNvPr>
          <p:cNvPicPr>
            <a:picLocks noChangeAspect="1"/>
          </p:cNvPicPr>
          <p:nvPr/>
        </p:nvPicPr>
        <p:blipFill>
          <a:blip r:embed="rId2"/>
          <a:stretch>
            <a:fillRect/>
          </a:stretch>
        </p:blipFill>
        <p:spPr>
          <a:xfrm>
            <a:off x="662940" y="4558284"/>
            <a:ext cx="228600" cy="228600"/>
          </a:xfrm>
          <a:prstGeom prst="rect">
            <a:avLst/>
          </a:prstGeom>
        </p:spPr>
      </p:pic>
      <p:sp>
        <p:nvSpPr>
          <p:cNvPr id="28" name="text-407"/>
          <p:cNvSpPr txBox="1"/>
          <p:nvPr/>
        </p:nvSpPr>
        <p:spPr>
          <a:xfrm>
            <a:off x="1143000" y="4443984"/>
            <a:ext cx="1005840" cy="45720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Resize</a:t>
            </a:r>
            <a:endParaRPr lang="en-US" sz="1400" dirty="0"/>
          </a:p>
        </p:txBody>
      </p:sp>
      <p:sp>
        <p:nvSpPr>
          <p:cNvPr id="29" name="text-408"/>
          <p:cNvSpPr txBox="1"/>
          <p:nvPr/>
        </p:nvSpPr>
        <p:spPr>
          <a:xfrm>
            <a:off x="2148840" y="4443984"/>
            <a:ext cx="4069080" cy="54864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Order guardrail uses a 21-day cover norm, not 30: stop loading general trade</a:t>
            </a:r>
            <a:endParaRPr lang="en-US" sz="1200" dirty="0"/>
          </a:p>
        </p:txBody>
      </p:sp>
      <p:sp>
        <p:nvSpPr>
          <p:cNvPr id="30" name="icon-circle-409"/>
          <p:cNvSpPr/>
          <p:nvPr/>
        </p:nvSpPr>
        <p:spPr>
          <a:xfrm>
            <a:off x="548640" y="5047488"/>
            <a:ext cx="457200" cy="457200"/>
          </a:xfrm>
          <a:prstGeom prst="ellipse">
            <a:avLst/>
          </a:prstGeom>
          <a:solidFill>
            <a:srgbClr val="5B3A8A"/>
          </a:solidFill>
          <a:ln w="12700">
            <a:solidFill>
              <a:srgbClr val="5B3A8A"/>
            </a:solidFill>
            <a:prstDash val="solid"/>
          </a:ln>
        </p:spPr>
      </p:sp>
      <p:pic>
        <p:nvPicPr>
          <p:cNvPr id="31" name="icon-410" descr="preencoded.png">    </p:cNvPr>
          <p:cNvPicPr>
            <a:picLocks noChangeAspect="1"/>
          </p:cNvPicPr>
          <p:nvPr/>
        </p:nvPicPr>
        <p:blipFill>
          <a:blip r:embed="rId3"/>
          <a:stretch>
            <a:fillRect/>
          </a:stretch>
        </p:blipFill>
        <p:spPr>
          <a:xfrm>
            <a:off x="662940" y="5161788"/>
            <a:ext cx="228600" cy="228600"/>
          </a:xfrm>
          <a:prstGeom prst="rect">
            <a:avLst/>
          </a:prstGeom>
        </p:spPr>
      </p:pic>
      <p:sp>
        <p:nvSpPr>
          <p:cNvPr id="32" name="text-411"/>
          <p:cNvSpPr txBox="1"/>
          <p:nvPr/>
        </p:nvSpPr>
        <p:spPr>
          <a:xfrm>
            <a:off x="1143000" y="5047488"/>
            <a:ext cx="1005840" cy="45720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Hand off</a:t>
            </a:r>
            <a:endParaRPr lang="en-US" sz="1400" dirty="0"/>
          </a:p>
        </p:txBody>
      </p:sp>
      <p:sp>
        <p:nvSpPr>
          <p:cNvPr id="33" name="text-412"/>
          <p:cNvSpPr txBox="1"/>
          <p:nvPr/>
        </p:nvSpPr>
        <p:spPr>
          <a:xfrm>
            <a:off x="2148840" y="5047488"/>
            <a:ext cx="4069080" cy="54864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Flag to the quick-commerce KAM and demand planning: move allocation online</a:t>
            </a:r>
            <a:endParaRPr lang="en-US" sz="1200" dirty="0"/>
          </a:p>
        </p:txBody>
      </p:sp>
      <p:sp>
        <p:nvSpPr>
          <p:cNvPr id="34" name="icon-circle-413"/>
          <p:cNvSpPr/>
          <p:nvPr/>
        </p:nvSpPr>
        <p:spPr>
          <a:xfrm>
            <a:off x="548640" y="5650992"/>
            <a:ext cx="457200" cy="457200"/>
          </a:xfrm>
          <a:prstGeom prst="ellipse">
            <a:avLst/>
          </a:prstGeom>
          <a:solidFill>
            <a:srgbClr val="5B3A8A"/>
          </a:solidFill>
          <a:ln w="12700">
            <a:solidFill>
              <a:srgbClr val="5B3A8A"/>
            </a:solidFill>
            <a:prstDash val="solid"/>
          </a:ln>
        </p:spPr>
      </p:sp>
      <p:pic>
        <p:nvPicPr>
          <p:cNvPr id="35" name="icon-414" descr="preencoded.png">    </p:cNvPr>
          <p:cNvPicPr>
            <a:picLocks noChangeAspect="1"/>
          </p:cNvPicPr>
          <p:nvPr/>
        </p:nvPicPr>
        <p:blipFill>
          <a:blip r:embed="rId4"/>
          <a:stretch>
            <a:fillRect/>
          </a:stretch>
        </p:blipFill>
        <p:spPr>
          <a:xfrm>
            <a:off x="662940" y="5765292"/>
            <a:ext cx="228600" cy="228600"/>
          </a:xfrm>
          <a:prstGeom prst="rect">
            <a:avLst/>
          </a:prstGeom>
        </p:spPr>
      </p:pic>
      <p:sp>
        <p:nvSpPr>
          <p:cNvPr id="36" name="text-415"/>
          <p:cNvSpPr txBox="1"/>
          <p:nvPr/>
        </p:nvSpPr>
        <p:spPr>
          <a:xfrm>
            <a:off x="1143000" y="5650992"/>
            <a:ext cx="1005840" cy="45720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Route</a:t>
            </a:r>
            <a:endParaRPr lang="en-US" sz="1400" dirty="0"/>
          </a:p>
        </p:txBody>
      </p:sp>
      <p:sp>
        <p:nvSpPr>
          <p:cNvPr id="37" name="text-416"/>
          <p:cNvSpPr txBox="1"/>
          <p:nvPr/>
        </p:nvSpPr>
        <p:spPr>
          <a:xfrm>
            <a:off x="2148840" y="5650992"/>
            <a:ext cx="4069080" cy="54864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Fresh stock follows demand online; ageing stock is rebalanced within general trade, never dumped</a:t>
            </a:r>
            <a:endParaRPr lang="en-US" sz="1200" dirty="0"/>
          </a:p>
        </p:txBody>
      </p:sp>
      <p:sp>
        <p:nvSpPr>
          <p:cNvPr id="38" name="shot-frame-417"/>
          <p:cNvSpPr/>
          <p:nvPr/>
        </p:nvSpPr>
        <p:spPr>
          <a:xfrm>
            <a:off x="6153912" y="3822192"/>
            <a:ext cx="5504688" cy="1928543"/>
          </a:xfrm>
          <a:prstGeom prst="rect">
            <a:avLst/>
          </a:prstGeom>
          <a:solidFill>
            <a:srgbClr val="E4DDD6"/>
          </a:solidFill>
          <a:ln w="12700">
            <a:solidFill>
              <a:srgbClr val="E4DDD6"/>
            </a:solidFill>
            <a:prstDash val="solid"/>
          </a:ln>
          <a:effectLst>
            <a:outerShdw sx="100000" sy="100000" kx="0" ky="0" algn="bl" rotWithShape="0" blurRad="76200" dist="25400" dir="5400000">
              <a:srgbClr val="000000">
                <a:alpha val="12000"/>
              </a:srgbClr>
            </a:outerShdw>
          </a:effectLst>
        </p:spPr>
      </p:sp>
      <p:pic>
        <p:nvPicPr>
          <p:cNvPr id="39" name="screenshot-418" descr="Manager channel-shift card">    </p:cNvPr>
          <p:cNvPicPr>
            <a:picLocks noChangeAspect="1"/>
          </p:cNvPicPr>
          <p:nvPr/>
        </p:nvPicPr>
        <p:blipFill>
          <a:blip r:embed="rId5"/>
          <a:stretch>
            <a:fillRect/>
          </a:stretch>
        </p:blipFill>
        <p:spPr>
          <a:xfrm>
            <a:off x="6172200" y="3840480"/>
            <a:ext cx="5468112" cy="1891967"/>
          </a:xfrm>
          <a:prstGeom prst="rect">
            <a:avLst/>
          </a:prstGeom>
        </p:spPr>
      </p:pic>
      <p:sp>
        <p:nvSpPr>
          <p:cNvPr id="40" name="text-419"/>
          <p:cNvSpPr txBox="1"/>
          <p:nvPr/>
        </p:nvSpPr>
        <p:spPr>
          <a:xfrm>
            <a:off x="6172200" y="5806440"/>
            <a:ext cx="5468112" cy="411480"/>
          </a:xfrm>
          <a:prstGeom prst="rect">
            <a:avLst/>
          </a:prstGeom>
          <a:noFill/>
          <a:ln/>
        </p:spPr>
        <p:txBody>
          <a:bodyPr wrap="square" lIns="0" tIns="0" rIns="0" bIns="0" rtlCol="0" anchor="t"/>
          <a:lstStyle/>
          <a:p>
            <a:pPr indent="0" marL="0">
              <a:buNone/>
            </a:pPr>
            <a:r>
              <a:rPr lang="en-US" sz="1100" i="1" dirty="0">
                <a:solidFill>
                  <a:schemeClr val="tx2"/>
                </a:solidFill>
                <a:latin typeface="Calibri" pitchFamily="34" charset="0"/>
                <a:ea typeface="Calibri" pitchFamily="34" charset="-122"/>
                <a:cs typeface="Calibri" pitchFamily="34" charset="-120"/>
              </a:rPr>
              <a:t>In the app: 5 SKU-outlets shifting online; ₹23,160 of general-trade loading avoided against retailer asks (synthetic)</a:t>
            </a:r>
            <a:endParaRPr lang="en-US" sz="11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229600" cy="274320"/>
          </a:xfrm>
          <a:prstGeom prst="rect">
            <a:avLst/>
          </a:prstGeom>
          <a:noFill/>
          <a:ln/>
        </p:spPr>
        <p:txBody>
          <a:bodyPr wrap="square" lIns="0" tIns="0" rIns="0" bIns="0" rtlCol="0" anchor="t"/>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THE PRODUCT EXPERIENCE</a:t>
            </a:r>
            <a:endParaRPr lang="en-US" sz="1100" dirty="0"/>
          </a:p>
        </p:txBody>
      </p:sp>
      <p:sp>
        <p:nvSpPr>
          <p:cNvPr id="3" name="Text 0"/>
          <p:cNvSpPr/>
          <p:nvPr>
            <p:ph idx="101" type="title" hasCustomPrompt="1"/>
          </p:nvPr>
        </p:nvSpPr>
        <p:spPr>
          <a:xfrm>
            <a:off x="548640" y="566928"/>
            <a:ext cx="11064240" cy="96012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A working product, not a concept: the rep's visit end to end</a:t>
            </a:r>
            <a:endParaRPr lang="en-US" sz="3000" dirty="0"/>
          </a:p>
        </p:txBody>
      </p:sp>
      <p:sp>
        <p:nvSpPr>
          <p:cNvPr id="4" name="Text 0"/>
          <p:cNvSpPr/>
          <p:nvPr>
            <p:ph idx="102" type="body" hasCustomPrompt="1"/>
          </p:nvPr>
        </p:nvSpPr>
        <p:spPr>
          <a:xfrm>
            <a:off x="548640" y="6382512"/>
            <a:ext cx="9692640" cy="329184"/>
          </a:xfrm>
          <a:prstGeom prst="rect">
            <a:avLst/>
          </a:prstGeom>
          <a:noFill/>
          <a:ln/>
        </p:spPr>
        <p:txBody>
          <a:bodyPr wrap="square" lIns="0" tIns="0" rIns="0" bIns="0" rtlCol="0" anchor="t"/>
          <a:lstStyle/>
          <a:p>
            <a:pPr indent="0" marL="0">
              <a:buNone/>
            </a:pPr>
            <a:r>
              <a:rPr lang="en-US" sz="1000" dirty="0">
                <a:solidFill>
                  <a:schemeClr val="tx2"/>
                </a:solidFill>
                <a:latin typeface="Calibri" pitchFamily="34" charset="0"/>
                <a:ea typeface="Calibri" pitchFamily="34" charset="-122"/>
                <a:cs typeface="Calibri" pitchFamily="34" charset="-120"/>
              </a:rPr>
              <a:t>Genuine screenshots of the live prototype (synthetic data; fictional brands Lumea, Verdé, Chroma, DermaPure, Salon Pro, Maison Éclat). Not connected to any L'Oréal system.</a:t>
            </a:r>
            <a:endParaRPr lang="en-US" sz="1000" dirty="0"/>
          </a:p>
        </p:txBody>
      </p:sp>
      <p:sp>
        <p:nvSpPr>
          <p:cNvPr id="5" name="shot-frame-420"/>
          <p:cNvSpPr/>
          <p:nvPr/>
        </p:nvSpPr>
        <p:spPr>
          <a:xfrm>
            <a:off x="530352" y="1673352"/>
            <a:ext cx="2825496" cy="1779651"/>
          </a:xfrm>
          <a:prstGeom prst="rect">
            <a:avLst/>
          </a:prstGeom>
          <a:solidFill>
            <a:srgbClr val="E4DDD6"/>
          </a:solidFill>
          <a:ln w="12700">
            <a:solidFill>
              <a:srgbClr val="E4DDD6"/>
            </a:solidFill>
            <a:prstDash val="solid"/>
          </a:ln>
          <a:effectLst>
            <a:outerShdw sx="100000" sy="100000" kx="0" ky="0" algn="bl" rotWithShape="0" blurRad="76200" dist="25400" dir="5400000">
              <a:srgbClr val="000000">
                <a:alpha val="12000"/>
              </a:srgbClr>
            </a:outerShdw>
          </a:effectLst>
        </p:spPr>
      </p:sp>
      <p:pic>
        <p:nvPicPr>
          <p:cNvPr id="6" name="screenshot-421" descr="1  Today's beat">    </p:cNvPr>
          <p:cNvPicPr>
            <a:picLocks noChangeAspect="1"/>
          </p:cNvPicPr>
          <p:nvPr/>
        </p:nvPicPr>
        <p:blipFill>
          <a:blip r:embed="rId1"/>
          <a:stretch>
            <a:fillRect/>
          </a:stretch>
        </p:blipFill>
        <p:spPr>
          <a:xfrm>
            <a:off x="548640" y="1691640"/>
            <a:ext cx="2788920" cy="1743075"/>
          </a:xfrm>
          <a:prstGeom prst="rect">
            <a:avLst/>
          </a:prstGeom>
        </p:spPr>
      </p:pic>
      <p:sp>
        <p:nvSpPr>
          <p:cNvPr id="7" name="text-422"/>
          <p:cNvSpPr txBox="1"/>
          <p:nvPr/>
        </p:nvSpPr>
        <p:spPr>
          <a:xfrm>
            <a:off x="548640" y="3474720"/>
            <a:ext cx="2788920" cy="256032"/>
          </a:xfrm>
          <a:prstGeom prst="rect">
            <a:avLst/>
          </a:prstGeom>
          <a:noFill/>
          <a:ln/>
        </p:spPr>
        <p:txBody>
          <a:bodyPr wrap="square" lIns="0" tIns="0" rIns="0" bIns="0" rtlCol="0" anchor="t"/>
          <a:lstStyle/>
          <a:p>
            <a:pPr indent="0" marL="0">
              <a:buNone/>
            </a:pPr>
            <a:r>
              <a:rPr lang="en-US" sz="1300" b="1" dirty="0">
                <a:solidFill>
                  <a:schemeClr val="accent1"/>
                </a:solidFill>
                <a:latin typeface="Calibri" pitchFamily="34" charset="0"/>
                <a:ea typeface="Calibri" pitchFamily="34" charset="-122"/>
                <a:cs typeface="Calibri" pitchFamily="34" charset="-120"/>
              </a:rPr>
              <a:t>1  Today's beat</a:t>
            </a:r>
            <a:endParaRPr lang="en-US" sz="1300" dirty="0"/>
          </a:p>
        </p:txBody>
      </p:sp>
      <p:sp>
        <p:nvSpPr>
          <p:cNvPr id="8" name="text-423"/>
          <p:cNvSpPr txBox="1"/>
          <p:nvPr/>
        </p:nvSpPr>
        <p:spPr>
          <a:xfrm>
            <a:off x="548640" y="3712464"/>
            <a:ext cx="2788920" cy="228600"/>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Outlets ranked by ₹ at stake</a:t>
            </a:r>
            <a:endParaRPr lang="en-US" sz="1100" dirty="0"/>
          </a:p>
        </p:txBody>
      </p:sp>
      <p:sp>
        <p:nvSpPr>
          <p:cNvPr id="9" name="shot-frame-424"/>
          <p:cNvSpPr/>
          <p:nvPr/>
        </p:nvSpPr>
        <p:spPr>
          <a:xfrm>
            <a:off x="3593592" y="1673352"/>
            <a:ext cx="2825496" cy="1779651"/>
          </a:xfrm>
          <a:prstGeom prst="rect">
            <a:avLst/>
          </a:prstGeom>
          <a:solidFill>
            <a:srgbClr val="E4DDD6"/>
          </a:solidFill>
          <a:ln w="12700">
            <a:solidFill>
              <a:srgbClr val="E4DDD6"/>
            </a:solidFill>
            <a:prstDash val="solid"/>
          </a:ln>
          <a:effectLst>
            <a:outerShdw sx="100000" sy="100000" kx="0" ky="0" algn="bl" rotWithShape="0" blurRad="76200" dist="25400" dir="5400000">
              <a:srgbClr val="000000">
                <a:alpha val="12000"/>
              </a:srgbClr>
            </a:outerShdw>
          </a:effectLst>
        </p:spPr>
      </p:sp>
      <p:pic>
        <p:nvPicPr>
          <p:cNvPr id="10" name="screenshot-425" descr="2  Scan barcode &amp; batch">    </p:cNvPr>
          <p:cNvPicPr>
            <a:picLocks noChangeAspect="1"/>
          </p:cNvPicPr>
          <p:nvPr/>
        </p:nvPicPr>
        <p:blipFill>
          <a:blip r:embed="rId2"/>
          <a:stretch>
            <a:fillRect/>
          </a:stretch>
        </p:blipFill>
        <p:spPr>
          <a:xfrm>
            <a:off x="3611880" y="1691640"/>
            <a:ext cx="2788920" cy="1743075"/>
          </a:xfrm>
          <a:prstGeom prst="rect">
            <a:avLst/>
          </a:prstGeom>
        </p:spPr>
      </p:pic>
      <p:sp>
        <p:nvSpPr>
          <p:cNvPr id="11" name="text-426"/>
          <p:cNvSpPr txBox="1"/>
          <p:nvPr/>
        </p:nvSpPr>
        <p:spPr>
          <a:xfrm>
            <a:off x="3611880" y="3474720"/>
            <a:ext cx="2788920" cy="256032"/>
          </a:xfrm>
          <a:prstGeom prst="rect">
            <a:avLst/>
          </a:prstGeom>
          <a:noFill/>
          <a:ln/>
        </p:spPr>
        <p:txBody>
          <a:bodyPr wrap="square" lIns="0" tIns="0" rIns="0" bIns="0" rtlCol="0" anchor="t"/>
          <a:lstStyle/>
          <a:p>
            <a:pPr indent="0" marL="0">
              <a:buNone/>
            </a:pPr>
            <a:r>
              <a:rPr lang="en-US" sz="1300" b="1" dirty="0">
                <a:solidFill>
                  <a:schemeClr val="accent1"/>
                </a:solidFill>
                <a:latin typeface="Calibri" pitchFamily="34" charset="0"/>
                <a:ea typeface="Calibri" pitchFamily="34" charset="-122"/>
                <a:cs typeface="Calibri" pitchFamily="34" charset="-120"/>
              </a:rPr>
              <a:t>2  Scan barcode &amp; batch</a:t>
            </a:r>
            <a:endParaRPr lang="en-US" sz="1300" dirty="0"/>
          </a:p>
        </p:txBody>
      </p:sp>
      <p:sp>
        <p:nvSpPr>
          <p:cNvPr id="12" name="text-427"/>
          <p:cNvSpPr txBox="1"/>
          <p:nvPr/>
        </p:nvSpPr>
        <p:spPr>
          <a:xfrm>
            <a:off x="3611880" y="3712464"/>
            <a:ext cx="2788920" cy="228600"/>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Smart Count with 12 signals</a:t>
            </a:r>
            <a:endParaRPr lang="en-US" sz="1100" dirty="0"/>
          </a:p>
        </p:txBody>
      </p:sp>
      <p:sp>
        <p:nvSpPr>
          <p:cNvPr id="13" name="shot-frame-428"/>
          <p:cNvSpPr/>
          <p:nvPr/>
        </p:nvSpPr>
        <p:spPr>
          <a:xfrm>
            <a:off x="6656832" y="1673352"/>
            <a:ext cx="2825496" cy="1779651"/>
          </a:xfrm>
          <a:prstGeom prst="rect">
            <a:avLst/>
          </a:prstGeom>
          <a:solidFill>
            <a:srgbClr val="E4DDD6"/>
          </a:solidFill>
          <a:ln w="12700">
            <a:solidFill>
              <a:srgbClr val="E4DDD6"/>
            </a:solidFill>
            <a:prstDash val="solid"/>
          </a:ln>
          <a:effectLst>
            <a:outerShdw sx="100000" sy="100000" kx="0" ky="0" algn="bl" rotWithShape="0" blurRad="76200" dist="25400" dir="5400000">
              <a:srgbClr val="000000">
                <a:alpha val="12000"/>
              </a:srgbClr>
            </a:outerShdw>
          </a:effectLst>
        </p:spPr>
      </p:sp>
      <p:pic>
        <p:nvPicPr>
          <p:cNvPr id="14" name="screenshot-429" descr="3  Why it's flagged">    </p:cNvPr>
          <p:cNvPicPr>
            <a:picLocks noChangeAspect="1"/>
          </p:cNvPicPr>
          <p:nvPr/>
        </p:nvPicPr>
        <p:blipFill>
          <a:blip r:embed="rId3"/>
          <a:stretch>
            <a:fillRect/>
          </a:stretch>
        </p:blipFill>
        <p:spPr>
          <a:xfrm>
            <a:off x="6675120" y="1691640"/>
            <a:ext cx="2788920" cy="1743075"/>
          </a:xfrm>
          <a:prstGeom prst="rect">
            <a:avLst/>
          </a:prstGeom>
        </p:spPr>
      </p:pic>
      <p:sp>
        <p:nvSpPr>
          <p:cNvPr id="15" name="text-430"/>
          <p:cNvSpPr txBox="1"/>
          <p:nvPr/>
        </p:nvSpPr>
        <p:spPr>
          <a:xfrm>
            <a:off x="6675120" y="3474720"/>
            <a:ext cx="2788920" cy="256032"/>
          </a:xfrm>
          <a:prstGeom prst="rect">
            <a:avLst/>
          </a:prstGeom>
          <a:noFill/>
          <a:ln/>
        </p:spPr>
        <p:txBody>
          <a:bodyPr wrap="square" lIns="0" tIns="0" rIns="0" bIns="0" rtlCol="0" anchor="t"/>
          <a:lstStyle/>
          <a:p>
            <a:pPr indent="0" marL="0">
              <a:buNone/>
            </a:pPr>
            <a:r>
              <a:rPr lang="en-US" sz="1300" b="1" dirty="0">
                <a:solidFill>
                  <a:schemeClr val="accent1"/>
                </a:solidFill>
                <a:latin typeface="Calibri" pitchFamily="34" charset="0"/>
                <a:ea typeface="Calibri" pitchFamily="34" charset="-122"/>
                <a:cs typeface="Calibri" pitchFamily="34" charset="-120"/>
              </a:rPr>
              <a:t>3  Why it's flagged</a:t>
            </a:r>
            <a:endParaRPr lang="en-US" sz="1300" dirty="0"/>
          </a:p>
        </p:txBody>
      </p:sp>
      <p:sp>
        <p:nvSpPr>
          <p:cNvPr id="16" name="text-431"/>
          <p:cNvSpPr txBox="1"/>
          <p:nvPr/>
        </p:nvSpPr>
        <p:spPr>
          <a:xfrm>
            <a:off x="6675120" y="3712464"/>
            <a:ext cx="2788920" cy="228600"/>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Plain-English risk + FEFO view</a:t>
            </a:r>
            <a:endParaRPr lang="en-US" sz="1100" dirty="0"/>
          </a:p>
        </p:txBody>
      </p:sp>
      <p:sp>
        <p:nvSpPr>
          <p:cNvPr id="17" name="shot-frame-432"/>
          <p:cNvSpPr/>
          <p:nvPr/>
        </p:nvSpPr>
        <p:spPr>
          <a:xfrm>
            <a:off x="530352" y="4050792"/>
            <a:ext cx="2825496" cy="1779651"/>
          </a:xfrm>
          <a:prstGeom prst="rect">
            <a:avLst/>
          </a:prstGeom>
          <a:solidFill>
            <a:srgbClr val="E4DDD6"/>
          </a:solidFill>
          <a:ln w="12700">
            <a:solidFill>
              <a:srgbClr val="E4DDD6"/>
            </a:solidFill>
            <a:prstDash val="solid"/>
          </a:ln>
          <a:effectLst>
            <a:outerShdw sx="100000" sy="100000" kx="0" ky="0" algn="bl" rotWithShape="0" blurRad="76200" dist="25400" dir="5400000">
              <a:srgbClr val="000000">
                <a:alpha val="12000"/>
              </a:srgbClr>
            </a:outerShdw>
          </a:effectLst>
        </p:spPr>
      </p:sp>
      <p:pic>
        <p:nvPicPr>
          <p:cNvPr id="18" name="screenshot-433" descr="4  Recommended actions">    </p:cNvPr>
          <p:cNvPicPr>
            <a:picLocks noChangeAspect="1"/>
          </p:cNvPicPr>
          <p:nvPr/>
        </p:nvPicPr>
        <p:blipFill>
          <a:blip r:embed="rId4"/>
          <a:stretch>
            <a:fillRect/>
          </a:stretch>
        </p:blipFill>
        <p:spPr>
          <a:xfrm>
            <a:off x="548640" y="4069080"/>
            <a:ext cx="2788920" cy="1743075"/>
          </a:xfrm>
          <a:prstGeom prst="rect">
            <a:avLst/>
          </a:prstGeom>
        </p:spPr>
      </p:pic>
      <p:sp>
        <p:nvSpPr>
          <p:cNvPr id="19" name="text-434"/>
          <p:cNvSpPr txBox="1"/>
          <p:nvPr/>
        </p:nvSpPr>
        <p:spPr>
          <a:xfrm>
            <a:off x="548640" y="5852160"/>
            <a:ext cx="2788920" cy="256032"/>
          </a:xfrm>
          <a:prstGeom prst="rect">
            <a:avLst/>
          </a:prstGeom>
          <a:noFill/>
          <a:ln/>
        </p:spPr>
        <p:txBody>
          <a:bodyPr wrap="square" lIns="0" tIns="0" rIns="0" bIns="0" rtlCol="0" anchor="t"/>
          <a:lstStyle/>
          <a:p>
            <a:pPr indent="0" marL="0">
              <a:buNone/>
            </a:pPr>
            <a:r>
              <a:rPr lang="en-US" sz="1300" b="1" dirty="0">
                <a:solidFill>
                  <a:schemeClr val="accent1"/>
                </a:solidFill>
                <a:latin typeface="Calibri" pitchFamily="34" charset="0"/>
                <a:ea typeface="Calibri" pitchFamily="34" charset="-122"/>
                <a:cs typeface="Calibri" pitchFamily="34" charset="-120"/>
              </a:rPr>
              <a:t>4  Recommended actions</a:t>
            </a:r>
            <a:endParaRPr lang="en-US" sz="1300" dirty="0"/>
          </a:p>
        </p:txBody>
      </p:sp>
      <p:sp>
        <p:nvSpPr>
          <p:cNvPr id="20" name="text-435"/>
          <p:cNvSpPr txBox="1"/>
          <p:nvPr/>
        </p:nvSpPr>
        <p:spPr>
          <a:xfrm>
            <a:off x="548640" y="6089904"/>
            <a:ext cx="2788920" cy="228600"/>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Accept, modify or reject</a:t>
            </a:r>
            <a:endParaRPr lang="en-US" sz="1100" dirty="0"/>
          </a:p>
        </p:txBody>
      </p:sp>
      <p:sp>
        <p:nvSpPr>
          <p:cNvPr id="21" name="shot-frame-436"/>
          <p:cNvSpPr/>
          <p:nvPr/>
        </p:nvSpPr>
        <p:spPr>
          <a:xfrm>
            <a:off x="3593592" y="4050792"/>
            <a:ext cx="2825496" cy="1779651"/>
          </a:xfrm>
          <a:prstGeom prst="rect">
            <a:avLst/>
          </a:prstGeom>
          <a:solidFill>
            <a:srgbClr val="E4DDD6"/>
          </a:solidFill>
          <a:ln w="12700">
            <a:solidFill>
              <a:srgbClr val="E4DDD6"/>
            </a:solidFill>
            <a:prstDash val="solid"/>
          </a:ln>
          <a:effectLst>
            <a:outerShdw sx="100000" sy="100000" kx="0" ky="0" algn="bl" rotWithShape="0" blurRad="76200" dist="25400" dir="5400000">
              <a:srgbClr val="000000">
                <a:alpha val="12000"/>
              </a:srgbClr>
            </a:outerShdw>
          </a:effectLst>
        </p:spPr>
      </p:sp>
      <p:pic>
        <p:nvPicPr>
          <p:cNvPr id="22" name="screenshot-437" descr="5  Order guardrail">    </p:cNvPr>
          <p:cNvPicPr>
            <a:picLocks noChangeAspect="1"/>
          </p:cNvPicPr>
          <p:nvPr/>
        </p:nvPicPr>
        <p:blipFill>
          <a:blip r:embed="rId5"/>
          <a:stretch>
            <a:fillRect/>
          </a:stretch>
        </p:blipFill>
        <p:spPr>
          <a:xfrm>
            <a:off x="3611880" y="4069080"/>
            <a:ext cx="2788920" cy="1743075"/>
          </a:xfrm>
          <a:prstGeom prst="rect">
            <a:avLst/>
          </a:prstGeom>
        </p:spPr>
      </p:pic>
      <p:sp>
        <p:nvSpPr>
          <p:cNvPr id="23" name="text-438"/>
          <p:cNvSpPr txBox="1"/>
          <p:nvPr/>
        </p:nvSpPr>
        <p:spPr>
          <a:xfrm>
            <a:off x="3611880" y="5852160"/>
            <a:ext cx="2788920" cy="256032"/>
          </a:xfrm>
          <a:prstGeom prst="rect">
            <a:avLst/>
          </a:prstGeom>
          <a:noFill/>
          <a:ln/>
        </p:spPr>
        <p:txBody>
          <a:bodyPr wrap="square" lIns="0" tIns="0" rIns="0" bIns="0" rtlCol="0" anchor="t"/>
          <a:lstStyle/>
          <a:p>
            <a:pPr indent="0" marL="0">
              <a:buNone/>
            </a:pPr>
            <a:r>
              <a:rPr lang="en-US" sz="1300" b="1" dirty="0">
                <a:solidFill>
                  <a:schemeClr val="accent1"/>
                </a:solidFill>
                <a:latin typeface="Calibri" pitchFamily="34" charset="0"/>
                <a:ea typeface="Calibri" pitchFamily="34" charset="-122"/>
                <a:cs typeface="Calibri" pitchFamily="34" charset="-120"/>
              </a:rPr>
              <a:t>5  Order guardrail</a:t>
            </a:r>
            <a:endParaRPr lang="en-US" sz="1300" dirty="0"/>
          </a:p>
        </p:txBody>
      </p:sp>
      <p:sp>
        <p:nvSpPr>
          <p:cNvPr id="24" name="text-439"/>
          <p:cNvSpPr txBox="1"/>
          <p:nvPr/>
        </p:nvSpPr>
        <p:spPr>
          <a:xfrm>
            <a:off x="3611880" y="6089904"/>
            <a:ext cx="2788920" cy="228600"/>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Asked vs suggested, with reasons</a:t>
            </a:r>
            <a:endParaRPr lang="en-US" sz="1100" dirty="0"/>
          </a:p>
        </p:txBody>
      </p:sp>
      <p:sp>
        <p:nvSpPr>
          <p:cNvPr id="25" name="shot-frame-440"/>
          <p:cNvSpPr/>
          <p:nvPr/>
        </p:nvSpPr>
        <p:spPr>
          <a:xfrm>
            <a:off x="6656832" y="4050792"/>
            <a:ext cx="2825496" cy="1779651"/>
          </a:xfrm>
          <a:prstGeom prst="rect">
            <a:avLst/>
          </a:prstGeom>
          <a:solidFill>
            <a:srgbClr val="E4DDD6"/>
          </a:solidFill>
          <a:ln w="12700">
            <a:solidFill>
              <a:srgbClr val="E4DDD6"/>
            </a:solidFill>
            <a:prstDash val="solid"/>
          </a:ln>
          <a:effectLst>
            <a:outerShdw sx="100000" sy="100000" kx="0" ky="0" algn="bl" rotWithShape="0" blurRad="76200" dist="25400" dir="5400000">
              <a:srgbClr val="000000">
                <a:alpha val="12000"/>
              </a:srgbClr>
            </a:outerShdw>
          </a:effectLst>
        </p:spPr>
      </p:sp>
      <p:pic>
        <p:nvPicPr>
          <p:cNvPr id="26" name="screenshot-441" descr="6  ASM approvals">    </p:cNvPr>
          <p:cNvPicPr>
            <a:picLocks noChangeAspect="1"/>
          </p:cNvPicPr>
          <p:nvPr/>
        </p:nvPicPr>
        <p:blipFill>
          <a:blip r:embed="rId6"/>
          <a:stretch>
            <a:fillRect/>
          </a:stretch>
        </p:blipFill>
        <p:spPr>
          <a:xfrm>
            <a:off x="6675120" y="4069080"/>
            <a:ext cx="2788920" cy="1743075"/>
          </a:xfrm>
          <a:prstGeom prst="rect">
            <a:avLst/>
          </a:prstGeom>
        </p:spPr>
      </p:pic>
      <p:sp>
        <p:nvSpPr>
          <p:cNvPr id="27" name="text-442"/>
          <p:cNvSpPr txBox="1"/>
          <p:nvPr/>
        </p:nvSpPr>
        <p:spPr>
          <a:xfrm>
            <a:off x="6675120" y="5852160"/>
            <a:ext cx="2788920" cy="256032"/>
          </a:xfrm>
          <a:prstGeom prst="rect">
            <a:avLst/>
          </a:prstGeom>
          <a:noFill/>
          <a:ln/>
        </p:spPr>
        <p:txBody>
          <a:bodyPr wrap="square" lIns="0" tIns="0" rIns="0" bIns="0" rtlCol="0" anchor="t"/>
          <a:lstStyle/>
          <a:p>
            <a:pPr indent="0" marL="0">
              <a:buNone/>
            </a:pPr>
            <a:r>
              <a:rPr lang="en-US" sz="1300" b="1" dirty="0">
                <a:solidFill>
                  <a:schemeClr val="accent1"/>
                </a:solidFill>
                <a:latin typeface="Calibri" pitchFamily="34" charset="0"/>
                <a:ea typeface="Calibri" pitchFamily="34" charset="-122"/>
                <a:cs typeface="Calibri" pitchFamily="34" charset="-120"/>
              </a:rPr>
              <a:t>6  ASM approvals</a:t>
            </a:r>
            <a:endParaRPr lang="en-US" sz="1300" dirty="0"/>
          </a:p>
        </p:txBody>
      </p:sp>
      <p:sp>
        <p:nvSpPr>
          <p:cNvPr id="28" name="text-443"/>
          <p:cNvSpPr txBox="1"/>
          <p:nvPr/>
        </p:nvSpPr>
        <p:spPr>
          <a:xfrm>
            <a:off x="6675120" y="6089904"/>
            <a:ext cx="2788920" cy="228600"/>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Guardrail checks attached</a:t>
            </a:r>
            <a:endParaRPr lang="en-US" sz="1100" dirty="0"/>
          </a:p>
        </p:txBody>
      </p:sp>
      <p:sp>
        <p:nvSpPr>
          <p:cNvPr id="29" name="card-444"/>
          <p:cNvSpPr/>
          <p:nvPr/>
        </p:nvSpPr>
        <p:spPr>
          <a:xfrm>
            <a:off x="9738360" y="1691640"/>
            <a:ext cx="1901952" cy="4572000"/>
          </a:xfrm>
          <a:prstGeom prst="roundRect">
            <a:avLst>
              <a:gd name="adj" fmla="val 3846"/>
            </a:avLst>
          </a:prstGeom>
          <a:solidFill>
            <a:schemeClr val="bg2"/>
          </a:solidFill>
          <a:ln w="12700">
            <a:solidFill>
              <a:schemeClr val="bg2"/>
            </a:solidFill>
            <a:prstDash val="solid"/>
          </a:ln>
        </p:spPr>
      </p:sp>
      <p:sp>
        <p:nvSpPr>
          <p:cNvPr id="30" name="text-445"/>
          <p:cNvSpPr txBox="1"/>
          <p:nvPr/>
        </p:nvSpPr>
        <p:spPr>
          <a:xfrm>
            <a:off x="9875520" y="1828800"/>
            <a:ext cx="1645920" cy="320040"/>
          </a:xfrm>
          <a:prstGeom prst="rect">
            <a:avLst/>
          </a:prstGeom>
          <a:noFill/>
          <a:ln/>
        </p:spPr>
        <p:txBody>
          <a:bodyPr wrap="square" lIns="0" tIns="0" rIns="0" bIns="0" rtlCol="0" anchor="t"/>
          <a:lstStyle/>
          <a:p>
            <a:pPr algn="ctr" indent="0" marL="0">
              <a:buNone/>
            </a:pPr>
            <a:r>
              <a:rPr lang="en-US" sz="1500" b="1" dirty="0">
                <a:solidFill>
                  <a:schemeClr val="accent1"/>
                </a:solidFill>
                <a:latin typeface="Calibri" pitchFamily="34" charset="0"/>
                <a:ea typeface="Calibri" pitchFamily="34" charset="-122"/>
                <a:cs typeface="Calibri" pitchFamily="34" charset="-120"/>
              </a:rPr>
              <a:t>Try it yourself</a:t>
            </a:r>
            <a:endParaRPr lang="en-US" sz="1500" dirty="0"/>
          </a:p>
        </p:txBody>
      </p:sp>
      <p:pic>
        <p:nvPicPr>
          <p:cNvPr id="31" name="qr-446" descr="QR code to the live SMARTSELL prototype">    </p:cNvPr>
          <p:cNvPicPr>
            <a:picLocks noChangeAspect="1"/>
          </p:cNvPicPr>
          <p:nvPr/>
        </p:nvPicPr>
        <p:blipFill>
          <a:blip r:embed="rId7"/>
          <a:stretch>
            <a:fillRect/>
          </a:stretch>
        </p:blipFill>
        <p:spPr>
          <a:xfrm>
            <a:off x="9957816" y="2240280"/>
            <a:ext cx="1463040" cy="1463040"/>
          </a:xfrm>
          <a:prstGeom prst="rect">
            <a:avLst/>
          </a:prstGeom>
        </p:spPr>
      </p:pic>
      <p:sp>
        <p:nvSpPr>
          <p:cNvPr id="32" name="text-447"/>
          <p:cNvSpPr txBox="1"/>
          <p:nvPr/>
        </p:nvSpPr>
        <p:spPr>
          <a:xfrm>
            <a:off x="9829800" y="3794760"/>
            <a:ext cx="1719072" cy="457200"/>
          </a:xfrm>
          <a:prstGeom prst="rect">
            <a:avLst/>
          </a:prstGeom>
          <a:noFill/>
          <a:ln/>
        </p:spPr>
        <p:txBody>
          <a:bodyPr wrap="square" lIns="0" tIns="0" rIns="0" bIns="0" rtlCol="0" anchor="t"/>
          <a:lstStyle/>
          <a:p>
            <a:pPr algn="ctr" indent="0" marL="0">
              <a:buNone/>
            </a:pPr>
            <a:r>
              <a:rPr lang="en-US" sz="1100" b="1" u="sng" dirty="0">
                <a:solidFill>
                  <a:schemeClr val="accent1"/>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smartsell-loreal.vercel.app</a:t>
            </a:r>
            <a:endParaRPr lang="en-US" sz="1100" dirty="0"/>
          </a:p>
        </p:txBody>
      </p:sp>
      <p:sp>
        <p:nvSpPr>
          <p:cNvPr id="33" name="text-448"/>
          <p:cNvSpPr txBox="1"/>
          <p:nvPr/>
        </p:nvSpPr>
        <p:spPr>
          <a:xfrm>
            <a:off x="9875520" y="4343400"/>
            <a:ext cx="1673352" cy="1737360"/>
          </a:xfrm>
          <a:prstGeom prst="rect">
            <a:avLst/>
          </a:prstGeom>
          <a:noFill/>
          <a:ln/>
        </p:spPr>
        <p:txBody>
          <a:bodyPr wrap="square" lIns="0" tIns="0" rIns="0" bIns="0" rtlCol="0" anchor="t"/>
          <a:lstStyle/>
          <a:p>
            <a:pPr marL="177800" indent="-177800">
              <a:spcAft>
                <a:spcPts val="600"/>
              </a:spcAft>
              <a:buSzPct val="100000"/>
              <a:buChar char="•"/>
            </a:pPr>
            <a:r>
              <a:rPr lang="en-US" sz="1100" dirty="0">
                <a:solidFill>
                  <a:schemeClr val="tx1"/>
                </a:solidFill>
                <a:latin typeface="Calibri" pitchFamily="34" charset="0"/>
                <a:ea typeface="Calibri" pitchFamily="34" charset="-122"/>
                <a:cs typeface="Calibri" pitchFamily="34" charset="-120"/>
              </a:rPr>
              <a:t>Built-in 5-minute judge guide</a:t>
            </a:r>
            <a:endParaRPr lang="en-US" sz="1100" dirty="0"/>
          </a:p>
          <a:p>
            <a:pPr marL="177800" indent="-177800">
              <a:spcAft>
                <a:spcPts val="600"/>
              </a:spcAft>
              <a:buSzPct val="100000"/>
              <a:buChar char="•"/>
            </a:pPr>
            <a:r>
              <a:rPr lang="en-US" sz="1100" dirty="0">
                <a:solidFill>
                  <a:schemeClr val="tx1"/>
                </a:solidFill>
                <a:latin typeface="Calibri" pitchFamily="34" charset="0"/>
                <a:ea typeface="Calibri" pitchFamily="34" charset="-122"/>
                <a:cs typeface="Calibri" pitchFamily="34" charset="-120"/>
              </a:rPr>
              <a:t>Works on a phone</a:t>
            </a:r>
            <a:endParaRPr lang="en-US" sz="1100" dirty="0"/>
          </a:p>
          <a:p>
            <a:pPr marL="177800" indent="-177800">
              <a:spcAft>
                <a:spcPts val="600"/>
              </a:spcAft>
              <a:buSzPct val="100000"/>
              <a:buChar char="•"/>
            </a:pPr>
            <a:r>
              <a:rPr lang="en-US" sz="1100" dirty="0">
                <a:solidFill>
                  <a:schemeClr val="tx1"/>
                </a:solidFill>
                <a:latin typeface="Calibri" pitchFamily="34" charset="0"/>
                <a:ea typeface="Calibri" pitchFamily="34" charset="-122"/>
                <a:cs typeface="Calibri" pitchFamily="34" charset="-120"/>
              </a:rPr>
              <a:t>Reset anytime; your own copy of the data</a:t>
            </a:r>
            <a:endParaRPr lang="en-US" sz="11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229600" cy="274320"/>
          </a:xfrm>
          <a:prstGeom prst="rect">
            <a:avLst/>
          </a:prstGeom>
          <a:noFill/>
          <a:ln/>
        </p:spPr>
        <p:txBody>
          <a:bodyPr wrap="square" lIns="0" tIns="0" rIns="0" bIns="0" rtlCol="0" anchor="t"/>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THE LOOP CLOSES</a:t>
            </a:r>
            <a:endParaRPr lang="en-US" sz="1100" dirty="0"/>
          </a:p>
        </p:txBody>
      </p:sp>
      <p:sp>
        <p:nvSpPr>
          <p:cNvPr id="3" name="Text 0"/>
          <p:cNvSpPr/>
          <p:nvPr>
            <p:ph idx="101" type="title" hasCustomPrompt="1"/>
          </p:nvPr>
        </p:nvSpPr>
        <p:spPr>
          <a:xfrm>
            <a:off x="548640" y="566928"/>
            <a:ext cx="11064240" cy="96012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In simulation, the same stock produces half the returns and far fewer empty shelves</a:t>
            </a:r>
            <a:endParaRPr lang="en-US" sz="3000" dirty="0"/>
          </a:p>
        </p:txBody>
      </p:sp>
      <p:sp>
        <p:nvSpPr>
          <p:cNvPr id="4" name="Text 0"/>
          <p:cNvSpPr/>
          <p:nvPr>
            <p:ph idx="102" type="body" hasCustomPrompt="1"/>
          </p:nvPr>
        </p:nvSpPr>
        <p:spPr>
          <a:xfrm>
            <a:off x="548640" y="6382512"/>
            <a:ext cx="9692640" cy="329184"/>
          </a:xfrm>
          <a:prstGeom prst="rect">
            <a:avLst/>
          </a:prstGeom>
          <a:noFill/>
          <a:ln/>
        </p:spPr>
        <p:txBody>
          <a:bodyPr wrap="square" lIns="0" tIns="0" rIns="0" bIns="0" rtlCol="0" anchor="t"/>
          <a:lstStyle/>
          <a:p>
            <a:pPr indent="0" marL="0">
              <a:buNone/>
            </a:pPr>
            <a:r>
              <a:rPr lang="en-US" sz="1000" dirty="0">
                <a:solidFill>
                  <a:schemeClr val="tx2"/>
                </a:solidFill>
                <a:latin typeface="Calibri" pitchFamily="34" charset="0"/>
                <a:ea typeface="Calibri" pitchFamily="34" charset="-122"/>
                <a:cs typeface="Calibri" pitchFamily="34" charset="-120"/>
              </a:rPr>
              <a:t>Illustrative simulation in the prototype: synthetic Mumbai network (18 outlets, 3 distributors, 24 SKUs), 13 weeks, same starting stock, only the hero transfer accepted. Not a forecast of L'Oréal results.</a:t>
            </a:r>
            <a:endParaRPr lang="en-US" sz="1000" dirty="0"/>
          </a:p>
        </p:txBody>
      </p:sp>
      <p:graphicFrame>
        <p:nvGraphicFramePr>
          <p:cNvPr id="5" name="outcome-chart-449" descr=""/>
          <p:cNvGraphicFramePr/>
          <p:nvPr/>
        </p:nvGraphicFramePr>
        <p:xfrm>
          <a:off x="548640" y="1691640"/>
          <a:ext cx="5669280" cy="3291840"/>
        </p:xfrm>
        <a:graphic xmlns:a="http://schemas.openxmlformats.org/drawingml/2006/main">
          <a:graphicData uri="http://schemas.openxmlformats.org/drawingml/2006/chart">
            <c:chart xmlns:c="http://schemas.openxmlformats.org/drawingml/2006/chart" r:id="rId1"/>
          </a:graphicData>
        </a:graphic>
      </p:graphicFrame>
      <p:sp>
        <p:nvSpPr>
          <p:cNvPr id="6" name="text-450"/>
          <p:cNvSpPr txBox="1"/>
          <p:nvPr/>
        </p:nvSpPr>
        <p:spPr>
          <a:xfrm>
            <a:off x="548640" y="5166360"/>
            <a:ext cx="1828800" cy="457200"/>
          </a:xfrm>
          <a:prstGeom prst="rect">
            <a:avLst/>
          </a:prstGeom>
          <a:noFill/>
          <a:ln/>
        </p:spPr>
        <p:txBody>
          <a:bodyPr wrap="square" lIns="0" tIns="0" rIns="0" bIns="0" rtlCol="0" anchor="t"/>
          <a:lstStyle/>
          <a:p>
            <a:pPr indent="0" marL="0">
              <a:buNone/>
            </a:pPr>
            <a:r>
              <a:rPr lang="en-US" sz="2400" b="1" dirty="0">
                <a:solidFill>
                  <a:schemeClr val="accent3"/>
                </a:solidFill>
                <a:latin typeface="Cambria" pitchFamily="34" charset="0"/>
                <a:ea typeface="Cambria" pitchFamily="34" charset="-122"/>
                <a:cs typeface="Cambria" pitchFamily="34" charset="-120"/>
              </a:rPr>
              <a:t>0.9%</a:t>
            </a:r>
            <a:pPr indent="0" marL="0">
              <a:buNone/>
            </a:pPr>
            <a:r>
              <a:rPr lang="en-US" sz="1200" dirty="0">
                <a:solidFill>
                  <a:schemeClr val="tx2"/>
                </a:solidFill>
                <a:latin typeface="Calibri" pitchFamily="34" charset="0"/>
                <a:ea typeface="Calibri" pitchFamily="34" charset="-122"/>
                <a:cs typeface="Calibri" pitchFamily="34" charset="-120"/>
              </a:rPr>
              <a:t>  vs 1.6%</a:t>
            </a:r>
            <a:endParaRPr lang="en-US" sz="1400" dirty="0"/>
          </a:p>
        </p:txBody>
      </p:sp>
      <p:sp>
        <p:nvSpPr>
          <p:cNvPr id="7" name="text-451"/>
          <p:cNvSpPr txBox="1"/>
          <p:nvPr/>
        </p:nvSpPr>
        <p:spPr>
          <a:xfrm>
            <a:off x="548640" y="5623560"/>
            <a:ext cx="1783080" cy="548640"/>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returns as % of sell-out (case cap ≈1.5%)</a:t>
            </a:r>
            <a:endParaRPr lang="en-US" sz="1100" dirty="0"/>
          </a:p>
        </p:txBody>
      </p:sp>
      <p:sp>
        <p:nvSpPr>
          <p:cNvPr id="8" name="text-452"/>
          <p:cNvSpPr txBox="1"/>
          <p:nvPr/>
        </p:nvSpPr>
        <p:spPr>
          <a:xfrm>
            <a:off x="2468880" y="5166360"/>
            <a:ext cx="1828800" cy="457200"/>
          </a:xfrm>
          <a:prstGeom prst="rect">
            <a:avLst/>
          </a:prstGeom>
          <a:noFill/>
          <a:ln/>
        </p:spPr>
        <p:txBody>
          <a:bodyPr wrap="square" lIns="0" tIns="0" rIns="0" bIns="0" rtlCol="0" anchor="t"/>
          <a:lstStyle/>
          <a:p>
            <a:pPr indent="0" marL="0">
              <a:buNone/>
            </a:pPr>
            <a:r>
              <a:rPr lang="en-US" sz="2400" b="1" dirty="0">
                <a:solidFill>
                  <a:schemeClr val="accent3"/>
                </a:solidFill>
                <a:latin typeface="Cambria" pitchFamily="34" charset="0"/>
                <a:ea typeface="Cambria" pitchFamily="34" charset="-122"/>
                <a:cs typeface="Cambria" pitchFamily="34" charset="-120"/>
              </a:rPr>
              <a:t>−₹13,860</a:t>
            </a:r>
            <a:pPr indent="0" marL="0">
              <a:buNone/>
            </a:pPr>
            <a:endParaRPr lang="en-US" sz="1400" dirty="0"/>
          </a:p>
        </p:txBody>
      </p:sp>
      <p:sp>
        <p:nvSpPr>
          <p:cNvPr id="9" name="text-453"/>
          <p:cNvSpPr txBox="1"/>
          <p:nvPr/>
        </p:nvSpPr>
        <p:spPr>
          <a:xfrm>
            <a:off x="2468880" y="5623560"/>
            <a:ext cx="1783080" cy="548640"/>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expiry risk rescued by one transfer</a:t>
            </a:r>
            <a:endParaRPr lang="en-US" sz="1100" dirty="0"/>
          </a:p>
        </p:txBody>
      </p:sp>
      <p:sp>
        <p:nvSpPr>
          <p:cNvPr id="10" name="text-454"/>
          <p:cNvSpPr txBox="1"/>
          <p:nvPr/>
        </p:nvSpPr>
        <p:spPr>
          <a:xfrm>
            <a:off x="4389120" y="5166360"/>
            <a:ext cx="1828800" cy="457200"/>
          </a:xfrm>
          <a:prstGeom prst="rect">
            <a:avLst/>
          </a:prstGeom>
          <a:noFill/>
          <a:ln/>
        </p:spPr>
        <p:txBody>
          <a:bodyPr wrap="square" lIns="0" tIns="0" rIns="0" bIns="0" rtlCol="0" anchor="t"/>
          <a:lstStyle/>
          <a:p>
            <a:pPr indent="0" marL="0">
              <a:buNone/>
            </a:pPr>
            <a:r>
              <a:rPr lang="en-US" sz="2400" b="1" dirty="0">
                <a:solidFill>
                  <a:schemeClr val="accent3"/>
                </a:solidFill>
                <a:latin typeface="Cambria" pitchFamily="34" charset="0"/>
                <a:ea typeface="Cambria" pitchFamily="34" charset="-122"/>
                <a:cs typeface="Cambria" pitchFamily="34" charset="-120"/>
              </a:rPr>
              <a:t>66</a:t>
            </a:r>
            <a:pPr indent="0" marL="0">
              <a:buNone/>
            </a:pPr>
            <a:r>
              <a:rPr lang="en-US" sz="1200" dirty="0">
                <a:solidFill>
                  <a:schemeClr val="tx2"/>
                </a:solidFill>
                <a:latin typeface="Calibri" pitchFamily="34" charset="0"/>
                <a:ea typeface="Calibri" pitchFamily="34" charset="-122"/>
                <a:cs typeface="Calibri" pitchFamily="34" charset="-120"/>
              </a:rPr>
              <a:t>  units</a:t>
            </a:r>
            <a:endParaRPr lang="en-US" sz="1400" dirty="0"/>
          </a:p>
        </p:txBody>
      </p:sp>
      <p:sp>
        <p:nvSpPr>
          <p:cNvPr id="11" name="text-455"/>
          <p:cNvSpPr txBox="1"/>
          <p:nvPr/>
        </p:nvSpPr>
        <p:spPr>
          <a:xfrm>
            <a:off x="4389120" y="5623560"/>
            <a:ext cx="1783080" cy="548640"/>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saved from reverse logistics and destruction</a:t>
            </a:r>
            <a:endParaRPr lang="en-US" sz="1100" dirty="0"/>
          </a:p>
        </p:txBody>
      </p:sp>
      <p:sp>
        <p:nvSpPr>
          <p:cNvPr id="12" name="shot-frame-456"/>
          <p:cNvSpPr/>
          <p:nvPr/>
        </p:nvSpPr>
        <p:spPr>
          <a:xfrm>
            <a:off x="6519672" y="1673352"/>
            <a:ext cx="5138928" cy="3225546"/>
          </a:xfrm>
          <a:prstGeom prst="rect">
            <a:avLst/>
          </a:prstGeom>
          <a:solidFill>
            <a:srgbClr val="E4DDD6"/>
          </a:solidFill>
          <a:ln w="12700">
            <a:solidFill>
              <a:srgbClr val="E4DDD6"/>
            </a:solidFill>
            <a:prstDash val="solid"/>
          </a:ln>
          <a:effectLst>
            <a:outerShdw sx="100000" sy="100000" kx="0" ky="0" algn="bl" rotWithShape="0" blurRad="76200" dist="25400" dir="5400000">
              <a:srgbClr val="000000">
                <a:alpha val="12000"/>
              </a:srgbClr>
            </a:outerShdw>
          </a:effectLst>
        </p:spPr>
      </p:sp>
      <p:pic>
        <p:nvPicPr>
          <p:cNvPr id="13" name="screenshot-457" descr="Manager territory overview">    </p:cNvPr>
          <p:cNvPicPr>
            <a:picLocks noChangeAspect="1"/>
          </p:cNvPicPr>
          <p:nvPr/>
        </p:nvPicPr>
        <p:blipFill>
          <a:blip r:embed="rId2"/>
          <a:stretch>
            <a:fillRect/>
          </a:stretch>
        </p:blipFill>
        <p:spPr>
          <a:xfrm>
            <a:off x="6537960" y="1691640"/>
            <a:ext cx="5102352" cy="3188970"/>
          </a:xfrm>
          <a:prstGeom prst="rect">
            <a:avLst/>
          </a:prstGeom>
        </p:spPr>
      </p:pic>
      <p:sp>
        <p:nvSpPr>
          <p:cNvPr id="14" name="text-458"/>
          <p:cNvSpPr txBox="1"/>
          <p:nvPr/>
        </p:nvSpPr>
        <p:spPr>
          <a:xfrm>
            <a:off x="6537960" y="4937760"/>
            <a:ext cx="5102352" cy="274320"/>
          </a:xfrm>
          <a:prstGeom prst="rect">
            <a:avLst/>
          </a:prstGeom>
          <a:noFill/>
          <a:ln/>
        </p:spPr>
        <p:txBody>
          <a:bodyPr wrap="square" lIns="0" tIns="0" rIns="0" bIns="0" rtlCol="0" anchor="t"/>
          <a:lstStyle/>
          <a:p>
            <a:pPr indent="0" marL="0">
              <a:buNone/>
            </a:pPr>
            <a:r>
              <a:rPr lang="en-US" sz="1100" i="1" dirty="0">
                <a:solidFill>
                  <a:schemeClr val="tx2"/>
                </a:solidFill>
                <a:latin typeface="Calibri" pitchFamily="34" charset="0"/>
                <a:ea typeface="Calibri" pitchFamily="34" charset="-122"/>
                <a:cs typeface="Calibri" pitchFamily="34" charset="-120"/>
              </a:rPr>
              <a:t>Manager view: ₹ at risk, near-expiry %, stock-outs, completion, ₹ rescued</a:t>
            </a:r>
            <a:endParaRPr lang="en-US" sz="1100" dirty="0"/>
          </a:p>
        </p:txBody>
      </p:sp>
      <p:sp>
        <p:nvSpPr>
          <p:cNvPr id="15" name="card-459"/>
          <p:cNvSpPr/>
          <p:nvPr/>
        </p:nvSpPr>
        <p:spPr>
          <a:xfrm>
            <a:off x="6537960" y="5303520"/>
            <a:ext cx="5102352" cy="868680"/>
          </a:xfrm>
          <a:prstGeom prst="roundRect">
            <a:avLst>
              <a:gd name="adj" fmla="val 8421"/>
            </a:avLst>
          </a:prstGeom>
          <a:solidFill>
            <a:schemeClr val="bg2"/>
          </a:solidFill>
          <a:ln w="12700">
            <a:solidFill>
              <a:schemeClr val="bg2"/>
            </a:solidFill>
            <a:prstDash val="solid"/>
          </a:ln>
        </p:spPr>
      </p:sp>
      <p:sp>
        <p:nvSpPr>
          <p:cNvPr id="16" name="text-460"/>
          <p:cNvSpPr txBox="1"/>
          <p:nvPr/>
        </p:nvSpPr>
        <p:spPr>
          <a:xfrm>
            <a:off x="6675120" y="5349240"/>
            <a:ext cx="4846320" cy="77724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Fast-forward runs two worlds from the same stock: SMARTSELL (guardrail orders, transfers, interventions) vs business-as-usual ("same as last time" re-orders, retailer asks, no rebalancing).</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229600" cy="274320"/>
          </a:xfrm>
          <a:prstGeom prst="rect">
            <a:avLst/>
          </a:prstGeom>
          <a:noFill/>
          <a:ln/>
        </p:spPr>
        <p:txBody>
          <a:bodyPr wrap="square" lIns="0" tIns="0" rIns="0" bIns="0" rtlCol="0" anchor="t"/>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BUSINESS IMPACT</a:t>
            </a:r>
            <a:endParaRPr lang="en-US" sz="1100" dirty="0"/>
          </a:p>
        </p:txBody>
      </p:sp>
      <p:sp>
        <p:nvSpPr>
          <p:cNvPr id="3" name="Text 0"/>
          <p:cNvSpPr/>
          <p:nvPr>
            <p:ph idx="101" type="title" hasCustomPrompt="1"/>
          </p:nvPr>
        </p:nvSpPr>
        <p:spPr>
          <a:xfrm>
            <a:off x="548640" y="566928"/>
            <a:ext cx="11064240" cy="96012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Base case: ≈₹18 cr a year net, with honest bounds</a:t>
            </a:r>
            <a:endParaRPr lang="en-US" sz="3000" dirty="0"/>
          </a:p>
        </p:txBody>
      </p:sp>
      <p:sp>
        <p:nvSpPr>
          <p:cNvPr id="4" name="Text 0"/>
          <p:cNvSpPr/>
          <p:nvPr>
            <p:ph idx="102" type="body" hasCustomPrompt="1"/>
          </p:nvPr>
        </p:nvSpPr>
        <p:spPr>
          <a:xfrm>
            <a:off x="548640" y="6382512"/>
            <a:ext cx="9692640" cy="329184"/>
          </a:xfrm>
          <a:prstGeom prst="rect">
            <a:avLst/>
          </a:prstGeom>
          <a:noFill/>
          <a:ln/>
        </p:spPr>
        <p:txBody>
          <a:bodyPr wrap="square" lIns="0" tIns="0" rIns="0" bIns="0" rtlCol="0" anchor="t"/>
          <a:lstStyle/>
          <a:p>
            <a:pPr indent="0" marL="0">
              <a:buNone/>
            </a:pPr>
            <a:r>
              <a:rPr lang="en-US" sz="1000" dirty="0">
                <a:solidFill>
                  <a:schemeClr val="tx2"/>
                </a:solidFill>
                <a:latin typeface="Calibri" pitchFamily="34" charset="0"/>
                <a:ea typeface="Calibri" pitchFamily="34" charset="-122"/>
                <a:cs typeface="Calibri" pitchFamily="34" charset="-120"/>
              </a:rPr>
              <a:t>Illustrative model (model/financial_model.py). Sourced inputs: case ≈1.5% and ≈1%; L'Oréal India FY25 net sales ≈₹5,925 cr (rounded to ₹5,900 cr). All other inputs are assumptions: see Appendix C. Excludes quick-commerce loading avoided (not modelled).</a:t>
            </a:r>
            <a:endParaRPr lang="en-US" sz="1000" dirty="0"/>
          </a:p>
        </p:txBody>
      </p:sp>
      <p:sp>
        <p:nvSpPr>
          <p:cNvPr id="5" name="text-461"/>
          <p:cNvSpPr txBox="1"/>
          <p:nvPr/>
        </p:nvSpPr>
        <p:spPr>
          <a:xfrm>
            <a:off x="548640" y="1691640"/>
            <a:ext cx="5943600" cy="274320"/>
          </a:xfrm>
          <a:prstGeom prst="rect">
            <a:avLst/>
          </a:prstGeom>
          <a:noFill/>
          <a:ln/>
        </p:spPr>
        <p:txBody>
          <a:bodyPr wrap="square" lIns="0" tIns="0" rIns="0" bIns="0" rtlCol="0" anchor="t"/>
          <a:lstStyle/>
          <a:p>
            <a:pPr indent="0" marL="0">
              <a:buNone/>
            </a:pPr>
            <a:r>
              <a:rPr lang="en-US" sz="1100" b="1" spc="200" kern="0" dirty="0">
                <a:solidFill>
                  <a:schemeClr val="tx2"/>
                </a:solidFill>
                <a:latin typeface="Calibri" pitchFamily="34" charset="0"/>
                <a:ea typeface="Calibri" pitchFamily="34" charset="-122"/>
                <a:cs typeface="Calibri" pitchFamily="34" charset="-120"/>
              </a:rPr>
              <a:t>BASE CASE, ₹ CR PER YEAR (STEADY STATE)</a:t>
            </a:r>
            <a:endParaRPr lang="en-US" sz="1100" dirty="0"/>
          </a:p>
        </p:txBody>
      </p:sp>
      <p:sp>
        <p:nvSpPr>
          <p:cNvPr id="6" name="axis-462"/>
          <p:cNvSpPr/>
          <p:nvPr/>
        </p:nvSpPr>
        <p:spPr>
          <a:xfrm>
            <a:off x="548640" y="5715000"/>
            <a:ext cx="5760720" cy="0"/>
          </a:xfrm>
          <a:prstGeom prst="line">
            <a:avLst/>
          </a:prstGeom>
          <a:noFill/>
          <a:ln w="12700">
            <a:solidFill>
              <a:srgbClr val="C9C1B9"/>
            </a:solidFill>
            <a:prstDash val="solid"/>
          </a:ln>
        </p:spPr>
      </p:sp>
      <p:sp>
        <p:nvSpPr>
          <p:cNvPr id="7" name="waterfall-bar-463"/>
          <p:cNvSpPr/>
          <p:nvPr/>
        </p:nvSpPr>
        <p:spPr>
          <a:xfrm>
            <a:off x="685800" y="4398264"/>
            <a:ext cx="868680" cy="1316736"/>
          </a:xfrm>
          <a:prstGeom prst="rect">
            <a:avLst/>
          </a:prstGeom>
          <a:solidFill>
            <a:schemeClr val="accent3"/>
          </a:solidFill>
          <a:ln w="12700">
            <a:solidFill>
              <a:schemeClr val="accent3"/>
            </a:solidFill>
            <a:prstDash val="solid"/>
          </a:ln>
        </p:spPr>
      </p:sp>
      <p:sp>
        <p:nvSpPr>
          <p:cNvPr id="8" name="text-464"/>
          <p:cNvSpPr txBox="1"/>
          <p:nvPr/>
        </p:nvSpPr>
        <p:spPr>
          <a:xfrm>
            <a:off x="594360" y="4105656"/>
            <a:ext cx="1051560" cy="274320"/>
          </a:xfrm>
          <a:prstGeom prst="rect">
            <a:avLst/>
          </a:prstGeom>
          <a:noFill/>
          <a:ln/>
        </p:spPr>
        <p:txBody>
          <a:bodyPr wrap="square" lIns="0" tIns="0" rIns="0" bIns="0" rtlCol="0" anchor="t"/>
          <a:lstStyle/>
          <a:p>
            <a:pPr algn="ctr" indent="0" marL="0">
              <a:buNone/>
            </a:pPr>
            <a:r>
              <a:rPr lang="en-US" sz="1300" b="1" dirty="0">
                <a:solidFill>
                  <a:schemeClr val="accent3"/>
                </a:solidFill>
                <a:latin typeface="Calibri" pitchFamily="34" charset="0"/>
                <a:ea typeface="Calibri" pitchFamily="34" charset="-122"/>
                <a:cs typeface="Calibri" pitchFamily="34" charset="-120"/>
              </a:rPr>
              <a:t>+8.0</a:t>
            </a:r>
            <a:endParaRPr lang="en-US" sz="1300" dirty="0"/>
          </a:p>
        </p:txBody>
      </p:sp>
      <p:sp>
        <p:nvSpPr>
          <p:cNvPr id="9" name="text-465"/>
          <p:cNvSpPr txBox="1"/>
          <p:nvPr/>
        </p:nvSpPr>
        <p:spPr>
          <a:xfrm>
            <a:off x="548640" y="5760720"/>
            <a:ext cx="1143000" cy="548640"/>
          </a:xfrm>
          <a:prstGeom prst="rect">
            <a:avLst/>
          </a:prstGeom>
          <a:noFill/>
          <a:ln/>
        </p:spPr>
        <p:txBody>
          <a:bodyPr wrap="square" lIns="0" tIns="0" rIns="0" bIns="0" rtlCol="0" anchor="t"/>
          <a:lstStyle/>
          <a:p>
            <a:pPr algn="ctr" indent="0" marL="0">
              <a:buNone/>
            </a:pPr>
            <a:r>
              <a:rPr lang="en-US" sz="1000" dirty="0">
                <a:solidFill>
                  <a:schemeClr val="tx2"/>
                </a:solidFill>
                <a:latin typeface="Calibri" pitchFamily="34" charset="0"/>
                <a:ea typeface="Calibri" pitchFamily="34" charset="-122"/>
                <a:cs typeface="Calibri" pitchFamily="34" charset="-120"/>
              </a:rPr>
              <a:t>Expiry loss avoided</a:t>
            </a:r>
            <a:endParaRPr lang="en-US" sz="1000" dirty="0"/>
          </a:p>
        </p:txBody>
      </p:sp>
      <p:sp>
        <p:nvSpPr>
          <p:cNvPr id="10" name="waterfall-bar-466"/>
          <p:cNvSpPr/>
          <p:nvPr/>
        </p:nvSpPr>
        <p:spPr>
          <a:xfrm>
            <a:off x="1828800" y="3525926"/>
            <a:ext cx="868680" cy="872338"/>
          </a:xfrm>
          <a:prstGeom prst="rect">
            <a:avLst/>
          </a:prstGeom>
          <a:solidFill>
            <a:schemeClr val="accent3"/>
          </a:solidFill>
          <a:ln w="12700">
            <a:solidFill>
              <a:schemeClr val="accent3"/>
            </a:solidFill>
            <a:prstDash val="solid"/>
          </a:ln>
        </p:spPr>
      </p:sp>
      <p:sp>
        <p:nvSpPr>
          <p:cNvPr id="11" name="text-467"/>
          <p:cNvSpPr txBox="1"/>
          <p:nvPr/>
        </p:nvSpPr>
        <p:spPr>
          <a:xfrm>
            <a:off x="1737360" y="3233318"/>
            <a:ext cx="1051560" cy="274320"/>
          </a:xfrm>
          <a:prstGeom prst="rect">
            <a:avLst/>
          </a:prstGeom>
          <a:noFill/>
          <a:ln/>
        </p:spPr>
        <p:txBody>
          <a:bodyPr wrap="square" lIns="0" tIns="0" rIns="0" bIns="0" rtlCol="0" anchor="t"/>
          <a:lstStyle/>
          <a:p>
            <a:pPr algn="ctr" indent="0" marL="0">
              <a:buNone/>
            </a:pPr>
            <a:r>
              <a:rPr lang="en-US" sz="1300" b="1" dirty="0">
                <a:solidFill>
                  <a:schemeClr val="accent3"/>
                </a:solidFill>
                <a:latin typeface="Calibri" pitchFamily="34" charset="0"/>
                <a:ea typeface="Calibri" pitchFamily="34" charset="-122"/>
                <a:cs typeface="Calibri" pitchFamily="34" charset="-120"/>
              </a:rPr>
              <a:t>+5.3</a:t>
            </a:r>
            <a:endParaRPr lang="en-US" sz="1300" dirty="0"/>
          </a:p>
        </p:txBody>
      </p:sp>
      <p:sp>
        <p:nvSpPr>
          <p:cNvPr id="12" name="text-468"/>
          <p:cNvSpPr txBox="1"/>
          <p:nvPr/>
        </p:nvSpPr>
        <p:spPr>
          <a:xfrm>
            <a:off x="1691640" y="5760720"/>
            <a:ext cx="1143000" cy="548640"/>
          </a:xfrm>
          <a:prstGeom prst="rect">
            <a:avLst/>
          </a:prstGeom>
          <a:noFill/>
          <a:ln/>
        </p:spPr>
        <p:txBody>
          <a:bodyPr wrap="square" lIns="0" tIns="0" rIns="0" bIns="0" rtlCol="0" anchor="t"/>
          <a:lstStyle/>
          <a:p>
            <a:pPr algn="ctr" indent="0" marL="0">
              <a:buNone/>
            </a:pPr>
            <a:r>
              <a:rPr lang="en-US" sz="1000" dirty="0">
                <a:solidFill>
                  <a:schemeClr val="tx2"/>
                </a:solidFill>
                <a:latin typeface="Calibri" pitchFamily="34" charset="0"/>
                <a:ea typeface="Calibri" pitchFamily="34" charset="-122"/>
                <a:cs typeface="Calibri" pitchFamily="34" charset="-120"/>
              </a:rPr>
              <a:t>Handling avoided</a:t>
            </a:r>
            <a:endParaRPr lang="en-US" sz="1000" dirty="0"/>
          </a:p>
        </p:txBody>
      </p:sp>
      <p:sp>
        <p:nvSpPr>
          <p:cNvPr id="13" name="waterfall-bar-469"/>
          <p:cNvSpPr/>
          <p:nvPr/>
        </p:nvSpPr>
        <p:spPr>
          <a:xfrm>
            <a:off x="2971800" y="3525926"/>
            <a:ext cx="868680" cy="329184"/>
          </a:xfrm>
          <a:prstGeom prst="rect">
            <a:avLst/>
          </a:prstGeom>
          <a:solidFill>
            <a:schemeClr val="accent5"/>
          </a:solidFill>
          <a:ln w="12700">
            <a:solidFill>
              <a:schemeClr val="accent5"/>
            </a:solidFill>
            <a:prstDash val="solid"/>
          </a:ln>
        </p:spPr>
      </p:sp>
      <p:sp>
        <p:nvSpPr>
          <p:cNvPr id="14" name="text-470"/>
          <p:cNvSpPr txBox="1"/>
          <p:nvPr/>
        </p:nvSpPr>
        <p:spPr>
          <a:xfrm>
            <a:off x="2880360" y="3233318"/>
            <a:ext cx="1051560" cy="274320"/>
          </a:xfrm>
          <a:prstGeom prst="rect">
            <a:avLst/>
          </a:prstGeom>
          <a:noFill/>
          <a:ln/>
        </p:spPr>
        <p:txBody>
          <a:bodyPr wrap="square" lIns="0" tIns="0" rIns="0" bIns="0" rtlCol="0" anchor="t"/>
          <a:lstStyle/>
          <a:p>
            <a:pPr algn="ctr" indent="0" marL="0">
              <a:buNone/>
            </a:pPr>
            <a:r>
              <a:rPr lang="en-US" sz="1300" b="1" dirty="0">
                <a:solidFill>
                  <a:schemeClr val="accent5"/>
                </a:solidFill>
                <a:latin typeface="Calibri" pitchFamily="34" charset="0"/>
                <a:ea typeface="Calibri" pitchFamily="34" charset="-122"/>
                <a:cs typeface="Calibri" pitchFamily="34" charset="-120"/>
              </a:rPr>
              <a:t>-2.0</a:t>
            </a:r>
            <a:endParaRPr lang="en-US" sz="1300" dirty="0"/>
          </a:p>
        </p:txBody>
      </p:sp>
      <p:sp>
        <p:nvSpPr>
          <p:cNvPr id="15" name="text-471"/>
          <p:cNvSpPr txBox="1"/>
          <p:nvPr/>
        </p:nvSpPr>
        <p:spPr>
          <a:xfrm>
            <a:off x="2834640" y="5760720"/>
            <a:ext cx="1143000" cy="548640"/>
          </a:xfrm>
          <a:prstGeom prst="rect">
            <a:avLst/>
          </a:prstGeom>
          <a:noFill/>
          <a:ln/>
        </p:spPr>
        <p:txBody>
          <a:bodyPr wrap="square" lIns="0" tIns="0" rIns="0" bIns="0" rtlCol="0" anchor="t"/>
          <a:lstStyle/>
          <a:p>
            <a:pPr algn="ctr" indent="0" marL="0">
              <a:buNone/>
            </a:pPr>
            <a:r>
              <a:rPr lang="en-US" sz="1000" dirty="0">
                <a:solidFill>
                  <a:schemeClr val="tx2"/>
                </a:solidFill>
                <a:latin typeface="Calibri" pitchFamily="34" charset="0"/>
                <a:ea typeface="Calibri" pitchFamily="34" charset="-122"/>
                <a:cs typeface="Calibri" pitchFamily="34" charset="-120"/>
              </a:rPr>
              <a:t>Cost to recover</a:t>
            </a:r>
            <a:endParaRPr lang="en-US" sz="1000" dirty="0"/>
          </a:p>
        </p:txBody>
      </p:sp>
      <p:sp>
        <p:nvSpPr>
          <p:cNvPr id="16" name="waterfall-bar-472"/>
          <p:cNvSpPr/>
          <p:nvPr/>
        </p:nvSpPr>
        <p:spPr>
          <a:xfrm>
            <a:off x="4114800" y="2719426"/>
            <a:ext cx="868680" cy="1135685"/>
          </a:xfrm>
          <a:prstGeom prst="rect">
            <a:avLst/>
          </a:prstGeom>
          <a:solidFill>
            <a:schemeClr val="accent3"/>
          </a:solidFill>
          <a:ln w="12700">
            <a:solidFill>
              <a:schemeClr val="accent3"/>
            </a:solidFill>
            <a:prstDash val="solid"/>
          </a:ln>
        </p:spPr>
      </p:sp>
      <p:sp>
        <p:nvSpPr>
          <p:cNvPr id="17" name="text-473"/>
          <p:cNvSpPr txBox="1"/>
          <p:nvPr/>
        </p:nvSpPr>
        <p:spPr>
          <a:xfrm>
            <a:off x="4023360" y="2426818"/>
            <a:ext cx="1051560" cy="274320"/>
          </a:xfrm>
          <a:prstGeom prst="rect">
            <a:avLst/>
          </a:prstGeom>
          <a:noFill/>
          <a:ln/>
        </p:spPr>
        <p:txBody>
          <a:bodyPr wrap="square" lIns="0" tIns="0" rIns="0" bIns="0" rtlCol="0" anchor="t"/>
          <a:lstStyle/>
          <a:p>
            <a:pPr algn="ctr" indent="0" marL="0">
              <a:buNone/>
            </a:pPr>
            <a:r>
              <a:rPr lang="en-US" sz="1300" b="1" dirty="0">
                <a:solidFill>
                  <a:schemeClr val="accent3"/>
                </a:solidFill>
                <a:latin typeface="Calibri" pitchFamily="34" charset="0"/>
                <a:ea typeface="Calibri" pitchFamily="34" charset="-122"/>
                <a:cs typeface="Calibri" pitchFamily="34" charset="-120"/>
              </a:rPr>
              <a:t>+6.9</a:t>
            </a:r>
            <a:endParaRPr lang="en-US" sz="1300" dirty="0"/>
          </a:p>
        </p:txBody>
      </p:sp>
      <p:sp>
        <p:nvSpPr>
          <p:cNvPr id="18" name="text-474"/>
          <p:cNvSpPr txBox="1"/>
          <p:nvPr/>
        </p:nvSpPr>
        <p:spPr>
          <a:xfrm>
            <a:off x="3977640" y="5760720"/>
            <a:ext cx="1143000" cy="548640"/>
          </a:xfrm>
          <a:prstGeom prst="rect">
            <a:avLst/>
          </a:prstGeom>
          <a:noFill/>
          <a:ln/>
        </p:spPr>
        <p:txBody>
          <a:bodyPr wrap="square" lIns="0" tIns="0" rIns="0" bIns="0" rtlCol="0" anchor="t"/>
          <a:lstStyle/>
          <a:p>
            <a:pPr algn="ctr" indent="0" marL="0">
              <a:buNone/>
            </a:pPr>
            <a:r>
              <a:rPr lang="en-US" sz="1000" dirty="0">
                <a:solidFill>
                  <a:schemeClr val="tx2"/>
                </a:solidFill>
                <a:latin typeface="Calibri" pitchFamily="34" charset="0"/>
                <a:ea typeface="Calibri" pitchFamily="34" charset="-122"/>
                <a:cs typeface="Calibri" pitchFamily="34" charset="-120"/>
              </a:rPr>
              <a:t>Contribution from fewer stock-outs</a:t>
            </a:r>
            <a:endParaRPr lang="en-US" sz="1000" dirty="0"/>
          </a:p>
        </p:txBody>
      </p:sp>
      <p:sp>
        <p:nvSpPr>
          <p:cNvPr id="19" name="waterfall-bar-475"/>
          <p:cNvSpPr/>
          <p:nvPr/>
        </p:nvSpPr>
        <p:spPr>
          <a:xfrm>
            <a:off x="5257800" y="2719426"/>
            <a:ext cx="868680" cy="2995574"/>
          </a:xfrm>
          <a:prstGeom prst="rect">
            <a:avLst/>
          </a:prstGeom>
          <a:solidFill>
            <a:schemeClr val="accent1"/>
          </a:solidFill>
          <a:ln w="12700">
            <a:solidFill>
              <a:schemeClr val="accent1"/>
            </a:solidFill>
            <a:prstDash val="solid"/>
          </a:ln>
        </p:spPr>
      </p:sp>
      <p:sp>
        <p:nvSpPr>
          <p:cNvPr id="20" name="text-476"/>
          <p:cNvSpPr txBox="1"/>
          <p:nvPr/>
        </p:nvSpPr>
        <p:spPr>
          <a:xfrm>
            <a:off x="5166360" y="2426818"/>
            <a:ext cx="1051560" cy="274320"/>
          </a:xfrm>
          <a:prstGeom prst="rect">
            <a:avLst/>
          </a:prstGeom>
          <a:noFill/>
          <a:ln/>
        </p:spPr>
        <p:txBody>
          <a:bodyPr wrap="square" lIns="0" tIns="0" rIns="0" bIns="0" rtlCol="0" anchor="t"/>
          <a:lstStyle/>
          <a:p>
            <a:pPr algn="ctr" indent="0" marL="0">
              <a:buNone/>
            </a:pPr>
            <a:r>
              <a:rPr lang="en-US" sz="1300" b="1" dirty="0">
                <a:solidFill>
                  <a:schemeClr val="accent1"/>
                </a:solidFill>
                <a:latin typeface="Calibri" pitchFamily="34" charset="0"/>
                <a:ea typeface="Calibri" pitchFamily="34" charset="-122"/>
                <a:cs typeface="Calibri" pitchFamily="34" charset="-120"/>
              </a:rPr>
              <a:t>18.2</a:t>
            </a:r>
            <a:endParaRPr lang="en-US" sz="1300" dirty="0"/>
          </a:p>
        </p:txBody>
      </p:sp>
      <p:sp>
        <p:nvSpPr>
          <p:cNvPr id="21" name="text-477"/>
          <p:cNvSpPr txBox="1"/>
          <p:nvPr/>
        </p:nvSpPr>
        <p:spPr>
          <a:xfrm>
            <a:off x="5120640" y="5760720"/>
            <a:ext cx="1143000" cy="548640"/>
          </a:xfrm>
          <a:prstGeom prst="rect">
            <a:avLst/>
          </a:prstGeom>
          <a:noFill/>
          <a:ln/>
        </p:spPr>
        <p:txBody>
          <a:bodyPr wrap="square" lIns="0" tIns="0" rIns="0" bIns="0" rtlCol="0" anchor="t"/>
          <a:lstStyle/>
          <a:p>
            <a:pPr algn="ctr" indent="0" marL="0">
              <a:buNone/>
            </a:pPr>
            <a:r>
              <a:rPr lang="en-US" sz="1000" dirty="0">
                <a:solidFill>
                  <a:schemeClr val="tx2"/>
                </a:solidFill>
                <a:latin typeface="Calibri" pitchFamily="34" charset="0"/>
                <a:ea typeface="Calibri" pitchFamily="34" charset="-122"/>
                <a:cs typeface="Calibri" pitchFamily="34" charset="-120"/>
              </a:rPr>
              <a:t>Net benefit</a:t>
            </a:r>
            <a:endParaRPr lang="en-US" sz="1000" dirty="0"/>
          </a:p>
        </p:txBody>
      </p:sp>
      <p:sp>
        <p:nvSpPr>
          <p:cNvPr id="22" name="text-478"/>
          <p:cNvSpPr txBox="1"/>
          <p:nvPr/>
        </p:nvSpPr>
        <p:spPr>
          <a:xfrm>
            <a:off x="548640" y="2011680"/>
            <a:ext cx="5760720" cy="45720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Pool ₹147.5 cr (2.5% × ₹5,900 cr) → only ≈36% addressable by field sales → 25% of that prevented</a:t>
            </a:r>
            <a:endParaRPr lang="en-US" sz="1200" dirty="0"/>
          </a:p>
        </p:txBody>
      </p:sp>
      <p:graphicFrame>
        <p:nvGraphicFramePr>
          <p:cNvPr id="15" name="scenario-table-479"/>
          <p:cNvGraphicFramePr>
            <a:graphicFrameLocks noGrp="1"/>
          </p:cNvGraphicFramePr>
          <p:nvPr>
            <p:extLst>
              <p:ext uri="{D42A27DB-BD31-4B8C-83A1-F6EECF244321}">
                <p14:modId xmlns:p14="http://schemas.microsoft.com/office/powerpoint/2010/main" val="1579011935"/>
              </p:ext>
            </p:extLst>
          </p:nvPr>
        </p:nvGraphicFramePr>
        <p:xfrm>
          <a:off x="6537960" y="1691640"/>
          <a:ext cx="5102352" cy="914400"/>
        </p:xfrm>
        <a:graphic>
          <a:graphicData uri="http://schemas.openxmlformats.org/drawingml/2006/table">
            <a:tbl>
              <a:tblPr/>
              <a:tblGrid>
                <a:gridCol w="2084832"/>
                <a:gridCol w="1005840"/>
                <a:gridCol w="1005840"/>
                <a:gridCol w="1005840"/>
              </a:tblGrid>
              <a:tr h="402336">
                <a:tc>
                  <a:txBody>
                    <a:bodyPr/>
                    <a:lstStyle/>
                    <a:p>
                      <a:pPr algn="l" indent="0" marL="0">
                        <a:buNone/>
                      </a:pPr>
                      <a:endParaRPr lang="en-US" sz="1200" dirty="0">
                        <a:latin typeface="Calibri" charset="0"/>
                        <a:ea typeface="Calibri" charset="0"/>
                        <a:cs typeface="Calibri" charset="0"/>
                      </a:endParaRPr>
                    </a:p>
                  </a:txBody>
                  <a:tcPr marL="91440" marR="91440" marT="45720" marB="45720" anchor="ctr">
                    <a:lnL w="9525" cap="flat" cmpd="sng" algn="ctr">
                      <a:solidFill>
                        <a:srgbClr val="E4DDD6"/>
                      </a:solidFill>
                      <a:prstDash val="solid"/>
                      <a:round/>
                      <a:headEnd type="none" w="med" len="med"/>
                      <a:tailEnd type="none" w="med" len="med"/>
                    </a:lnL>
                    <a:lnR w="9525" cap="flat" cmpd="sng" algn="ctr">
                      <a:solidFill>
                        <a:srgbClr val="E4DDD6"/>
                      </a:solidFill>
                      <a:prstDash val="solid"/>
                      <a:round/>
                      <a:headEnd type="none" w="med" len="med"/>
                      <a:tailEnd type="none" w="med" len="med"/>
                    </a:lnR>
                    <a:lnT w="9525" cap="flat" cmpd="sng" algn="ctr">
                      <a:solidFill>
                        <a:srgbClr val="E4DDD6"/>
                      </a:solidFill>
                      <a:prstDash val="solid"/>
                      <a:round/>
                      <a:headEnd type="none" w="med" len="med"/>
                      <a:tailEnd type="none" w="med" len="med"/>
                    </a:lnT>
                    <a:lnB w="9525" cap="flat" cmpd="sng" algn="ctr">
                      <a:solidFill>
                        <a:srgbClr val="E4DDD6"/>
                      </a:solidFill>
                      <a:prstDash val="solid"/>
                      <a:round/>
                      <a:headEnd type="none" w="med" len="med"/>
                      <a:tailEnd type="none" w="med" len="med"/>
                    </a:lnB>
                    <a:solidFill>
                      <a:srgbClr val="6E1A30"/>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Conservative</a:t>
                      </a:r>
                      <a:endParaRPr lang="en-US" sz="1200" dirty="0">
                        <a:latin typeface="Calibri" charset="0"/>
                        <a:ea typeface="Calibri" charset="0"/>
                        <a:cs typeface="Calibri" charset="0"/>
                      </a:endParaRPr>
                    </a:p>
                  </a:txBody>
                  <a:tcPr marL="91440" marR="91440" marT="45720" marB="45720" anchor="ctr">
                    <a:lnL w="9525" cap="flat" cmpd="sng" algn="ctr">
                      <a:solidFill>
                        <a:srgbClr val="E4DDD6"/>
                      </a:solidFill>
                      <a:prstDash val="solid"/>
                      <a:round/>
                      <a:headEnd type="none" w="med" len="med"/>
                      <a:tailEnd type="none" w="med" len="med"/>
                    </a:lnL>
                    <a:lnR w="9525" cap="flat" cmpd="sng" algn="ctr">
                      <a:solidFill>
                        <a:srgbClr val="E4DDD6"/>
                      </a:solidFill>
                      <a:prstDash val="solid"/>
                      <a:round/>
                      <a:headEnd type="none" w="med" len="med"/>
                      <a:tailEnd type="none" w="med" len="med"/>
                    </a:lnR>
                    <a:lnT w="9525" cap="flat" cmpd="sng" algn="ctr">
                      <a:solidFill>
                        <a:srgbClr val="E4DDD6"/>
                      </a:solidFill>
                      <a:prstDash val="solid"/>
                      <a:round/>
                      <a:headEnd type="none" w="med" len="med"/>
                      <a:tailEnd type="none" w="med" len="med"/>
                    </a:lnT>
                    <a:lnB w="9525" cap="flat" cmpd="sng" algn="ctr">
                      <a:solidFill>
                        <a:srgbClr val="E4DDD6"/>
                      </a:solidFill>
                      <a:prstDash val="solid"/>
                      <a:round/>
                      <a:headEnd type="none" w="med" len="med"/>
                      <a:tailEnd type="none" w="med" len="med"/>
                    </a:lnB>
                    <a:solidFill>
                      <a:srgbClr val="6E1A30"/>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Base</a:t>
                      </a:r>
                      <a:endParaRPr lang="en-US" sz="1200" dirty="0">
                        <a:latin typeface="Calibri" charset="0"/>
                        <a:ea typeface="Calibri" charset="0"/>
                        <a:cs typeface="Calibri" charset="0"/>
                      </a:endParaRPr>
                    </a:p>
                  </a:txBody>
                  <a:tcPr marL="91440" marR="91440" marT="45720" marB="45720" anchor="ctr">
                    <a:lnL w="9525" cap="flat" cmpd="sng" algn="ctr">
                      <a:solidFill>
                        <a:srgbClr val="E4DDD6"/>
                      </a:solidFill>
                      <a:prstDash val="solid"/>
                      <a:round/>
                      <a:headEnd type="none" w="med" len="med"/>
                      <a:tailEnd type="none" w="med" len="med"/>
                    </a:lnL>
                    <a:lnR w="9525" cap="flat" cmpd="sng" algn="ctr">
                      <a:solidFill>
                        <a:srgbClr val="E4DDD6"/>
                      </a:solidFill>
                      <a:prstDash val="solid"/>
                      <a:round/>
                      <a:headEnd type="none" w="med" len="med"/>
                      <a:tailEnd type="none" w="med" len="med"/>
                    </a:lnR>
                    <a:lnT w="9525" cap="flat" cmpd="sng" algn="ctr">
                      <a:solidFill>
                        <a:srgbClr val="E4DDD6"/>
                      </a:solidFill>
                      <a:prstDash val="solid"/>
                      <a:round/>
                      <a:headEnd type="none" w="med" len="med"/>
                      <a:tailEnd type="none" w="med" len="med"/>
                    </a:lnT>
                    <a:lnB w="9525" cap="flat" cmpd="sng" algn="ctr">
                      <a:solidFill>
                        <a:srgbClr val="E4DDD6"/>
                      </a:solidFill>
                      <a:prstDash val="solid"/>
                      <a:round/>
                      <a:headEnd type="none" w="med" len="med"/>
                      <a:tailEnd type="none" w="med" len="med"/>
                    </a:lnB>
                    <a:solidFill>
                      <a:srgbClr val="6E1A30"/>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Optimistic</a:t>
                      </a:r>
                      <a:endParaRPr lang="en-US" sz="1200" dirty="0">
                        <a:latin typeface="Calibri" charset="0"/>
                        <a:ea typeface="Calibri" charset="0"/>
                        <a:cs typeface="Calibri" charset="0"/>
                      </a:endParaRPr>
                    </a:p>
                  </a:txBody>
                  <a:tcPr marL="91440" marR="91440" marT="45720" marB="45720" anchor="ctr">
                    <a:lnL w="9525" cap="flat" cmpd="sng" algn="ctr">
                      <a:solidFill>
                        <a:srgbClr val="E4DDD6"/>
                      </a:solidFill>
                      <a:prstDash val="solid"/>
                      <a:round/>
                      <a:headEnd type="none" w="med" len="med"/>
                      <a:tailEnd type="none" w="med" len="med"/>
                    </a:lnL>
                    <a:lnR w="9525" cap="flat" cmpd="sng" algn="ctr">
                      <a:solidFill>
                        <a:srgbClr val="E4DDD6"/>
                      </a:solidFill>
                      <a:prstDash val="solid"/>
                      <a:round/>
                      <a:headEnd type="none" w="med" len="med"/>
                      <a:tailEnd type="none" w="med" len="med"/>
                    </a:lnR>
                    <a:lnT w="9525" cap="flat" cmpd="sng" algn="ctr">
                      <a:solidFill>
                        <a:srgbClr val="E4DDD6"/>
                      </a:solidFill>
                      <a:prstDash val="solid"/>
                      <a:round/>
                      <a:headEnd type="none" w="med" len="med"/>
                      <a:tailEnd type="none" w="med" len="med"/>
                    </a:lnT>
                    <a:lnB w="9525" cap="flat" cmpd="sng" algn="ctr">
                      <a:solidFill>
                        <a:srgbClr val="E4DDD6"/>
                      </a:solidFill>
                      <a:prstDash val="solid"/>
                      <a:round/>
                      <a:headEnd type="none" w="med" len="med"/>
                      <a:tailEnd type="none" w="med" len="med"/>
                    </a:lnB>
                    <a:solidFill>
                      <a:srgbClr val="6E1A30"/>
                    </a:solidFill>
                  </a:tcPr>
                </a:tc>
              </a:tr>
              <a:tr h="402336">
                <a:tc>
                  <a:txBody>
                    <a:bodyPr/>
                    <a:lstStyle/>
                    <a:p>
                      <a:pPr algn="l" indent="0" marL="0">
                        <a:buNone/>
                      </a:pPr>
                      <a:r>
                        <a:rPr lang="en-US" sz="1200" dirty="0">
                          <a:solidFill>
                            <a:srgbClr val="1C1A1B"/>
                          </a:solidFill>
                          <a:latin typeface="Calibri" pitchFamily="34" charset="0"/>
                          <a:ea typeface="Calibri" pitchFamily="34" charset="-122"/>
                          <a:cs typeface="Calibri" pitchFamily="34" charset="-120"/>
                        </a:rPr>
                        <a:t>Addressable share of waste pool</a:t>
                      </a:r>
                      <a:endParaRPr lang="en-US" sz="1200" dirty="0">
                        <a:latin typeface="Calibri" charset="0"/>
                        <a:ea typeface="Calibri" charset="0"/>
                        <a:cs typeface="Calibri" charset="0"/>
                      </a:endParaRPr>
                    </a:p>
                  </a:txBody>
                  <a:tcPr marL="91440" marR="91440" marT="45720" marB="45720" anchor="ctr">
                    <a:lnL w="9525" cap="flat" cmpd="sng" algn="ctr">
                      <a:solidFill>
                        <a:srgbClr val="E4DDD6"/>
                      </a:solidFill>
                      <a:prstDash val="solid"/>
                      <a:round/>
                      <a:headEnd type="none" w="med" len="med"/>
                      <a:tailEnd type="none" w="med" len="med"/>
                    </a:lnL>
                    <a:lnR w="9525" cap="flat" cmpd="sng" algn="ctr">
                      <a:solidFill>
                        <a:srgbClr val="E4DDD6"/>
                      </a:solidFill>
                      <a:prstDash val="solid"/>
                      <a:round/>
                      <a:headEnd type="none" w="med" len="med"/>
                      <a:tailEnd type="none" w="med" len="med"/>
                    </a:lnR>
                    <a:lnT w="9525" cap="flat" cmpd="sng" algn="ctr">
                      <a:solidFill>
                        <a:srgbClr val="E4DDD6"/>
                      </a:solidFill>
                      <a:prstDash val="solid"/>
                      <a:round/>
                      <a:headEnd type="none" w="med" len="med"/>
                      <a:tailEnd type="none" w="med" len="med"/>
                    </a:lnT>
                    <a:lnB w="9525" cap="flat" cmpd="sng" algn="ctr">
                      <a:solidFill>
                        <a:srgbClr val="E4DDD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1A1B"/>
                          </a:solidFill>
                          <a:latin typeface="Calibri" pitchFamily="34" charset="0"/>
                          <a:ea typeface="Calibri" pitchFamily="34" charset="-122"/>
                          <a:cs typeface="Calibri" pitchFamily="34" charset="-120"/>
                        </a:rPr>
                        <a:t>25%</a:t>
                      </a:r>
                      <a:endParaRPr lang="en-US" sz="1200" dirty="0">
                        <a:latin typeface="Calibri" charset="0"/>
                        <a:ea typeface="Calibri" charset="0"/>
                        <a:cs typeface="Calibri" charset="0"/>
                      </a:endParaRPr>
                    </a:p>
                  </a:txBody>
                  <a:tcPr marL="91440" marR="91440" marT="45720" marB="45720" anchor="ctr">
                    <a:lnL w="9525" cap="flat" cmpd="sng" algn="ctr">
                      <a:solidFill>
                        <a:srgbClr val="E4DDD6"/>
                      </a:solidFill>
                      <a:prstDash val="solid"/>
                      <a:round/>
                      <a:headEnd type="none" w="med" len="med"/>
                      <a:tailEnd type="none" w="med" len="med"/>
                    </a:lnL>
                    <a:lnR w="9525" cap="flat" cmpd="sng" algn="ctr">
                      <a:solidFill>
                        <a:srgbClr val="E4DDD6"/>
                      </a:solidFill>
                      <a:prstDash val="solid"/>
                      <a:round/>
                      <a:headEnd type="none" w="med" len="med"/>
                      <a:tailEnd type="none" w="med" len="med"/>
                    </a:lnR>
                    <a:lnT w="9525" cap="flat" cmpd="sng" algn="ctr">
                      <a:solidFill>
                        <a:srgbClr val="E4DDD6"/>
                      </a:solidFill>
                      <a:prstDash val="solid"/>
                      <a:round/>
                      <a:headEnd type="none" w="med" len="med"/>
                      <a:tailEnd type="none" w="med" len="med"/>
                    </a:lnT>
                    <a:lnB w="9525" cap="flat" cmpd="sng" algn="ctr">
                      <a:solidFill>
                        <a:srgbClr val="E4DDD6"/>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C1A1B"/>
                          </a:solidFill>
                          <a:latin typeface="Calibri" pitchFamily="34" charset="0"/>
                          <a:ea typeface="Calibri" pitchFamily="34" charset="-122"/>
                          <a:cs typeface="Calibri" pitchFamily="34" charset="-120"/>
                        </a:rPr>
                        <a:t>36%</a:t>
                      </a:r>
                      <a:endParaRPr lang="en-US" sz="1200" dirty="0">
                        <a:latin typeface="Calibri" charset="0"/>
                        <a:ea typeface="Calibri" charset="0"/>
                        <a:cs typeface="Calibri" charset="0"/>
                      </a:endParaRPr>
                    </a:p>
                  </a:txBody>
                  <a:tcPr marL="91440" marR="91440" marT="45720" marB="45720" anchor="ctr">
                    <a:lnL w="9525" cap="flat" cmpd="sng" algn="ctr">
                      <a:solidFill>
                        <a:srgbClr val="E4DDD6"/>
                      </a:solidFill>
                      <a:prstDash val="solid"/>
                      <a:round/>
                      <a:headEnd type="none" w="med" len="med"/>
                      <a:tailEnd type="none" w="med" len="med"/>
                    </a:lnL>
                    <a:lnR w="9525" cap="flat" cmpd="sng" algn="ctr">
                      <a:solidFill>
                        <a:srgbClr val="E4DDD6"/>
                      </a:solidFill>
                      <a:prstDash val="solid"/>
                      <a:round/>
                      <a:headEnd type="none" w="med" len="med"/>
                      <a:tailEnd type="none" w="med" len="med"/>
                    </a:lnR>
                    <a:lnT w="9525" cap="flat" cmpd="sng" algn="ctr">
                      <a:solidFill>
                        <a:srgbClr val="E4DDD6"/>
                      </a:solidFill>
                      <a:prstDash val="solid"/>
                      <a:round/>
                      <a:headEnd type="none" w="med" len="med"/>
                      <a:tailEnd type="none" w="med" len="med"/>
                    </a:lnT>
                    <a:lnB w="9525" cap="flat" cmpd="sng" algn="ctr">
                      <a:solidFill>
                        <a:srgbClr val="E4DDD6"/>
                      </a:solidFill>
                      <a:prstDash val="solid"/>
                      <a:round/>
                      <a:headEnd type="none" w="med" len="med"/>
                      <a:tailEnd type="none" w="med" len="med"/>
                    </a:lnB>
                    <a:solidFill>
                      <a:srgbClr val="F4EFEA"/>
                    </a:solidFill>
                  </a:tcPr>
                </a:tc>
                <a:tc>
                  <a:txBody>
                    <a:bodyPr/>
                    <a:lstStyle/>
                    <a:p>
                      <a:pPr algn="ctr" indent="0" marL="0">
                        <a:buNone/>
                      </a:pPr>
                      <a:r>
                        <a:rPr lang="en-US" sz="1200" dirty="0">
                          <a:solidFill>
                            <a:srgbClr val="1C1A1B"/>
                          </a:solidFill>
                          <a:latin typeface="Calibri" pitchFamily="34" charset="0"/>
                          <a:ea typeface="Calibri" pitchFamily="34" charset="-122"/>
                          <a:cs typeface="Calibri" pitchFamily="34" charset="-120"/>
                        </a:rPr>
                        <a:t>46%</a:t>
                      </a:r>
                      <a:endParaRPr lang="en-US" sz="1200" dirty="0">
                        <a:latin typeface="Calibri" charset="0"/>
                        <a:ea typeface="Calibri" charset="0"/>
                        <a:cs typeface="Calibri" charset="0"/>
                      </a:endParaRPr>
                    </a:p>
                  </a:txBody>
                  <a:tcPr marL="91440" marR="91440" marT="45720" marB="45720" anchor="ctr">
                    <a:lnL w="9525" cap="flat" cmpd="sng" algn="ctr">
                      <a:solidFill>
                        <a:srgbClr val="E4DDD6"/>
                      </a:solidFill>
                      <a:prstDash val="solid"/>
                      <a:round/>
                      <a:headEnd type="none" w="med" len="med"/>
                      <a:tailEnd type="none" w="med" len="med"/>
                    </a:lnL>
                    <a:lnR w="9525" cap="flat" cmpd="sng" algn="ctr">
                      <a:solidFill>
                        <a:srgbClr val="E4DDD6"/>
                      </a:solidFill>
                      <a:prstDash val="solid"/>
                      <a:round/>
                      <a:headEnd type="none" w="med" len="med"/>
                      <a:tailEnd type="none" w="med" len="med"/>
                    </a:lnR>
                    <a:lnT w="9525" cap="flat" cmpd="sng" algn="ctr">
                      <a:solidFill>
                        <a:srgbClr val="E4DDD6"/>
                      </a:solidFill>
                      <a:prstDash val="solid"/>
                      <a:round/>
                      <a:headEnd type="none" w="med" len="med"/>
                      <a:tailEnd type="none" w="med" len="med"/>
                    </a:lnT>
                    <a:lnB w="9525" cap="flat" cmpd="sng" algn="ctr">
                      <a:solidFill>
                        <a:srgbClr val="E4DDD6"/>
                      </a:solidFill>
                      <a:prstDash val="solid"/>
                      <a:round/>
                      <a:headEnd type="none" w="med" len="med"/>
                      <a:tailEnd type="none" w="med" len="med"/>
                    </a:lnB>
                    <a:solidFill>
                      <a:srgbClr val="FFFFFF"/>
                    </a:solidFill>
                  </a:tcPr>
                </a:tc>
              </a:tr>
              <a:tr h="402336">
                <a:tc>
                  <a:txBody>
                    <a:bodyPr/>
                    <a:lstStyle/>
                    <a:p>
                      <a:pPr algn="l" indent="0" marL="0">
                        <a:buNone/>
                      </a:pPr>
                      <a:r>
                        <a:rPr lang="en-US" sz="1200" dirty="0">
                          <a:solidFill>
                            <a:srgbClr val="1C1A1B"/>
                          </a:solidFill>
                          <a:latin typeface="Calibri" pitchFamily="34" charset="0"/>
                          <a:ea typeface="Calibri" pitchFamily="34" charset="-122"/>
                          <a:cs typeface="Calibri" pitchFamily="34" charset="-120"/>
                        </a:rPr>
                        <a:t>Waste prevented (of addressable)</a:t>
                      </a:r>
                      <a:endParaRPr lang="en-US" sz="1200" dirty="0">
                        <a:latin typeface="Calibri" charset="0"/>
                        <a:ea typeface="Calibri" charset="0"/>
                        <a:cs typeface="Calibri" charset="0"/>
                      </a:endParaRPr>
                    </a:p>
                  </a:txBody>
                  <a:tcPr marL="91440" marR="91440" marT="45720" marB="45720" anchor="ctr">
                    <a:lnL w="9525" cap="flat" cmpd="sng" algn="ctr">
                      <a:solidFill>
                        <a:srgbClr val="E4DDD6"/>
                      </a:solidFill>
                      <a:prstDash val="solid"/>
                      <a:round/>
                      <a:headEnd type="none" w="med" len="med"/>
                      <a:tailEnd type="none" w="med" len="med"/>
                    </a:lnL>
                    <a:lnR w="9525" cap="flat" cmpd="sng" algn="ctr">
                      <a:solidFill>
                        <a:srgbClr val="E4DDD6"/>
                      </a:solidFill>
                      <a:prstDash val="solid"/>
                      <a:round/>
                      <a:headEnd type="none" w="med" len="med"/>
                      <a:tailEnd type="none" w="med" len="med"/>
                    </a:lnR>
                    <a:lnT w="9525" cap="flat" cmpd="sng" algn="ctr">
                      <a:solidFill>
                        <a:srgbClr val="E4DDD6"/>
                      </a:solidFill>
                      <a:prstDash val="solid"/>
                      <a:round/>
                      <a:headEnd type="none" w="med" len="med"/>
                      <a:tailEnd type="none" w="med" len="med"/>
                    </a:lnT>
                    <a:lnB w="9525" cap="flat" cmpd="sng" algn="ctr">
                      <a:solidFill>
                        <a:srgbClr val="E4DDD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1A1B"/>
                          </a:solidFill>
                          <a:latin typeface="Calibri" pitchFamily="34" charset="0"/>
                          <a:ea typeface="Calibri" pitchFamily="34" charset="-122"/>
                          <a:cs typeface="Calibri" pitchFamily="34" charset="-120"/>
                        </a:rPr>
                        <a:t>15%</a:t>
                      </a:r>
                      <a:endParaRPr lang="en-US" sz="1200" dirty="0">
                        <a:latin typeface="Calibri" charset="0"/>
                        <a:ea typeface="Calibri" charset="0"/>
                        <a:cs typeface="Calibri" charset="0"/>
                      </a:endParaRPr>
                    </a:p>
                  </a:txBody>
                  <a:tcPr marL="91440" marR="91440" marT="45720" marB="45720" anchor="ctr">
                    <a:lnL w="9525" cap="flat" cmpd="sng" algn="ctr">
                      <a:solidFill>
                        <a:srgbClr val="E4DDD6"/>
                      </a:solidFill>
                      <a:prstDash val="solid"/>
                      <a:round/>
                      <a:headEnd type="none" w="med" len="med"/>
                      <a:tailEnd type="none" w="med" len="med"/>
                    </a:lnL>
                    <a:lnR w="9525" cap="flat" cmpd="sng" algn="ctr">
                      <a:solidFill>
                        <a:srgbClr val="E4DDD6"/>
                      </a:solidFill>
                      <a:prstDash val="solid"/>
                      <a:round/>
                      <a:headEnd type="none" w="med" len="med"/>
                      <a:tailEnd type="none" w="med" len="med"/>
                    </a:lnR>
                    <a:lnT w="9525" cap="flat" cmpd="sng" algn="ctr">
                      <a:solidFill>
                        <a:srgbClr val="E4DDD6"/>
                      </a:solidFill>
                      <a:prstDash val="solid"/>
                      <a:round/>
                      <a:headEnd type="none" w="med" len="med"/>
                      <a:tailEnd type="none" w="med" len="med"/>
                    </a:lnT>
                    <a:lnB w="9525" cap="flat" cmpd="sng" algn="ctr">
                      <a:solidFill>
                        <a:srgbClr val="E4DDD6"/>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C1A1B"/>
                          </a:solidFill>
                          <a:latin typeface="Calibri" pitchFamily="34" charset="0"/>
                          <a:ea typeface="Calibri" pitchFamily="34" charset="-122"/>
                          <a:cs typeface="Calibri" pitchFamily="34" charset="-120"/>
                        </a:rPr>
                        <a:t>25%</a:t>
                      </a:r>
                      <a:endParaRPr lang="en-US" sz="1200" dirty="0">
                        <a:latin typeface="Calibri" charset="0"/>
                        <a:ea typeface="Calibri" charset="0"/>
                        <a:cs typeface="Calibri" charset="0"/>
                      </a:endParaRPr>
                    </a:p>
                  </a:txBody>
                  <a:tcPr marL="91440" marR="91440" marT="45720" marB="45720" anchor="ctr">
                    <a:lnL w="9525" cap="flat" cmpd="sng" algn="ctr">
                      <a:solidFill>
                        <a:srgbClr val="E4DDD6"/>
                      </a:solidFill>
                      <a:prstDash val="solid"/>
                      <a:round/>
                      <a:headEnd type="none" w="med" len="med"/>
                      <a:tailEnd type="none" w="med" len="med"/>
                    </a:lnL>
                    <a:lnR w="9525" cap="flat" cmpd="sng" algn="ctr">
                      <a:solidFill>
                        <a:srgbClr val="E4DDD6"/>
                      </a:solidFill>
                      <a:prstDash val="solid"/>
                      <a:round/>
                      <a:headEnd type="none" w="med" len="med"/>
                      <a:tailEnd type="none" w="med" len="med"/>
                    </a:lnR>
                    <a:lnT w="9525" cap="flat" cmpd="sng" algn="ctr">
                      <a:solidFill>
                        <a:srgbClr val="E4DDD6"/>
                      </a:solidFill>
                      <a:prstDash val="solid"/>
                      <a:round/>
                      <a:headEnd type="none" w="med" len="med"/>
                      <a:tailEnd type="none" w="med" len="med"/>
                    </a:lnT>
                    <a:lnB w="9525" cap="flat" cmpd="sng" algn="ctr">
                      <a:solidFill>
                        <a:srgbClr val="E4DDD6"/>
                      </a:solidFill>
                      <a:prstDash val="solid"/>
                      <a:round/>
                      <a:headEnd type="none" w="med" len="med"/>
                      <a:tailEnd type="none" w="med" len="med"/>
                    </a:lnB>
                    <a:solidFill>
                      <a:srgbClr val="F4EFEA"/>
                    </a:solidFill>
                  </a:tcPr>
                </a:tc>
                <a:tc>
                  <a:txBody>
                    <a:bodyPr/>
                    <a:lstStyle/>
                    <a:p>
                      <a:pPr algn="ctr" indent="0" marL="0">
                        <a:buNone/>
                      </a:pPr>
                      <a:r>
                        <a:rPr lang="en-US" sz="1200" dirty="0">
                          <a:solidFill>
                            <a:srgbClr val="1C1A1B"/>
                          </a:solidFill>
                          <a:latin typeface="Calibri" pitchFamily="34" charset="0"/>
                          <a:ea typeface="Calibri" pitchFamily="34" charset="-122"/>
                          <a:cs typeface="Calibri" pitchFamily="34" charset="-120"/>
                        </a:rPr>
                        <a:t>35%</a:t>
                      </a:r>
                      <a:endParaRPr lang="en-US" sz="1200" dirty="0">
                        <a:latin typeface="Calibri" charset="0"/>
                        <a:ea typeface="Calibri" charset="0"/>
                        <a:cs typeface="Calibri" charset="0"/>
                      </a:endParaRPr>
                    </a:p>
                  </a:txBody>
                  <a:tcPr marL="91440" marR="91440" marT="45720" marB="45720" anchor="ctr">
                    <a:lnL w="9525" cap="flat" cmpd="sng" algn="ctr">
                      <a:solidFill>
                        <a:srgbClr val="E4DDD6"/>
                      </a:solidFill>
                      <a:prstDash val="solid"/>
                      <a:round/>
                      <a:headEnd type="none" w="med" len="med"/>
                      <a:tailEnd type="none" w="med" len="med"/>
                    </a:lnL>
                    <a:lnR w="9525" cap="flat" cmpd="sng" algn="ctr">
                      <a:solidFill>
                        <a:srgbClr val="E4DDD6"/>
                      </a:solidFill>
                      <a:prstDash val="solid"/>
                      <a:round/>
                      <a:headEnd type="none" w="med" len="med"/>
                      <a:tailEnd type="none" w="med" len="med"/>
                    </a:lnR>
                    <a:lnT w="9525" cap="flat" cmpd="sng" algn="ctr">
                      <a:solidFill>
                        <a:srgbClr val="E4DDD6"/>
                      </a:solidFill>
                      <a:prstDash val="solid"/>
                      <a:round/>
                      <a:headEnd type="none" w="med" len="med"/>
                      <a:tailEnd type="none" w="med" len="med"/>
                    </a:lnT>
                    <a:lnB w="9525" cap="flat" cmpd="sng" algn="ctr">
                      <a:solidFill>
                        <a:srgbClr val="E4DDD6"/>
                      </a:solidFill>
                      <a:prstDash val="solid"/>
                      <a:round/>
                      <a:headEnd type="none" w="med" len="med"/>
                      <a:tailEnd type="none" w="med" len="med"/>
                    </a:lnB>
                    <a:solidFill>
                      <a:srgbClr val="FFFFFF"/>
                    </a:solidFill>
                  </a:tcPr>
                </a:tc>
              </a:tr>
              <a:tr h="402336">
                <a:tc>
                  <a:txBody>
                    <a:bodyPr/>
                    <a:lstStyle/>
                    <a:p>
                      <a:pPr algn="l" indent="0" marL="0">
                        <a:buNone/>
                      </a:pPr>
                      <a:r>
                        <a:rPr lang="en-US" sz="1200" dirty="0">
                          <a:solidFill>
                            <a:srgbClr val="1C1A1B"/>
                          </a:solidFill>
                          <a:latin typeface="Calibri" pitchFamily="34" charset="0"/>
                          <a:ea typeface="Calibri" pitchFamily="34" charset="-122"/>
                          <a:cs typeface="Calibri" pitchFamily="34" charset="-120"/>
                        </a:rPr>
                        <a:t>Net benefit per year</a:t>
                      </a:r>
                      <a:endParaRPr lang="en-US" sz="1200" dirty="0">
                        <a:latin typeface="Calibri" charset="0"/>
                        <a:ea typeface="Calibri" charset="0"/>
                        <a:cs typeface="Calibri" charset="0"/>
                      </a:endParaRPr>
                    </a:p>
                  </a:txBody>
                  <a:tcPr marL="91440" marR="91440" marT="45720" marB="45720" anchor="ctr">
                    <a:lnL w="9525" cap="flat" cmpd="sng" algn="ctr">
                      <a:solidFill>
                        <a:srgbClr val="E4DDD6"/>
                      </a:solidFill>
                      <a:prstDash val="solid"/>
                      <a:round/>
                      <a:headEnd type="none" w="med" len="med"/>
                      <a:tailEnd type="none" w="med" len="med"/>
                    </a:lnL>
                    <a:lnR w="9525" cap="flat" cmpd="sng" algn="ctr">
                      <a:solidFill>
                        <a:srgbClr val="E4DDD6"/>
                      </a:solidFill>
                      <a:prstDash val="solid"/>
                      <a:round/>
                      <a:headEnd type="none" w="med" len="med"/>
                      <a:tailEnd type="none" w="med" len="med"/>
                    </a:lnR>
                    <a:lnT w="9525" cap="flat" cmpd="sng" algn="ctr">
                      <a:solidFill>
                        <a:srgbClr val="E4DDD6"/>
                      </a:solidFill>
                      <a:prstDash val="solid"/>
                      <a:round/>
                      <a:headEnd type="none" w="med" len="med"/>
                      <a:tailEnd type="none" w="med" len="med"/>
                    </a:lnT>
                    <a:lnB w="9525" cap="flat" cmpd="sng" algn="ctr">
                      <a:solidFill>
                        <a:srgbClr val="E4DDD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1A1B"/>
                          </a:solidFill>
                          <a:latin typeface="Calibri" pitchFamily="34" charset="0"/>
                          <a:ea typeface="Calibri" pitchFamily="34" charset="-122"/>
                          <a:cs typeface="Calibri" pitchFamily="34" charset="-120"/>
                        </a:rPr>
                        <a:t>₹7.3 cr</a:t>
                      </a:r>
                      <a:endParaRPr lang="en-US" sz="1200" dirty="0">
                        <a:latin typeface="Calibri" charset="0"/>
                        <a:ea typeface="Calibri" charset="0"/>
                        <a:cs typeface="Calibri" charset="0"/>
                      </a:endParaRPr>
                    </a:p>
                  </a:txBody>
                  <a:tcPr marL="91440" marR="91440" marT="45720" marB="45720" anchor="ctr">
                    <a:lnL w="9525" cap="flat" cmpd="sng" algn="ctr">
                      <a:solidFill>
                        <a:srgbClr val="E4DDD6"/>
                      </a:solidFill>
                      <a:prstDash val="solid"/>
                      <a:round/>
                      <a:headEnd type="none" w="med" len="med"/>
                      <a:tailEnd type="none" w="med" len="med"/>
                    </a:lnL>
                    <a:lnR w="9525" cap="flat" cmpd="sng" algn="ctr">
                      <a:solidFill>
                        <a:srgbClr val="E4DDD6"/>
                      </a:solidFill>
                      <a:prstDash val="solid"/>
                      <a:round/>
                      <a:headEnd type="none" w="med" len="med"/>
                      <a:tailEnd type="none" w="med" len="med"/>
                    </a:lnR>
                    <a:lnT w="9525" cap="flat" cmpd="sng" algn="ctr">
                      <a:solidFill>
                        <a:srgbClr val="E4DDD6"/>
                      </a:solidFill>
                      <a:prstDash val="solid"/>
                      <a:round/>
                      <a:headEnd type="none" w="med" len="med"/>
                      <a:tailEnd type="none" w="med" len="med"/>
                    </a:lnT>
                    <a:lnB w="9525" cap="flat" cmpd="sng" algn="ctr">
                      <a:solidFill>
                        <a:srgbClr val="E4DDD6"/>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C1A1B"/>
                          </a:solidFill>
                          <a:latin typeface="Calibri" pitchFamily="34" charset="0"/>
                          <a:ea typeface="Calibri" pitchFamily="34" charset="-122"/>
                          <a:cs typeface="Calibri" pitchFamily="34" charset="-120"/>
                        </a:rPr>
                        <a:t>₹18.2 cr</a:t>
                      </a:r>
                      <a:endParaRPr lang="en-US" sz="1200" dirty="0">
                        <a:latin typeface="Calibri" charset="0"/>
                        <a:ea typeface="Calibri" charset="0"/>
                        <a:cs typeface="Calibri" charset="0"/>
                      </a:endParaRPr>
                    </a:p>
                  </a:txBody>
                  <a:tcPr marL="91440" marR="91440" marT="45720" marB="45720" anchor="ctr">
                    <a:lnL w="9525" cap="flat" cmpd="sng" algn="ctr">
                      <a:solidFill>
                        <a:srgbClr val="E4DDD6"/>
                      </a:solidFill>
                      <a:prstDash val="solid"/>
                      <a:round/>
                      <a:headEnd type="none" w="med" len="med"/>
                      <a:tailEnd type="none" w="med" len="med"/>
                    </a:lnL>
                    <a:lnR w="9525" cap="flat" cmpd="sng" algn="ctr">
                      <a:solidFill>
                        <a:srgbClr val="E4DDD6"/>
                      </a:solidFill>
                      <a:prstDash val="solid"/>
                      <a:round/>
                      <a:headEnd type="none" w="med" len="med"/>
                      <a:tailEnd type="none" w="med" len="med"/>
                    </a:lnR>
                    <a:lnT w="9525" cap="flat" cmpd="sng" algn="ctr">
                      <a:solidFill>
                        <a:srgbClr val="E4DDD6"/>
                      </a:solidFill>
                      <a:prstDash val="solid"/>
                      <a:round/>
                      <a:headEnd type="none" w="med" len="med"/>
                      <a:tailEnd type="none" w="med" len="med"/>
                    </a:lnT>
                    <a:lnB w="9525" cap="flat" cmpd="sng" algn="ctr">
                      <a:solidFill>
                        <a:srgbClr val="E4DDD6"/>
                      </a:solidFill>
                      <a:prstDash val="solid"/>
                      <a:round/>
                      <a:headEnd type="none" w="med" len="med"/>
                      <a:tailEnd type="none" w="med" len="med"/>
                    </a:lnB>
                    <a:solidFill>
                      <a:srgbClr val="F4EFEA"/>
                    </a:solidFill>
                  </a:tcPr>
                </a:tc>
                <a:tc>
                  <a:txBody>
                    <a:bodyPr/>
                    <a:lstStyle/>
                    <a:p>
                      <a:pPr algn="ctr" indent="0" marL="0">
                        <a:buNone/>
                      </a:pPr>
                      <a:r>
                        <a:rPr lang="en-US" sz="1200" dirty="0">
                          <a:solidFill>
                            <a:srgbClr val="1C1A1B"/>
                          </a:solidFill>
                          <a:latin typeface="Calibri" pitchFamily="34" charset="0"/>
                          <a:ea typeface="Calibri" pitchFamily="34" charset="-122"/>
                          <a:cs typeface="Calibri" pitchFamily="34" charset="-120"/>
                        </a:rPr>
                        <a:t>₹32.8 cr</a:t>
                      </a:r>
                      <a:endParaRPr lang="en-US" sz="1200" dirty="0">
                        <a:latin typeface="Calibri" charset="0"/>
                        <a:ea typeface="Calibri" charset="0"/>
                        <a:cs typeface="Calibri" charset="0"/>
                      </a:endParaRPr>
                    </a:p>
                  </a:txBody>
                  <a:tcPr marL="91440" marR="91440" marT="45720" marB="45720" anchor="ctr">
                    <a:lnL w="9525" cap="flat" cmpd="sng" algn="ctr">
                      <a:solidFill>
                        <a:srgbClr val="E4DDD6"/>
                      </a:solidFill>
                      <a:prstDash val="solid"/>
                      <a:round/>
                      <a:headEnd type="none" w="med" len="med"/>
                      <a:tailEnd type="none" w="med" len="med"/>
                    </a:lnL>
                    <a:lnR w="9525" cap="flat" cmpd="sng" algn="ctr">
                      <a:solidFill>
                        <a:srgbClr val="E4DDD6"/>
                      </a:solidFill>
                      <a:prstDash val="solid"/>
                      <a:round/>
                      <a:headEnd type="none" w="med" len="med"/>
                      <a:tailEnd type="none" w="med" len="med"/>
                    </a:lnR>
                    <a:lnT w="9525" cap="flat" cmpd="sng" algn="ctr">
                      <a:solidFill>
                        <a:srgbClr val="E4DDD6"/>
                      </a:solidFill>
                      <a:prstDash val="solid"/>
                      <a:round/>
                      <a:headEnd type="none" w="med" len="med"/>
                      <a:tailEnd type="none" w="med" len="med"/>
                    </a:lnT>
                    <a:lnB w="9525" cap="flat" cmpd="sng" algn="ctr">
                      <a:solidFill>
                        <a:srgbClr val="E4DDD6"/>
                      </a:solidFill>
                      <a:prstDash val="solid"/>
                      <a:round/>
                      <a:headEnd type="none" w="med" len="med"/>
                      <a:tailEnd type="none" w="med" len="med"/>
                    </a:lnB>
                    <a:solidFill>
                      <a:srgbClr val="FFFFFF"/>
                    </a:solidFill>
                  </a:tcPr>
                </a:tc>
              </a:tr>
              <a:tr h="402336">
                <a:tc>
                  <a:txBody>
                    <a:bodyPr/>
                    <a:lstStyle/>
                    <a:p>
                      <a:pPr algn="l" indent="0" marL="0">
                        <a:buNone/>
                      </a:pPr>
                      <a:r>
                        <a:rPr lang="en-US" sz="1200" dirty="0">
                          <a:solidFill>
                            <a:srgbClr val="1C1A1B"/>
                          </a:solidFill>
                          <a:latin typeface="Calibri" pitchFamily="34" charset="0"/>
                          <a:ea typeface="Calibri" pitchFamily="34" charset="-122"/>
                          <a:cs typeface="Calibri" pitchFamily="34" charset="-120"/>
                        </a:rPr>
                        <a:t>3-year cost (build + run)</a:t>
                      </a:r>
                      <a:endParaRPr lang="en-US" sz="1200" dirty="0">
                        <a:latin typeface="Calibri" charset="0"/>
                        <a:ea typeface="Calibri" charset="0"/>
                        <a:cs typeface="Calibri" charset="0"/>
                      </a:endParaRPr>
                    </a:p>
                  </a:txBody>
                  <a:tcPr marL="91440" marR="91440" marT="45720" marB="45720" anchor="ctr">
                    <a:lnL w="9525" cap="flat" cmpd="sng" algn="ctr">
                      <a:solidFill>
                        <a:srgbClr val="E4DDD6"/>
                      </a:solidFill>
                      <a:prstDash val="solid"/>
                      <a:round/>
                      <a:headEnd type="none" w="med" len="med"/>
                      <a:tailEnd type="none" w="med" len="med"/>
                    </a:lnL>
                    <a:lnR w="9525" cap="flat" cmpd="sng" algn="ctr">
                      <a:solidFill>
                        <a:srgbClr val="E4DDD6"/>
                      </a:solidFill>
                      <a:prstDash val="solid"/>
                      <a:round/>
                      <a:headEnd type="none" w="med" len="med"/>
                      <a:tailEnd type="none" w="med" len="med"/>
                    </a:lnR>
                    <a:lnT w="9525" cap="flat" cmpd="sng" algn="ctr">
                      <a:solidFill>
                        <a:srgbClr val="E4DDD6"/>
                      </a:solidFill>
                      <a:prstDash val="solid"/>
                      <a:round/>
                      <a:headEnd type="none" w="med" len="med"/>
                      <a:tailEnd type="none" w="med" len="med"/>
                    </a:lnT>
                    <a:lnB w="9525" cap="flat" cmpd="sng" algn="ctr">
                      <a:solidFill>
                        <a:srgbClr val="E4DDD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1A1B"/>
                          </a:solidFill>
                          <a:latin typeface="Calibri" pitchFamily="34" charset="0"/>
                          <a:ea typeface="Calibri" pitchFamily="34" charset="-122"/>
                          <a:cs typeface="Calibri" pitchFamily="34" charset="-120"/>
                        </a:rPr>
                        <a:t>₹18.0 cr</a:t>
                      </a:r>
                      <a:endParaRPr lang="en-US" sz="1200" dirty="0">
                        <a:latin typeface="Calibri" charset="0"/>
                        <a:ea typeface="Calibri" charset="0"/>
                        <a:cs typeface="Calibri" charset="0"/>
                      </a:endParaRPr>
                    </a:p>
                  </a:txBody>
                  <a:tcPr marL="91440" marR="91440" marT="45720" marB="45720" anchor="ctr">
                    <a:lnL w="9525" cap="flat" cmpd="sng" algn="ctr">
                      <a:solidFill>
                        <a:srgbClr val="E4DDD6"/>
                      </a:solidFill>
                      <a:prstDash val="solid"/>
                      <a:round/>
                      <a:headEnd type="none" w="med" len="med"/>
                      <a:tailEnd type="none" w="med" len="med"/>
                    </a:lnL>
                    <a:lnR w="9525" cap="flat" cmpd="sng" algn="ctr">
                      <a:solidFill>
                        <a:srgbClr val="E4DDD6"/>
                      </a:solidFill>
                      <a:prstDash val="solid"/>
                      <a:round/>
                      <a:headEnd type="none" w="med" len="med"/>
                      <a:tailEnd type="none" w="med" len="med"/>
                    </a:lnR>
                    <a:lnT w="9525" cap="flat" cmpd="sng" algn="ctr">
                      <a:solidFill>
                        <a:srgbClr val="E4DDD6"/>
                      </a:solidFill>
                      <a:prstDash val="solid"/>
                      <a:round/>
                      <a:headEnd type="none" w="med" len="med"/>
                      <a:tailEnd type="none" w="med" len="med"/>
                    </a:lnT>
                    <a:lnB w="9525" cap="flat" cmpd="sng" algn="ctr">
                      <a:solidFill>
                        <a:srgbClr val="E4DDD6"/>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C1A1B"/>
                          </a:solidFill>
                          <a:latin typeface="Calibri" pitchFamily="34" charset="0"/>
                          <a:ea typeface="Calibri" pitchFamily="34" charset="-122"/>
                          <a:cs typeface="Calibri" pitchFamily="34" charset="-120"/>
                        </a:rPr>
                        <a:t>₹15.0 cr</a:t>
                      </a:r>
                      <a:endParaRPr lang="en-US" sz="1200" dirty="0">
                        <a:latin typeface="Calibri" charset="0"/>
                        <a:ea typeface="Calibri" charset="0"/>
                        <a:cs typeface="Calibri" charset="0"/>
                      </a:endParaRPr>
                    </a:p>
                  </a:txBody>
                  <a:tcPr marL="91440" marR="91440" marT="45720" marB="45720" anchor="ctr">
                    <a:lnL w="9525" cap="flat" cmpd="sng" algn="ctr">
                      <a:solidFill>
                        <a:srgbClr val="E4DDD6"/>
                      </a:solidFill>
                      <a:prstDash val="solid"/>
                      <a:round/>
                      <a:headEnd type="none" w="med" len="med"/>
                      <a:tailEnd type="none" w="med" len="med"/>
                    </a:lnL>
                    <a:lnR w="9525" cap="flat" cmpd="sng" algn="ctr">
                      <a:solidFill>
                        <a:srgbClr val="E4DDD6"/>
                      </a:solidFill>
                      <a:prstDash val="solid"/>
                      <a:round/>
                      <a:headEnd type="none" w="med" len="med"/>
                      <a:tailEnd type="none" w="med" len="med"/>
                    </a:lnR>
                    <a:lnT w="9525" cap="flat" cmpd="sng" algn="ctr">
                      <a:solidFill>
                        <a:srgbClr val="E4DDD6"/>
                      </a:solidFill>
                      <a:prstDash val="solid"/>
                      <a:round/>
                      <a:headEnd type="none" w="med" len="med"/>
                      <a:tailEnd type="none" w="med" len="med"/>
                    </a:lnT>
                    <a:lnB w="9525" cap="flat" cmpd="sng" algn="ctr">
                      <a:solidFill>
                        <a:srgbClr val="E4DDD6"/>
                      </a:solidFill>
                      <a:prstDash val="solid"/>
                      <a:round/>
                      <a:headEnd type="none" w="med" len="med"/>
                      <a:tailEnd type="none" w="med" len="med"/>
                    </a:lnB>
                    <a:solidFill>
                      <a:srgbClr val="F4EFEA"/>
                    </a:solidFill>
                  </a:tcPr>
                </a:tc>
                <a:tc>
                  <a:txBody>
                    <a:bodyPr/>
                    <a:lstStyle/>
                    <a:p>
                      <a:pPr algn="ctr" indent="0" marL="0">
                        <a:buNone/>
                      </a:pPr>
                      <a:r>
                        <a:rPr lang="en-US" sz="1200" dirty="0">
                          <a:solidFill>
                            <a:srgbClr val="1C1A1B"/>
                          </a:solidFill>
                          <a:latin typeface="Calibri" pitchFamily="34" charset="0"/>
                          <a:ea typeface="Calibri" pitchFamily="34" charset="-122"/>
                          <a:cs typeface="Calibri" pitchFamily="34" charset="-120"/>
                        </a:rPr>
                        <a:t>₹12.0 cr</a:t>
                      </a:r>
                      <a:endParaRPr lang="en-US" sz="1200" dirty="0">
                        <a:latin typeface="Calibri" charset="0"/>
                        <a:ea typeface="Calibri" charset="0"/>
                        <a:cs typeface="Calibri" charset="0"/>
                      </a:endParaRPr>
                    </a:p>
                  </a:txBody>
                  <a:tcPr marL="91440" marR="91440" marT="45720" marB="45720" anchor="ctr">
                    <a:lnL w="9525" cap="flat" cmpd="sng" algn="ctr">
                      <a:solidFill>
                        <a:srgbClr val="E4DDD6"/>
                      </a:solidFill>
                      <a:prstDash val="solid"/>
                      <a:round/>
                      <a:headEnd type="none" w="med" len="med"/>
                      <a:tailEnd type="none" w="med" len="med"/>
                    </a:lnL>
                    <a:lnR w="9525" cap="flat" cmpd="sng" algn="ctr">
                      <a:solidFill>
                        <a:srgbClr val="E4DDD6"/>
                      </a:solidFill>
                      <a:prstDash val="solid"/>
                      <a:round/>
                      <a:headEnd type="none" w="med" len="med"/>
                      <a:tailEnd type="none" w="med" len="med"/>
                    </a:lnR>
                    <a:lnT w="9525" cap="flat" cmpd="sng" algn="ctr">
                      <a:solidFill>
                        <a:srgbClr val="E4DDD6"/>
                      </a:solidFill>
                      <a:prstDash val="solid"/>
                      <a:round/>
                      <a:headEnd type="none" w="med" len="med"/>
                      <a:tailEnd type="none" w="med" len="med"/>
                    </a:lnT>
                    <a:lnB w="9525" cap="flat" cmpd="sng" algn="ctr">
                      <a:solidFill>
                        <a:srgbClr val="E4DDD6"/>
                      </a:solidFill>
                      <a:prstDash val="solid"/>
                      <a:round/>
                      <a:headEnd type="none" w="med" len="med"/>
                      <a:tailEnd type="none" w="med" len="med"/>
                    </a:lnB>
                    <a:solidFill>
                      <a:srgbClr val="FFFFFF"/>
                    </a:solidFill>
                  </a:tcPr>
                </a:tc>
              </a:tr>
              <a:tr h="402336">
                <a:tc>
                  <a:txBody>
                    <a:bodyPr/>
                    <a:lstStyle/>
                    <a:p>
                      <a:pPr algn="l" indent="0" marL="0">
                        <a:buNone/>
                      </a:pPr>
                      <a:r>
                        <a:rPr lang="en-US" sz="1200" dirty="0">
                          <a:solidFill>
                            <a:srgbClr val="1C1A1B"/>
                          </a:solidFill>
                          <a:latin typeface="Calibri" pitchFamily="34" charset="0"/>
                          <a:ea typeface="Calibri" pitchFamily="34" charset="-122"/>
                          <a:cs typeface="Calibri" pitchFamily="34" charset="-120"/>
                        </a:rPr>
                        <a:t>3-year ROI</a:t>
                      </a:r>
                      <a:endParaRPr lang="en-US" sz="1200" dirty="0">
                        <a:latin typeface="Calibri" charset="0"/>
                        <a:ea typeface="Calibri" charset="0"/>
                        <a:cs typeface="Calibri" charset="0"/>
                      </a:endParaRPr>
                    </a:p>
                  </a:txBody>
                  <a:tcPr marL="91440" marR="91440" marT="45720" marB="45720" anchor="ctr">
                    <a:lnL w="9525" cap="flat" cmpd="sng" algn="ctr">
                      <a:solidFill>
                        <a:srgbClr val="E4DDD6"/>
                      </a:solidFill>
                      <a:prstDash val="solid"/>
                      <a:round/>
                      <a:headEnd type="none" w="med" len="med"/>
                      <a:tailEnd type="none" w="med" len="med"/>
                    </a:lnL>
                    <a:lnR w="9525" cap="flat" cmpd="sng" algn="ctr">
                      <a:solidFill>
                        <a:srgbClr val="E4DDD6"/>
                      </a:solidFill>
                      <a:prstDash val="solid"/>
                      <a:round/>
                      <a:headEnd type="none" w="med" len="med"/>
                      <a:tailEnd type="none" w="med" len="med"/>
                    </a:lnR>
                    <a:lnT w="9525" cap="flat" cmpd="sng" algn="ctr">
                      <a:solidFill>
                        <a:srgbClr val="E4DDD6"/>
                      </a:solidFill>
                      <a:prstDash val="solid"/>
                      <a:round/>
                      <a:headEnd type="none" w="med" len="med"/>
                      <a:tailEnd type="none" w="med" len="med"/>
                    </a:lnT>
                    <a:lnB w="9525" cap="flat" cmpd="sng" algn="ctr">
                      <a:solidFill>
                        <a:srgbClr val="E4DDD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1A1B"/>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nchor="ctr">
                    <a:lnL w="9525" cap="flat" cmpd="sng" algn="ctr">
                      <a:solidFill>
                        <a:srgbClr val="E4DDD6"/>
                      </a:solidFill>
                      <a:prstDash val="solid"/>
                      <a:round/>
                      <a:headEnd type="none" w="med" len="med"/>
                      <a:tailEnd type="none" w="med" len="med"/>
                    </a:lnL>
                    <a:lnR w="9525" cap="flat" cmpd="sng" algn="ctr">
                      <a:solidFill>
                        <a:srgbClr val="E4DDD6"/>
                      </a:solidFill>
                      <a:prstDash val="solid"/>
                      <a:round/>
                      <a:headEnd type="none" w="med" len="med"/>
                      <a:tailEnd type="none" w="med" len="med"/>
                    </a:lnR>
                    <a:lnT w="9525" cap="flat" cmpd="sng" algn="ctr">
                      <a:solidFill>
                        <a:srgbClr val="E4DDD6"/>
                      </a:solidFill>
                      <a:prstDash val="solid"/>
                      <a:round/>
                      <a:headEnd type="none" w="med" len="med"/>
                      <a:tailEnd type="none" w="med" len="med"/>
                    </a:lnT>
                    <a:lnB w="9525" cap="flat" cmpd="sng" algn="ctr">
                      <a:solidFill>
                        <a:srgbClr val="E4DDD6"/>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C1A1B"/>
                          </a:solidFill>
                          <a:latin typeface="Calibri" pitchFamily="34" charset="0"/>
                          <a:ea typeface="Calibri" pitchFamily="34" charset="-122"/>
                          <a:cs typeface="Calibri" pitchFamily="34" charset="-120"/>
                        </a:rPr>
                        <a:t>≈204%</a:t>
                      </a:r>
                      <a:endParaRPr lang="en-US" sz="1200" dirty="0">
                        <a:latin typeface="Calibri" charset="0"/>
                        <a:ea typeface="Calibri" charset="0"/>
                        <a:cs typeface="Calibri" charset="0"/>
                      </a:endParaRPr>
                    </a:p>
                  </a:txBody>
                  <a:tcPr marL="91440" marR="91440" marT="45720" marB="45720" anchor="ctr">
                    <a:lnL w="9525" cap="flat" cmpd="sng" algn="ctr">
                      <a:solidFill>
                        <a:srgbClr val="E4DDD6"/>
                      </a:solidFill>
                      <a:prstDash val="solid"/>
                      <a:round/>
                      <a:headEnd type="none" w="med" len="med"/>
                      <a:tailEnd type="none" w="med" len="med"/>
                    </a:lnL>
                    <a:lnR w="9525" cap="flat" cmpd="sng" algn="ctr">
                      <a:solidFill>
                        <a:srgbClr val="E4DDD6"/>
                      </a:solidFill>
                      <a:prstDash val="solid"/>
                      <a:round/>
                      <a:headEnd type="none" w="med" len="med"/>
                      <a:tailEnd type="none" w="med" len="med"/>
                    </a:lnR>
                    <a:lnT w="9525" cap="flat" cmpd="sng" algn="ctr">
                      <a:solidFill>
                        <a:srgbClr val="E4DDD6"/>
                      </a:solidFill>
                      <a:prstDash val="solid"/>
                      <a:round/>
                      <a:headEnd type="none" w="med" len="med"/>
                      <a:tailEnd type="none" w="med" len="med"/>
                    </a:lnT>
                    <a:lnB w="9525" cap="flat" cmpd="sng" algn="ctr">
                      <a:solidFill>
                        <a:srgbClr val="E4DDD6"/>
                      </a:solidFill>
                      <a:prstDash val="solid"/>
                      <a:round/>
                      <a:headEnd type="none" w="med" len="med"/>
                      <a:tailEnd type="none" w="med" len="med"/>
                    </a:lnB>
                    <a:solidFill>
                      <a:srgbClr val="F4EFEA"/>
                    </a:solidFill>
                  </a:tcPr>
                </a:tc>
                <a:tc>
                  <a:txBody>
                    <a:bodyPr/>
                    <a:lstStyle/>
                    <a:p>
                      <a:pPr algn="ctr" indent="0" marL="0">
                        <a:buNone/>
                      </a:pPr>
                      <a:r>
                        <a:rPr lang="en-US" sz="1200" dirty="0">
                          <a:solidFill>
                            <a:srgbClr val="1C1A1B"/>
                          </a:solidFill>
                          <a:latin typeface="Calibri" pitchFamily="34" charset="0"/>
                          <a:ea typeface="Calibri" pitchFamily="34" charset="-122"/>
                          <a:cs typeface="Calibri" pitchFamily="34" charset="-120"/>
                        </a:rPr>
                        <a:t>≈584%</a:t>
                      </a:r>
                      <a:endParaRPr lang="en-US" sz="1200" dirty="0">
                        <a:latin typeface="Calibri" charset="0"/>
                        <a:ea typeface="Calibri" charset="0"/>
                        <a:cs typeface="Calibri" charset="0"/>
                      </a:endParaRPr>
                    </a:p>
                  </a:txBody>
                  <a:tcPr marL="91440" marR="91440" marT="45720" marB="45720" anchor="ctr">
                    <a:lnL w="9525" cap="flat" cmpd="sng" algn="ctr">
                      <a:solidFill>
                        <a:srgbClr val="E4DDD6"/>
                      </a:solidFill>
                      <a:prstDash val="solid"/>
                      <a:round/>
                      <a:headEnd type="none" w="med" len="med"/>
                      <a:tailEnd type="none" w="med" len="med"/>
                    </a:lnL>
                    <a:lnR w="9525" cap="flat" cmpd="sng" algn="ctr">
                      <a:solidFill>
                        <a:srgbClr val="E4DDD6"/>
                      </a:solidFill>
                      <a:prstDash val="solid"/>
                      <a:round/>
                      <a:headEnd type="none" w="med" len="med"/>
                      <a:tailEnd type="none" w="med" len="med"/>
                    </a:lnR>
                    <a:lnT w="9525" cap="flat" cmpd="sng" algn="ctr">
                      <a:solidFill>
                        <a:srgbClr val="E4DDD6"/>
                      </a:solidFill>
                      <a:prstDash val="solid"/>
                      <a:round/>
                      <a:headEnd type="none" w="med" len="med"/>
                      <a:tailEnd type="none" w="med" len="med"/>
                    </a:lnT>
                    <a:lnB w="9525" cap="flat" cmpd="sng" algn="ctr">
                      <a:solidFill>
                        <a:srgbClr val="E4DDD6"/>
                      </a:solidFill>
                      <a:prstDash val="solid"/>
                      <a:round/>
                      <a:headEnd type="none" w="med" len="med"/>
                      <a:tailEnd type="none" w="med" len="med"/>
                    </a:lnB>
                    <a:solidFill>
                      <a:srgbClr val="FFFFFF"/>
                    </a:solidFill>
                  </a:tcPr>
                </a:tc>
              </a:tr>
              <a:tr h="402336">
                <a:tc>
                  <a:txBody>
                    <a:bodyPr/>
                    <a:lstStyle/>
                    <a:p>
                      <a:pPr algn="l" indent="0" marL="0">
                        <a:buNone/>
                      </a:pPr>
                      <a:r>
                        <a:rPr lang="en-US" sz="1200" dirty="0">
                          <a:solidFill>
                            <a:srgbClr val="1C1A1B"/>
                          </a:solidFill>
                          <a:latin typeface="Calibri" pitchFamily="34" charset="0"/>
                          <a:ea typeface="Calibri" pitchFamily="34" charset="-122"/>
                          <a:cs typeface="Calibri" pitchFamily="34" charset="-120"/>
                        </a:rPr>
                        <a:t>Units saved from waste / year</a:t>
                      </a:r>
                      <a:endParaRPr lang="en-US" sz="1200" dirty="0">
                        <a:latin typeface="Calibri" charset="0"/>
                        <a:ea typeface="Calibri" charset="0"/>
                        <a:cs typeface="Calibri" charset="0"/>
                      </a:endParaRPr>
                    </a:p>
                  </a:txBody>
                  <a:tcPr marL="91440" marR="91440" marT="45720" marB="45720" anchor="ctr">
                    <a:lnL w="9525" cap="flat" cmpd="sng" algn="ctr">
                      <a:solidFill>
                        <a:srgbClr val="E4DDD6"/>
                      </a:solidFill>
                      <a:prstDash val="solid"/>
                      <a:round/>
                      <a:headEnd type="none" w="med" len="med"/>
                      <a:tailEnd type="none" w="med" len="med"/>
                    </a:lnL>
                    <a:lnR w="9525" cap="flat" cmpd="sng" algn="ctr">
                      <a:solidFill>
                        <a:srgbClr val="E4DDD6"/>
                      </a:solidFill>
                      <a:prstDash val="solid"/>
                      <a:round/>
                      <a:headEnd type="none" w="med" len="med"/>
                      <a:tailEnd type="none" w="med" len="med"/>
                    </a:lnR>
                    <a:lnT w="9525" cap="flat" cmpd="sng" algn="ctr">
                      <a:solidFill>
                        <a:srgbClr val="E4DDD6"/>
                      </a:solidFill>
                      <a:prstDash val="solid"/>
                      <a:round/>
                      <a:headEnd type="none" w="med" len="med"/>
                      <a:tailEnd type="none" w="med" len="med"/>
                    </a:lnT>
                    <a:lnB w="9525" cap="flat" cmpd="sng" algn="ctr">
                      <a:solidFill>
                        <a:srgbClr val="E4DDD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1A1B"/>
                          </a:solidFill>
                          <a:latin typeface="Calibri" pitchFamily="34" charset="0"/>
                          <a:ea typeface="Calibri" pitchFamily="34" charset="-122"/>
                          <a:cs typeface="Calibri" pitchFamily="34" charset="-120"/>
                        </a:rPr>
                        <a:t>≈1.3 lakh</a:t>
                      </a:r>
                      <a:endParaRPr lang="en-US" sz="1200" dirty="0">
                        <a:latin typeface="Calibri" charset="0"/>
                        <a:ea typeface="Calibri" charset="0"/>
                        <a:cs typeface="Calibri" charset="0"/>
                      </a:endParaRPr>
                    </a:p>
                  </a:txBody>
                  <a:tcPr marL="91440" marR="91440" marT="45720" marB="45720" anchor="ctr">
                    <a:lnL w="9525" cap="flat" cmpd="sng" algn="ctr">
                      <a:solidFill>
                        <a:srgbClr val="E4DDD6"/>
                      </a:solidFill>
                      <a:prstDash val="solid"/>
                      <a:round/>
                      <a:headEnd type="none" w="med" len="med"/>
                      <a:tailEnd type="none" w="med" len="med"/>
                    </a:lnL>
                    <a:lnR w="9525" cap="flat" cmpd="sng" algn="ctr">
                      <a:solidFill>
                        <a:srgbClr val="E4DDD6"/>
                      </a:solidFill>
                      <a:prstDash val="solid"/>
                      <a:round/>
                      <a:headEnd type="none" w="med" len="med"/>
                      <a:tailEnd type="none" w="med" len="med"/>
                    </a:lnR>
                    <a:lnT w="9525" cap="flat" cmpd="sng" algn="ctr">
                      <a:solidFill>
                        <a:srgbClr val="E4DDD6"/>
                      </a:solidFill>
                      <a:prstDash val="solid"/>
                      <a:round/>
                      <a:headEnd type="none" w="med" len="med"/>
                      <a:tailEnd type="none" w="med" len="med"/>
                    </a:lnT>
                    <a:lnB w="9525" cap="flat" cmpd="sng" algn="ctr">
                      <a:solidFill>
                        <a:srgbClr val="E4DDD6"/>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C1A1B"/>
                          </a:solidFill>
                          <a:latin typeface="Calibri" pitchFamily="34" charset="0"/>
                          <a:ea typeface="Calibri" pitchFamily="34" charset="-122"/>
                          <a:cs typeface="Calibri" pitchFamily="34" charset="-120"/>
                        </a:rPr>
                        <a:t>≈3.2 lakh</a:t>
                      </a:r>
                      <a:endParaRPr lang="en-US" sz="1200" dirty="0">
                        <a:latin typeface="Calibri" charset="0"/>
                        <a:ea typeface="Calibri" charset="0"/>
                        <a:cs typeface="Calibri" charset="0"/>
                      </a:endParaRPr>
                    </a:p>
                  </a:txBody>
                  <a:tcPr marL="91440" marR="91440" marT="45720" marB="45720" anchor="ctr">
                    <a:lnL w="9525" cap="flat" cmpd="sng" algn="ctr">
                      <a:solidFill>
                        <a:srgbClr val="E4DDD6"/>
                      </a:solidFill>
                      <a:prstDash val="solid"/>
                      <a:round/>
                      <a:headEnd type="none" w="med" len="med"/>
                      <a:tailEnd type="none" w="med" len="med"/>
                    </a:lnL>
                    <a:lnR w="9525" cap="flat" cmpd="sng" algn="ctr">
                      <a:solidFill>
                        <a:srgbClr val="E4DDD6"/>
                      </a:solidFill>
                      <a:prstDash val="solid"/>
                      <a:round/>
                      <a:headEnd type="none" w="med" len="med"/>
                      <a:tailEnd type="none" w="med" len="med"/>
                    </a:lnR>
                    <a:lnT w="9525" cap="flat" cmpd="sng" algn="ctr">
                      <a:solidFill>
                        <a:srgbClr val="E4DDD6"/>
                      </a:solidFill>
                      <a:prstDash val="solid"/>
                      <a:round/>
                      <a:headEnd type="none" w="med" len="med"/>
                      <a:tailEnd type="none" w="med" len="med"/>
                    </a:lnT>
                    <a:lnB w="9525" cap="flat" cmpd="sng" algn="ctr">
                      <a:solidFill>
                        <a:srgbClr val="E4DDD6"/>
                      </a:solidFill>
                      <a:prstDash val="solid"/>
                      <a:round/>
                      <a:headEnd type="none" w="med" len="med"/>
                      <a:tailEnd type="none" w="med" len="med"/>
                    </a:lnB>
                    <a:solidFill>
                      <a:srgbClr val="F4EFEA"/>
                    </a:solidFill>
                  </a:tcPr>
                </a:tc>
                <a:tc>
                  <a:txBody>
                    <a:bodyPr/>
                    <a:lstStyle/>
                    <a:p>
                      <a:pPr algn="ctr" indent="0" marL="0">
                        <a:buNone/>
                      </a:pPr>
                      <a:r>
                        <a:rPr lang="en-US" sz="1200" dirty="0">
                          <a:solidFill>
                            <a:srgbClr val="1C1A1B"/>
                          </a:solidFill>
                          <a:latin typeface="Calibri" pitchFamily="34" charset="0"/>
                          <a:ea typeface="Calibri" pitchFamily="34" charset="-122"/>
                          <a:cs typeface="Calibri" pitchFamily="34" charset="-120"/>
                        </a:rPr>
                        <a:t>≈5.6 lakh</a:t>
                      </a:r>
                      <a:endParaRPr lang="en-US" sz="1200" dirty="0">
                        <a:latin typeface="Calibri" charset="0"/>
                        <a:ea typeface="Calibri" charset="0"/>
                        <a:cs typeface="Calibri" charset="0"/>
                      </a:endParaRPr>
                    </a:p>
                  </a:txBody>
                  <a:tcPr marL="91440" marR="91440" marT="45720" marB="45720" anchor="ctr">
                    <a:lnL w="9525" cap="flat" cmpd="sng" algn="ctr">
                      <a:solidFill>
                        <a:srgbClr val="E4DDD6"/>
                      </a:solidFill>
                      <a:prstDash val="solid"/>
                      <a:round/>
                      <a:headEnd type="none" w="med" len="med"/>
                      <a:tailEnd type="none" w="med" len="med"/>
                    </a:lnL>
                    <a:lnR w="9525" cap="flat" cmpd="sng" algn="ctr">
                      <a:solidFill>
                        <a:srgbClr val="E4DDD6"/>
                      </a:solidFill>
                      <a:prstDash val="solid"/>
                      <a:round/>
                      <a:headEnd type="none" w="med" len="med"/>
                      <a:tailEnd type="none" w="med" len="med"/>
                    </a:lnR>
                    <a:lnT w="9525" cap="flat" cmpd="sng" algn="ctr">
                      <a:solidFill>
                        <a:srgbClr val="E4DDD6"/>
                      </a:solidFill>
                      <a:prstDash val="solid"/>
                      <a:round/>
                      <a:headEnd type="none" w="med" len="med"/>
                      <a:tailEnd type="none" w="med" len="med"/>
                    </a:lnT>
                    <a:lnB w="9525" cap="flat" cmpd="sng" algn="ctr">
                      <a:solidFill>
                        <a:srgbClr val="E4DDD6"/>
                      </a:solidFill>
                      <a:prstDash val="solid"/>
                      <a:round/>
                      <a:headEnd type="none" w="med" len="med"/>
                      <a:tailEnd type="none" w="med" len="med"/>
                    </a:lnB>
                    <a:solidFill>
                      <a:srgbClr val="FFFFFF"/>
                    </a:solidFill>
                  </a:tcPr>
                </a:tc>
              </a:tr>
            </a:tbl>
          </a:graphicData>
        </a:graphic>
      </p:graphicFrame>
      <p:sp>
        <p:nvSpPr>
          <p:cNvPr id="24" name="card-480"/>
          <p:cNvSpPr/>
          <p:nvPr/>
        </p:nvSpPr>
        <p:spPr>
          <a:xfrm>
            <a:off x="6537960" y="4709160"/>
            <a:ext cx="5102352" cy="1463040"/>
          </a:xfrm>
          <a:prstGeom prst="roundRect">
            <a:avLst>
              <a:gd name="adj" fmla="val 5000"/>
            </a:avLst>
          </a:prstGeom>
          <a:solidFill>
            <a:schemeClr val="bg2"/>
          </a:solidFill>
          <a:ln w="12700">
            <a:solidFill>
              <a:schemeClr val="bg2"/>
            </a:solidFill>
            <a:prstDash val="solid"/>
          </a:ln>
        </p:spPr>
      </p:sp>
      <p:sp>
        <p:nvSpPr>
          <p:cNvPr id="25" name="text-481"/>
          <p:cNvSpPr txBox="1"/>
          <p:nvPr/>
        </p:nvSpPr>
        <p:spPr>
          <a:xfrm>
            <a:off x="6675120" y="4773168"/>
            <a:ext cx="4846320" cy="1325880"/>
          </a:xfrm>
          <a:prstGeom prst="rect">
            <a:avLst/>
          </a:prstGeom>
          <a:noFill/>
          <a:ln/>
        </p:spPr>
        <p:txBody>
          <a:bodyPr wrap="square" lIns="0" tIns="0" rIns="0" bIns="0" rtlCol="0" anchor="ctr"/>
          <a:lstStyle/>
          <a:p>
            <a:pPr indent="0" marL="0">
              <a:buNone/>
            </a:pPr>
            <a:r>
              <a:rPr lang="en-US" sz="1200" b="1" dirty="0">
                <a:solidFill>
                  <a:schemeClr val="accent1"/>
                </a:solidFill>
                <a:latin typeface="Calibri" pitchFamily="34" charset="0"/>
                <a:ea typeface="Calibri" pitchFamily="34" charset="-122"/>
                <a:cs typeface="Calibri" pitchFamily="34" charset="-120"/>
              </a:rPr>
              <a:t>How to read it  </a:t>
            </a:r>
            <a:pPr indent="0" marL="0">
              <a:buNone/>
            </a:pPr>
            <a:r>
              <a:rPr lang="en-US" sz="1200" dirty="0">
                <a:solidFill>
                  <a:schemeClr val="tx1"/>
                </a:solidFill>
                <a:latin typeface="Calibri" pitchFamily="34" charset="0"/>
                <a:ea typeface="Calibri" pitchFamily="34" charset="-122"/>
                <a:cs typeface="Calibri" pitchFamily="34" charset="-120"/>
              </a:rPr>
              <a:t>Base case pays back in year 2 (year-1 ROI ≈ −9% while it ramps up). The conservative case only breaks even, which is why we propose a pilot with stop criteria. Waste reduction alone is worth ≈₹11.3 cr a year before any growth benefit.</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229600" cy="274320"/>
          </a:xfrm>
          <a:prstGeom prst="rect">
            <a:avLst/>
          </a:prstGeom>
          <a:noFill/>
          <a:ln/>
        </p:spPr>
        <p:txBody>
          <a:bodyPr wrap="square" lIns="0" tIns="0" rIns="0" bIns="0" rtlCol="0" anchor="t"/>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IMPLEMENTATION ROADMAP</a:t>
            </a:r>
            <a:endParaRPr lang="en-US" sz="1100" dirty="0"/>
          </a:p>
        </p:txBody>
      </p:sp>
      <p:sp>
        <p:nvSpPr>
          <p:cNvPr id="3" name="Text 0"/>
          <p:cNvSpPr/>
          <p:nvPr>
            <p:ph idx="101" type="title" hasCustomPrompt="1"/>
          </p:nvPr>
        </p:nvSpPr>
        <p:spPr>
          <a:xfrm>
            <a:off x="548640" y="566928"/>
            <a:ext cx="11064240" cy="96012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A 16-week pilot that proves it, or stops it</a:t>
            </a:r>
            <a:endParaRPr lang="en-US" sz="3000" dirty="0"/>
          </a:p>
        </p:txBody>
      </p:sp>
      <p:sp>
        <p:nvSpPr>
          <p:cNvPr id="4" name="Text 0"/>
          <p:cNvSpPr/>
          <p:nvPr>
            <p:ph idx="102" type="body" hasCustomPrompt="1"/>
          </p:nvPr>
        </p:nvSpPr>
        <p:spPr>
          <a:xfrm>
            <a:off x="548640" y="6382512"/>
            <a:ext cx="9692640" cy="329184"/>
          </a:xfrm>
          <a:prstGeom prst="rect">
            <a:avLst/>
          </a:prstGeom>
          <a:noFill/>
          <a:ln/>
        </p:spPr>
        <p:txBody>
          <a:bodyPr wrap="square" lIns="0" tIns="0" rIns="0" bIns="0" rtlCol="0" anchor="t"/>
          <a:lstStyle/>
          <a:p>
            <a:pPr indent="0" marL="0">
              <a:buNone/>
            </a:pPr>
            <a:r>
              <a:rPr lang="en-US" sz="1000" dirty="0">
                <a:solidFill>
                  <a:schemeClr val="tx2"/>
                </a:solidFill>
                <a:latin typeface="Calibri" pitchFamily="34" charset="0"/>
                <a:ea typeface="Calibri" pitchFamily="34" charset="-122"/>
                <a:cs typeface="Calibri" pitchFamily="34" charset="-120"/>
              </a:rPr>
              <a:t>Pilot design and budget are proposals to agree with L'Oréal (≈₹50 lakh: build ₹20 L, data ₹10 L, training ₹5 L, intervention budget ₹10 L, measurement ₹5 L). Returns are a lagging metric, so they are re-measured at +6 months.</a:t>
            </a:r>
            <a:endParaRPr lang="en-US" sz="1000" dirty="0"/>
          </a:p>
        </p:txBody>
      </p:sp>
      <p:sp>
        <p:nvSpPr>
          <p:cNvPr id="5" name="phase-482"/>
          <p:cNvSpPr/>
          <p:nvPr/>
        </p:nvSpPr>
        <p:spPr>
          <a:xfrm>
            <a:off x="548640" y="1737360"/>
            <a:ext cx="2697480" cy="685800"/>
          </a:xfrm>
          <a:prstGeom prst="chevron">
            <a:avLst/>
          </a:prstGeom>
          <a:solidFill>
            <a:srgbClr val="6E1A30"/>
          </a:solidFill>
          <a:ln w="12700">
            <a:solidFill>
              <a:srgbClr val="FFFFFF"/>
            </a:solidFill>
            <a:prstDash val="solid"/>
          </a:ln>
        </p:spPr>
      </p:sp>
      <p:sp>
        <p:nvSpPr>
          <p:cNvPr id="6" name="text-483"/>
          <p:cNvSpPr txBox="1"/>
          <p:nvPr/>
        </p:nvSpPr>
        <p:spPr>
          <a:xfrm>
            <a:off x="1097280" y="1737360"/>
            <a:ext cx="1920240" cy="685800"/>
          </a:xfrm>
          <a:prstGeom prst="rect">
            <a:avLst/>
          </a:prstGeom>
          <a:noFill/>
          <a:ln/>
        </p:spPr>
        <p:txBody>
          <a:bodyPr wrap="square" lIns="0" tIns="0" rIns="0" bIns="0" rtlCol="0" anchor="ctr"/>
          <a:lstStyle/>
          <a:p>
            <a:pPr indent="0" marL="0">
              <a:buNone/>
            </a:pPr>
            <a:r>
              <a:rPr lang="en-US" sz="1600" b="1" dirty="0">
                <a:solidFill>
                  <a:schemeClr val="bg1"/>
                </a:solidFill>
                <a:latin typeface="Calibri" pitchFamily="34" charset="0"/>
                <a:ea typeface="Calibri" pitchFamily="34" charset="-122"/>
                <a:cs typeface="Calibri" pitchFamily="34" charset="-120"/>
              </a:rPr>
              <a:t>Pilot</a:t>
            </a:r>
            <a:endParaRPr lang="en-US" sz="1600" dirty="0"/>
          </a:p>
        </p:txBody>
      </p:sp>
      <p:sp>
        <p:nvSpPr>
          <p:cNvPr id="7" name="text-484"/>
          <p:cNvSpPr txBox="1"/>
          <p:nvPr/>
        </p:nvSpPr>
        <p:spPr>
          <a:xfrm>
            <a:off x="548640" y="2514600"/>
            <a:ext cx="2651760" cy="274320"/>
          </a:xfrm>
          <a:prstGeom prst="rect">
            <a:avLst/>
          </a:prstGeom>
          <a:noFill/>
          <a:ln/>
        </p:spPr>
        <p:txBody>
          <a:bodyPr wrap="square" lIns="0" tIns="0" rIns="0" bIns="0" rtlCol="0" anchor="t"/>
          <a:lstStyle/>
          <a:p>
            <a:pPr indent="0" marL="0">
              <a:buNone/>
            </a:pPr>
            <a:r>
              <a:rPr lang="en-US" sz="1200" b="1" dirty="0">
                <a:solidFill>
                  <a:schemeClr val="accent1"/>
                </a:solidFill>
                <a:latin typeface="Calibri" pitchFamily="34" charset="0"/>
                <a:ea typeface="Calibri" pitchFamily="34" charset="-122"/>
                <a:cs typeface="Calibri" pitchFamily="34" charset="-120"/>
              </a:rPr>
              <a:t>Weeks 0–16</a:t>
            </a:r>
            <a:endParaRPr lang="en-US" sz="1200" dirty="0"/>
          </a:p>
        </p:txBody>
      </p:sp>
      <p:sp>
        <p:nvSpPr>
          <p:cNvPr id="8" name="text-485"/>
          <p:cNvSpPr txBox="1"/>
          <p:nvPr/>
        </p:nvSpPr>
        <p:spPr>
          <a:xfrm>
            <a:off x="548640" y="2788920"/>
            <a:ext cx="2606040" cy="54864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Two cities, test vs control; shadow scorecard</a:t>
            </a:r>
            <a:endParaRPr lang="en-US" sz="1200" dirty="0"/>
          </a:p>
        </p:txBody>
      </p:sp>
      <p:sp>
        <p:nvSpPr>
          <p:cNvPr id="9" name="phase-486"/>
          <p:cNvSpPr/>
          <p:nvPr/>
        </p:nvSpPr>
        <p:spPr>
          <a:xfrm>
            <a:off x="3355848" y="1737360"/>
            <a:ext cx="2697480" cy="685800"/>
          </a:xfrm>
          <a:prstGeom prst="chevron">
            <a:avLst/>
          </a:prstGeom>
          <a:solidFill>
            <a:srgbClr val="8E3A50"/>
          </a:solidFill>
          <a:ln w="12700">
            <a:solidFill>
              <a:srgbClr val="FFFFFF"/>
            </a:solidFill>
            <a:prstDash val="solid"/>
          </a:ln>
        </p:spPr>
      </p:sp>
      <p:sp>
        <p:nvSpPr>
          <p:cNvPr id="10" name="text-487"/>
          <p:cNvSpPr txBox="1"/>
          <p:nvPr/>
        </p:nvSpPr>
        <p:spPr>
          <a:xfrm>
            <a:off x="3904488" y="1737360"/>
            <a:ext cx="1920240" cy="685800"/>
          </a:xfrm>
          <a:prstGeom prst="rect">
            <a:avLst/>
          </a:prstGeom>
          <a:noFill/>
          <a:ln/>
        </p:spPr>
        <p:txBody>
          <a:bodyPr wrap="square" lIns="0" tIns="0" rIns="0" bIns="0" rtlCol="0" anchor="ctr"/>
          <a:lstStyle/>
          <a:p>
            <a:pPr indent="0" marL="0">
              <a:buNone/>
            </a:pPr>
            <a:r>
              <a:rPr lang="en-US" sz="1600" b="1" dirty="0">
                <a:solidFill>
                  <a:schemeClr val="bg1"/>
                </a:solidFill>
                <a:latin typeface="Calibri" pitchFamily="34" charset="0"/>
                <a:ea typeface="Calibri" pitchFamily="34" charset="-122"/>
                <a:cs typeface="Calibri" pitchFamily="34" charset="-120"/>
              </a:rPr>
              <a:t>Validate</a:t>
            </a:r>
            <a:endParaRPr lang="en-US" sz="1600" dirty="0"/>
          </a:p>
        </p:txBody>
      </p:sp>
      <p:sp>
        <p:nvSpPr>
          <p:cNvPr id="11" name="text-488"/>
          <p:cNvSpPr txBox="1"/>
          <p:nvPr/>
        </p:nvSpPr>
        <p:spPr>
          <a:xfrm>
            <a:off x="3355848" y="2514600"/>
            <a:ext cx="2651760" cy="274320"/>
          </a:xfrm>
          <a:prstGeom prst="rect">
            <a:avLst/>
          </a:prstGeom>
          <a:noFill/>
          <a:ln/>
        </p:spPr>
        <p:txBody>
          <a:bodyPr wrap="square" lIns="0" tIns="0" rIns="0" bIns="0" rtlCol="0" anchor="t"/>
          <a:lstStyle/>
          <a:p>
            <a:pPr indent="0" marL="0">
              <a:buNone/>
            </a:pPr>
            <a:r>
              <a:rPr lang="en-US" sz="1200" b="1" dirty="0">
                <a:solidFill>
                  <a:schemeClr val="accent1"/>
                </a:solidFill>
                <a:latin typeface="Calibri" pitchFamily="34" charset="0"/>
                <a:ea typeface="Calibri" pitchFamily="34" charset="-122"/>
                <a:cs typeface="Calibri" pitchFamily="34" charset="-120"/>
              </a:rPr>
              <a:t>Months 4–7</a:t>
            </a:r>
            <a:endParaRPr lang="en-US" sz="1200" dirty="0"/>
          </a:p>
        </p:txBody>
      </p:sp>
      <p:sp>
        <p:nvSpPr>
          <p:cNvPr id="12" name="text-489"/>
          <p:cNvSpPr txBox="1"/>
          <p:nvPr/>
        </p:nvSpPr>
        <p:spPr>
          <a:xfrm>
            <a:off x="3355848" y="2788920"/>
            <a:ext cx="2606040" cy="54864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Returns follow-up at +6 months; calibrate parameters</a:t>
            </a:r>
            <a:endParaRPr lang="en-US" sz="1200" dirty="0"/>
          </a:p>
        </p:txBody>
      </p:sp>
      <p:sp>
        <p:nvSpPr>
          <p:cNvPr id="13" name="phase-490"/>
          <p:cNvSpPr/>
          <p:nvPr/>
        </p:nvSpPr>
        <p:spPr>
          <a:xfrm>
            <a:off x="6163056" y="1737360"/>
            <a:ext cx="2697480" cy="685800"/>
          </a:xfrm>
          <a:prstGeom prst="chevron">
            <a:avLst/>
          </a:prstGeom>
          <a:solidFill>
            <a:srgbClr val="B07282"/>
          </a:solidFill>
          <a:ln w="12700">
            <a:solidFill>
              <a:srgbClr val="FFFFFF"/>
            </a:solidFill>
            <a:prstDash val="solid"/>
          </a:ln>
        </p:spPr>
      </p:sp>
      <p:sp>
        <p:nvSpPr>
          <p:cNvPr id="14" name="text-491"/>
          <p:cNvSpPr txBox="1"/>
          <p:nvPr/>
        </p:nvSpPr>
        <p:spPr>
          <a:xfrm>
            <a:off x="6711696" y="1737360"/>
            <a:ext cx="1920240" cy="68580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Optimise</a:t>
            </a:r>
            <a:endParaRPr lang="en-US" sz="1600" dirty="0"/>
          </a:p>
        </p:txBody>
      </p:sp>
      <p:sp>
        <p:nvSpPr>
          <p:cNvPr id="15" name="text-492"/>
          <p:cNvSpPr txBox="1"/>
          <p:nvPr/>
        </p:nvSpPr>
        <p:spPr>
          <a:xfrm>
            <a:off x="6163056" y="2514600"/>
            <a:ext cx="2651760" cy="274320"/>
          </a:xfrm>
          <a:prstGeom prst="rect">
            <a:avLst/>
          </a:prstGeom>
          <a:noFill/>
          <a:ln/>
        </p:spPr>
        <p:txBody>
          <a:bodyPr wrap="square" lIns="0" tIns="0" rIns="0" bIns="0" rtlCol="0" anchor="t"/>
          <a:lstStyle/>
          <a:p>
            <a:pPr indent="0" marL="0">
              <a:buNone/>
            </a:pPr>
            <a:r>
              <a:rPr lang="en-US" sz="1200" b="1" dirty="0">
                <a:solidFill>
                  <a:schemeClr val="accent1"/>
                </a:solidFill>
                <a:latin typeface="Calibri" pitchFamily="34" charset="0"/>
                <a:ea typeface="Calibri" pitchFamily="34" charset="-122"/>
                <a:cs typeface="Calibri" pitchFamily="34" charset="-120"/>
              </a:rPr>
              <a:t>Months 5–9</a:t>
            </a:r>
            <a:endParaRPr lang="en-US" sz="1200" dirty="0"/>
          </a:p>
        </p:txBody>
      </p:sp>
      <p:sp>
        <p:nvSpPr>
          <p:cNvPr id="16" name="text-493"/>
          <p:cNvSpPr txBox="1"/>
          <p:nvPr/>
        </p:nvSpPr>
        <p:spPr>
          <a:xfrm>
            <a:off x="6163056" y="2788920"/>
            <a:ext cx="2606040" cy="54864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Integrate into existing SFA; paid scorecard; top-10 metros</a:t>
            </a:r>
            <a:endParaRPr lang="en-US" sz="1200" dirty="0"/>
          </a:p>
        </p:txBody>
      </p:sp>
      <p:sp>
        <p:nvSpPr>
          <p:cNvPr id="17" name="phase-494"/>
          <p:cNvSpPr/>
          <p:nvPr/>
        </p:nvSpPr>
        <p:spPr>
          <a:xfrm>
            <a:off x="8970264" y="1737360"/>
            <a:ext cx="2697480" cy="685800"/>
          </a:xfrm>
          <a:prstGeom prst="chevron">
            <a:avLst/>
          </a:prstGeom>
          <a:solidFill>
            <a:srgbClr val="CFA9B3"/>
          </a:solidFill>
          <a:ln w="12700">
            <a:solidFill>
              <a:srgbClr val="FFFFFF"/>
            </a:solidFill>
            <a:prstDash val="solid"/>
          </a:ln>
        </p:spPr>
      </p:sp>
      <p:sp>
        <p:nvSpPr>
          <p:cNvPr id="18" name="text-495"/>
          <p:cNvSpPr txBox="1"/>
          <p:nvPr/>
        </p:nvSpPr>
        <p:spPr>
          <a:xfrm>
            <a:off x="9518904" y="1737360"/>
            <a:ext cx="1920240" cy="68580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Scale</a:t>
            </a:r>
            <a:endParaRPr lang="en-US" sz="1600" dirty="0"/>
          </a:p>
        </p:txBody>
      </p:sp>
      <p:sp>
        <p:nvSpPr>
          <p:cNvPr id="19" name="text-496"/>
          <p:cNvSpPr txBox="1"/>
          <p:nvPr/>
        </p:nvSpPr>
        <p:spPr>
          <a:xfrm>
            <a:off x="8970264" y="2514600"/>
            <a:ext cx="2651760" cy="274320"/>
          </a:xfrm>
          <a:prstGeom prst="rect">
            <a:avLst/>
          </a:prstGeom>
          <a:noFill/>
          <a:ln/>
        </p:spPr>
        <p:txBody>
          <a:bodyPr wrap="square" lIns="0" tIns="0" rIns="0" bIns="0" rtlCol="0" anchor="t"/>
          <a:lstStyle/>
          <a:p>
            <a:pPr indent="0" marL="0">
              <a:buNone/>
            </a:pPr>
            <a:r>
              <a:rPr lang="en-US" sz="1200" b="1" dirty="0">
                <a:solidFill>
                  <a:schemeClr val="accent1"/>
                </a:solidFill>
                <a:latin typeface="Calibri" pitchFamily="34" charset="0"/>
                <a:ea typeface="Calibri" pitchFamily="34" charset="-122"/>
                <a:cs typeface="Calibri" pitchFamily="34" charset="-120"/>
              </a:rPr>
              <a:t>Months 10–18+</a:t>
            </a:r>
            <a:endParaRPr lang="en-US" sz="1200" dirty="0"/>
          </a:p>
        </p:txBody>
      </p:sp>
      <p:sp>
        <p:nvSpPr>
          <p:cNvPr id="20" name="text-497"/>
          <p:cNvSpPr txBox="1"/>
          <p:nvPr/>
        </p:nvSpPr>
        <p:spPr>
          <a:xfrm>
            <a:off x="8970264" y="2788920"/>
            <a:ext cx="2606040" cy="54864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All territories; salon and derma variants; ML where proven</a:t>
            </a:r>
            <a:endParaRPr lang="en-US" sz="1200" dirty="0"/>
          </a:p>
        </p:txBody>
      </p:sp>
      <p:sp>
        <p:nvSpPr>
          <p:cNvPr id="21" name="icon-circle-498"/>
          <p:cNvSpPr/>
          <p:nvPr/>
        </p:nvSpPr>
        <p:spPr>
          <a:xfrm>
            <a:off x="548640" y="3566160"/>
            <a:ext cx="438912" cy="438912"/>
          </a:xfrm>
          <a:prstGeom prst="ellipse">
            <a:avLst/>
          </a:prstGeom>
          <a:solidFill>
            <a:schemeClr val="accent1"/>
          </a:solidFill>
          <a:ln w="12700">
            <a:solidFill>
              <a:schemeClr val="accent1"/>
            </a:solidFill>
            <a:prstDash val="solid"/>
          </a:ln>
        </p:spPr>
      </p:sp>
      <p:pic>
        <p:nvPicPr>
          <p:cNvPr id="22" name="icon-499" descr="preencoded.png">    </p:cNvPr>
          <p:cNvPicPr>
            <a:picLocks noChangeAspect="1"/>
          </p:cNvPicPr>
          <p:nvPr/>
        </p:nvPicPr>
        <p:blipFill>
          <a:blip r:embed="rId1"/>
          <a:stretch>
            <a:fillRect/>
          </a:stretch>
        </p:blipFill>
        <p:spPr>
          <a:xfrm>
            <a:off x="658368" y="3675888"/>
            <a:ext cx="219456" cy="219456"/>
          </a:xfrm>
          <a:prstGeom prst="rect">
            <a:avLst/>
          </a:prstGeom>
        </p:spPr>
      </p:pic>
      <p:sp>
        <p:nvSpPr>
          <p:cNvPr id="23" name="text-500"/>
          <p:cNvSpPr txBox="1"/>
          <p:nvPr/>
        </p:nvSpPr>
        <p:spPr>
          <a:xfrm>
            <a:off x="1097280" y="3566160"/>
            <a:ext cx="2926080" cy="274320"/>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Geography</a:t>
            </a:r>
            <a:endParaRPr lang="en-US" sz="1300" dirty="0"/>
          </a:p>
        </p:txBody>
      </p:sp>
      <p:sp>
        <p:nvSpPr>
          <p:cNvPr id="24" name="text-501"/>
          <p:cNvSpPr txBox="1"/>
          <p:nvPr/>
        </p:nvSpPr>
        <p:spPr>
          <a:xfrm>
            <a:off x="1097280" y="3840480"/>
            <a:ext cx="2971800" cy="548640"/>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Mumbai (quick-commerce heavy) + one tier-2 city, e.g. Nagpur or Indore</a:t>
            </a:r>
            <a:endParaRPr lang="en-US" sz="1100" dirty="0"/>
          </a:p>
        </p:txBody>
      </p:sp>
      <p:sp>
        <p:nvSpPr>
          <p:cNvPr id="25" name="icon-circle-502"/>
          <p:cNvSpPr/>
          <p:nvPr/>
        </p:nvSpPr>
        <p:spPr>
          <a:xfrm>
            <a:off x="4160520" y="3566160"/>
            <a:ext cx="438912" cy="438912"/>
          </a:xfrm>
          <a:prstGeom prst="ellipse">
            <a:avLst/>
          </a:prstGeom>
          <a:solidFill>
            <a:schemeClr val="accent1"/>
          </a:solidFill>
          <a:ln w="12700">
            <a:solidFill>
              <a:schemeClr val="accent1"/>
            </a:solidFill>
            <a:prstDash val="solid"/>
          </a:ln>
        </p:spPr>
      </p:sp>
      <p:pic>
        <p:nvPicPr>
          <p:cNvPr id="26" name="icon-503" descr="preencoded.png">    </p:cNvPr>
          <p:cNvPicPr>
            <a:picLocks noChangeAspect="1"/>
          </p:cNvPicPr>
          <p:nvPr/>
        </p:nvPicPr>
        <p:blipFill>
          <a:blip r:embed="rId2"/>
          <a:stretch>
            <a:fillRect/>
          </a:stretch>
        </p:blipFill>
        <p:spPr>
          <a:xfrm>
            <a:off x="4270248" y="3675888"/>
            <a:ext cx="219456" cy="219456"/>
          </a:xfrm>
          <a:prstGeom prst="rect">
            <a:avLst/>
          </a:prstGeom>
        </p:spPr>
      </p:pic>
      <p:sp>
        <p:nvSpPr>
          <p:cNvPr id="27" name="text-504"/>
          <p:cNvSpPr txBox="1"/>
          <p:nvPr/>
        </p:nvSpPr>
        <p:spPr>
          <a:xfrm>
            <a:off x="4709160" y="3566160"/>
            <a:ext cx="2926080" cy="274320"/>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Coverage</a:t>
            </a:r>
            <a:endParaRPr lang="en-US" sz="1300" dirty="0"/>
          </a:p>
        </p:txBody>
      </p:sp>
      <p:sp>
        <p:nvSpPr>
          <p:cNvPr id="28" name="text-505"/>
          <p:cNvSpPr txBox="1"/>
          <p:nvPr/>
        </p:nvSpPr>
        <p:spPr>
          <a:xfrm>
            <a:off x="4709160" y="3840480"/>
            <a:ext cx="2971800" cy="548640"/>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4 test + 4 control distributors; ~600 outlets; ~12 reps</a:t>
            </a:r>
            <a:endParaRPr lang="en-US" sz="1100" dirty="0"/>
          </a:p>
        </p:txBody>
      </p:sp>
      <p:sp>
        <p:nvSpPr>
          <p:cNvPr id="29" name="icon-circle-506"/>
          <p:cNvSpPr/>
          <p:nvPr/>
        </p:nvSpPr>
        <p:spPr>
          <a:xfrm>
            <a:off x="548640" y="4434840"/>
            <a:ext cx="438912" cy="438912"/>
          </a:xfrm>
          <a:prstGeom prst="ellipse">
            <a:avLst/>
          </a:prstGeom>
          <a:solidFill>
            <a:schemeClr val="accent1"/>
          </a:solidFill>
          <a:ln w="12700">
            <a:solidFill>
              <a:schemeClr val="accent1"/>
            </a:solidFill>
            <a:prstDash val="solid"/>
          </a:ln>
        </p:spPr>
      </p:sp>
      <p:pic>
        <p:nvPicPr>
          <p:cNvPr id="30" name="icon-507" descr="preencoded.png">    </p:cNvPr>
          <p:cNvPicPr>
            <a:picLocks noChangeAspect="1"/>
          </p:cNvPicPr>
          <p:nvPr/>
        </p:nvPicPr>
        <p:blipFill>
          <a:blip r:embed="rId3"/>
          <a:stretch>
            <a:fillRect/>
          </a:stretch>
        </p:blipFill>
        <p:spPr>
          <a:xfrm>
            <a:off x="658368" y="4544568"/>
            <a:ext cx="219456" cy="219456"/>
          </a:xfrm>
          <a:prstGeom prst="rect">
            <a:avLst/>
          </a:prstGeom>
        </p:spPr>
      </p:pic>
      <p:sp>
        <p:nvSpPr>
          <p:cNvPr id="31" name="text-508"/>
          <p:cNvSpPr txBox="1"/>
          <p:nvPr/>
        </p:nvSpPr>
        <p:spPr>
          <a:xfrm>
            <a:off x="1097280" y="4434840"/>
            <a:ext cx="2926080" cy="274320"/>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SKUs</a:t>
            </a:r>
            <a:endParaRPr lang="en-US" sz="1300" dirty="0"/>
          </a:p>
        </p:txBody>
      </p:sp>
      <p:sp>
        <p:nvSpPr>
          <p:cNvPr id="32" name="text-509"/>
          <p:cNvSpPr txBox="1"/>
          <p:nvPr/>
        </p:nvSpPr>
        <p:spPr>
          <a:xfrm>
            <a:off x="1097280" y="4709160"/>
            <a:ext cx="2971800" cy="548640"/>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40 focus SKUs: top 20 by past returns + top 20 by velocity</a:t>
            </a:r>
            <a:endParaRPr lang="en-US" sz="1100" dirty="0"/>
          </a:p>
        </p:txBody>
      </p:sp>
      <p:sp>
        <p:nvSpPr>
          <p:cNvPr id="33" name="icon-circle-510"/>
          <p:cNvSpPr/>
          <p:nvPr/>
        </p:nvSpPr>
        <p:spPr>
          <a:xfrm>
            <a:off x="4160520" y="4434840"/>
            <a:ext cx="438912" cy="438912"/>
          </a:xfrm>
          <a:prstGeom prst="ellipse">
            <a:avLst/>
          </a:prstGeom>
          <a:solidFill>
            <a:schemeClr val="accent1"/>
          </a:solidFill>
          <a:ln w="12700">
            <a:solidFill>
              <a:schemeClr val="accent1"/>
            </a:solidFill>
            <a:prstDash val="solid"/>
          </a:ln>
        </p:spPr>
      </p:sp>
      <p:pic>
        <p:nvPicPr>
          <p:cNvPr id="34" name="icon-511" descr="preencoded.png">    </p:cNvPr>
          <p:cNvPicPr>
            <a:picLocks noChangeAspect="1"/>
          </p:cNvPicPr>
          <p:nvPr/>
        </p:nvPicPr>
        <p:blipFill>
          <a:blip r:embed="rId4"/>
          <a:stretch>
            <a:fillRect/>
          </a:stretch>
        </p:blipFill>
        <p:spPr>
          <a:xfrm>
            <a:off x="4270248" y="4544568"/>
            <a:ext cx="219456" cy="219456"/>
          </a:xfrm>
          <a:prstGeom prst="rect">
            <a:avLst/>
          </a:prstGeom>
        </p:spPr>
      </p:pic>
      <p:sp>
        <p:nvSpPr>
          <p:cNvPr id="35" name="text-512"/>
          <p:cNvSpPr txBox="1"/>
          <p:nvPr/>
        </p:nvSpPr>
        <p:spPr>
          <a:xfrm>
            <a:off x="4709160" y="4434840"/>
            <a:ext cx="2926080" cy="274320"/>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Training</a:t>
            </a:r>
            <a:endParaRPr lang="en-US" sz="1300" dirty="0"/>
          </a:p>
        </p:txBody>
      </p:sp>
      <p:sp>
        <p:nvSpPr>
          <p:cNvPr id="36" name="text-513"/>
          <p:cNvSpPr txBox="1"/>
          <p:nvPr/>
        </p:nvSpPr>
        <p:spPr>
          <a:xfrm>
            <a:off x="4709160" y="4709160"/>
            <a:ext cx="2971800" cy="548640"/>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1-day workshop, 2 ride-along days per rep, weekly ASM huddle</a:t>
            </a:r>
            <a:endParaRPr lang="en-US" sz="1100" dirty="0"/>
          </a:p>
        </p:txBody>
      </p:sp>
      <p:sp>
        <p:nvSpPr>
          <p:cNvPr id="37" name="icon-circle-514"/>
          <p:cNvSpPr/>
          <p:nvPr/>
        </p:nvSpPr>
        <p:spPr>
          <a:xfrm>
            <a:off x="548640" y="5303520"/>
            <a:ext cx="438912" cy="438912"/>
          </a:xfrm>
          <a:prstGeom prst="ellipse">
            <a:avLst/>
          </a:prstGeom>
          <a:solidFill>
            <a:schemeClr val="accent1"/>
          </a:solidFill>
          <a:ln w="12700">
            <a:solidFill>
              <a:schemeClr val="accent1"/>
            </a:solidFill>
            <a:prstDash val="solid"/>
          </a:ln>
        </p:spPr>
      </p:sp>
      <p:pic>
        <p:nvPicPr>
          <p:cNvPr id="38" name="icon-515" descr="preencoded.png">    </p:cNvPr>
          <p:cNvPicPr>
            <a:picLocks noChangeAspect="1"/>
          </p:cNvPicPr>
          <p:nvPr/>
        </p:nvPicPr>
        <p:blipFill>
          <a:blip r:embed="rId5"/>
          <a:stretch>
            <a:fillRect/>
          </a:stretch>
        </p:blipFill>
        <p:spPr>
          <a:xfrm>
            <a:off x="658368" y="5413248"/>
            <a:ext cx="219456" cy="219456"/>
          </a:xfrm>
          <a:prstGeom prst="rect">
            <a:avLst/>
          </a:prstGeom>
        </p:spPr>
      </p:pic>
      <p:sp>
        <p:nvSpPr>
          <p:cNvPr id="39" name="text-516"/>
          <p:cNvSpPr txBox="1"/>
          <p:nvPr/>
        </p:nvSpPr>
        <p:spPr>
          <a:xfrm>
            <a:off x="1097280" y="5303520"/>
            <a:ext cx="2926080" cy="274320"/>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Technology</a:t>
            </a:r>
            <a:endParaRPr lang="en-US" sz="1300" dirty="0"/>
          </a:p>
        </p:txBody>
      </p:sp>
      <p:sp>
        <p:nvSpPr>
          <p:cNvPr id="40" name="text-517"/>
          <p:cNvSpPr txBox="1"/>
          <p:nvPr/>
        </p:nvSpPr>
        <p:spPr>
          <a:xfrm>
            <a:off x="1097280" y="5577840"/>
            <a:ext cx="2971800" cy="548640"/>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Prototype hardened into a PWA on a weekly DMS extract, or configured in the existing SFA</a:t>
            </a:r>
            <a:endParaRPr lang="en-US" sz="1100" dirty="0"/>
          </a:p>
        </p:txBody>
      </p:sp>
      <p:sp>
        <p:nvSpPr>
          <p:cNvPr id="41" name="icon-circle-518"/>
          <p:cNvSpPr/>
          <p:nvPr/>
        </p:nvSpPr>
        <p:spPr>
          <a:xfrm>
            <a:off x="4160520" y="5303520"/>
            <a:ext cx="438912" cy="438912"/>
          </a:xfrm>
          <a:prstGeom prst="ellipse">
            <a:avLst/>
          </a:prstGeom>
          <a:solidFill>
            <a:schemeClr val="accent1"/>
          </a:solidFill>
          <a:ln w="12700">
            <a:solidFill>
              <a:schemeClr val="accent1"/>
            </a:solidFill>
            <a:prstDash val="solid"/>
          </a:ln>
        </p:spPr>
      </p:sp>
      <p:pic>
        <p:nvPicPr>
          <p:cNvPr id="42" name="icon-519" descr="preencoded.png">    </p:cNvPr>
          <p:cNvPicPr>
            <a:picLocks noChangeAspect="1"/>
          </p:cNvPicPr>
          <p:nvPr/>
        </p:nvPicPr>
        <p:blipFill>
          <a:blip r:embed="rId6"/>
          <a:stretch>
            <a:fillRect/>
          </a:stretch>
        </p:blipFill>
        <p:spPr>
          <a:xfrm>
            <a:off x="4270248" y="5413248"/>
            <a:ext cx="219456" cy="219456"/>
          </a:xfrm>
          <a:prstGeom prst="rect">
            <a:avLst/>
          </a:prstGeom>
        </p:spPr>
      </p:pic>
      <p:sp>
        <p:nvSpPr>
          <p:cNvPr id="43" name="text-520"/>
          <p:cNvSpPr txBox="1"/>
          <p:nvPr/>
        </p:nvSpPr>
        <p:spPr>
          <a:xfrm>
            <a:off x="4709160" y="5303520"/>
            <a:ext cx="2926080" cy="274320"/>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Measurement</a:t>
            </a:r>
            <a:endParaRPr lang="en-US" sz="1300" dirty="0"/>
          </a:p>
        </p:txBody>
      </p:sp>
      <p:sp>
        <p:nvSpPr>
          <p:cNvPr id="44" name="text-521"/>
          <p:cNvSpPr txBox="1"/>
          <p:nvPr/>
        </p:nvSpPr>
        <p:spPr>
          <a:xfrm>
            <a:off x="4709160" y="5577840"/>
            <a:ext cx="2971800" cy="548640"/>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Test vs control; weekly leading KPIs; returns at +6 months</a:t>
            </a:r>
            <a:endParaRPr lang="en-US" sz="1100" dirty="0"/>
          </a:p>
        </p:txBody>
      </p:sp>
      <p:sp>
        <p:nvSpPr>
          <p:cNvPr id="45" name="card-522"/>
          <p:cNvSpPr/>
          <p:nvPr/>
        </p:nvSpPr>
        <p:spPr>
          <a:xfrm>
            <a:off x="7863840" y="3566160"/>
            <a:ext cx="3776472" cy="2606040"/>
          </a:xfrm>
          <a:prstGeom prst="roundRect">
            <a:avLst>
              <a:gd name="adj" fmla="val 2807"/>
            </a:avLst>
          </a:prstGeom>
          <a:solidFill>
            <a:schemeClr val="bg2"/>
          </a:solidFill>
          <a:ln w="12700">
            <a:solidFill>
              <a:schemeClr val="bg2"/>
            </a:solidFill>
            <a:prstDash val="solid"/>
          </a:ln>
        </p:spPr>
      </p:sp>
      <p:sp>
        <p:nvSpPr>
          <p:cNvPr id="46" name="text-523"/>
          <p:cNvSpPr txBox="1"/>
          <p:nvPr/>
        </p:nvSpPr>
        <p:spPr>
          <a:xfrm>
            <a:off x="8046720" y="3657600"/>
            <a:ext cx="3474720" cy="320040"/>
          </a:xfrm>
          <a:prstGeom prst="rect">
            <a:avLst/>
          </a:prstGeom>
          <a:noFill/>
          <a:ln/>
        </p:spPr>
        <p:txBody>
          <a:bodyPr wrap="square" lIns="0" tIns="0" rIns="0" bIns="0" rtlCol="0" anchor="t"/>
          <a:lstStyle/>
          <a:p>
            <a:pPr indent="0" marL="0">
              <a:buNone/>
            </a:pPr>
            <a:r>
              <a:rPr lang="en-US" sz="1500" b="1" dirty="0">
                <a:solidFill>
                  <a:schemeClr val="accent1"/>
                </a:solidFill>
                <a:latin typeface="Calibri" pitchFamily="34" charset="0"/>
                <a:ea typeface="Calibri" pitchFamily="34" charset="-122"/>
                <a:cs typeface="Calibri" pitchFamily="34" charset="-120"/>
              </a:rPr>
              <a:t>Decision at week 16</a:t>
            </a:r>
            <a:endParaRPr lang="en-US" sz="1500" dirty="0"/>
          </a:p>
        </p:txBody>
      </p:sp>
      <p:sp>
        <p:nvSpPr>
          <p:cNvPr id="47" name="text-524"/>
          <p:cNvSpPr txBox="1"/>
          <p:nvPr/>
        </p:nvSpPr>
        <p:spPr>
          <a:xfrm>
            <a:off x="8046720" y="4023360"/>
            <a:ext cx="3474720" cy="2103120"/>
          </a:xfrm>
          <a:prstGeom prst="rect">
            <a:avLst/>
          </a:prstGeom>
          <a:noFill/>
          <a:ln/>
        </p:spPr>
        <p:txBody>
          <a:bodyPr wrap="square" lIns="0" tIns="0" rIns="0" bIns="0" rtlCol="0" anchor="t"/>
          <a:lstStyle/>
          <a:p>
            <a:pPr indent="0" marL="0">
              <a:buNone/>
            </a:pPr>
            <a:r>
              <a:rPr lang="en-US" sz="1200" b="1" dirty="0">
                <a:solidFill>
                  <a:schemeClr val="accent3"/>
                </a:solidFill>
                <a:latin typeface="Calibri" pitchFamily="34" charset="0"/>
                <a:ea typeface="Calibri" pitchFamily="34" charset="-122"/>
                <a:cs typeface="Calibri" pitchFamily="34" charset="-120"/>
              </a:rPr>
              <a:t>Scale if: </a:t>
            </a:r>
            <a:pPr indent="0" marL="0">
              <a:buNone/>
            </a:pPr>
            <a:r>
              <a:rPr lang="en-US" sz="1200" dirty="0">
                <a:solidFill>
                  <a:schemeClr val="tx1"/>
                </a:solidFill>
                <a:latin typeface="Calibri" pitchFamily="34" charset="0"/>
                <a:ea typeface="Calibri" pitchFamily="34" charset="-122"/>
                <a:cs typeface="Calibri" pitchFamily="34" charset="-120"/>
              </a:rPr>
              <a:t>at-risk ₹ down ≥20% vs control, stock-outs down ≥15%, secondary growth ≥ control, ≥70% of actions completed, ≤4 extra minutes per visit</a:t>
            </a:r>
            <a:endParaRPr lang="en-US" sz="1200" dirty="0"/>
          </a:p>
          <a:p>
            <a:pPr indent="0" marL="0">
              <a:buNone/>
            </a:pPr>
            <a:r>
              <a:rPr lang="en-US" sz="600" dirty="0">
                <a:solidFill>
                  <a:schemeClr val="tx1"/>
                </a:solidFill>
                <a:latin typeface="Calibri" pitchFamily="34" charset="0"/>
                <a:ea typeface="Calibri" pitchFamily="34" charset="-122"/>
                <a:cs typeface="Calibri" pitchFamily="34" charset="-120"/>
              </a:rPr>
              <a:t> </a:t>
            </a:r>
            <a:endParaRPr lang="en-US" sz="1200" dirty="0"/>
          </a:p>
          <a:p>
            <a:pPr indent="0" marL="0">
              <a:buNone/>
            </a:pPr>
            <a:r>
              <a:rPr lang="en-US" sz="1200" b="1" dirty="0">
                <a:solidFill>
                  <a:schemeClr val="accent5"/>
                </a:solidFill>
                <a:latin typeface="Calibri" pitchFamily="34" charset="0"/>
                <a:ea typeface="Calibri" pitchFamily="34" charset="-122"/>
                <a:cs typeface="Calibri" pitchFamily="34" charset="-120"/>
              </a:rPr>
              <a:t>Stop if: </a:t>
            </a:r>
            <a:pPr indent="0" marL="0">
              <a:buNone/>
            </a:pPr>
            <a:r>
              <a:rPr lang="en-US" sz="1200" dirty="0">
                <a:solidFill>
                  <a:schemeClr val="tx1"/>
                </a:solidFill>
                <a:latin typeface="Calibri" pitchFamily="34" charset="0"/>
                <a:ea typeface="Calibri" pitchFamily="34" charset="-122"/>
                <a:cs typeface="Calibri" pitchFamily="34" charset="-120"/>
              </a:rPr>
              <a:t>at-risk ₹ improves &lt;10%, or growth falls more than 2 points below control</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229600" cy="274320"/>
          </a:xfrm>
          <a:prstGeom prst="rect">
            <a:avLst/>
          </a:prstGeom>
          <a:noFill/>
          <a:ln/>
        </p:spPr>
        <p:txBody>
          <a:bodyPr wrap="square" lIns="0" tIns="0" rIns="0" bIns="0" rtlCol="0" anchor="t"/>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KPI AND GOVERNANCE FRAMEWORK</a:t>
            </a:r>
            <a:endParaRPr lang="en-US" sz="1100" dirty="0"/>
          </a:p>
        </p:txBody>
      </p:sp>
      <p:sp>
        <p:nvSpPr>
          <p:cNvPr id="3" name="Text 0"/>
          <p:cNvSpPr/>
          <p:nvPr>
            <p:ph idx="101" type="title" hasCustomPrompt="1"/>
          </p:nvPr>
        </p:nvSpPr>
        <p:spPr>
          <a:xfrm>
            <a:off x="548640" y="566928"/>
            <a:ext cx="11064240" cy="96012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One scorecard for growth and waste, owned by the sales line</a:t>
            </a:r>
            <a:endParaRPr lang="en-US" sz="3000" dirty="0"/>
          </a:p>
        </p:txBody>
      </p:sp>
      <p:sp>
        <p:nvSpPr>
          <p:cNvPr id="4" name="Text 0"/>
          <p:cNvSpPr/>
          <p:nvPr>
            <p:ph idx="102" type="body" hasCustomPrompt="1"/>
          </p:nvPr>
        </p:nvSpPr>
        <p:spPr>
          <a:xfrm>
            <a:off x="548640" y="6382512"/>
            <a:ext cx="9692640" cy="329184"/>
          </a:xfrm>
          <a:prstGeom prst="rect">
            <a:avLst/>
          </a:prstGeom>
          <a:noFill/>
          <a:ln/>
        </p:spPr>
        <p:txBody>
          <a:bodyPr wrap="square" lIns="0" tIns="0" rIns="0" bIns="0" rtlCol="0" anchor="t"/>
          <a:lstStyle/>
          <a:p>
            <a:pPr indent="0" marL="0">
              <a:buNone/>
            </a:pPr>
            <a:r>
              <a:rPr lang="en-US" sz="1000" dirty="0">
                <a:solidFill>
                  <a:schemeClr val="tx2"/>
                </a:solidFill>
                <a:latin typeface="Calibri" pitchFamily="34" charset="0"/>
                <a:ea typeface="Calibri" pitchFamily="34" charset="-122"/>
                <a:cs typeface="Calibri" pitchFamily="34" charset="-120"/>
              </a:rPr>
              <a:t>Targets are pilot proposals measured against control territories. Scorecard weights are assumptions to agree with L'Oréal sales leadership.</a:t>
            </a:r>
            <a:endParaRPr lang="en-US" sz="1000" dirty="0"/>
          </a:p>
        </p:txBody>
      </p:sp>
      <p:sp>
        <p:nvSpPr>
          <p:cNvPr id="5" name="card-525"/>
          <p:cNvSpPr/>
          <p:nvPr/>
        </p:nvSpPr>
        <p:spPr>
          <a:xfrm>
            <a:off x="548640" y="1691640"/>
            <a:ext cx="2670048" cy="1298448"/>
          </a:xfrm>
          <a:prstGeom prst="roundRect">
            <a:avLst>
              <a:gd name="adj" fmla="val 5634"/>
            </a:avLst>
          </a:prstGeom>
          <a:solidFill>
            <a:schemeClr val="bg2"/>
          </a:solidFill>
          <a:ln w="12700">
            <a:solidFill>
              <a:schemeClr val="bg2"/>
            </a:solidFill>
            <a:prstDash val="solid"/>
          </a:ln>
        </p:spPr>
      </p:sp>
      <p:sp>
        <p:nvSpPr>
          <p:cNvPr id="6" name="text-526"/>
          <p:cNvSpPr txBox="1"/>
          <p:nvPr/>
        </p:nvSpPr>
        <p:spPr>
          <a:xfrm>
            <a:off x="713232" y="1801368"/>
            <a:ext cx="2377440" cy="292608"/>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Expiry &amp; return rate</a:t>
            </a:r>
            <a:endParaRPr lang="en-US" sz="1400" dirty="0"/>
          </a:p>
        </p:txBody>
      </p:sp>
      <p:sp>
        <p:nvSpPr>
          <p:cNvPr id="7" name="text-527"/>
          <p:cNvSpPr txBox="1"/>
          <p:nvPr/>
        </p:nvSpPr>
        <p:spPr>
          <a:xfrm>
            <a:off x="713232" y="2112264"/>
            <a:ext cx="2377440" cy="502920"/>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 returned ÷ ₹ secondary sales</a:t>
            </a:r>
            <a:endParaRPr lang="en-US" sz="1100" dirty="0"/>
          </a:p>
        </p:txBody>
      </p:sp>
      <p:sp>
        <p:nvSpPr>
          <p:cNvPr id="8" name="text-528"/>
          <p:cNvSpPr txBox="1"/>
          <p:nvPr/>
        </p:nvSpPr>
        <p:spPr>
          <a:xfrm>
            <a:off x="713232" y="2606040"/>
            <a:ext cx="2377440" cy="274320"/>
          </a:xfrm>
          <a:prstGeom prst="rect">
            <a:avLst/>
          </a:prstGeom>
          <a:noFill/>
          <a:ln/>
        </p:spPr>
        <p:txBody>
          <a:bodyPr wrap="square" lIns="0" tIns="0" rIns="0" bIns="0" rtlCol="0" anchor="t"/>
          <a:lstStyle/>
          <a:p>
            <a:pPr indent="0" marL="0">
              <a:buNone/>
            </a:pPr>
            <a:r>
              <a:rPr lang="en-US" sz="1300" b="1" dirty="0">
                <a:solidFill>
                  <a:schemeClr val="accent3"/>
                </a:solidFill>
                <a:latin typeface="Calibri" pitchFamily="34" charset="0"/>
                <a:ea typeface="Calibri" pitchFamily="34" charset="-122"/>
                <a:cs typeface="Calibri" pitchFamily="34" charset="-120"/>
              </a:rPr>
              <a:t>−15% at +6 months</a:t>
            </a:r>
            <a:endParaRPr lang="en-US" sz="1300" dirty="0"/>
          </a:p>
        </p:txBody>
      </p:sp>
      <p:sp>
        <p:nvSpPr>
          <p:cNvPr id="9" name="card-529"/>
          <p:cNvSpPr/>
          <p:nvPr/>
        </p:nvSpPr>
        <p:spPr>
          <a:xfrm>
            <a:off x="3355848" y="1691640"/>
            <a:ext cx="2670048" cy="1298448"/>
          </a:xfrm>
          <a:prstGeom prst="roundRect">
            <a:avLst>
              <a:gd name="adj" fmla="val 5634"/>
            </a:avLst>
          </a:prstGeom>
          <a:solidFill>
            <a:schemeClr val="bg2"/>
          </a:solidFill>
          <a:ln w="12700">
            <a:solidFill>
              <a:schemeClr val="bg2"/>
            </a:solidFill>
            <a:prstDash val="solid"/>
          </a:ln>
        </p:spPr>
      </p:sp>
      <p:sp>
        <p:nvSpPr>
          <p:cNvPr id="10" name="text-530"/>
          <p:cNvSpPr txBox="1"/>
          <p:nvPr/>
        </p:nvSpPr>
        <p:spPr>
          <a:xfrm>
            <a:off x="3520440" y="1801368"/>
            <a:ext cx="2377440" cy="292608"/>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At-risk inventory value</a:t>
            </a:r>
            <a:endParaRPr lang="en-US" sz="1400" dirty="0"/>
          </a:p>
        </p:txBody>
      </p:sp>
      <p:sp>
        <p:nvSpPr>
          <p:cNvPr id="11" name="text-531"/>
          <p:cNvSpPr txBox="1"/>
          <p:nvPr/>
        </p:nvSpPr>
        <p:spPr>
          <a:xfrm>
            <a:off x="3520440" y="2112264"/>
            <a:ext cx="2377440" cy="502920"/>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Σ projected unsold × unit value</a:t>
            </a:r>
            <a:endParaRPr lang="en-US" sz="1100" dirty="0"/>
          </a:p>
        </p:txBody>
      </p:sp>
      <p:sp>
        <p:nvSpPr>
          <p:cNvPr id="12" name="text-532"/>
          <p:cNvSpPr txBox="1"/>
          <p:nvPr/>
        </p:nvSpPr>
        <p:spPr>
          <a:xfrm>
            <a:off x="3520440" y="2606040"/>
            <a:ext cx="2377440" cy="274320"/>
          </a:xfrm>
          <a:prstGeom prst="rect">
            <a:avLst/>
          </a:prstGeom>
          <a:noFill/>
          <a:ln/>
        </p:spPr>
        <p:txBody>
          <a:bodyPr wrap="square" lIns="0" tIns="0" rIns="0" bIns="0" rtlCol="0" anchor="t"/>
          <a:lstStyle/>
          <a:p>
            <a:pPr indent="0" marL="0">
              <a:buNone/>
            </a:pPr>
            <a:r>
              <a:rPr lang="en-US" sz="1300" b="1" dirty="0">
                <a:solidFill>
                  <a:schemeClr val="accent3"/>
                </a:solidFill>
                <a:latin typeface="Calibri" pitchFamily="34" charset="0"/>
                <a:ea typeface="Calibri" pitchFamily="34" charset="-122"/>
                <a:cs typeface="Calibri" pitchFamily="34" charset="-120"/>
              </a:rPr>
              <a:t>−25%</a:t>
            </a:r>
            <a:endParaRPr lang="en-US" sz="1300" dirty="0"/>
          </a:p>
        </p:txBody>
      </p:sp>
      <p:sp>
        <p:nvSpPr>
          <p:cNvPr id="13" name="card-533"/>
          <p:cNvSpPr/>
          <p:nvPr/>
        </p:nvSpPr>
        <p:spPr>
          <a:xfrm>
            <a:off x="6163056" y="1691640"/>
            <a:ext cx="2670048" cy="1298448"/>
          </a:xfrm>
          <a:prstGeom prst="roundRect">
            <a:avLst>
              <a:gd name="adj" fmla="val 5634"/>
            </a:avLst>
          </a:prstGeom>
          <a:solidFill>
            <a:schemeClr val="bg2"/>
          </a:solidFill>
          <a:ln w="12700">
            <a:solidFill>
              <a:schemeClr val="bg2"/>
            </a:solidFill>
            <a:prstDash val="solid"/>
          </a:ln>
        </p:spPr>
      </p:sp>
      <p:sp>
        <p:nvSpPr>
          <p:cNvPr id="14" name="text-534"/>
          <p:cNvSpPr txBox="1"/>
          <p:nvPr/>
        </p:nvSpPr>
        <p:spPr>
          <a:xfrm>
            <a:off x="6327648" y="1801368"/>
            <a:ext cx="2377440" cy="292608"/>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Sell-through</a:t>
            </a:r>
            <a:endParaRPr lang="en-US" sz="1400" dirty="0"/>
          </a:p>
        </p:txBody>
      </p:sp>
      <p:sp>
        <p:nvSpPr>
          <p:cNvPr id="15" name="text-535"/>
          <p:cNvSpPr txBox="1"/>
          <p:nvPr/>
        </p:nvSpPr>
        <p:spPr>
          <a:xfrm>
            <a:off x="6327648" y="2112264"/>
            <a:ext cx="2377440" cy="502920"/>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Units sold ÷ (opening + receipts)</a:t>
            </a:r>
            <a:endParaRPr lang="en-US" sz="1100" dirty="0"/>
          </a:p>
        </p:txBody>
      </p:sp>
      <p:sp>
        <p:nvSpPr>
          <p:cNvPr id="16" name="text-536"/>
          <p:cNvSpPr txBox="1"/>
          <p:nvPr/>
        </p:nvSpPr>
        <p:spPr>
          <a:xfrm>
            <a:off x="6327648" y="2606040"/>
            <a:ext cx="2377440" cy="274320"/>
          </a:xfrm>
          <a:prstGeom prst="rect">
            <a:avLst/>
          </a:prstGeom>
          <a:noFill/>
          <a:ln/>
        </p:spPr>
        <p:txBody>
          <a:bodyPr wrap="square" lIns="0" tIns="0" rIns="0" bIns="0" rtlCol="0" anchor="t"/>
          <a:lstStyle/>
          <a:p>
            <a:pPr indent="0" marL="0">
              <a:buNone/>
            </a:pPr>
            <a:r>
              <a:rPr lang="en-US" sz="1300" b="1" dirty="0">
                <a:solidFill>
                  <a:schemeClr val="accent3"/>
                </a:solidFill>
                <a:latin typeface="Calibri" pitchFamily="34" charset="0"/>
                <a:ea typeface="Calibri" pitchFamily="34" charset="-122"/>
                <a:cs typeface="Calibri" pitchFamily="34" charset="-120"/>
              </a:rPr>
              <a:t>+10% on flagged SKUs</a:t>
            </a:r>
            <a:endParaRPr lang="en-US" sz="1300" dirty="0"/>
          </a:p>
        </p:txBody>
      </p:sp>
      <p:sp>
        <p:nvSpPr>
          <p:cNvPr id="17" name="card-537"/>
          <p:cNvSpPr/>
          <p:nvPr/>
        </p:nvSpPr>
        <p:spPr>
          <a:xfrm>
            <a:off x="8970264" y="1691640"/>
            <a:ext cx="2670048" cy="1298448"/>
          </a:xfrm>
          <a:prstGeom prst="roundRect">
            <a:avLst>
              <a:gd name="adj" fmla="val 5634"/>
            </a:avLst>
          </a:prstGeom>
          <a:solidFill>
            <a:schemeClr val="bg2"/>
          </a:solidFill>
          <a:ln w="12700">
            <a:solidFill>
              <a:schemeClr val="bg2"/>
            </a:solidFill>
            <a:prstDash val="solid"/>
          </a:ln>
        </p:spPr>
      </p:sp>
      <p:sp>
        <p:nvSpPr>
          <p:cNvPr id="18" name="text-538"/>
          <p:cNvSpPr txBox="1"/>
          <p:nvPr/>
        </p:nvSpPr>
        <p:spPr>
          <a:xfrm>
            <a:off x="9134856" y="1801368"/>
            <a:ext cx="2377440" cy="292608"/>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Days of inventory</a:t>
            </a:r>
            <a:endParaRPr lang="en-US" sz="1400" dirty="0"/>
          </a:p>
        </p:txBody>
      </p:sp>
      <p:sp>
        <p:nvSpPr>
          <p:cNvPr id="19" name="text-539"/>
          <p:cNvSpPr txBox="1"/>
          <p:nvPr/>
        </p:nvSpPr>
        <p:spPr>
          <a:xfrm>
            <a:off x="9134856" y="2112264"/>
            <a:ext cx="2377440" cy="502920"/>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Stock ÷ daily sell-out</a:t>
            </a:r>
            <a:endParaRPr lang="en-US" sz="1100" dirty="0"/>
          </a:p>
        </p:txBody>
      </p:sp>
      <p:sp>
        <p:nvSpPr>
          <p:cNvPr id="20" name="text-540"/>
          <p:cNvSpPr txBox="1"/>
          <p:nvPr/>
        </p:nvSpPr>
        <p:spPr>
          <a:xfrm>
            <a:off x="9134856" y="2606040"/>
            <a:ext cx="2377440" cy="274320"/>
          </a:xfrm>
          <a:prstGeom prst="rect">
            <a:avLst/>
          </a:prstGeom>
          <a:noFill/>
          <a:ln/>
        </p:spPr>
        <p:txBody>
          <a:bodyPr wrap="square" lIns="0" tIns="0" rIns="0" bIns="0" rtlCol="0" anchor="t"/>
          <a:lstStyle/>
          <a:p>
            <a:pPr indent="0" marL="0">
              <a:buNone/>
            </a:pPr>
            <a:r>
              <a:rPr lang="en-US" sz="1300" b="1" dirty="0">
                <a:solidFill>
                  <a:schemeClr val="accent3"/>
                </a:solidFill>
                <a:latin typeface="Calibri" pitchFamily="34" charset="0"/>
                <a:ea typeface="Calibri" pitchFamily="34" charset="-122"/>
                <a:cs typeface="Calibri" pitchFamily="34" charset="-120"/>
              </a:rPr>
              <a:t>Within norm ±20%</a:t>
            </a:r>
            <a:endParaRPr lang="en-US" sz="1300" dirty="0"/>
          </a:p>
        </p:txBody>
      </p:sp>
      <p:sp>
        <p:nvSpPr>
          <p:cNvPr id="21" name="card-541"/>
          <p:cNvSpPr/>
          <p:nvPr/>
        </p:nvSpPr>
        <p:spPr>
          <a:xfrm>
            <a:off x="548640" y="3108960"/>
            <a:ext cx="2670048" cy="1298448"/>
          </a:xfrm>
          <a:prstGeom prst="roundRect">
            <a:avLst>
              <a:gd name="adj" fmla="val 5634"/>
            </a:avLst>
          </a:prstGeom>
          <a:solidFill>
            <a:schemeClr val="bg2"/>
          </a:solidFill>
          <a:ln w="12700">
            <a:solidFill>
              <a:schemeClr val="bg2"/>
            </a:solidFill>
            <a:prstDash val="solid"/>
          </a:ln>
        </p:spPr>
      </p:sp>
      <p:sp>
        <p:nvSpPr>
          <p:cNvPr id="22" name="text-542"/>
          <p:cNvSpPr txBox="1"/>
          <p:nvPr/>
        </p:nvSpPr>
        <p:spPr>
          <a:xfrm>
            <a:off x="713232" y="3218688"/>
            <a:ext cx="2377440" cy="292608"/>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Stock-out rate</a:t>
            </a:r>
            <a:endParaRPr lang="en-US" sz="1400" dirty="0"/>
          </a:p>
        </p:txBody>
      </p:sp>
      <p:sp>
        <p:nvSpPr>
          <p:cNvPr id="23" name="text-543"/>
          <p:cNvSpPr txBox="1"/>
          <p:nvPr/>
        </p:nvSpPr>
        <p:spPr>
          <a:xfrm>
            <a:off x="713232" y="3529584"/>
            <a:ext cx="2377440" cy="502920"/>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Must-stock SKUs at zero ÷ checked</a:t>
            </a:r>
            <a:endParaRPr lang="en-US" sz="1100" dirty="0"/>
          </a:p>
        </p:txBody>
      </p:sp>
      <p:sp>
        <p:nvSpPr>
          <p:cNvPr id="24" name="text-544"/>
          <p:cNvSpPr txBox="1"/>
          <p:nvPr/>
        </p:nvSpPr>
        <p:spPr>
          <a:xfrm>
            <a:off x="713232" y="4023360"/>
            <a:ext cx="2377440" cy="274320"/>
          </a:xfrm>
          <a:prstGeom prst="rect">
            <a:avLst/>
          </a:prstGeom>
          <a:noFill/>
          <a:ln/>
        </p:spPr>
        <p:txBody>
          <a:bodyPr wrap="square" lIns="0" tIns="0" rIns="0" bIns="0" rtlCol="0" anchor="t"/>
          <a:lstStyle/>
          <a:p>
            <a:pPr indent="0" marL="0">
              <a:buNone/>
            </a:pPr>
            <a:r>
              <a:rPr lang="en-US" sz="1300" b="1" dirty="0">
                <a:solidFill>
                  <a:schemeClr val="accent3"/>
                </a:solidFill>
                <a:latin typeface="Calibri" pitchFamily="34" charset="0"/>
                <a:ea typeface="Calibri" pitchFamily="34" charset="-122"/>
                <a:cs typeface="Calibri" pitchFamily="34" charset="-120"/>
              </a:rPr>
              <a:t>−20%</a:t>
            </a:r>
            <a:endParaRPr lang="en-US" sz="1300" dirty="0"/>
          </a:p>
        </p:txBody>
      </p:sp>
      <p:sp>
        <p:nvSpPr>
          <p:cNvPr id="25" name="card-545"/>
          <p:cNvSpPr/>
          <p:nvPr/>
        </p:nvSpPr>
        <p:spPr>
          <a:xfrm>
            <a:off x="3355848" y="3108960"/>
            <a:ext cx="2670048" cy="1298448"/>
          </a:xfrm>
          <a:prstGeom prst="roundRect">
            <a:avLst>
              <a:gd name="adj" fmla="val 5634"/>
            </a:avLst>
          </a:prstGeom>
          <a:solidFill>
            <a:schemeClr val="bg2"/>
          </a:solidFill>
          <a:ln w="12700">
            <a:solidFill>
              <a:schemeClr val="bg2"/>
            </a:solidFill>
            <a:prstDash val="solid"/>
          </a:ln>
        </p:spPr>
      </p:sp>
      <p:sp>
        <p:nvSpPr>
          <p:cNvPr id="26" name="text-546"/>
          <p:cNvSpPr txBox="1"/>
          <p:nvPr/>
        </p:nvSpPr>
        <p:spPr>
          <a:xfrm>
            <a:off x="3520440" y="3218688"/>
            <a:ext cx="2377440" cy="292608"/>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Intervention completion</a:t>
            </a:r>
            <a:endParaRPr lang="en-US" sz="1400" dirty="0"/>
          </a:p>
        </p:txBody>
      </p:sp>
      <p:sp>
        <p:nvSpPr>
          <p:cNvPr id="27" name="text-547"/>
          <p:cNvSpPr txBox="1"/>
          <p:nvPr/>
        </p:nvSpPr>
        <p:spPr>
          <a:xfrm>
            <a:off x="3520440" y="3529584"/>
            <a:ext cx="2377440" cy="502920"/>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Actions done ÷ accepted</a:t>
            </a:r>
            <a:endParaRPr lang="en-US" sz="1100" dirty="0"/>
          </a:p>
        </p:txBody>
      </p:sp>
      <p:sp>
        <p:nvSpPr>
          <p:cNvPr id="28" name="text-548"/>
          <p:cNvSpPr txBox="1"/>
          <p:nvPr/>
        </p:nvSpPr>
        <p:spPr>
          <a:xfrm>
            <a:off x="3520440" y="4023360"/>
            <a:ext cx="2377440" cy="274320"/>
          </a:xfrm>
          <a:prstGeom prst="rect">
            <a:avLst/>
          </a:prstGeom>
          <a:noFill/>
          <a:ln/>
        </p:spPr>
        <p:txBody>
          <a:bodyPr wrap="square" lIns="0" tIns="0" rIns="0" bIns="0" rtlCol="0" anchor="t"/>
          <a:lstStyle/>
          <a:p>
            <a:pPr indent="0" marL="0">
              <a:buNone/>
            </a:pPr>
            <a:r>
              <a:rPr lang="en-US" sz="1300" b="1" dirty="0">
                <a:solidFill>
                  <a:schemeClr val="accent3"/>
                </a:solidFill>
                <a:latin typeface="Calibri" pitchFamily="34" charset="0"/>
                <a:ea typeface="Calibri" pitchFamily="34" charset="-122"/>
                <a:cs typeface="Calibri" pitchFamily="34" charset="-120"/>
              </a:rPr>
              <a:t>≥70%</a:t>
            </a:r>
            <a:endParaRPr lang="en-US" sz="1300" dirty="0"/>
          </a:p>
        </p:txBody>
      </p:sp>
      <p:sp>
        <p:nvSpPr>
          <p:cNvPr id="29" name="card-549"/>
          <p:cNvSpPr/>
          <p:nvPr/>
        </p:nvSpPr>
        <p:spPr>
          <a:xfrm>
            <a:off x="6163056" y="3108960"/>
            <a:ext cx="2670048" cy="1298448"/>
          </a:xfrm>
          <a:prstGeom prst="roundRect">
            <a:avLst>
              <a:gd name="adj" fmla="val 5634"/>
            </a:avLst>
          </a:prstGeom>
          <a:solidFill>
            <a:schemeClr val="bg2"/>
          </a:solidFill>
          <a:ln w="12700">
            <a:solidFill>
              <a:schemeClr val="bg2"/>
            </a:solidFill>
            <a:prstDash val="solid"/>
          </a:ln>
        </p:spPr>
      </p:sp>
      <p:sp>
        <p:nvSpPr>
          <p:cNvPr id="30" name="text-550"/>
          <p:cNvSpPr txBox="1"/>
          <p:nvPr/>
        </p:nvSpPr>
        <p:spPr>
          <a:xfrm>
            <a:off x="6327648" y="3218688"/>
            <a:ext cx="2377440" cy="292608"/>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Inventory recovered</a:t>
            </a:r>
            <a:endParaRPr lang="en-US" sz="1400" dirty="0"/>
          </a:p>
        </p:txBody>
      </p:sp>
      <p:sp>
        <p:nvSpPr>
          <p:cNvPr id="31" name="text-551"/>
          <p:cNvSpPr txBox="1"/>
          <p:nvPr/>
        </p:nvSpPr>
        <p:spPr>
          <a:xfrm>
            <a:off x="6327648" y="3529584"/>
            <a:ext cx="2377440" cy="502920"/>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 of at-risk stock sold via transfer, bundle or activation</a:t>
            </a:r>
            <a:endParaRPr lang="en-US" sz="1100" dirty="0"/>
          </a:p>
        </p:txBody>
      </p:sp>
      <p:sp>
        <p:nvSpPr>
          <p:cNvPr id="32" name="text-552"/>
          <p:cNvSpPr txBox="1"/>
          <p:nvPr/>
        </p:nvSpPr>
        <p:spPr>
          <a:xfrm>
            <a:off x="6327648" y="4023360"/>
            <a:ext cx="2377440" cy="274320"/>
          </a:xfrm>
          <a:prstGeom prst="rect">
            <a:avLst/>
          </a:prstGeom>
          <a:noFill/>
          <a:ln/>
        </p:spPr>
        <p:txBody>
          <a:bodyPr wrap="square" lIns="0" tIns="0" rIns="0" bIns="0" rtlCol="0" anchor="t"/>
          <a:lstStyle/>
          <a:p>
            <a:pPr indent="0" marL="0">
              <a:buNone/>
            </a:pPr>
            <a:r>
              <a:rPr lang="en-US" sz="1300" b="1" dirty="0">
                <a:solidFill>
                  <a:schemeClr val="accent3"/>
                </a:solidFill>
                <a:latin typeface="Calibri" pitchFamily="34" charset="0"/>
                <a:ea typeface="Calibri" pitchFamily="34" charset="-122"/>
                <a:cs typeface="Calibri" pitchFamily="34" charset="-120"/>
              </a:rPr>
              <a:t>Tracked</a:t>
            </a:r>
            <a:endParaRPr lang="en-US" sz="1300" dirty="0"/>
          </a:p>
        </p:txBody>
      </p:sp>
      <p:sp>
        <p:nvSpPr>
          <p:cNvPr id="33" name="card-553"/>
          <p:cNvSpPr/>
          <p:nvPr/>
        </p:nvSpPr>
        <p:spPr>
          <a:xfrm>
            <a:off x="8970264" y="3108960"/>
            <a:ext cx="2670048" cy="1298448"/>
          </a:xfrm>
          <a:prstGeom prst="roundRect">
            <a:avLst>
              <a:gd name="adj" fmla="val 5634"/>
            </a:avLst>
          </a:prstGeom>
          <a:solidFill>
            <a:schemeClr val="bg2"/>
          </a:solidFill>
          <a:ln w="12700">
            <a:solidFill>
              <a:schemeClr val="bg2"/>
            </a:solidFill>
            <a:prstDash val="solid"/>
          </a:ln>
        </p:spPr>
      </p:sp>
      <p:sp>
        <p:nvSpPr>
          <p:cNvPr id="34" name="text-554"/>
          <p:cNvSpPr txBox="1"/>
          <p:nvPr/>
        </p:nvSpPr>
        <p:spPr>
          <a:xfrm>
            <a:off x="9134856" y="3218688"/>
            <a:ext cx="2377440" cy="292608"/>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Incremental contribution &amp; ROI</a:t>
            </a:r>
            <a:endParaRPr lang="en-US" sz="1400" dirty="0"/>
          </a:p>
        </p:txBody>
      </p:sp>
      <p:sp>
        <p:nvSpPr>
          <p:cNvPr id="35" name="text-555"/>
          <p:cNvSpPr txBox="1"/>
          <p:nvPr/>
        </p:nvSpPr>
        <p:spPr>
          <a:xfrm>
            <a:off x="9134856" y="3529584"/>
            <a:ext cx="2377440" cy="502920"/>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(Test − control growth) × margin − costs</a:t>
            </a:r>
            <a:endParaRPr lang="en-US" sz="1100" dirty="0"/>
          </a:p>
        </p:txBody>
      </p:sp>
      <p:sp>
        <p:nvSpPr>
          <p:cNvPr id="36" name="text-556"/>
          <p:cNvSpPr txBox="1"/>
          <p:nvPr/>
        </p:nvSpPr>
        <p:spPr>
          <a:xfrm>
            <a:off x="9134856" y="4023360"/>
            <a:ext cx="2377440" cy="274320"/>
          </a:xfrm>
          <a:prstGeom prst="rect">
            <a:avLst/>
          </a:prstGeom>
          <a:noFill/>
          <a:ln/>
        </p:spPr>
        <p:txBody>
          <a:bodyPr wrap="square" lIns="0" tIns="0" rIns="0" bIns="0" rtlCol="0" anchor="t"/>
          <a:lstStyle/>
          <a:p>
            <a:pPr indent="0" marL="0">
              <a:buNone/>
            </a:pPr>
            <a:r>
              <a:rPr lang="en-US" sz="1300" b="1" dirty="0">
                <a:solidFill>
                  <a:schemeClr val="accent3"/>
                </a:solidFill>
                <a:latin typeface="Calibri" pitchFamily="34" charset="0"/>
                <a:ea typeface="Calibri" pitchFamily="34" charset="-122"/>
                <a:cs typeface="Calibri" pitchFamily="34" charset="-120"/>
              </a:rPr>
              <a:t>≥ control</a:t>
            </a:r>
            <a:endParaRPr lang="en-US" sz="1300" dirty="0"/>
          </a:p>
        </p:txBody>
      </p:sp>
      <p:sp>
        <p:nvSpPr>
          <p:cNvPr id="37" name="text-557"/>
          <p:cNvSpPr txBox="1"/>
          <p:nvPr/>
        </p:nvSpPr>
        <p:spPr>
          <a:xfrm>
            <a:off x="548640" y="4617720"/>
            <a:ext cx="4572000" cy="274320"/>
          </a:xfrm>
          <a:prstGeom prst="rect">
            <a:avLst/>
          </a:prstGeom>
          <a:noFill/>
          <a:ln/>
        </p:spPr>
        <p:txBody>
          <a:bodyPr wrap="square" lIns="0" tIns="0" rIns="0" bIns="0" rtlCol="0" anchor="t"/>
          <a:lstStyle/>
          <a:p>
            <a:pPr indent="0" marL="0">
              <a:buNone/>
            </a:pPr>
            <a:r>
              <a:rPr lang="en-US" sz="1100" b="1" spc="200" kern="0" dirty="0">
                <a:solidFill>
                  <a:schemeClr val="tx2"/>
                </a:solidFill>
                <a:latin typeface="Calibri" pitchFamily="34" charset="0"/>
                <a:ea typeface="Calibri" pitchFamily="34" charset="-122"/>
                <a:cs typeface="Calibri" pitchFamily="34" charset="-120"/>
              </a:rPr>
              <a:t>GOVERNANCE CADENCE</a:t>
            </a:r>
            <a:endParaRPr lang="en-US" sz="1100" dirty="0"/>
          </a:p>
        </p:txBody>
      </p:sp>
      <p:sp>
        <p:nvSpPr>
          <p:cNvPr id="38" name="text-558"/>
          <p:cNvSpPr txBox="1"/>
          <p:nvPr/>
        </p:nvSpPr>
        <p:spPr>
          <a:xfrm>
            <a:off x="548640" y="4937760"/>
            <a:ext cx="1005840" cy="292608"/>
          </a:xfrm>
          <a:prstGeom prst="rect">
            <a:avLst/>
          </a:prstGeom>
          <a:noFill/>
          <a:ln/>
        </p:spPr>
        <p:txBody>
          <a:bodyPr wrap="square" lIns="0" tIns="0" rIns="0" bIns="0" rtlCol="0" anchor="t"/>
          <a:lstStyle/>
          <a:p>
            <a:pPr indent="0" marL="0">
              <a:buNone/>
            </a:pPr>
            <a:r>
              <a:rPr lang="en-US" sz="1200" b="1" dirty="0">
                <a:solidFill>
                  <a:schemeClr val="accent1"/>
                </a:solidFill>
                <a:latin typeface="Calibri" pitchFamily="34" charset="0"/>
                <a:ea typeface="Calibri" pitchFamily="34" charset="-122"/>
                <a:cs typeface="Calibri" pitchFamily="34" charset="-120"/>
              </a:rPr>
              <a:t>Daily</a:t>
            </a:r>
            <a:endParaRPr lang="en-US" sz="1200" dirty="0"/>
          </a:p>
        </p:txBody>
      </p:sp>
      <p:sp>
        <p:nvSpPr>
          <p:cNvPr id="39" name="text-559"/>
          <p:cNvSpPr txBox="1"/>
          <p:nvPr/>
        </p:nvSpPr>
        <p:spPr>
          <a:xfrm>
            <a:off x="1554480" y="4937760"/>
            <a:ext cx="4663440" cy="292608"/>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Rep: visits, Smart Count, actions</a:t>
            </a:r>
            <a:endParaRPr lang="en-US" sz="1200" dirty="0"/>
          </a:p>
        </p:txBody>
      </p:sp>
      <p:sp>
        <p:nvSpPr>
          <p:cNvPr id="40" name="text-560"/>
          <p:cNvSpPr txBox="1"/>
          <p:nvPr/>
        </p:nvSpPr>
        <p:spPr>
          <a:xfrm>
            <a:off x="548640" y="5266944"/>
            <a:ext cx="1005840" cy="292608"/>
          </a:xfrm>
          <a:prstGeom prst="rect">
            <a:avLst/>
          </a:prstGeom>
          <a:noFill/>
          <a:ln/>
        </p:spPr>
        <p:txBody>
          <a:bodyPr wrap="square" lIns="0" tIns="0" rIns="0" bIns="0" rtlCol="0" anchor="t"/>
          <a:lstStyle/>
          <a:p>
            <a:pPr indent="0" marL="0">
              <a:buNone/>
            </a:pPr>
            <a:r>
              <a:rPr lang="en-US" sz="1200" b="1" dirty="0">
                <a:solidFill>
                  <a:schemeClr val="accent1"/>
                </a:solidFill>
                <a:latin typeface="Calibri" pitchFamily="34" charset="0"/>
                <a:ea typeface="Calibri" pitchFamily="34" charset="-122"/>
                <a:cs typeface="Calibri" pitchFamily="34" charset="-120"/>
              </a:rPr>
              <a:t>Weekly</a:t>
            </a:r>
            <a:endParaRPr lang="en-US" sz="1200" dirty="0"/>
          </a:p>
        </p:txBody>
      </p:sp>
      <p:sp>
        <p:nvSpPr>
          <p:cNvPr id="41" name="text-561"/>
          <p:cNvSpPr txBox="1"/>
          <p:nvPr/>
        </p:nvSpPr>
        <p:spPr>
          <a:xfrm>
            <a:off x="1554480" y="5266944"/>
            <a:ext cx="4663440" cy="292608"/>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ASM: approvals, repeat offenders, coaching</a:t>
            </a:r>
            <a:endParaRPr lang="en-US" sz="1200" dirty="0"/>
          </a:p>
        </p:txBody>
      </p:sp>
      <p:sp>
        <p:nvSpPr>
          <p:cNvPr id="42" name="text-562"/>
          <p:cNvSpPr txBox="1"/>
          <p:nvPr/>
        </p:nvSpPr>
        <p:spPr>
          <a:xfrm>
            <a:off x="548640" y="5596128"/>
            <a:ext cx="1005840" cy="292608"/>
          </a:xfrm>
          <a:prstGeom prst="rect">
            <a:avLst/>
          </a:prstGeom>
          <a:noFill/>
          <a:ln/>
        </p:spPr>
        <p:txBody>
          <a:bodyPr wrap="square" lIns="0" tIns="0" rIns="0" bIns="0" rtlCol="0" anchor="t"/>
          <a:lstStyle/>
          <a:p>
            <a:pPr indent="0" marL="0">
              <a:buNone/>
            </a:pPr>
            <a:r>
              <a:rPr lang="en-US" sz="1200" b="1" dirty="0">
                <a:solidFill>
                  <a:schemeClr val="accent1"/>
                </a:solidFill>
                <a:latin typeface="Calibri" pitchFamily="34" charset="0"/>
                <a:ea typeface="Calibri" pitchFamily="34" charset="-122"/>
                <a:cs typeface="Calibri" pitchFamily="34" charset="-120"/>
              </a:rPr>
              <a:t>Monthly</a:t>
            </a:r>
            <a:endParaRPr lang="en-US" sz="1200" dirty="0"/>
          </a:p>
        </p:txBody>
      </p:sp>
      <p:sp>
        <p:nvSpPr>
          <p:cNvPr id="43" name="text-563"/>
          <p:cNvSpPr txBox="1"/>
          <p:nvPr/>
        </p:nvSpPr>
        <p:spPr>
          <a:xfrm>
            <a:off x="1554480" y="5596128"/>
            <a:ext cx="4663440" cy="292608"/>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Distributor ageing review; brand and demand-planning readout</a:t>
            </a:r>
            <a:endParaRPr lang="en-US" sz="1200" dirty="0"/>
          </a:p>
        </p:txBody>
      </p:sp>
      <p:sp>
        <p:nvSpPr>
          <p:cNvPr id="44" name="text-564"/>
          <p:cNvSpPr txBox="1"/>
          <p:nvPr/>
        </p:nvSpPr>
        <p:spPr>
          <a:xfrm>
            <a:off x="548640" y="5925312"/>
            <a:ext cx="1005840" cy="292608"/>
          </a:xfrm>
          <a:prstGeom prst="rect">
            <a:avLst/>
          </a:prstGeom>
          <a:noFill/>
          <a:ln/>
        </p:spPr>
        <p:txBody>
          <a:bodyPr wrap="square" lIns="0" tIns="0" rIns="0" bIns="0" rtlCol="0" anchor="t"/>
          <a:lstStyle/>
          <a:p>
            <a:pPr indent="0" marL="0">
              <a:buNone/>
            </a:pPr>
            <a:r>
              <a:rPr lang="en-US" sz="1200" b="1" dirty="0">
                <a:solidFill>
                  <a:schemeClr val="accent1"/>
                </a:solidFill>
                <a:latin typeface="Calibri" pitchFamily="34" charset="0"/>
                <a:ea typeface="Calibri" pitchFamily="34" charset="-122"/>
                <a:cs typeface="Calibri" pitchFamily="34" charset="-120"/>
              </a:rPr>
              <a:t>Quarterly</a:t>
            </a:r>
            <a:endParaRPr lang="en-US" sz="1200" dirty="0"/>
          </a:p>
        </p:txBody>
      </p:sp>
      <p:sp>
        <p:nvSpPr>
          <p:cNvPr id="45" name="text-565"/>
          <p:cNvSpPr txBox="1"/>
          <p:nvPr/>
        </p:nvSpPr>
        <p:spPr>
          <a:xfrm>
            <a:off x="1554480" y="5925312"/>
            <a:ext cx="4663440" cy="292608"/>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Sales leadership: scorecard, policy on returns and schemes</a:t>
            </a:r>
            <a:endParaRPr lang="en-US" sz="1200" dirty="0"/>
          </a:p>
        </p:txBody>
      </p:sp>
      <p:sp>
        <p:nvSpPr>
          <p:cNvPr id="46" name="text-566"/>
          <p:cNvSpPr txBox="1"/>
          <p:nvPr/>
        </p:nvSpPr>
        <p:spPr>
          <a:xfrm>
            <a:off x="6537960" y="4617720"/>
            <a:ext cx="5120640" cy="274320"/>
          </a:xfrm>
          <a:prstGeom prst="rect">
            <a:avLst/>
          </a:prstGeom>
          <a:noFill/>
          <a:ln/>
        </p:spPr>
        <p:txBody>
          <a:bodyPr wrap="square" lIns="0" tIns="0" rIns="0" bIns="0" rtlCol="0" anchor="t"/>
          <a:lstStyle/>
          <a:p>
            <a:pPr indent="0" marL="0">
              <a:buNone/>
            </a:pPr>
            <a:r>
              <a:rPr lang="en-US" sz="1100" b="1" spc="200" kern="0" dirty="0">
                <a:solidFill>
                  <a:schemeClr val="tx2"/>
                </a:solidFill>
                <a:latin typeface="Calibri" pitchFamily="34" charset="0"/>
                <a:ea typeface="Calibri" pitchFamily="34" charset="-122"/>
                <a:cs typeface="Calibri" pitchFamily="34" charset="-120"/>
              </a:rPr>
              <a:t>HEALTHY SALES SCORECARD (REP INCENTIVE)</a:t>
            </a:r>
            <a:endParaRPr lang="en-US" sz="1100" dirty="0"/>
          </a:p>
        </p:txBody>
      </p:sp>
      <p:sp>
        <p:nvSpPr>
          <p:cNvPr id="47" name="scorecard-bar-567"/>
          <p:cNvSpPr/>
          <p:nvPr/>
        </p:nvSpPr>
        <p:spPr>
          <a:xfrm>
            <a:off x="6537960" y="4983480"/>
            <a:ext cx="2551176" cy="457200"/>
          </a:xfrm>
          <a:prstGeom prst="rect">
            <a:avLst/>
          </a:prstGeom>
          <a:solidFill>
            <a:srgbClr val="6E1A30"/>
          </a:solidFill>
          <a:ln w="12700">
            <a:solidFill>
              <a:srgbClr val="FFFFFF"/>
            </a:solidFill>
            <a:prstDash val="solid"/>
          </a:ln>
        </p:spPr>
      </p:sp>
      <p:sp>
        <p:nvSpPr>
          <p:cNvPr id="48" name="text-568"/>
          <p:cNvSpPr txBox="1"/>
          <p:nvPr/>
        </p:nvSpPr>
        <p:spPr>
          <a:xfrm>
            <a:off x="6537960" y="4983480"/>
            <a:ext cx="2551176" cy="45720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50%</a:t>
            </a:r>
            <a:endParaRPr lang="en-US" sz="1300" dirty="0"/>
          </a:p>
        </p:txBody>
      </p:sp>
      <p:sp>
        <p:nvSpPr>
          <p:cNvPr id="49" name="text-569"/>
          <p:cNvSpPr txBox="1"/>
          <p:nvPr/>
        </p:nvSpPr>
        <p:spPr>
          <a:xfrm>
            <a:off x="6537960" y="5486400"/>
            <a:ext cx="2551176" cy="548640"/>
          </a:xfrm>
          <a:prstGeom prst="rect">
            <a:avLst/>
          </a:prstGeom>
          <a:noFill/>
          <a:ln/>
        </p:spPr>
        <p:txBody>
          <a:bodyPr wrap="square" lIns="0" tIns="0" rIns="0" bIns="0" rtlCol="0" anchor="t"/>
          <a:lstStyle/>
          <a:p>
            <a:pPr algn="ctr" indent="0" marL="0">
              <a:buNone/>
            </a:pPr>
            <a:r>
              <a:rPr lang="en-US" sz="1000" dirty="0">
                <a:solidFill>
                  <a:schemeClr val="tx2"/>
                </a:solidFill>
                <a:latin typeface="Calibri" pitchFamily="34" charset="0"/>
                <a:ea typeface="Calibri" pitchFamily="34" charset="-122"/>
                <a:cs typeface="Calibri" pitchFamily="34" charset="-120"/>
              </a:rPr>
              <a:t>Secondary sales vs target</a:t>
            </a:r>
            <a:endParaRPr lang="en-US" sz="1000" dirty="0"/>
          </a:p>
        </p:txBody>
      </p:sp>
      <p:sp>
        <p:nvSpPr>
          <p:cNvPr id="50" name="scorecard-bar-570"/>
          <p:cNvSpPr/>
          <p:nvPr/>
        </p:nvSpPr>
        <p:spPr>
          <a:xfrm>
            <a:off x="9089136" y="4983480"/>
            <a:ext cx="1020470" cy="457200"/>
          </a:xfrm>
          <a:prstGeom prst="rect">
            <a:avLst/>
          </a:prstGeom>
          <a:solidFill>
            <a:srgbClr val="2E7D5B"/>
          </a:solidFill>
          <a:ln w="12700">
            <a:solidFill>
              <a:srgbClr val="FFFFFF"/>
            </a:solidFill>
            <a:prstDash val="solid"/>
          </a:ln>
        </p:spPr>
      </p:sp>
      <p:sp>
        <p:nvSpPr>
          <p:cNvPr id="51" name="text-571"/>
          <p:cNvSpPr txBox="1"/>
          <p:nvPr/>
        </p:nvSpPr>
        <p:spPr>
          <a:xfrm>
            <a:off x="9089136" y="4983480"/>
            <a:ext cx="1020470" cy="45720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20%</a:t>
            </a:r>
            <a:endParaRPr lang="en-US" sz="1300" dirty="0"/>
          </a:p>
        </p:txBody>
      </p:sp>
      <p:sp>
        <p:nvSpPr>
          <p:cNvPr id="52" name="text-572"/>
          <p:cNvSpPr txBox="1"/>
          <p:nvPr/>
        </p:nvSpPr>
        <p:spPr>
          <a:xfrm>
            <a:off x="9089136" y="5486400"/>
            <a:ext cx="1020470" cy="548640"/>
          </a:xfrm>
          <a:prstGeom prst="rect">
            <a:avLst/>
          </a:prstGeom>
          <a:noFill/>
          <a:ln/>
        </p:spPr>
        <p:txBody>
          <a:bodyPr wrap="square" lIns="0" tIns="0" rIns="0" bIns="0" rtlCol="0" anchor="t"/>
          <a:lstStyle/>
          <a:p>
            <a:pPr algn="ctr" indent="0" marL="0">
              <a:buNone/>
            </a:pPr>
            <a:r>
              <a:rPr lang="en-US" sz="1000" dirty="0">
                <a:solidFill>
                  <a:schemeClr val="tx2"/>
                </a:solidFill>
                <a:latin typeface="Calibri" pitchFamily="34" charset="0"/>
                <a:ea typeface="Calibri" pitchFamily="34" charset="-122"/>
                <a:cs typeface="Calibri" pitchFamily="34" charset="-120"/>
              </a:rPr>
              <a:t>Sell-through health</a:t>
            </a:r>
            <a:endParaRPr lang="en-US" sz="1000" dirty="0"/>
          </a:p>
        </p:txBody>
      </p:sp>
      <p:sp>
        <p:nvSpPr>
          <p:cNvPr id="53" name="scorecard-bar-573"/>
          <p:cNvSpPr/>
          <p:nvPr/>
        </p:nvSpPr>
        <p:spPr>
          <a:xfrm>
            <a:off x="10109606" y="4983480"/>
            <a:ext cx="765353" cy="457200"/>
          </a:xfrm>
          <a:prstGeom prst="rect">
            <a:avLst/>
          </a:prstGeom>
          <a:solidFill>
            <a:srgbClr val="2F5D8C"/>
          </a:solidFill>
          <a:ln w="12700">
            <a:solidFill>
              <a:srgbClr val="FFFFFF"/>
            </a:solidFill>
            <a:prstDash val="solid"/>
          </a:ln>
        </p:spPr>
      </p:sp>
      <p:sp>
        <p:nvSpPr>
          <p:cNvPr id="54" name="text-574"/>
          <p:cNvSpPr txBox="1"/>
          <p:nvPr/>
        </p:nvSpPr>
        <p:spPr>
          <a:xfrm>
            <a:off x="10109606" y="4983480"/>
            <a:ext cx="765353" cy="45720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15%</a:t>
            </a:r>
            <a:endParaRPr lang="en-US" sz="1300" dirty="0"/>
          </a:p>
        </p:txBody>
      </p:sp>
      <p:sp>
        <p:nvSpPr>
          <p:cNvPr id="55" name="text-575"/>
          <p:cNvSpPr txBox="1"/>
          <p:nvPr/>
        </p:nvSpPr>
        <p:spPr>
          <a:xfrm>
            <a:off x="10109606" y="5486400"/>
            <a:ext cx="765353" cy="548640"/>
          </a:xfrm>
          <a:prstGeom prst="rect">
            <a:avLst/>
          </a:prstGeom>
          <a:noFill/>
          <a:ln/>
        </p:spPr>
        <p:txBody>
          <a:bodyPr wrap="square" lIns="0" tIns="0" rIns="0" bIns="0" rtlCol="0" anchor="t"/>
          <a:lstStyle/>
          <a:p>
            <a:pPr algn="ctr" indent="0" marL="0">
              <a:buNone/>
            </a:pPr>
            <a:r>
              <a:rPr lang="en-US" sz="1000" dirty="0">
                <a:solidFill>
                  <a:schemeClr val="tx2"/>
                </a:solidFill>
                <a:latin typeface="Calibri" pitchFamily="34" charset="0"/>
                <a:ea typeface="Calibri" pitchFamily="34" charset="-122"/>
                <a:cs typeface="Calibri" pitchFamily="34" charset="-120"/>
              </a:rPr>
              <a:t>Availability</a:t>
            </a:r>
            <a:endParaRPr lang="en-US" sz="1000" dirty="0"/>
          </a:p>
        </p:txBody>
      </p:sp>
      <p:sp>
        <p:nvSpPr>
          <p:cNvPr id="56" name="scorecard-bar-576"/>
          <p:cNvSpPr/>
          <p:nvPr/>
        </p:nvSpPr>
        <p:spPr>
          <a:xfrm>
            <a:off x="10874959" y="4983480"/>
            <a:ext cx="765353" cy="457200"/>
          </a:xfrm>
          <a:prstGeom prst="rect">
            <a:avLst/>
          </a:prstGeom>
          <a:solidFill>
            <a:srgbClr val="B08D57"/>
          </a:solidFill>
          <a:ln w="12700">
            <a:solidFill>
              <a:srgbClr val="FFFFFF"/>
            </a:solidFill>
            <a:prstDash val="solid"/>
          </a:ln>
        </p:spPr>
      </p:sp>
      <p:sp>
        <p:nvSpPr>
          <p:cNvPr id="57" name="text-577"/>
          <p:cNvSpPr txBox="1"/>
          <p:nvPr/>
        </p:nvSpPr>
        <p:spPr>
          <a:xfrm>
            <a:off x="10874959" y="4983480"/>
            <a:ext cx="765353" cy="45720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15%</a:t>
            </a:r>
            <a:endParaRPr lang="en-US" sz="1300" dirty="0"/>
          </a:p>
        </p:txBody>
      </p:sp>
      <p:sp>
        <p:nvSpPr>
          <p:cNvPr id="58" name="text-578"/>
          <p:cNvSpPr txBox="1"/>
          <p:nvPr/>
        </p:nvSpPr>
        <p:spPr>
          <a:xfrm>
            <a:off x="10874959" y="5486400"/>
            <a:ext cx="765353" cy="548640"/>
          </a:xfrm>
          <a:prstGeom prst="rect">
            <a:avLst/>
          </a:prstGeom>
          <a:noFill/>
          <a:ln/>
        </p:spPr>
        <p:txBody>
          <a:bodyPr wrap="square" lIns="0" tIns="0" rIns="0" bIns="0" rtlCol="0" anchor="t"/>
          <a:lstStyle/>
          <a:p>
            <a:pPr algn="ctr" indent="0" marL="0">
              <a:buNone/>
            </a:pPr>
            <a:r>
              <a:rPr lang="en-US" sz="1000" dirty="0">
                <a:solidFill>
                  <a:schemeClr val="tx2"/>
                </a:solidFill>
                <a:latin typeface="Calibri" pitchFamily="34" charset="0"/>
                <a:ea typeface="Calibri" pitchFamily="34" charset="-122"/>
                <a:cs typeface="Calibri" pitchFamily="34" charset="-120"/>
              </a:rPr>
              <a:t>Execution</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548640"/>
            <a:ext cx="8229600" cy="274320"/>
          </a:xfrm>
          <a:prstGeom prst="rect">
            <a:avLst/>
          </a:prstGeom>
          <a:noFill/>
          <a:ln/>
        </p:spPr>
        <p:txBody>
          <a:bodyPr wrap="square" lIns="0" tIns="0" rIns="0" bIns="0" rtlCol="0"/>
          <a:lstStyle/>
          <a:p>
            <a:pPr indent="0" marL="0">
              <a:buNone/>
            </a:pPr>
            <a:r>
              <a:rPr lang="en-US" sz="1200" b="1" spc="200" kern="0" dirty="0">
                <a:solidFill>
                  <a:schemeClr val="accent2"/>
                </a:solidFill>
                <a:latin typeface="Calibri" pitchFamily="34" charset="0"/>
                <a:ea typeface="Calibri" pitchFamily="34" charset="-122"/>
                <a:cs typeface="Calibri" pitchFamily="34" charset="-120"/>
              </a:rPr>
              <a:t>THE CLOSE</a:t>
            </a:r>
            <a:endParaRPr lang="en-US" sz="1200" dirty="0"/>
          </a:p>
        </p:txBody>
      </p:sp>
      <p:sp>
        <p:nvSpPr>
          <p:cNvPr id="3" name="Text 0"/>
          <p:cNvSpPr/>
          <p:nvPr>
            <p:ph idx="101" type="title" hasCustomPrompt="1"/>
          </p:nvPr>
        </p:nvSpPr>
        <p:spPr>
          <a:xfrm>
            <a:off x="548640" y="914400"/>
            <a:ext cx="10515600" cy="164592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From order collection to intelligent demand and inventory management</a:t>
            </a:r>
            <a:endParaRPr lang="en-US" sz="4000" dirty="0"/>
          </a:p>
        </p:txBody>
      </p:sp>
      <p:sp>
        <p:nvSpPr>
          <p:cNvPr id="4" name="text-579"/>
          <p:cNvSpPr txBox="1"/>
          <p:nvPr/>
        </p:nvSpPr>
        <p:spPr>
          <a:xfrm>
            <a:off x="548640" y="2788920"/>
            <a:ext cx="4206240" cy="411480"/>
          </a:xfrm>
          <a:prstGeom prst="rect">
            <a:avLst/>
          </a:prstGeom>
          <a:noFill/>
          <a:ln/>
        </p:spPr>
        <p:txBody>
          <a:bodyPr wrap="square" lIns="0" tIns="0" rIns="0" bIns="0" rtlCol="0" anchor="ctr"/>
          <a:lstStyle/>
          <a:p>
            <a:pPr indent="0" marL="0">
              <a:buNone/>
            </a:pPr>
            <a:r>
              <a:rPr lang="en-US" sz="1600" dirty="0">
                <a:solidFill>
                  <a:srgbClr val="B9AFA6"/>
                </a:solidFill>
                <a:latin typeface="Calibri" pitchFamily="34" charset="0"/>
                <a:ea typeface="Calibri" pitchFamily="34" charset="-122"/>
                <a:cs typeface="Calibri" pitchFamily="34" charset="-120"/>
              </a:rPr>
              <a:t>Selling more into the channel</a:t>
            </a:r>
            <a:endParaRPr lang="en-US" sz="1600" dirty="0"/>
          </a:p>
        </p:txBody>
      </p:sp>
      <p:sp>
        <p:nvSpPr>
          <p:cNvPr id="5" name="arrow-580"/>
          <p:cNvSpPr/>
          <p:nvPr/>
        </p:nvSpPr>
        <p:spPr>
          <a:xfrm>
            <a:off x="4892040" y="2990088"/>
            <a:ext cx="548640" cy="0"/>
          </a:xfrm>
          <a:prstGeom prst="line">
            <a:avLst/>
          </a:prstGeom>
          <a:noFill/>
          <a:ln w="19050">
            <a:solidFill>
              <a:srgbClr val="B08D57"/>
            </a:solidFill>
            <a:prstDash val="solid"/>
            <a:tailEnd type="triangle"/>
          </a:ln>
        </p:spPr>
      </p:sp>
      <p:sp>
        <p:nvSpPr>
          <p:cNvPr id="6" name="text-581"/>
          <p:cNvSpPr txBox="1"/>
          <p:nvPr/>
        </p:nvSpPr>
        <p:spPr>
          <a:xfrm>
            <a:off x="5623560" y="2788920"/>
            <a:ext cx="5760720" cy="411480"/>
          </a:xfrm>
          <a:prstGeom prst="rect">
            <a:avLst/>
          </a:prstGeom>
          <a:noFill/>
          <a:ln/>
        </p:spPr>
        <p:txBody>
          <a:bodyPr wrap="square" lIns="0" tIns="0" rIns="0" bIns="0" rtlCol="0" anchor="ctr"/>
          <a:lstStyle/>
          <a:p>
            <a:pPr indent="0" marL="0">
              <a:buNone/>
            </a:pPr>
            <a:r>
              <a:rPr lang="en-US" sz="1800" b="1" dirty="0">
                <a:solidFill>
                  <a:schemeClr val="bg1"/>
                </a:solidFill>
                <a:latin typeface="Calibri" pitchFamily="34" charset="0"/>
                <a:ea typeface="Calibri" pitchFamily="34" charset="-122"/>
                <a:cs typeface="Calibri" pitchFamily="34" charset="-120"/>
              </a:rPr>
              <a:t>Moving the right stock to the right shelf</a:t>
            </a:r>
            <a:endParaRPr lang="en-US" sz="1800" dirty="0"/>
          </a:p>
        </p:txBody>
      </p:sp>
      <p:sp>
        <p:nvSpPr>
          <p:cNvPr id="7" name="text-582"/>
          <p:cNvSpPr txBox="1"/>
          <p:nvPr/>
        </p:nvSpPr>
        <p:spPr>
          <a:xfrm>
            <a:off x="548640" y="3337560"/>
            <a:ext cx="4206240" cy="411480"/>
          </a:xfrm>
          <a:prstGeom prst="rect">
            <a:avLst/>
          </a:prstGeom>
          <a:noFill/>
          <a:ln/>
        </p:spPr>
        <p:txBody>
          <a:bodyPr wrap="square" lIns="0" tIns="0" rIns="0" bIns="0" rtlCol="0" anchor="ctr"/>
          <a:lstStyle/>
          <a:p>
            <a:pPr indent="0" marL="0">
              <a:buNone/>
            </a:pPr>
            <a:r>
              <a:rPr lang="en-US" sz="1600" dirty="0">
                <a:solidFill>
                  <a:srgbClr val="B9AFA6"/>
                </a:solidFill>
                <a:latin typeface="Calibri" pitchFamily="34" charset="0"/>
                <a:ea typeface="Calibri" pitchFamily="34" charset="-122"/>
                <a:cs typeface="Calibri" pitchFamily="34" charset="-120"/>
              </a:rPr>
              <a:t>Finding waste at the return</a:t>
            </a:r>
            <a:endParaRPr lang="en-US" sz="1600" dirty="0"/>
          </a:p>
        </p:txBody>
      </p:sp>
      <p:sp>
        <p:nvSpPr>
          <p:cNvPr id="8" name="arrow-583"/>
          <p:cNvSpPr/>
          <p:nvPr/>
        </p:nvSpPr>
        <p:spPr>
          <a:xfrm>
            <a:off x="4892040" y="3538728"/>
            <a:ext cx="548640" cy="0"/>
          </a:xfrm>
          <a:prstGeom prst="line">
            <a:avLst/>
          </a:prstGeom>
          <a:noFill/>
          <a:ln w="19050">
            <a:solidFill>
              <a:srgbClr val="B08D57"/>
            </a:solidFill>
            <a:prstDash val="solid"/>
            <a:tailEnd type="triangle"/>
          </a:ln>
        </p:spPr>
      </p:sp>
      <p:sp>
        <p:nvSpPr>
          <p:cNvPr id="9" name="text-584"/>
          <p:cNvSpPr txBox="1"/>
          <p:nvPr/>
        </p:nvSpPr>
        <p:spPr>
          <a:xfrm>
            <a:off x="5623560" y="3337560"/>
            <a:ext cx="5760720" cy="411480"/>
          </a:xfrm>
          <a:prstGeom prst="rect">
            <a:avLst/>
          </a:prstGeom>
          <a:noFill/>
          <a:ln/>
        </p:spPr>
        <p:txBody>
          <a:bodyPr wrap="square" lIns="0" tIns="0" rIns="0" bIns="0" rtlCol="0" anchor="ctr"/>
          <a:lstStyle/>
          <a:p>
            <a:pPr indent="0" marL="0">
              <a:buNone/>
            </a:pPr>
            <a:r>
              <a:rPr lang="en-US" sz="1800" b="1" dirty="0">
                <a:solidFill>
                  <a:schemeClr val="bg1"/>
                </a:solidFill>
                <a:latin typeface="Calibri" pitchFamily="34" charset="0"/>
                <a:ea typeface="Calibri" pitchFamily="34" charset="-122"/>
                <a:cs typeface="Calibri" pitchFamily="34" charset="-120"/>
              </a:rPr>
              <a:t>Catching it while the fix is cheap</a:t>
            </a:r>
            <a:endParaRPr lang="en-US" sz="1800" dirty="0"/>
          </a:p>
        </p:txBody>
      </p:sp>
      <p:sp>
        <p:nvSpPr>
          <p:cNvPr id="10" name="text-585"/>
          <p:cNvSpPr txBox="1"/>
          <p:nvPr/>
        </p:nvSpPr>
        <p:spPr>
          <a:xfrm>
            <a:off x="548640" y="3886200"/>
            <a:ext cx="4206240" cy="411480"/>
          </a:xfrm>
          <a:prstGeom prst="rect">
            <a:avLst/>
          </a:prstGeom>
          <a:noFill/>
          <a:ln/>
        </p:spPr>
        <p:txBody>
          <a:bodyPr wrap="square" lIns="0" tIns="0" rIns="0" bIns="0" rtlCol="0" anchor="ctr"/>
          <a:lstStyle/>
          <a:p>
            <a:pPr indent="0" marL="0">
              <a:buNone/>
            </a:pPr>
            <a:r>
              <a:rPr lang="en-US" sz="1600" dirty="0">
                <a:solidFill>
                  <a:srgbClr val="B9AFA6"/>
                </a:solidFill>
                <a:latin typeface="Calibri" pitchFamily="34" charset="0"/>
                <a:ea typeface="Calibri" pitchFamily="34" charset="-122"/>
                <a:cs typeface="Calibri" pitchFamily="34" charset="-120"/>
              </a:rPr>
              <a:t>Discount as the default</a:t>
            </a:r>
            <a:endParaRPr lang="en-US" sz="1600" dirty="0"/>
          </a:p>
        </p:txBody>
      </p:sp>
      <p:sp>
        <p:nvSpPr>
          <p:cNvPr id="11" name="arrow-586"/>
          <p:cNvSpPr/>
          <p:nvPr/>
        </p:nvSpPr>
        <p:spPr>
          <a:xfrm>
            <a:off x="4892040" y="4087368"/>
            <a:ext cx="548640" cy="0"/>
          </a:xfrm>
          <a:prstGeom prst="line">
            <a:avLst/>
          </a:prstGeom>
          <a:noFill/>
          <a:ln w="19050">
            <a:solidFill>
              <a:srgbClr val="B08D57"/>
            </a:solidFill>
            <a:prstDash val="solid"/>
            <a:tailEnd type="triangle"/>
          </a:ln>
        </p:spPr>
      </p:sp>
      <p:sp>
        <p:nvSpPr>
          <p:cNvPr id="12" name="text-587"/>
          <p:cNvSpPr txBox="1"/>
          <p:nvPr/>
        </p:nvSpPr>
        <p:spPr>
          <a:xfrm>
            <a:off x="5623560" y="3886200"/>
            <a:ext cx="5760720" cy="411480"/>
          </a:xfrm>
          <a:prstGeom prst="rect">
            <a:avLst/>
          </a:prstGeom>
          <a:noFill/>
          <a:ln/>
        </p:spPr>
        <p:txBody>
          <a:bodyPr wrap="square" lIns="0" tIns="0" rIns="0" bIns="0" rtlCol="0" anchor="ctr"/>
          <a:lstStyle/>
          <a:p>
            <a:pPr indent="0" marL="0">
              <a:buNone/>
            </a:pPr>
            <a:r>
              <a:rPr lang="en-US" sz="1800" b="1" dirty="0">
                <a:solidFill>
                  <a:schemeClr val="bg1"/>
                </a:solidFill>
                <a:latin typeface="Calibri" pitchFamily="34" charset="0"/>
                <a:ea typeface="Calibri" pitchFamily="34" charset="-122"/>
                <a:cs typeface="Calibri" pitchFamily="34" charset="-120"/>
              </a:rPr>
              <a:t>Discount as the guarded last resort</a:t>
            </a:r>
            <a:endParaRPr lang="en-US" sz="1800" dirty="0"/>
          </a:p>
        </p:txBody>
      </p:sp>
      <p:sp>
        <p:nvSpPr>
          <p:cNvPr id="13" name="text-588"/>
          <p:cNvSpPr txBox="1"/>
          <p:nvPr/>
        </p:nvSpPr>
        <p:spPr>
          <a:xfrm>
            <a:off x="548640" y="4434840"/>
            <a:ext cx="4206240" cy="411480"/>
          </a:xfrm>
          <a:prstGeom prst="rect">
            <a:avLst/>
          </a:prstGeom>
          <a:noFill/>
          <a:ln/>
        </p:spPr>
        <p:txBody>
          <a:bodyPr wrap="square" lIns="0" tIns="0" rIns="0" bIns="0" rtlCol="0" anchor="ctr"/>
          <a:lstStyle/>
          <a:p>
            <a:pPr indent="0" marL="0">
              <a:buNone/>
            </a:pPr>
            <a:r>
              <a:rPr lang="en-US" sz="1600" dirty="0">
                <a:solidFill>
                  <a:srgbClr val="B9AFA6"/>
                </a:solidFill>
                <a:latin typeface="Calibri" pitchFamily="34" charset="0"/>
                <a:ea typeface="Calibri" pitchFamily="34" charset="-122"/>
                <a:cs typeface="Calibri" pitchFamily="34" charset="-120"/>
              </a:rPr>
              <a:t>Quick commerce as a threat</a:t>
            </a:r>
            <a:endParaRPr lang="en-US" sz="1600" dirty="0"/>
          </a:p>
        </p:txBody>
      </p:sp>
      <p:sp>
        <p:nvSpPr>
          <p:cNvPr id="14" name="arrow-589"/>
          <p:cNvSpPr/>
          <p:nvPr/>
        </p:nvSpPr>
        <p:spPr>
          <a:xfrm>
            <a:off x="4892040" y="4636008"/>
            <a:ext cx="548640" cy="0"/>
          </a:xfrm>
          <a:prstGeom prst="line">
            <a:avLst/>
          </a:prstGeom>
          <a:noFill/>
          <a:ln w="19050">
            <a:solidFill>
              <a:srgbClr val="B08D57"/>
            </a:solidFill>
            <a:prstDash val="solid"/>
            <a:tailEnd type="triangle"/>
          </a:ln>
        </p:spPr>
      </p:sp>
      <p:sp>
        <p:nvSpPr>
          <p:cNvPr id="15" name="text-590"/>
          <p:cNvSpPr txBox="1"/>
          <p:nvPr/>
        </p:nvSpPr>
        <p:spPr>
          <a:xfrm>
            <a:off x="5623560" y="4434840"/>
            <a:ext cx="5760720" cy="411480"/>
          </a:xfrm>
          <a:prstGeom prst="rect">
            <a:avLst/>
          </a:prstGeom>
          <a:noFill/>
          <a:ln/>
        </p:spPr>
        <p:txBody>
          <a:bodyPr wrap="square" lIns="0" tIns="0" rIns="0" bIns="0" rtlCol="0" anchor="ctr"/>
          <a:lstStyle/>
          <a:p>
            <a:pPr indent="0" marL="0">
              <a:buNone/>
            </a:pPr>
            <a:r>
              <a:rPr lang="en-US" sz="1800" b="1" dirty="0">
                <a:solidFill>
                  <a:schemeClr val="bg1"/>
                </a:solidFill>
                <a:latin typeface="Calibri" pitchFamily="34" charset="0"/>
                <a:ea typeface="Calibri" pitchFamily="34" charset="-122"/>
                <a:cs typeface="Calibri" pitchFamily="34" charset="-120"/>
              </a:rPr>
              <a:t>Quick commerce as a planning signal</a:t>
            </a:r>
            <a:endParaRPr lang="en-US" sz="1800" dirty="0"/>
          </a:p>
        </p:txBody>
      </p:sp>
      <p:sp>
        <p:nvSpPr>
          <p:cNvPr id="16" name="text-591"/>
          <p:cNvSpPr txBox="1"/>
          <p:nvPr/>
        </p:nvSpPr>
        <p:spPr>
          <a:xfrm>
            <a:off x="548640" y="5120640"/>
            <a:ext cx="10789920" cy="548640"/>
          </a:xfrm>
          <a:prstGeom prst="rect">
            <a:avLst/>
          </a:prstGeom>
          <a:noFill/>
          <a:ln/>
        </p:spPr>
        <p:txBody>
          <a:bodyPr wrap="square" lIns="0" tIns="0" rIns="0" bIns="0" rtlCol="0" anchor="t"/>
          <a:lstStyle/>
          <a:p>
            <a:pPr indent="0" marL="0">
              <a:buNone/>
            </a:pPr>
            <a:r>
              <a:rPr lang="en-US" sz="1500" i="1" dirty="0">
                <a:solidFill>
                  <a:schemeClr val="accent2"/>
                </a:solidFill>
                <a:latin typeface="Calibri" pitchFamily="34" charset="0"/>
                <a:ea typeface="Calibri" pitchFamily="34" charset="-122"/>
                <a:cs typeface="Calibri" pitchFamily="34" charset="-120"/>
              </a:rPr>
              <a:t>Every unit that sells instead of expiring is waste avoided at the top of the hierarchy, before any recycling, in line with L'Oréal for the Future.</a:t>
            </a:r>
            <a:endParaRPr lang="en-US" sz="1500" dirty="0"/>
          </a:p>
        </p:txBody>
      </p:sp>
      <p:sp>
        <p:nvSpPr>
          <p:cNvPr id="17" name="text-592"/>
          <p:cNvSpPr txBox="1"/>
          <p:nvPr/>
        </p:nvSpPr>
        <p:spPr>
          <a:xfrm>
            <a:off x="548640" y="5852160"/>
            <a:ext cx="10972800" cy="365760"/>
          </a:xfrm>
          <a:prstGeom prst="rect">
            <a:avLst/>
          </a:prstGeom>
          <a:noFill/>
          <a:ln/>
        </p:spPr>
        <p:txBody>
          <a:bodyPr wrap="square" lIns="0" tIns="0" rIns="0" bIns="0" rtlCol="0" anchor="t"/>
          <a:lstStyle/>
          <a:p>
            <a:pPr indent="0" marL="0">
              <a:buNone/>
            </a:pPr>
            <a:r>
              <a:rPr lang="en-US" sz="1500" b="1" dirty="0">
                <a:solidFill>
                  <a:schemeClr val="bg1"/>
                </a:solidFill>
                <a:latin typeface="Calibri" pitchFamily="34" charset="0"/>
                <a:ea typeface="Calibri" pitchFamily="34" charset="-122"/>
                <a:cs typeface="Calibri" pitchFamily="34" charset="-120"/>
              </a:rPr>
              <a:t>Our ask: one distributor-data extract, two territories, 16 weeks.   </a:t>
            </a:r>
            <a:pPr indent="0" marL="0">
              <a:buNone/>
            </a:pPr>
            <a:r>
              <a:rPr lang="en-US" sz="1500" u="sng" dirty="0">
                <a:solidFill>
                  <a:schemeClr val="accent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Try it: smartsell-loreal.vercel.app</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548640"/>
            <a:ext cx="8229600" cy="274320"/>
          </a:xfrm>
          <a:prstGeom prst="rect">
            <a:avLst/>
          </a:prstGeom>
          <a:noFill/>
          <a:ln/>
        </p:spPr>
        <p:txBody>
          <a:bodyPr wrap="square" lIns="0" tIns="0" rIns="0" bIns="0" rtlCol="0"/>
          <a:lstStyle/>
          <a:p>
            <a:pPr indent="0" marL="0">
              <a:buNone/>
            </a:pPr>
            <a:r>
              <a:rPr lang="en-US" sz="1200" b="1" spc="200" kern="0" dirty="0">
                <a:solidFill>
                  <a:schemeClr val="accent2"/>
                </a:solidFill>
                <a:latin typeface="Calibri" pitchFamily="34" charset="0"/>
                <a:ea typeface="Calibri" pitchFamily="34" charset="-122"/>
                <a:cs typeface="Calibri" pitchFamily="34" charset="-120"/>
              </a:rPr>
              <a:t>APPENDIX</a:t>
            </a:r>
            <a:endParaRPr lang="en-US" sz="1200" dirty="0"/>
          </a:p>
        </p:txBody>
      </p:sp>
      <p:sp>
        <p:nvSpPr>
          <p:cNvPr id="3" name="Text 0"/>
          <p:cNvSpPr/>
          <p:nvPr>
            <p:ph idx="101" type="title" hasCustomPrompt="1"/>
          </p:nvPr>
        </p:nvSpPr>
        <p:spPr>
          <a:xfrm>
            <a:off x="548640" y="914400"/>
            <a:ext cx="10515600" cy="164592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Evidence, methodology and Q&amp;A</a:t>
            </a:r>
            <a:endParaRPr lang="en-US" sz="4000" dirty="0"/>
          </a:p>
        </p:txBody>
      </p:sp>
      <p:sp>
        <p:nvSpPr>
          <p:cNvPr id="4" name="text-593"/>
          <p:cNvSpPr txBox="1"/>
          <p:nvPr/>
        </p:nvSpPr>
        <p:spPr>
          <a:xfrm>
            <a:off x="548640" y="2743200"/>
            <a:ext cx="7315200" cy="3200400"/>
          </a:xfrm>
          <a:prstGeom prst="rect">
            <a:avLst/>
          </a:prstGeom>
          <a:noFill/>
          <a:ln/>
        </p:spPr>
        <p:txBody>
          <a:bodyPr wrap="square" lIns="0" tIns="0" rIns="0" bIns="0" rtlCol="0" anchor="t"/>
          <a:lstStyle/>
          <a:p>
            <a:pPr indent="0" marL="0">
              <a:spcAft>
                <a:spcPts val="600"/>
              </a:spcAft>
              <a:buNone/>
            </a:pPr>
            <a:r>
              <a:rPr lang="en-US" sz="1800" dirty="0">
                <a:solidFill>
                  <a:schemeClr val="bg1"/>
                </a:solidFill>
                <a:latin typeface="Calibri" pitchFamily="34" charset="0"/>
                <a:ea typeface="Calibri" pitchFamily="34" charset="-122"/>
                <a:cs typeface="Calibri" pitchFamily="34" charset="-120"/>
              </a:rPr>
              <a:t>A  Sources and data integrity</a:t>
            </a:r>
            <a:endParaRPr lang="en-US" sz="1800" dirty="0"/>
          </a:p>
          <a:p>
            <a:pPr indent="0" marL="0">
              <a:spcAft>
                <a:spcPts val="600"/>
              </a:spcAft>
              <a:buNone/>
            </a:pPr>
            <a:r>
              <a:rPr lang="en-US" sz="1800" dirty="0">
                <a:solidFill>
                  <a:schemeClr val="bg1"/>
                </a:solidFill>
                <a:latin typeface="Calibri" pitchFamily="34" charset="0"/>
                <a:ea typeface="Calibri" pitchFamily="34" charset="-122"/>
                <a:cs typeface="Calibri" pitchFamily="34" charset="-120"/>
              </a:rPr>
              <a:t>B  Risk methodology and parameters</a:t>
            </a:r>
            <a:endParaRPr lang="en-US" sz="1800" dirty="0"/>
          </a:p>
          <a:p>
            <a:pPr indent="0" marL="0">
              <a:spcAft>
                <a:spcPts val="600"/>
              </a:spcAft>
              <a:buNone/>
            </a:pPr>
            <a:r>
              <a:rPr lang="en-US" sz="1800" dirty="0">
                <a:solidFill>
                  <a:schemeClr val="bg1"/>
                </a:solidFill>
                <a:latin typeface="Calibri" pitchFamily="34" charset="0"/>
                <a:ea typeface="Calibri" pitchFamily="34" charset="-122"/>
                <a:cs typeface="Calibri" pitchFamily="34" charset="-120"/>
              </a:rPr>
              <a:t>C  Financial model assumptions and sensitivity</a:t>
            </a:r>
            <a:endParaRPr lang="en-US" sz="1800" dirty="0"/>
          </a:p>
          <a:p>
            <a:pPr indent="0" marL="0">
              <a:spcAft>
                <a:spcPts val="600"/>
              </a:spcAft>
              <a:buNone/>
            </a:pPr>
            <a:r>
              <a:rPr lang="en-US" sz="1800" dirty="0">
                <a:solidFill>
                  <a:schemeClr val="bg1"/>
                </a:solidFill>
                <a:latin typeface="Calibri" pitchFamily="34" charset="0"/>
                <a:ea typeface="Calibri" pitchFamily="34" charset="-122"/>
                <a:cs typeface="Calibri" pitchFamily="34" charset="-120"/>
              </a:rPr>
              <a:t>D  The five playbooks</a:t>
            </a:r>
            <a:endParaRPr lang="en-US" sz="1800" dirty="0"/>
          </a:p>
          <a:p>
            <a:pPr indent="0" marL="0">
              <a:spcAft>
                <a:spcPts val="600"/>
              </a:spcAft>
              <a:buNone/>
            </a:pPr>
            <a:r>
              <a:rPr lang="en-US" sz="1800" dirty="0">
                <a:solidFill>
                  <a:schemeClr val="bg1"/>
                </a:solidFill>
                <a:latin typeface="Calibri" pitchFamily="34" charset="0"/>
                <a:ea typeface="Calibri" pitchFamily="34" charset="-122"/>
                <a:cs typeface="Calibri" pitchFamily="34" charset="-120"/>
              </a:rPr>
              <a:t>E  Five biggest risks and how we address them</a:t>
            </a:r>
            <a:endParaRPr lang="en-US" sz="1800" dirty="0"/>
          </a:p>
          <a:p>
            <a:pPr indent="0" marL="0">
              <a:spcAft>
                <a:spcPts val="600"/>
              </a:spcAft>
              <a:buNone/>
            </a:pPr>
            <a:r>
              <a:rPr lang="en-US" sz="1800" dirty="0">
                <a:solidFill>
                  <a:schemeClr val="bg1"/>
                </a:solidFill>
                <a:latin typeface="Calibri" pitchFamily="34" charset="0"/>
                <a:ea typeface="Calibri" pitchFamily="34" charset="-122"/>
                <a:cs typeface="Calibri" pitchFamily="34" charset="-120"/>
              </a:rPr>
              <a:t>F  Likely judge questions</a:t>
            </a:r>
            <a:endParaRPr lang="en-US" sz="1800" dirty="0"/>
          </a:p>
          <a:p>
            <a:pPr indent="0" marL="0">
              <a:spcAft>
                <a:spcPts val="600"/>
              </a:spcAft>
              <a:buNone/>
            </a:pPr>
            <a:r>
              <a:rPr lang="en-US" sz="1800" dirty="0">
                <a:solidFill>
                  <a:schemeClr val="bg1"/>
                </a:solidFill>
                <a:latin typeface="Calibri" pitchFamily="34" charset="0"/>
                <a:ea typeface="Calibri" pitchFamily="34" charset="-122"/>
                <a:cs typeface="Calibri" pitchFamily="34" charset="-120"/>
              </a:rPr>
              <a:t>G  Solution options we considered</a:t>
            </a:r>
            <a:endParaRPr lang="en-US" sz="18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229600" cy="274320"/>
          </a:xfrm>
          <a:prstGeom prst="rect">
            <a:avLst/>
          </a:prstGeom>
          <a:noFill/>
          <a:ln/>
        </p:spPr>
        <p:txBody>
          <a:bodyPr wrap="square" lIns="0" tIns="0" rIns="0" bIns="0" rtlCol="0" anchor="t"/>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APPENDIX A · SOURCES AND DATA INTEGRITY</a:t>
            </a:r>
            <a:endParaRPr lang="en-US" sz="1100" dirty="0"/>
          </a:p>
        </p:txBody>
      </p:sp>
      <p:sp>
        <p:nvSpPr>
          <p:cNvPr id="3" name="Text 0"/>
          <p:cNvSpPr/>
          <p:nvPr>
            <p:ph idx="101" type="title" hasCustomPrompt="1"/>
          </p:nvPr>
        </p:nvSpPr>
        <p:spPr>
          <a:xfrm>
            <a:off x="548640" y="566928"/>
            <a:ext cx="11064240" cy="96012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What is fact, what is research, what is our estimate</a:t>
            </a:r>
            <a:endParaRPr lang="en-US" sz="3000" dirty="0"/>
          </a:p>
        </p:txBody>
      </p:sp>
      <p:sp>
        <p:nvSpPr>
          <p:cNvPr id="4" name="Text 0"/>
          <p:cNvSpPr/>
          <p:nvPr>
            <p:ph idx="102" type="body" hasCustomPrompt="1"/>
          </p:nvPr>
        </p:nvSpPr>
        <p:spPr>
          <a:xfrm>
            <a:off x="548640" y="6382512"/>
            <a:ext cx="9692640" cy="329184"/>
          </a:xfrm>
          <a:prstGeom prst="rect">
            <a:avLst/>
          </a:prstGeom>
          <a:noFill/>
          <a:ln/>
        </p:spPr>
        <p:txBody>
          <a:bodyPr wrap="square" lIns="0" tIns="0" rIns="0" bIns="0" rtlCol="0" anchor="t"/>
          <a:lstStyle/>
          <a:p>
            <a:pPr indent="0" marL="0">
              <a:buNone/>
            </a:pPr>
            <a:r>
              <a:rPr lang="en-US" sz="1000" dirty="0">
                <a:solidFill>
                  <a:schemeClr val="tx2"/>
                </a:solidFill>
                <a:latin typeface="Calibri" pitchFamily="34" charset="0"/>
                <a:ea typeface="Calibri" pitchFamily="34" charset="-122"/>
                <a:cs typeface="Calibri" pitchFamily="34" charset="-120"/>
              </a:rPr>
              <a:t>Full source register with URLs: research folder, sources.md. Some claims were verified from search summaries of the named pages; re-open before external use. Global data is labelled as such.</a:t>
            </a:r>
            <a:endParaRPr lang="en-US" sz="1000" dirty="0"/>
          </a:p>
        </p:txBody>
      </p:sp>
      <p:sp>
        <p:nvSpPr>
          <p:cNvPr id="5" name="pill-594"/>
          <p:cNvSpPr/>
          <p:nvPr/>
        </p:nvSpPr>
        <p:spPr>
          <a:xfrm>
            <a:off x="548640" y="1764792"/>
            <a:ext cx="1554480" cy="274320"/>
          </a:xfrm>
          <a:prstGeom prst="roundRect">
            <a:avLst>
              <a:gd name="adj" fmla="val 50000"/>
            </a:avLst>
          </a:prstGeom>
          <a:solidFill>
            <a:schemeClr val="accent1"/>
          </a:solidFill>
          <a:ln w="12700">
            <a:solidFill>
              <a:schemeClr val="accent1"/>
            </a:solidFill>
            <a:prstDash val="solid"/>
          </a:ln>
        </p:spPr>
      </p:sp>
      <p:sp>
        <p:nvSpPr>
          <p:cNvPr id="6" name="text-595"/>
          <p:cNvSpPr txBox="1"/>
          <p:nvPr/>
        </p:nvSpPr>
        <p:spPr>
          <a:xfrm>
            <a:off x="548640" y="1764792"/>
            <a:ext cx="1554480" cy="274320"/>
          </a:xfrm>
          <a:prstGeom prst="rect">
            <a:avLst/>
          </a:prstGeom>
          <a:noFill/>
          <a:ln/>
        </p:spPr>
        <p:txBody>
          <a:bodyPr wrap="square" lIns="0" tIns="0" rIns="0" bIns="0" rtlCol="0" anchor="ctr"/>
          <a:lstStyle/>
          <a:p>
            <a:pPr algn="ctr" indent="0" marL="0">
              <a:buNone/>
            </a:pPr>
            <a:r>
              <a:rPr lang="en-US" sz="1000" b="1" dirty="0">
                <a:solidFill>
                  <a:schemeClr val="bg1"/>
                </a:solidFill>
                <a:latin typeface="Calibri" pitchFamily="34" charset="0"/>
                <a:ea typeface="Calibri" pitchFamily="34" charset="-122"/>
                <a:cs typeface="Calibri" pitchFamily="34" charset="-120"/>
              </a:rPr>
              <a:t>Case fact</a:t>
            </a:r>
            <a:endParaRPr lang="en-US" sz="1000" dirty="0"/>
          </a:p>
        </p:txBody>
      </p:sp>
      <p:sp>
        <p:nvSpPr>
          <p:cNvPr id="7" name="text-596"/>
          <p:cNvSpPr txBox="1"/>
          <p:nvPr/>
        </p:nvSpPr>
        <p:spPr>
          <a:xfrm>
            <a:off x="2240280" y="1691640"/>
            <a:ext cx="3520440" cy="457200"/>
          </a:xfrm>
          <a:prstGeom prst="rect">
            <a:avLst/>
          </a:prstGeom>
          <a:noFill/>
          <a:ln/>
        </p:spPr>
        <p:txBody>
          <a:bodyPr wrap="square" lIns="0" tIns="0" rIns="0" bIns="0" rtlCol="0" anchor="ctr"/>
          <a:lstStyle/>
          <a:p>
            <a:pPr indent="0" marL="0">
              <a:buNone/>
            </a:pPr>
            <a:r>
              <a:rPr lang="en-US" sz="1100" dirty="0">
                <a:solidFill>
                  <a:schemeClr val="tx1"/>
                </a:solidFill>
                <a:latin typeface="Calibri" pitchFamily="34" charset="0"/>
                <a:ea typeface="Calibri" pitchFamily="34" charset="-122"/>
                <a:cs typeface="Calibri" pitchFamily="34" charset="-120"/>
              </a:rPr>
              <a:t>From the L'Oréal brief: ≈1.5% returns/expired/damaged; ≈1% handling; field teams see distributor and retailer inventory</a:t>
            </a:r>
            <a:endParaRPr lang="en-US" sz="1100" dirty="0"/>
          </a:p>
        </p:txBody>
      </p:sp>
      <p:sp>
        <p:nvSpPr>
          <p:cNvPr id="8" name="pill-597"/>
          <p:cNvSpPr/>
          <p:nvPr/>
        </p:nvSpPr>
        <p:spPr>
          <a:xfrm>
            <a:off x="548640" y="2267712"/>
            <a:ext cx="1554480" cy="274320"/>
          </a:xfrm>
          <a:prstGeom prst="roundRect">
            <a:avLst>
              <a:gd name="adj" fmla="val 50000"/>
            </a:avLst>
          </a:prstGeom>
          <a:solidFill>
            <a:schemeClr val="accent4"/>
          </a:solidFill>
          <a:ln w="12700">
            <a:solidFill>
              <a:schemeClr val="accent4"/>
            </a:solidFill>
            <a:prstDash val="solid"/>
          </a:ln>
        </p:spPr>
      </p:sp>
      <p:sp>
        <p:nvSpPr>
          <p:cNvPr id="9" name="text-598"/>
          <p:cNvSpPr txBox="1"/>
          <p:nvPr/>
        </p:nvSpPr>
        <p:spPr>
          <a:xfrm>
            <a:off x="548640" y="2267712"/>
            <a:ext cx="1554480" cy="274320"/>
          </a:xfrm>
          <a:prstGeom prst="rect">
            <a:avLst/>
          </a:prstGeom>
          <a:noFill/>
          <a:ln/>
        </p:spPr>
        <p:txBody>
          <a:bodyPr wrap="square" lIns="0" tIns="0" rIns="0" bIns="0" rtlCol="0" anchor="ctr"/>
          <a:lstStyle/>
          <a:p>
            <a:pPr algn="ctr" indent="0" marL="0">
              <a:buNone/>
            </a:pPr>
            <a:r>
              <a:rPr lang="en-US" sz="1000" b="1" dirty="0">
                <a:solidFill>
                  <a:schemeClr val="bg1"/>
                </a:solidFill>
                <a:latin typeface="Calibri" pitchFamily="34" charset="0"/>
                <a:ea typeface="Calibri" pitchFamily="34" charset="-122"/>
                <a:cs typeface="Calibri" pitchFamily="34" charset="-120"/>
              </a:rPr>
              <a:t>Research finding</a:t>
            </a:r>
            <a:endParaRPr lang="en-US" sz="1000" dirty="0"/>
          </a:p>
        </p:txBody>
      </p:sp>
      <p:sp>
        <p:nvSpPr>
          <p:cNvPr id="10" name="text-599"/>
          <p:cNvSpPr txBox="1"/>
          <p:nvPr/>
        </p:nvSpPr>
        <p:spPr>
          <a:xfrm>
            <a:off x="2240280" y="2194560"/>
            <a:ext cx="3520440" cy="457200"/>
          </a:xfrm>
          <a:prstGeom prst="rect">
            <a:avLst/>
          </a:prstGeom>
          <a:noFill/>
          <a:ln/>
        </p:spPr>
        <p:txBody>
          <a:bodyPr wrap="square" lIns="0" tIns="0" rIns="0" bIns="0" rtlCol="0" anchor="ctr"/>
          <a:lstStyle/>
          <a:p>
            <a:pPr indent="0" marL="0">
              <a:buNone/>
            </a:pPr>
            <a:r>
              <a:rPr lang="en-US" sz="1100" dirty="0">
                <a:solidFill>
                  <a:schemeClr val="tx1"/>
                </a:solidFill>
                <a:latin typeface="Calibri" pitchFamily="34" charset="0"/>
                <a:ea typeface="Calibri" pitchFamily="34" charset="-122"/>
                <a:cs typeface="Calibri" pitchFamily="34" charset="-120"/>
              </a:rPr>
              <a:t>Public, dated sources (below). India unless marked global</a:t>
            </a:r>
            <a:endParaRPr lang="en-US" sz="1100" dirty="0"/>
          </a:p>
        </p:txBody>
      </p:sp>
      <p:sp>
        <p:nvSpPr>
          <p:cNvPr id="11" name="pill-600"/>
          <p:cNvSpPr/>
          <p:nvPr/>
        </p:nvSpPr>
        <p:spPr>
          <a:xfrm>
            <a:off x="548640" y="2770632"/>
            <a:ext cx="1554480" cy="274320"/>
          </a:xfrm>
          <a:prstGeom prst="roundRect">
            <a:avLst>
              <a:gd name="adj" fmla="val 50000"/>
            </a:avLst>
          </a:prstGeom>
          <a:solidFill>
            <a:schemeClr val="accent6"/>
          </a:solidFill>
          <a:ln w="12700">
            <a:solidFill>
              <a:schemeClr val="accent6"/>
            </a:solidFill>
            <a:prstDash val="solid"/>
          </a:ln>
        </p:spPr>
      </p:sp>
      <p:sp>
        <p:nvSpPr>
          <p:cNvPr id="12" name="text-601"/>
          <p:cNvSpPr txBox="1"/>
          <p:nvPr/>
        </p:nvSpPr>
        <p:spPr>
          <a:xfrm>
            <a:off x="548640" y="2770632"/>
            <a:ext cx="1554480" cy="274320"/>
          </a:xfrm>
          <a:prstGeom prst="rect">
            <a:avLst/>
          </a:prstGeom>
          <a:noFill/>
          <a:ln/>
        </p:spPr>
        <p:txBody>
          <a:bodyPr wrap="square" lIns="0" tIns="0" rIns="0" bIns="0" rtlCol="0" anchor="ctr"/>
          <a:lstStyle/>
          <a:p>
            <a:pPr algn="ctr" indent="0" marL="0">
              <a:buNone/>
            </a:pPr>
            <a:r>
              <a:rPr lang="en-US" sz="1000" b="1" dirty="0">
                <a:solidFill>
                  <a:schemeClr val="bg1"/>
                </a:solidFill>
                <a:latin typeface="Calibri" pitchFamily="34" charset="0"/>
                <a:ea typeface="Calibri" pitchFamily="34" charset="-122"/>
                <a:cs typeface="Calibri" pitchFamily="34" charset="-120"/>
              </a:rPr>
              <a:t>Estimate</a:t>
            </a:r>
            <a:endParaRPr lang="en-US" sz="1000" dirty="0"/>
          </a:p>
        </p:txBody>
      </p:sp>
      <p:sp>
        <p:nvSpPr>
          <p:cNvPr id="13" name="text-602"/>
          <p:cNvSpPr txBox="1"/>
          <p:nvPr/>
        </p:nvSpPr>
        <p:spPr>
          <a:xfrm>
            <a:off x="2240280" y="2697480"/>
            <a:ext cx="3520440" cy="457200"/>
          </a:xfrm>
          <a:prstGeom prst="rect">
            <a:avLst/>
          </a:prstGeom>
          <a:noFill/>
          <a:ln/>
        </p:spPr>
        <p:txBody>
          <a:bodyPr wrap="square" lIns="0" tIns="0" rIns="0" bIns="0" rtlCol="0" anchor="ctr"/>
          <a:lstStyle/>
          <a:p>
            <a:pPr indent="0" marL="0">
              <a:buNone/>
            </a:pPr>
            <a:r>
              <a:rPr lang="en-US" sz="1100" dirty="0">
                <a:solidFill>
                  <a:schemeClr val="tx1"/>
                </a:solidFill>
                <a:latin typeface="Calibri" pitchFamily="34" charset="0"/>
                <a:ea typeface="Calibri" pitchFamily="34" charset="-122"/>
                <a:cs typeface="Calibri" pitchFamily="34" charset="-120"/>
              </a:rPr>
              <a:t>Our modelled numbers: financial scenarios, addressable shares, uplifts</a:t>
            </a:r>
            <a:endParaRPr lang="en-US" sz="1100" dirty="0"/>
          </a:p>
        </p:txBody>
      </p:sp>
      <p:sp>
        <p:nvSpPr>
          <p:cNvPr id="14" name="pill-603"/>
          <p:cNvSpPr/>
          <p:nvPr/>
        </p:nvSpPr>
        <p:spPr>
          <a:xfrm>
            <a:off x="548640" y="3273552"/>
            <a:ext cx="1554480" cy="274320"/>
          </a:xfrm>
          <a:prstGeom prst="roundRect">
            <a:avLst>
              <a:gd name="adj" fmla="val 50000"/>
            </a:avLst>
          </a:prstGeom>
          <a:solidFill>
            <a:schemeClr val="tx2"/>
          </a:solidFill>
          <a:ln w="12700">
            <a:solidFill>
              <a:schemeClr val="tx2"/>
            </a:solidFill>
            <a:prstDash val="solid"/>
          </a:ln>
        </p:spPr>
      </p:sp>
      <p:sp>
        <p:nvSpPr>
          <p:cNvPr id="15" name="text-604"/>
          <p:cNvSpPr txBox="1"/>
          <p:nvPr/>
        </p:nvSpPr>
        <p:spPr>
          <a:xfrm>
            <a:off x="548640" y="3273552"/>
            <a:ext cx="1554480" cy="274320"/>
          </a:xfrm>
          <a:prstGeom prst="rect">
            <a:avLst/>
          </a:prstGeom>
          <a:noFill/>
          <a:ln/>
        </p:spPr>
        <p:txBody>
          <a:bodyPr wrap="square" lIns="0" tIns="0" rIns="0" bIns="0" rtlCol="0" anchor="ctr"/>
          <a:lstStyle/>
          <a:p>
            <a:pPr algn="ctr" indent="0" marL="0">
              <a:buNone/>
            </a:pPr>
            <a:r>
              <a:rPr lang="en-US" sz="1000" b="1" dirty="0">
                <a:solidFill>
                  <a:schemeClr val="bg1"/>
                </a:solidFill>
                <a:latin typeface="Calibri" pitchFamily="34" charset="0"/>
                <a:ea typeface="Calibri" pitchFamily="34" charset="-122"/>
                <a:cs typeface="Calibri" pitchFamily="34" charset="-120"/>
              </a:rPr>
              <a:t>Synthetic</a:t>
            </a:r>
            <a:endParaRPr lang="en-US" sz="1000" dirty="0"/>
          </a:p>
        </p:txBody>
      </p:sp>
      <p:sp>
        <p:nvSpPr>
          <p:cNvPr id="16" name="text-605"/>
          <p:cNvSpPr txBox="1"/>
          <p:nvPr/>
        </p:nvSpPr>
        <p:spPr>
          <a:xfrm>
            <a:off x="2240280" y="3200400"/>
            <a:ext cx="3520440" cy="457200"/>
          </a:xfrm>
          <a:prstGeom prst="rect">
            <a:avLst/>
          </a:prstGeom>
          <a:noFill/>
          <a:ln/>
        </p:spPr>
        <p:txBody>
          <a:bodyPr wrap="square" lIns="0" tIns="0" rIns="0" bIns="0" rtlCol="0" anchor="ctr"/>
          <a:lstStyle/>
          <a:p>
            <a:pPr indent="0" marL="0">
              <a:buNone/>
            </a:pPr>
            <a:r>
              <a:rPr lang="en-US" sz="1100" dirty="0">
                <a:solidFill>
                  <a:schemeClr val="tx1"/>
                </a:solidFill>
                <a:latin typeface="Calibri" pitchFamily="34" charset="0"/>
                <a:ea typeface="Calibri" pitchFamily="34" charset="-122"/>
                <a:cs typeface="Calibri" pitchFamily="34" charset="-120"/>
              </a:rPr>
              <a:t>All prototype data: fictional brands, outlets, people, online growth rates</a:t>
            </a:r>
            <a:endParaRPr lang="en-US" sz="1100" dirty="0"/>
          </a:p>
        </p:txBody>
      </p:sp>
      <p:graphicFrame>
        <p:nvGraphicFramePr>
          <p:cNvPr id="20" name="sources-table-606"/>
          <p:cNvGraphicFramePr>
            <a:graphicFrameLocks noGrp="1"/>
          </p:cNvGraphicFramePr>
          <p:nvPr>
            <p:extLst>
              <p:ext uri="{D42A27DB-BD31-4B8C-83A1-F6EECF244321}">
                <p14:modId xmlns:p14="http://schemas.microsoft.com/office/powerpoint/2010/main" val="1579011935"/>
              </p:ext>
            </p:extLst>
          </p:nvPr>
        </p:nvGraphicFramePr>
        <p:xfrm>
          <a:off x="5897880" y="1691640"/>
          <a:ext cx="5742432" cy="914400"/>
        </p:xfrm>
        <a:graphic>
          <a:graphicData uri="http://schemas.openxmlformats.org/drawingml/2006/table">
            <a:tbl>
              <a:tblPr/>
              <a:tblGrid>
                <a:gridCol w="3364992"/>
                <a:gridCol w="2377440"/>
              </a:tblGrid>
              <a:tr h="384048">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Claim</a:t>
                      </a:r>
                      <a:endParaRPr lang="en-US" sz="10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6E1A30"/>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Source, date</a:t>
                      </a:r>
                      <a:endParaRPr lang="en-US" sz="10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6E1A30"/>
                    </a:solidFill>
                  </a:tcPr>
                </a:tc>
              </a:tr>
              <a:tr h="384048">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L'Oréal India FY24 revenue ₹5,576 cr; FY25 net sales ₹5,925 cr, profit ₹597.5 cr</a:t>
                      </a:r>
                      <a:endParaRPr lang="en-US" sz="10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tcPr>
                </a:tc>
                <a:tc>
                  <a:txBody>
                    <a:bodyPr/>
                    <a:lstStyle/>
                    <a:p>
                      <a:pPr indent="0" marL="0">
                        <a:buNone/>
                      </a:pPr>
                      <a:r>
                        <a:rPr lang="en-US" sz="1000" dirty="0">
                          <a:solidFill>
                            <a:srgbClr val="5E5853"/>
                          </a:solidFill>
                          <a:latin typeface="Calibri" pitchFamily="34" charset="0"/>
                          <a:ea typeface="Calibri" pitchFamily="34" charset="-122"/>
                          <a:cs typeface="Calibri" pitchFamily="34" charset="-120"/>
                        </a:rPr>
                        <a:t>Indiaretailing, 27 Nov 2024; PTI/The Week, 3 Oct 2025</a:t>
                      </a:r>
                      <a:endParaRPr lang="en-US" sz="10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tcPr>
                </a:tc>
              </a:tr>
              <a:tr h="384048">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India +14% LFL (H1 2025), +17% (H1 2026); SAPMENA-SSA +10.9% (2025)</a:t>
                      </a:r>
                      <a:endParaRPr lang="en-US" sz="10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tcPr>
                </a:tc>
                <a:tc>
                  <a:txBody>
                    <a:bodyPr/>
                    <a:lstStyle/>
                    <a:p>
                      <a:pPr indent="0" marL="0">
                        <a:buNone/>
                      </a:pPr>
                      <a:r>
                        <a:rPr lang="en-US" sz="1000" dirty="0">
                          <a:solidFill>
                            <a:srgbClr val="5E5853"/>
                          </a:solidFill>
                          <a:latin typeface="Calibri" pitchFamily="34" charset="0"/>
                          <a:ea typeface="Calibri" pitchFamily="34" charset="-122"/>
                          <a:cs typeface="Calibri" pitchFamily="34" charset="-120"/>
                        </a:rPr>
                        <a:t>L'Oréal half-year results; 2025 URD</a:t>
                      </a:r>
                      <a:endParaRPr lang="en-US" sz="10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tcPr>
                </a:tc>
              </a:tr>
              <a:tr h="384048">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Quick commerce a focus; CeraVe and La Roche-Posay expanding</a:t>
                      </a:r>
                      <a:endParaRPr lang="en-US" sz="10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tcPr>
                </a:tc>
                <a:tc>
                  <a:txBody>
                    <a:bodyPr/>
                    <a:lstStyle/>
                    <a:p>
                      <a:pPr indent="0" marL="0">
                        <a:buNone/>
                      </a:pPr>
                      <a:r>
                        <a:rPr lang="en-US" sz="1000" dirty="0">
                          <a:solidFill>
                            <a:srgbClr val="5E5853"/>
                          </a:solidFill>
                          <a:latin typeface="Calibri" pitchFamily="34" charset="0"/>
                          <a:ea typeface="Calibri" pitchFamily="34" charset="-122"/>
                          <a:cs typeface="Calibri" pitchFamily="34" charset="-120"/>
                        </a:rPr>
                        <a:t>Business Standard, 25 Oct 2026</a:t>
                      </a:r>
                      <a:endParaRPr lang="en-US" sz="10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tcPr>
                </a:tc>
              </a:tr>
              <a:tr h="384048">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E-com 18% of FMCG in top-8 metros; q-comm &gt;¾ of e-com; kirana volume +1.1%</a:t>
                      </a:r>
                      <a:endParaRPr lang="en-US" sz="10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tcPr>
                </a:tc>
                <a:tc>
                  <a:txBody>
                    <a:bodyPr/>
                    <a:lstStyle/>
                    <a:p>
                      <a:pPr indent="0" marL="0">
                        <a:buNone/>
                      </a:pPr>
                      <a:r>
                        <a:rPr lang="en-US" sz="1000" dirty="0">
                          <a:solidFill>
                            <a:srgbClr val="5E5853"/>
                          </a:solidFill>
                          <a:latin typeface="Calibri" pitchFamily="34" charset="0"/>
                          <a:ea typeface="Calibri" pitchFamily="34" charset="-122"/>
                          <a:cs typeface="Calibri" pitchFamily="34" charset="-120"/>
                        </a:rPr>
                        <a:t>NielsenIQ Q4 2025 snapshot, Mar 2026</a:t>
                      </a:r>
                      <a:endParaRPr lang="en-US" sz="10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tcPr>
                </a:tc>
              </a:tr>
              <a:tr h="384048">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Dabur cut distributor stock 30 → 21 days; halted primary 7–8 days</a:t>
                      </a:r>
                      <a:endParaRPr lang="en-US" sz="10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tcPr>
                </a:tc>
                <a:tc>
                  <a:txBody>
                    <a:bodyPr/>
                    <a:lstStyle/>
                    <a:p>
                      <a:pPr indent="0" marL="0">
                        <a:buNone/>
                      </a:pPr>
                      <a:r>
                        <a:rPr lang="en-US" sz="1000" dirty="0">
                          <a:solidFill>
                            <a:srgbClr val="5E5853"/>
                          </a:solidFill>
                          <a:latin typeface="Calibri" pitchFamily="34" charset="0"/>
                          <a:ea typeface="Calibri" pitchFamily="34" charset="-122"/>
                          <a:cs typeface="Calibri" pitchFamily="34" charset="-120"/>
                        </a:rPr>
                        <a:t>Sharekhan 30 Oct 2024; Baroda Securities 31 Oct 2024</a:t>
                      </a:r>
                      <a:endParaRPr lang="en-US" sz="10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tcPr>
                </a:tc>
              </a:tr>
              <a:tr h="384048">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AICPDF alleges near-expiry dumping via quick commerce</a:t>
                      </a:r>
                      <a:endParaRPr lang="en-US" sz="10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tcPr>
                </a:tc>
                <a:tc>
                  <a:txBody>
                    <a:bodyPr/>
                    <a:lstStyle/>
                    <a:p>
                      <a:pPr indent="0" marL="0">
                        <a:buNone/>
                      </a:pPr>
                      <a:r>
                        <a:rPr lang="en-US" sz="1000" dirty="0">
                          <a:solidFill>
                            <a:srgbClr val="5E5853"/>
                          </a:solidFill>
                          <a:latin typeface="Calibri" pitchFamily="34" charset="0"/>
                          <a:ea typeface="Calibri" pitchFamily="34" charset="-122"/>
                          <a:cs typeface="Calibri" pitchFamily="34" charset="-120"/>
                        </a:rPr>
                        <a:t>Storyboard18, Nov 2024 (allegation)</a:t>
                      </a:r>
                      <a:endParaRPr lang="en-US" sz="10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tcPr>
                </a:tc>
              </a:tr>
              <a:tr h="384048">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HUL Shikhar: 1.4 m retailers; dormancy challenges</a:t>
                      </a:r>
                      <a:endParaRPr lang="en-US" sz="10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tcPr>
                </a:tc>
                <a:tc>
                  <a:txBody>
                    <a:bodyPr/>
                    <a:lstStyle/>
                    <a:p>
                      <a:pPr indent="0" marL="0">
                        <a:buNone/>
                      </a:pPr>
                      <a:r>
                        <a:rPr lang="en-US" sz="1000" dirty="0">
                          <a:solidFill>
                            <a:srgbClr val="5E5853"/>
                          </a:solidFill>
                          <a:latin typeface="Calibri" pitchFamily="34" charset="0"/>
                          <a:ea typeface="Calibri" pitchFamily="34" charset="-122"/>
                          <a:cs typeface="Calibri" pitchFamily="34" charset="-120"/>
                        </a:rPr>
                        <a:t>Unilever 2023; WARC</a:t>
                      </a:r>
                      <a:endParaRPr lang="en-US" sz="10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tcPr>
                </a:tc>
              </a:tr>
              <a:tr h="384048">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Cosmetics labels must carry use-before / expiry date</a:t>
                      </a:r>
                      <a:endParaRPr lang="en-US" sz="10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tcPr>
                </a:tc>
                <a:tc>
                  <a:txBody>
                    <a:bodyPr/>
                    <a:lstStyle/>
                    <a:p>
                      <a:pPr indent="0" marL="0">
                        <a:buNone/>
                      </a:pPr>
                      <a:r>
                        <a:rPr lang="en-US" sz="1000" dirty="0">
                          <a:solidFill>
                            <a:srgbClr val="5E5853"/>
                          </a:solidFill>
                          <a:latin typeface="Calibri" pitchFamily="34" charset="0"/>
                          <a:ea typeface="Calibri" pitchFamily="34" charset="-122"/>
                          <a:cs typeface="Calibri" pitchFamily="34" charset="-120"/>
                        </a:rPr>
                        <a:t>CDSCO Cosmetics Rules 2020 (amended 2025)</a:t>
                      </a:r>
                      <a:endParaRPr lang="en-US" sz="10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tcPr>
                </a:tc>
              </a:tr>
              <a:tr h="384048">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Packaging 33% recycled, 44% recycled or bio-based (2025)</a:t>
                      </a:r>
                      <a:endParaRPr lang="en-US" sz="10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tcPr>
                </a:tc>
                <a:tc>
                  <a:txBody>
                    <a:bodyPr/>
                    <a:lstStyle/>
                    <a:p>
                      <a:pPr indent="0" marL="0">
                        <a:buNone/>
                      </a:pPr>
                      <a:r>
                        <a:rPr lang="en-US" sz="1000" dirty="0">
                          <a:solidFill>
                            <a:srgbClr val="5E5853"/>
                          </a:solidFill>
                          <a:latin typeface="Calibri" pitchFamily="34" charset="0"/>
                          <a:ea typeface="Calibri" pitchFamily="34" charset="-122"/>
                          <a:cs typeface="Calibri" pitchFamily="34" charset="-120"/>
                        </a:rPr>
                        <a:t>L'Oréal 2025 URD</a:t>
                      </a:r>
                      <a:endParaRPr lang="en-US" sz="10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tcPr>
                </a:tc>
              </a:tr>
              <a:tr h="384048">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Out-of-stock: ≈8% average; ≈1 in 3 shoppers switch or don't buy</a:t>
                      </a:r>
                      <a:endParaRPr lang="en-US" sz="10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tcPr>
                </a:tc>
                <a:tc>
                  <a:txBody>
                    <a:bodyPr/>
                    <a:lstStyle/>
                    <a:p>
                      <a:pPr indent="0" marL="0">
                        <a:buNone/>
                      </a:pPr>
                      <a:r>
                        <a:rPr lang="en-US" sz="1000" dirty="0">
                          <a:solidFill>
                            <a:srgbClr val="5E5853"/>
                          </a:solidFill>
                          <a:latin typeface="Calibri" pitchFamily="34" charset="0"/>
                          <a:ea typeface="Calibri" pitchFamily="34" charset="-122"/>
                          <a:cs typeface="Calibri" pitchFamily="34" charset="-120"/>
                        </a:rPr>
                        <a:t>Gruen, Corsten &amp; Bharadwaj 2002 (global)</a:t>
                      </a:r>
                      <a:endParaRPr lang="en-US" sz="10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tcPr>
                </a:tc>
              </a:tr>
            </a:tbl>
          </a:graphicData>
        </a:graphic>
      </p:graphicFrame>
      <p:sp>
        <p:nvSpPr>
          <p:cNvPr id="18" name="text-607"/>
          <p:cNvSpPr txBox="1"/>
          <p:nvPr/>
        </p:nvSpPr>
        <p:spPr>
          <a:xfrm>
            <a:off x="548640" y="3840480"/>
            <a:ext cx="5120640" cy="128016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Not publicly available (we did not invent these): L'Oréal India channel mix, distributor and outlet counts, field-force size, SFA/DMS stack, return-policy terms, or what "capped at ≈1.5%" means. These are pilot set-up questions.</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229600" cy="274320"/>
          </a:xfrm>
          <a:prstGeom prst="rect">
            <a:avLst/>
          </a:prstGeom>
          <a:noFill/>
          <a:ln/>
        </p:spPr>
        <p:txBody>
          <a:bodyPr wrap="square" lIns="0" tIns="0" rIns="0" bIns="0" rtlCol="0" anchor="t"/>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APPENDIX B · RISK METHODOLOGY</a:t>
            </a:r>
            <a:endParaRPr lang="en-US" sz="1100" dirty="0"/>
          </a:p>
        </p:txBody>
      </p:sp>
      <p:sp>
        <p:nvSpPr>
          <p:cNvPr id="3" name="Text 0"/>
          <p:cNvSpPr/>
          <p:nvPr>
            <p:ph idx="101" type="title" hasCustomPrompt="1"/>
          </p:nvPr>
        </p:nvSpPr>
        <p:spPr>
          <a:xfrm>
            <a:off x="548640" y="566928"/>
            <a:ext cx="11064240" cy="96012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Every flag can be traced to five inputs and four parameters</a:t>
            </a:r>
            <a:endParaRPr lang="en-US" sz="3000" dirty="0"/>
          </a:p>
        </p:txBody>
      </p:sp>
      <p:sp>
        <p:nvSpPr>
          <p:cNvPr id="4" name="Text 0"/>
          <p:cNvSpPr/>
          <p:nvPr>
            <p:ph idx="102" type="body" hasCustomPrompt="1"/>
          </p:nvPr>
        </p:nvSpPr>
        <p:spPr>
          <a:xfrm>
            <a:off x="548640" y="6382512"/>
            <a:ext cx="9692640" cy="329184"/>
          </a:xfrm>
          <a:prstGeom prst="rect">
            <a:avLst/>
          </a:prstGeom>
          <a:noFill/>
          <a:ln/>
        </p:spPr>
        <p:txBody>
          <a:bodyPr wrap="square" lIns="0" tIns="0" rIns="0" bIns="0" rtlCol="0" anchor="t"/>
          <a:lstStyle/>
          <a:p>
            <a:pPr indent="0" marL="0">
              <a:buNone/>
            </a:pPr>
            <a:r>
              <a:rPr lang="en-US" sz="1000" dirty="0">
                <a:solidFill>
                  <a:schemeClr val="tx2"/>
                </a:solidFill>
                <a:latin typeface="Calibri" pitchFamily="34" charset="0"/>
                <a:ea typeface="Calibri" pitchFamily="34" charset="-122"/>
                <a:cs typeface="Calibri" pitchFamily="34" charset="-120"/>
              </a:rPr>
              <a:t>Reference implementation: model/risk_engine_reference.py (Python) and lib/engine.ts (prototype). Unit tests check the worked examples.</a:t>
            </a:r>
            <a:endParaRPr lang="en-US" sz="1000" dirty="0"/>
          </a:p>
        </p:txBody>
      </p:sp>
      <p:graphicFrame>
        <p:nvGraphicFramePr>
          <p:cNvPr id="21" name="params-table-608"/>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914400"/>
        </p:xfrm>
        <a:graphic>
          <a:graphicData uri="http://schemas.openxmlformats.org/drawingml/2006/table">
            <a:tbl>
              <a:tblPr/>
              <a:tblGrid>
                <a:gridCol w="2377440"/>
                <a:gridCol w="2194560"/>
                <a:gridCol w="1371600"/>
                <a:gridCol w="5148072"/>
              </a:tblGrid>
              <a:tr h="43891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Parameter</a:t>
                      </a:r>
                      <a:endParaRPr lang="en-US" sz="12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6E1A3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Outlet</a:t>
                      </a:r>
                      <a:endParaRPr lang="en-US" sz="12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6E1A3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Distributor</a:t>
                      </a:r>
                      <a:endParaRPr lang="en-US" sz="12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6E1A3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Why</a:t>
                      </a:r>
                      <a:endParaRPr lang="en-US" sz="12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6E1A30"/>
                    </a:solidFill>
                  </a:tcPr>
                </a:tc>
              </a:tr>
              <a:tr h="438912">
                <a:tc>
                  <a:txBody>
                    <a:bodyPr/>
                    <a:lstStyle/>
                    <a:p>
                      <a:pPr indent="0" marL="0">
                        <a:buNone/>
                      </a:pPr>
                      <a:r>
                        <a:rPr lang="en-US" sz="1200" dirty="0">
                          <a:solidFill>
                            <a:srgbClr val="1C1A1B"/>
                          </a:solidFill>
                          <a:latin typeface="Calibri" pitchFamily="34" charset="0"/>
                          <a:ea typeface="Calibri" pitchFamily="34" charset="-122"/>
                          <a:cs typeface="Calibri" pitchFamily="34" charset="-120"/>
                        </a:rPr>
                        <a:t>Minimum sellable buffer</a:t>
                      </a:r>
                      <a:endParaRPr lang="en-US" sz="12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c>
                  <a:txBody>
                    <a:bodyPr/>
                    <a:lstStyle/>
                    <a:p>
                      <a:pPr indent="0" marL="0">
                        <a:buNone/>
                      </a:pPr>
                      <a:r>
                        <a:rPr lang="en-US" sz="1200" dirty="0">
                          <a:solidFill>
                            <a:srgbClr val="1C1A1B"/>
                          </a:solidFill>
                          <a:latin typeface="Calibri" pitchFamily="34" charset="0"/>
                          <a:ea typeface="Calibri" pitchFamily="34" charset="-122"/>
                          <a:cs typeface="Calibri" pitchFamily="34" charset="-120"/>
                        </a:rPr>
                        <a:t>30 days</a:t>
                      </a:r>
                      <a:endParaRPr lang="en-US" sz="12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c>
                  <a:txBody>
                    <a:bodyPr/>
                    <a:lstStyle/>
                    <a:p>
                      <a:pPr indent="0" marL="0">
                        <a:buNone/>
                      </a:pPr>
                      <a:r>
                        <a:rPr lang="en-US" sz="1200" dirty="0">
                          <a:solidFill>
                            <a:srgbClr val="1C1A1B"/>
                          </a:solidFill>
                          <a:latin typeface="Calibri" pitchFamily="34" charset="0"/>
                          <a:ea typeface="Calibri" pitchFamily="34" charset="-122"/>
                          <a:cs typeface="Calibri" pitchFamily="34" charset="-120"/>
                        </a:rPr>
                        <a:t>120 days</a:t>
                      </a:r>
                      <a:endParaRPr lang="en-US" sz="12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c>
                  <a:txBody>
                    <a:bodyPr/>
                    <a:lstStyle/>
                    <a:p>
                      <a:pPr indent="0" marL="0">
                        <a:buNone/>
                      </a:pPr>
                      <a:r>
                        <a:rPr lang="en-US" sz="1200" dirty="0">
                          <a:solidFill>
                            <a:srgbClr val="1C1A1B"/>
                          </a:solidFill>
                          <a:latin typeface="Calibri" pitchFamily="34" charset="0"/>
                          <a:ea typeface="Calibri" pitchFamily="34" charset="-122"/>
                          <a:cs typeface="Calibri" pitchFamily="34" charset="-120"/>
                        </a:rPr>
                        <a:t>Shoppers and retailers avoid packs close to expiry; distributor stock still has to reach a shelf</a:t>
                      </a:r>
                      <a:endParaRPr lang="en-US" sz="12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r>
              <a:tr h="438912">
                <a:tc>
                  <a:txBody>
                    <a:bodyPr/>
                    <a:lstStyle/>
                    <a:p>
                      <a:pPr indent="0" marL="0">
                        <a:buNone/>
                      </a:pPr>
                      <a:r>
                        <a:rPr lang="en-US" sz="1200" dirty="0">
                          <a:solidFill>
                            <a:srgbClr val="1C1A1B"/>
                          </a:solidFill>
                          <a:latin typeface="Calibri" pitchFamily="34" charset="0"/>
                          <a:ea typeface="Calibri" pitchFamily="34" charset="-122"/>
                          <a:cs typeface="Calibri" pitchFamily="34" charset="-120"/>
                        </a:rPr>
                        <a:t>Target days of cover</a:t>
                      </a:r>
                      <a:endParaRPr lang="en-US" sz="12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c>
                  <a:txBody>
                    <a:bodyPr/>
                    <a:lstStyle/>
                    <a:p>
                      <a:pPr indent="0" marL="0">
                        <a:buNone/>
                      </a:pPr>
                      <a:r>
                        <a:rPr lang="en-US" sz="1200" dirty="0">
                          <a:solidFill>
                            <a:srgbClr val="1C1A1B"/>
                          </a:solidFill>
                          <a:latin typeface="Calibri" pitchFamily="34" charset="0"/>
                          <a:ea typeface="Calibri" pitchFamily="34" charset="-122"/>
                          <a:cs typeface="Calibri" pitchFamily="34" charset="-120"/>
                        </a:rPr>
                        <a:t>30</a:t>
                      </a:r>
                      <a:endParaRPr lang="en-US" sz="12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c>
                  <a:txBody>
                    <a:bodyPr/>
                    <a:lstStyle/>
                    <a:p>
                      <a:pPr indent="0" marL="0">
                        <a:buNone/>
                      </a:pPr>
                      <a:r>
                        <a:rPr lang="en-US" sz="1200" dirty="0">
                          <a:solidFill>
                            <a:srgbClr val="1C1A1B"/>
                          </a:solidFill>
                          <a:latin typeface="Calibri" pitchFamily="34" charset="0"/>
                          <a:ea typeface="Calibri" pitchFamily="34" charset="-122"/>
                          <a:cs typeface="Calibri" pitchFamily="34" charset="-120"/>
                        </a:rPr>
                        <a:t>21</a:t>
                      </a:r>
                      <a:endParaRPr lang="en-US" sz="12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c>
                  <a:txBody>
                    <a:bodyPr/>
                    <a:lstStyle/>
                    <a:p>
                      <a:pPr indent="0" marL="0">
                        <a:buNone/>
                      </a:pPr>
                      <a:r>
                        <a:rPr lang="en-US" sz="1200" dirty="0">
                          <a:solidFill>
                            <a:srgbClr val="1C1A1B"/>
                          </a:solidFill>
                          <a:latin typeface="Calibri" pitchFamily="34" charset="0"/>
                          <a:ea typeface="Calibri" pitchFamily="34" charset="-122"/>
                          <a:cs typeface="Calibri" pitchFamily="34" charset="-120"/>
                        </a:rPr>
                        <a:t>Distributor norm in line with publicly corrected FMCG levels</a:t>
                      </a:r>
                      <a:endParaRPr lang="en-US" sz="12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r>
              <a:tr h="438912">
                <a:tc>
                  <a:txBody>
                    <a:bodyPr/>
                    <a:lstStyle/>
                    <a:p>
                      <a:pPr indent="0" marL="0">
                        <a:buNone/>
                      </a:pPr>
                      <a:r>
                        <a:rPr lang="en-US" sz="1200" dirty="0">
                          <a:solidFill>
                            <a:srgbClr val="1C1A1B"/>
                          </a:solidFill>
                          <a:latin typeface="Calibri" pitchFamily="34" charset="0"/>
                          <a:ea typeface="Calibri" pitchFamily="34" charset="-122"/>
                          <a:cs typeface="Calibri" pitchFamily="34" charset="-120"/>
                        </a:rPr>
                        <a:t>Reorder point</a:t>
                      </a:r>
                      <a:endParaRPr lang="en-US" sz="12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c>
                  <a:txBody>
                    <a:bodyPr/>
                    <a:lstStyle/>
                    <a:p>
                      <a:pPr indent="0" marL="0">
                        <a:buNone/>
                      </a:pPr>
                      <a:r>
                        <a:rPr lang="en-US" sz="1200" dirty="0">
                          <a:solidFill>
                            <a:srgbClr val="1C1A1B"/>
                          </a:solidFill>
                          <a:latin typeface="Calibri" pitchFamily="34" charset="0"/>
                          <a:ea typeface="Calibri" pitchFamily="34" charset="-122"/>
                          <a:cs typeface="Calibri" pitchFamily="34" charset="-120"/>
                        </a:rPr>
                        <a:t>≤14 days</a:t>
                      </a:r>
                      <a:endParaRPr lang="en-US" sz="12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c>
                  <a:txBody>
                    <a:bodyPr/>
                    <a:lstStyle/>
                    <a:p>
                      <a:pPr indent="0" marL="0">
                        <a:buNone/>
                      </a:pPr>
                      <a:r>
                        <a:rPr lang="en-US" sz="1200" dirty="0">
                          <a:solidFill>
                            <a:srgbClr val="1C1A1B"/>
                          </a:solidFill>
                          <a:latin typeface="Calibri" pitchFamily="34" charset="0"/>
                          <a:ea typeface="Calibri" pitchFamily="34" charset="-122"/>
                          <a:cs typeface="Calibri" pitchFamily="34" charset="-120"/>
                        </a:rPr>
                        <a:t>≤12 days</a:t>
                      </a:r>
                      <a:endParaRPr lang="en-US" sz="12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c>
                  <a:txBody>
                    <a:bodyPr/>
                    <a:lstStyle/>
                    <a:p>
                      <a:pPr indent="0" marL="0">
                        <a:buNone/>
                      </a:pPr>
                      <a:r>
                        <a:rPr lang="en-US" sz="1200" dirty="0">
                          <a:solidFill>
                            <a:srgbClr val="1C1A1B"/>
                          </a:solidFill>
                          <a:latin typeface="Calibri" pitchFamily="34" charset="0"/>
                          <a:ea typeface="Calibri" pitchFamily="34" charset="-122"/>
                          <a:cs typeface="Calibri" pitchFamily="34" charset="-120"/>
                        </a:rPr>
                        <a:t>Lead time 7 days + safety stock</a:t>
                      </a:r>
                      <a:endParaRPr lang="en-US" sz="12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r>
              <a:tr h="438912">
                <a:tc>
                  <a:txBody>
                    <a:bodyPr/>
                    <a:lstStyle/>
                    <a:p>
                      <a:pPr indent="0" marL="0">
                        <a:buNone/>
                      </a:pPr>
                      <a:r>
                        <a:rPr lang="en-US" sz="1200" dirty="0">
                          <a:solidFill>
                            <a:srgbClr val="1C1A1B"/>
                          </a:solidFill>
                          <a:latin typeface="Calibri" pitchFamily="34" charset="0"/>
                          <a:ea typeface="Calibri" pitchFamily="34" charset="-122"/>
                          <a:cs typeface="Calibri" pitchFamily="34" charset="-120"/>
                        </a:rPr>
                        <a:t>Overstock</a:t>
                      </a:r>
                      <a:endParaRPr lang="en-US" sz="12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c>
                  <a:txBody>
                    <a:bodyPr/>
                    <a:lstStyle/>
                    <a:p>
                      <a:pPr indent="0" marL="0">
                        <a:buNone/>
                      </a:pPr>
                      <a:r>
                        <a:rPr lang="en-US" sz="1200" dirty="0">
                          <a:solidFill>
                            <a:srgbClr val="1C1A1B"/>
                          </a:solidFill>
                          <a:latin typeface="Calibri" pitchFamily="34" charset="0"/>
                          <a:ea typeface="Calibri" pitchFamily="34" charset="-122"/>
                          <a:cs typeface="Calibri" pitchFamily="34" charset="-120"/>
                        </a:rPr>
                        <a:t>&gt;2× norm</a:t>
                      </a:r>
                      <a:endParaRPr lang="en-US" sz="12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c>
                  <a:txBody>
                    <a:bodyPr/>
                    <a:lstStyle/>
                    <a:p>
                      <a:pPr indent="0" marL="0">
                        <a:buNone/>
                      </a:pPr>
                      <a:r>
                        <a:rPr lang="en-US" sz="1200" dirty="0">
                          <a:solidFill>
                            <a:srgbClr val="1C1A1B"/>
                          </a:solidFill>
                          <a:latin typeface="Calibri" pitchFamily="34" charset="0"/>
                          <a:ea typeface="Calibri" pitchFamily="34" charset="-122"/>
                          <a:cs typeface="Calibri" pitchFamily="34" charset="-120"/>
                        </a:rPr>
                        <a:t>&gt;2× norm</a:t>
                      </a:r>
                      <a:endParaRPr lang="en-US" sz="12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c>
                  <a:txBody>
                    <a:bodyPr/>
                    <a:lstStyle/>
                    <a:p>
                      <a:pPr indent="0" marL="0">
                        <a:buNone/>
                      </a:pPr>
                      <a:r>
                        <a:rPr lang="en-US" sz="1200" dirty="0">
                          <a:solidFill>
                            <a:srgbClr val="1C1A1B"/>
                          </a:solidFill>
                          <a:latin typeface="Calibri" pitchFamily="34" charset="0"/>
                          <a:ea typeface="Calibri" pitchFamily="34" charset="-122"/>
                          <a:cs typeface="Calibri" pitchFamily="34" charset="-120"/>
                        </a:rPr>
                        <a:t>Cash tied up even when it sells in time</a:t>
                      </a:r>
                      <a:endParaRPr lang="en-US" sz="12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r>
              <a:tr h="438912">
                <a:tc>
                  <a:txBody>
                    <a:bodyPr/>
                    <a:lstStyle/>
                    <a:p>
                      <a:pPr indent="0" marL="0">
                        <a:buNone/>
                      </a:pPr>
                      <a:r>
                        <a:rPr lang="en-US" sz="1200" dirty="0">
                          <a:solidFill>
                            <a:srgbClr val="1C1A1B"/>
                          </a:solidFill>
                          <a:latin typeface="Calibri" pitchFamily="34" charset="0"/>
                          <a:ea typeface="Calibri" pitchFamily="34" charset="-122"/>
                          <a:cs typeface="Calibri" pitchFamily="34" charset="-120"/>
                        </a:rPr>
                        <a:t>Channel-shift cover norm</a:t>
                      </a:r>
                      <a:endParaRPr lang="en-US" sz="12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c>
                  <a:txBody>
                    <a:bodyPr/>
                    <a:lstStyle/>
                    <a:p>
                      <a:pPr indent="0" marL="0">
                        <a:buNone/>
                      </a:pPr>
                      <a:r>
                        <a:rPr lang="en-US" sz="1200" dirty="0">
                          <a:solidFill>
                            <a:srgbClr val="1C1A1B"/>
                          </a:solidFill>
                          <a:latin typeface="Calibri" pitchFamily="34" charset="0"/>
                          <a:ea typeface="Calibri" pitchFamily="34" charset="-122"/>
                          <a:cs typeface="Calibri" pitchFamily="34" charset="-120"/>
                        </a:rPr>
                        <a:t>21 days</a:t>
                      </a:r>
                      <a:endParaRPr lang="en-US" sz="12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c>
                  <a:txBody>
                    <a:bodyPr/>
                    <a:lstStyle/>
                    <a:p>
                      <a:pPr indent="0" marL="0">
                        <a:buNone/>
                      </a:pPr>
                      <a:r>
                        <a:rPr lang="en-US" sz="1200" dirty="0">
                          <a:solidFill>
                            <a:srgbClr val="1C1A1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c>
                  <a:txBody>
                    <a:bodyPr/>
                    <a:lstStyle/>
                    <a:p>
                      <a:pPr indent="0" marL="0">
                        <a:buNone/>
                      </a:pPr>
                      <a:r>
                        <a:rPr lang="en-US" sz="1200" dirty="0">
                          <a:solidFill>
                            <a:srgbClr val="1C1A1B"/>
                          </a:solidFill>
                          <a:latin typeface="Calibri" pitchFamily="34" charset="0"/>
                          <a:ea typeface="Calibri" pitchFamily="34" charset="-122"/>
                          <a:cs typeface="Calibri" pitchFamily="34" charset="-120"/>
                        </a:rPr>
                        <a:t>Outlet −20% in 3 months while online grows +20%</a:t>
                      </a:r>
                      <a:endParaRPr lang="en-US" sz="12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r>
              <a:tr h="438912">
                <a:tc>
                  <a:txBody>
                    <a:bodyPr/>
                    <a:lstStyle/>
                    <a:p>
                      <a:pPr indent="0" marL="0">
                        <a:buNone/>
                      </a:pPr>
                      <a:r>
                        <a:rPr lang="en-US" sz="1200" dirty="0">
                          <a:solidFill>
                            <a:srgbClr val="1C1A1B"/>
                          </a:solidFill>
                          <a:latin typeface="Calibri" pitchFamily="34" charset="0"/>
                          <a:ea typeface="Calibri" pitchFamily="34" charset="-122"/>
                          <a:cs typeface="Calibri" pitchFamily="34" charset="-120"/>
                        </a:rPr>
                        <a:t>Confidence</a:t>
                      </a:r>
                      <a:endParaRPr lang="en-US" sz="12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c>
                  <a:txBody>
                    <a:bodyPr/>
                    <a:lstStyle/>
                    <a:p>
                      <a:pPr indent="0" marL="0">
                        <a:buNone/>
                      </a:pPr>
                      <a:r>
                        <a:rPr lang="en-US" sz="1200" dirty="0">
                          <a:solidFill>
                            <a:srgbClr val="1C1A1B"/>
                          </a:solidFill>
                          <a:latin typeface="Calibri" pitchFamily="34" charset="0"/>
                          <a:ea typeface="Calibri" pitchFamily="34" charset="-122"/>
                          <a:cs typeface="Calibri" pitchFamily="34" charset="-120"/>
                        </a:rPr>
                        <a:t>Scan/DMS 1.0 · count 0.85 · verbal 0.5</a:t>
                      </a:r>
                      <a:endParaRPr lang="en-US" sz="12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c>
                  <a:txBody>
                    <a:bodyPr/>
                    <a:lstStyle/>
                    <a:p>
                      <a:pPr indent="0" marL="0">
                        <a:buNone/>
                      </a:pPr>
                      <a:r>
                        <a:rPr lang="en-US" sz="1200" dirty="0">
                          <a:solidFill>
                            <a:srgbClr val="1C1A1B"/>
                          </a:solidFill>
                          <a:latin typeface="Calibri" pitchFamily="34" charset="0"/>
                          <a:ea typeface="Calibri" pitchFamily="34" charset="-122"/>
                          <a:cs typeface="Calibri" pitchFamily="34" charset="-120"/>
                        </a:rPr>
                        <a:t>Recency: ≤7 d ×1.0, ≤30 d ×0.8, older ×0.5; Low locks costly actions</a:t>
                      </a:r>
                      <a:endParaRPr lang="en-US" sz="12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r>
            </a:tbl>
          </a:graphicData>
        </a:graphic>
      </p:graphicFrame>
      <p:sp>
        <p:nvSpPr>
          <p:cNvPr id="6" name="text-609"/>
          <p:cNvSpPr txBox="1"/>
          <p:nvPr/>
        </p:nvSpPr>
        <p:spPr>
          <a:xfrm>
            <a:off x="548640" y="5074920"/>
            <a:ext cx="11064240" cy="1097280"/>
          </a:xfrm>
          <a:prstGeom prst="rect">
            <a:avLst/>
          </a:prstGeom>
          <a:noFill/>
          <a:ln/>
        </p:spPr>
        <p:txBody>
          <a:bodyPr wrap="square" lIns="0" tIns="0" rIns="0" bIns="0" rtlCol="0" anchor="t"/>
          <a:lstStyle/>
          <a:p>
            <a:pPr indent="0" marL="0">
              <a:buNone/>
            </a:pPr>
            <a:r>
              <a:rPr lang="en-US" sz="1300" b="1" dirty="0">
                <a:solidFill>
                  <a:schemeClr val="accent1"/>
                </a:solidFill>
                <a:latin typeface="Calibri" pitchFamily="34" charset="0"/>
                <a:ea typeface="Calibri" pitchFamily="34" charset="-122"/>
                <a:cs typeface="Calibri" pitchFamily="34" charset="-120"/>
              </a:rPr>
              <a:t>Limitations we state openly: </a:t>
            </a:r>
            <a:pPr indent="0" marL="0">
              <a:buNone/>
            </a:pPr>
            <a:r>
              <a:rPr lang="en-US" sz="1300" dirty="0">
                <a:solidFill>
                  <a:schemeClr val="tx1"/>
                </a:solidFill>
                <a:latin typeface="Calibri" pitchFamily="34" charset="0"/>
                <a:ea typeface="Calibri" pitchFamily="34" charset="-122"/>
                <a:cs typeface="Calibri" pitchFamily="34" charset="-120"/>
              </a:rPr>
              <a:t>velocity is assumed constant over the window (a trend factor and ML forecasts come later); stock-flow sell-out is noisy, so anomalies are flagged and confidence-weighted; buffers and norms are assumptions to calibrate against L'Oréal's return terms; the engine recommends and people decide.</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229600" cy="274320"/>
          </a:xfrm>
          <a:prstGeom prst="rect">
            <a:avLst/>
          </a:prstGeom>
          <a:noFill/>
          <a:ln/>
        </p:spPr>
        <p:txBody>
          <a:bodyPr wrap="square" lIns="0" tIns="0" rIns="0" bIns="0" rtlCol="0" anchor="t"/>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APPENDIX C · FINANCIAL MODEL</a:t>
            </a:r>
            <a:endParaRPr lang="en-US" sz="1100" dirty="0"/>
          </a:p>
        </p:txBody>
      </p:sp>
      <p:sp>
        <p:nvSpPr>
          <p:cNvPr id="3" name="Text 0"/>
          <p:cNvSpPr/>
          <p:nvPr>
            <p:ph idx="101" type="title" hasCustomPrompt="1"/>
          </p:nvPr>
        </p:nvSpPr>
        <p:spPr>
          <a:xfrm>
            <a:off x="548640" y="566928"/>
            <a:ext cx="11064240" cy="96012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Assumptions behind the ₹18 cr base case, and what moves it most</a:t>
            </a:r>
            <a:endParaRPr lang="en-US" sz="3000" dirty="0"/>
          </a:p>
        </p:txBody>
      </p:sp>
      <p:sp>
        <p:nvSpPr>
          <p:cNvPr id="4" name="Text 0"/>
          <p:cNvSpPr/>
          <p:nvPr>
            <p:ph idx="102" type="body" hasCustomPrompt="1"/>
          </p:nvPr>
        </p:nvSpPr>
        <p:spPr>
          <a:xfrm>
            <a:off x="548640" y="6382512"/>
            <a:ext cx="9692640" cy="329184"/>
          </a:xfrm>
          <a:prstGeom prst="rect">
            <a:avLst/>
          </a:prstGeom>
          <a:noFill/>
          <a:ln/>
        </p:spPr>
        <p:txBody>
          <a:bodyPr wrap="square" lIns="0" tIns="0" rIns="0" bIns="0" rtlCol="0" anchor="t"/>
          <a:lstStyle/>
          <a:p>
            <a:pPr indent="0" marL="0">
              <a:buNone/>
            </a:pPr>
            <a:r>
              <a:rPr lang="en-US" sz="1000" dirty="0">
                <a:solidFill>
                  <a:schemeClr val="tx2"/>
                </a:solidFill>
                <a:latin typeface="Calibri" pitchFamily="34" charset="0"/>
                <a:ea typeface="Calibri" pitchFamily="34" charset="-122"/>
                <a:cs typeface="Calibri" pitchFamily="34" charset="-120"/>
              </a:rPr>
              <a:t>Model: model/financial_model.py; outputs in model/scenarios.csv. Double-counting rules: transferred units counted once (as avoided credit notes, never also as extra sales); stock-out benefit at contribution margin; distributor working capital excluded.</a:t>
            </a:r>
            <a:endParaRPr lang="en-US" sz="1000" dirty="0"/>
          </a:p>
        </p:txBody>
      </p:sp>
      <p:graphicFrame>
        <p:nvGraphicFramePr>
          <p:cNvPr id="22" name="assumptions-table-610"/>
          <p:cNvGraphicFramePr>
            <a:graphicFrameLocks noGrp="1"/>
          </p:cNvGraphicFramePr>
          <p:nvPr>
            <p:extLst>
              <p:ext uri="{D42A27DB-BD31-4B8C-83A1-F6EECF244321}">
                <p14:modId xmlns:p14="http://schemas.microsoft.com/office/powerpoint/2010/main" val="1579011935"/>
              </p:ext>
            </p:extLst>
          </p:nvPr>
        </p:nvGraphicFramePr>
        <p:xfrm>
          <a:off x="548640" y="1691640"/>
          <a:ext cx="7223760" cy="914400"/>
        </p:xfrm>
        <a:graphic>
          <a:graphicData uri="http://schemas.openxmlformats.org/drawingml/2006/table">
            <a:tbl>
              <a:tblPr/>
              <a:tblGrid>
                <a:gridCol w="1828800"/>
                <a:gridCol w="1005840"/>
                <a:gridCol w="868680"/>
                <a:gridCol w="960120"/>
                <a:gridCol w="2560320"/>
              </a:tblGrid>
              <a:tr h="36576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Input</a:t>
                      </a:r>
                      <a:endParaRPr lang="en-US" sz="11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6E1A30"/>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Conservative</a:t>
                      </a:r>
                      <a:endParaRPr lang="en-US" sz="11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6E1A30"/>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Base</a:t>
                      </a:r>
                      <a:endParaRPr lang="en-US" sz="11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6E1A30"/>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Optimistic</a:t>
                      </a:r>
                      <a:endParaRPr lang="en-US" sz="11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6E1A30"/>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Basis</a:t>
                      </a:r>
                      <a:endParaRPr lang="en-US" sz="11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6E1A30"/>
                    </a:solidFill>
                  </a:tcPr>
                </a:tc>
              </a:tr>
              <a:tr h="365760">
                <a:tc>
                  <a:txBody>
                    <a:bodyPr/>
                    <a:lstStyle/>
                    <a:p>
                      <a:pPr algn="l" indent="0" marL="0">
                        <a:buNone/>
                      </a:pPr>
                      <a:r>
                        <a:rPr lang="en-US" sz="1100" dirty="0">
                          <a:solidFill>
                            <a:srgbClr val="1C1A1B"/>
                          </a:solidFill>
                          <a:latin typeface="Calibri" pitchFamily="34" charset="0"/>
                          <a:ea typeface="Calibri" pitchFamily="34" charset="-122"/>
                          <a:cs typeface="Calibri" pitchFamily="34" charset="-120"/>
                        </a:rPr>
                        <a:t>Revenue base</a:t>
                      </a:r>
                      <a:endParaRPr lang="en-US" sz="11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C1A1B"/>
                          </a:solidFill>
                          <a:latin typeface="Calibri" pitchFamily="34" charset="0"/>
                          <a:ea typeface="Calibri" pitchFamily="34" charset="-122"/>
                          <a:cs typeface="Calibri" pitchFamily="34" charset="-120"/>
                        </a:rPr>
                        <a:t>₹5,900 cr</a:t>
                      </a:r>
                      <a:endParaRPr lang="en-US" sz="11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C1A1B"/>
                          </a:solidFill>
                          <a:latin typeface="Calibri" pitchFamily="34" charset="0"/>
                          <a:ea typeface="Calibri" pitchFamily="34" charset="-122"/>
                          <a:cs typeface="Calibri" pitchFamily="34" charset="-120"/>
                        </a:rPr>
                        <a:t>₹5,900 cr</a:t>
                      </a:r>
                      <a:endParaRPr lang="en-US" sz="11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4EFEA"/>
                    </a:solidFill>
                  </a:tcPr>
                </a:tc>
                <a:tc>
                  <a:txBody>
                    <a:bodyPr/>
                    <a:lstStyle/>
                    <a:p>
                      <a:pPr algn="ctr" indent="0" marL="0">
                        <a:buNone/>
                      </a:pPr>
                      <a:r>
                        <a:rPr lang="en-US" sz="1100" dirty="0">
                          <a:solidFill>
                            <a:srgbClr val="1C1A1B"/>
                          </a:solidFill>
                          <a:latin typeface="Calibri" pitchFamily="34" charset="0"/>
                          <a:ea typeface="Calibri" pitchFamily="34" charset="-122"/>
                          <a:cs typeface="Calibri" pitchFamily="34" charset="-120"/>
                        </a:rPr>
                        <a:t>₹5,900 cr</a:t>
                      </a:r>
                      <a:endParaRPr lang="en-US" sz="11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5E5853"/>
                          </a:solidFill>
                          <a:latin typeface="Calibri" pitchFamily="34" charset="0"/>
                          <a:ea typeface="Calibri" pitchFamily="34" charset="-122"/>
                          <a:cs typeface="Calibri" pitchFamily="34" charset="-120"/>
                        </a:rPr>
                        <a:t>L'Oréal India FY25 net sales, rounded (sourced)</a:t>
                      </a:r>
                      <a:endParaRPr lang="en-US" sz="11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1C1A1B"/>
                          </a:solidFill>
                          <a:latin typeface="Calibri" pitchFamily="34" charset="0"/>
                          <a:ea typeface="Calibri" pitchFamily="34" charset="-122"/>
                          <a:cs typeface="Calibri" pitchFamily="34" charset="-120"/>
                        </a:rPr>
                        <a:t>Waste pool</a:t>
                      </a:r>
                      <a:endParaRPr lang="en-US" sz="11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C1A1B"/>
                          </a:solidFill>
                          <a:latin typeface="Calibri" pitchFamily="34" charset="0"/>
                          <a:ea typeface="Calibri" pitchFamily="34" charset="-122"/>
                          <a:cs typeface="Calibri" pitchFamily="34" charset="-120"/>
                        </a:rPr>
                        <a:t>1.5% + 1%</a:t>
                      </a:r>
                      <a:endParaRPr lang="en-US" sz="11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C1A1B"/>
                          </a:solidFill>
                          <a:latin typeface="Calibri" pitchFamily="34" charset="0"/>
                          <a:ea typeface="Calibri" pitchFamily="34" charset="-122"/>
                          <a:cs typeface="Calibri" pitchFamily="34" charset="-120"/>
                        </a:rPr>
                        <a:t>1.5% + 1%</a:t>
                      </a:r>
                      <a:endParaRPr lang="en-US" sz="11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4EFEA"/>
                    </a:solidFill>
                  </a:tcPr>
                </a:tc>
                <a:tc>
                  <a:txBody>
                    <a:bodyPr/>
                    <a:lstStyle/>
                    <a:p>
                      <a:pPr algn="ctr" indent="0" marL="0">
                        <a:buNone/>
                      </a:pPr>
                      <a:r>
                        <a:rPr lang="en-US" sz="1100" dirty="0">
                          <a:solidFill>
                            <a:srgbClr val="1C1A1B"/>
                          </a:solidFill>
                          <a:latin typeface="Calibri" pitchFamily="34" charset="0"/>
                          <a:ea typeface="Calibri" pitchFamily="34" charset="-122"/>
                          <a:cs typeface="Calibri" pitchFamily="34" charset="-120"/>
                        </a:rPr>
                        <a:t>1.5% + 1%</a:t>
                      </a:r>
                      <a:endParaRPr lang="en-US" sz="11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5E5853"/>
                          </a:solidFill>
                          <a:latin typeface="Calibri" pitchFamily="34" charset="0"/>
                          <a:ea typeface="Calibri" pitchFamily="34" charset="-122"/>
                          <a:cs typeface="Calibri" pitchFamily="34" charset="-120"/>
                        </a:rPr>
                        <a:t>Case (sourced)</a:t>
                      </a:r>
                      <a:endParaRPr lang="en-US" sz="11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1C1A1B"/>
                          </a:solidFill>
                          <a:latin typeface="Calibri" pitchFamily="34" charset="0"/>
                          <a:ea typeface="Calibri" pitchFamily="34" charset="-122"/>
                          <a:cs typeface="Calibri" pitchFamily="34" charset="-120"/>
                        </a:rPr>
                        <a:t>Field-covered share</a:t>
                      </a:r>
                      <a:endParaRPr lang="en-US" sz="11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C1A1B"/>
                          </a:solidFill>
                          <a:latin typeface="Calibri" pitchFamily="34" charset="0"/>
                          <a:ea typeface="Calibri" pitchFamily="34" charset="-122"/>
                          <a:cs typeface="Calibri" pitchFamily="34" charset="-120"/>
                        </a:rPr>
                        <a:t>50%</a:t>
                      </a:r>
                      <a:endParaRPr lang="en-US" sz="11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C1A1B"/>
                          </a:solidFill>
                          <a:latin typeface="Calibri" pitchFamily="34" charset="0"/>
                          <a:ea typeface="Calibri" pitchFamily="34" charset="-122"/>
                          <a:cs typeface="Calibri" pitchFamily="34" charset="-120"/>
                        </a:rPr>
                        <a:t>60%</a:t>
                      </a:r>
                      <a:endParaRPr lang="en-US" sz="11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4EFEA"/>
                    </a:solidFill>
                  </a:tcPr>
                </a:tc>
                <a:tc>
                  <a:txBody>
                    <a:bodyPr/>
                    <a:lstStyle/>
                    <a:p>
                      <a:pPr algn="ctr" indent="0" marL="0">
                        <a:buNone/>
                      </a:pPr>
                      <a:r>
                        <a:rPr lang="en-US" sz="1100" dirty="0">
                          <a:solidFill>
                            <a:srgbClr val="1C1A1B"/>
                          </a:solidFill>
                          <a:latin typeface="Calibri" pitchFamily="34" charset="0"/>
                          <a:ea typeface="Calibri" pitchFamily="34" charset="-122"/>
                          <a:cs typeface="Calibri" pitchFamily="34" charset="-120"/>
                        </a:rPr>
                        <a:t>70%</a:t>
                      </a:r>
                      <a:endParaRPr lang="en-US" sz="11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5E5853"/>
                          </a:solidFill>
                          <a:latin typeface="Calibri" pitchFamily="34" charset="0"/>
                          <a:ea typeface="Calibri" pitchFamily="34" charset="-122"/>
                          <a:cs typeface="Calibri" pitchFamily="34" charset="-120"/>
                        </a:rPr>
                        <a:t>Assumption</a:t>
                      </a:r>
                      <a:endParaRPr lang="en-US" sz="11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1C1A1B"/>
                          </a:solidFill>
                          <a:latin typeface="Calibri" pitchFamily="34" charset="0"/>
                          <a:ea typeface="Calibri" pitchFamily="34" charset="-122"/>
                          <a:cs typeface="Calibri" pitchFamily="34" charset="-120"/>
                        </a:rPr>
                        <a:t>Sales-influenceable share</a:t>
                      </a:r>
                      <a:endParaRPr lang="en-US" sz="11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C1A1B"/>
                          </a:solidFill>
                          <a:latin typeface="Calibri" pitchFamily="34" charset="0"/>
                          <a:ea typeface="Calibri" pitchFamily="34" charset="-122"/>
                          <a:cs typeface="Calibri" pitchFamily="34" charset="-120"/>
                        </a:rPr>
                        <a:t>50%</a:t>
                      </a:r>
                      <a:endParaRPr lang="en-US" sz="11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C1A1B"/>
                          </a:solidFill>
                          <a:latin typeface="Calibri" pitchFamily="34" charset="0"/>
                          <a:ea typeface="Calibri" pitchFamily="34" charset="-122"/>
                          <a:cs typeface="Calibri" pitchFamily="34" charset="-120"/>
                        </a:rPr>
                        <a:t>60%</a:t>
                      </a:r>
                      <a:endParaRPr lang="en-US" sz="11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4EFEA"/>
                    </a:solidFill>
                  </a:tcPr>
                </a:tc>
                <a:tc>
                  <a:txBody>
                    <a:bodyPr/>
                    <a:lstStyle/>
                    <a:p>
                      <a:pPr algn="ctr" indent="0" marL="0">
                        <a:buNone/>
                      </a:pPr>
                      <a:r>
                        <a:rPr lang="en-US" sz="1100" dirty="0">
                          <a:solidFill>
                            <a:srgbClr val="1C1A1B"/>
                          </a:solidFill>
                          <a:latin typeface="Calibri" pitchFamily="34" charset="0"/>
                          <a:ea typeface="Calibri" pitchFamily="34" charset="-122"/>
                          <a:cs typeface="Calibri" pitchFamily="34" charset="-120"/>
                        </a:rPr>
                        <a:t>65%</a:t>
                      </a:r>
                      <a:endParaRPr lang="en-US" sz="11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5E5853"/>
                          </a:solidFill>
                          <a:latin typeface="Calibri" pitchFamily="34" charset="0"/>
                          <a:ea typeface="Calibri" pitchFamily="34" charset="-122"/>
                          <a:cs typeface="Calibri" pitchFamily="34" charset="-120"/>
                        </a:rPr>
                        <a:t>Assumption; validate with return reason codes</a:t>
                      </a:r>
                      <a:endParaRPr lang="en-US" sz="11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1C1A1B"/>
                          </a:solidFill>
                          <a:latin typeface="Calibri" pitchFamily="34" charset="0"/>
                          <a:ea typeface="Calibri" pitchFamily="34" charset="-122"/>
                          <a:cs typeface="Calibri" pitchFamily="34" charset="-120"/>
                        </a:rPr>
                        <a:t>Waste prevented</a:t>
                      </a:r>
                      <a:endParaRPr lang="en-US" sz="11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C1A1B"/>
                          </a:solidFill>
                          <a:latin typeface="Calibri" pitchFamily="34" charset="0"/>
                          <a:ea typeface="Calibri" pitchFamily="34" charset="-122"/>
                          <a:cs typeface="Calibri" pitchFamily="34" charset="-120"/>
                        </a:rPr>
                        <a:t>15%</a:t>
                      </a:r>
                      <a:endParaRPr lang="en-US" sz="11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C1A1B"/>
                          </a:solidFill>
                          <a:latin typeface="Calibri" pitchFamily="34" charset="0"/>
                          <a:ea typeface="Calibri" pitchFamily="34" charset="-122"/>
                          <a:cs typeface="Calibri" pitchFamily="34" charset="-120"/>
                        </a:rPr>
                        <a:t>25%</a:t>
                      </a:r>
                      <a:endParaRPr lang="en-US" sz="11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4EFEA"/>
                    </a:solidFill>
                  </a:tcPr>
                </a:tc>
                <a:tc>
                  <a:txBody>
                    <a:bodyPr/>
                    <a:lstStyle/>
                    <a:p>
                      <a:pPr algn="ctr" indent="0" marL="0">
                        <a:buNone/>
                      </a:pPr>
                      <a:r>
                        <a:rPr lang="en-US" sz="1100" dirty="0">
                          <a:solidFill>
                            <a:srgbClr val="1C1A1B"/>
                          </a:solidFill>
                          <a:latin typeface="Calibri" pitchFamily="34" charset="0"/>
                          <a:ea typeface="Calibri" pitchFamily="34" charset="-122"/>
                          <a:cs typeface="Calibri" pitchFamily="34" charset="-120"/>
                        </a:rPr>
                        <a:t>35%</a:t>
                      </a:r>
                      <a:endParaRPr lang="en-US" sz="11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5E5853"/>
                          </a:solidFill>
                          <a:latin typeface="Calibri" pitchFamily="34" charset="0"/>
                          <a:ea typeface="Calibri" pitchFamily="34" charset="-122"/>
                          <a:cs typeface="Calibri" pitchFamily="34" charset="-120"/>
                        </a:rPr>
                        <a:t>Assumption; pilot measures it</a:t>
                      </a:r>
                      <a:endParaRPr lang="en-US" sz="11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1C1A1B"/>
                          </a:solidFill>
                          <a:latin typeface="Calibri" pitchFamily="34" charset="0"/>
                          <a:ea typeface="Calibri" pitchFamily="34" charset="-122"/>
                          <a:cs typeface="Calibri" pitchFamily="34" charset="-120"/>
                        </a:rPr>
                        <a:t>Cost to recover stock</a:t>
                      </a:r>
                      <a:endParaRPr lang="en-US" sz="11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C1A1B"/>
                          </a:solidFill>
                          <a:latin typeface="Calibri" pitchFamily="34" charset="0"/>
                          <a:ea typeface="Calibri" pitchFamily="34" charset="-122"/>
                          <a:cs typeface="Calibri" pitchFamily="34" charset="-120"/>
                        </a:rPr>
                        <a:t>35%</a:t>
                      </a:r>
                      <a:endParaRPr lang="en-US" sz="11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C1A1B"/>
                          </a:solidFill>
                          <a:latin typeface="Calibri" pitchFamily="34" charset="0"/>
                          <a:ea typeface="Calibri" pitchFamily="34" charset="-122"/>
                          <a:cs typeface="Calibri" pitchFamily="34" charset="-120"/>
                        </a:rPr>
                        <a:t>25%</a:t>
                      </a:r>
                      <a:endParaRPr lang="en-US" sz="11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4EFEA"/>
                    </a:solidFill>
                  </a:tcPr>
                </a:tc>
                <a:tc>
                  <a:txBody>
                    <a:bodyPr/>
                    <a:lstStyle/>
                    <a:p>
                      <a:pPr algn="ctr" indent="0" marL="0">
                        <a:buNone/>
                      </a:pPr>
                      <a:r>
                        <a:rPr lang="en-US" sz="1100" dirty="0">
                          <a:solidFill>
                            <a:srgbClr val="1C1A1B"/>
                          </a:solidFill>
                          <a:latin typeface="Calibri" pitchFamily="34" charset="0"/>
                          <a:ea typeface="Calibri" pitchFamily="34" charset="-122"/>
                          <a:cs typeface="Calibri" pitchFamily="34" charset="-120"/>
                        </a:rPr>
                        <a:t>20%</a:t>
                      </a:r>
                      <a:endParaRPr lang="en-US" sz="11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5E5853"/>
                          </a:solidFill>
                          <a:latin typeface="Calibri" pitchFamily="34" charset="0"/>
                          <a:ea typeface="Calibri" pitchFamily="34" charset="-122"/>
                          <a:cs typeface="Calibri" pitchFamily="34" charset="-120"/>
                        </a:rPr>
                        <a:t>Of loss avoided</a:t>
                      </a:r>
                      <a:endParaRPr lang="en-US" sz="11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1C1A1B"/>
                          </a:solidFill>
                          <a:latin typeface="Calibri" pitchFamily="34" charset="0"/>
                          <a:ea typeface="Calibri" pitchFamily="34" charset="-122"/>
                          <a:cs typeface="Calibri" pitchFamily="34" charset="-120"/>
                        </a:rPr>
                        <a:t>Stock-out reduction</a:t>
                      </a:r>
                      <a:endParaRPr lang="en-US" sz="11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C1A1B"/>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C1A1B"/>
                          </a:solidFill>
                          <a:latin typeface="Calibri" pitchFamily="34" charset="0"/>
                          <a:ea typeface="Calibri" pitchFamily="34" charset="-122"/>
                          <a:cs typeface="Calibri" pitchFamily="34" charset="-120"/>
                        </a:rPr>
                        <a:t>20%</a:t>
                      </a:r>
                      <a:endParaRPr lang="en-US" sz="11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4EFEA"/>
                    </a:solidFill>
                  </a:tcPr>
                </a:tc>
                <a:tc>
                  <a:txBody>
                    <a:bodyPr/>
                    <a:lstStyle/>
                    <a:p>
                      <a:pPr algn="ctr" indent="0" marL="0">
                        <a:buNone/>
                      </a:pPr>
                      <a:r>
                        <a:rPr lang="en-US" sz="1100" dirty="0">
                          <a:solidFill>
                            <a:srgbClr val="1C1A1B"/>
                          </a:solidFill>
                          <a:latin typeface="Calibri" pitchFamily="34" charset="0"/>
                          <a:ea typeface="Calibri" pitchFamily="34" charset="-122"/>
                          <a:cs typeface="Calibri" pitchFamily="34" charset="-120"/>
                        </a:rPr>
                        <a:t>30%</a:t>
                      </a:r>
                      <a:endParaRPr lang="en-US" sz="11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5E5853"/>
                          </a:solidFill>
                          <a:latin typeface="Calibri" pitchFamily="34" charset="0"/>
                          <a:ea typeface="Calibri" pitchFamily="34" charset="-122"/>
                          <a:cs typeface="Calibri" pitchFamily="34" charset="-120"/>
                        </a:rPr>
                        <a:t>On an 8% OOS base, 35% brand loss (global study)</a:t>
                      </a:r>
                      <a:endParaRPr lang="en-US" sz="11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1C1A1B"/>
                          </a:solidFill>
                          <a:latin typeface="Calibri" pitchFamily="34" charset="0"/>
                          <a:ea typeface="Calibri" pitchFamily="34" charset="-122"/>
                          <a:cs typeface="Calibri" pitchFamily="34" charset="-120"/>
                        </a:rPr>
                        <a:t>Contribution margin</a:t>
                      </a:r>
                      <a:endParaRPr lang="en-US" sz="11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C1A1B"/>
                          </a:solidFill>
                          <a:latin typeface="Calibri" pitchFamily="34" charset="0"/>
                          <a:ea typeface="Calibri" pitchFamily="34" charset="-122"/>
                          <a:cs typeface="Calibri" pitchFamily="34" charset="-120"/>
                        </a:rPr>
                        <a:t>35%</a:t>
                      </a:r>
                      <a:endParaRPr lang="en-US" sz="11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C1A1B"/>
                          </a:solidFill>
                          <a:latin typeface="Calibri" pitchFamily="34" charset="0"/>
                          <a:ea typeface="Calibri" pitchFamily="34" charset="-122"/>
                          <a:cs typeface="Calibri" pitchFamily="34" charset="-120"/>
                        </a:rPr>
                        <a:t>35%</a:t>
                      </a:r>
                      <a:endParaRPr lang="en-US" sz="11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4EFEA"/>
                    </a:solidFill>
                  </a:tcPr>
                </a:tc>
                <a:tc>
                  <a:txBody>
                    <a:bodyPr/>
                    <a:lstStyle/>
                    <a:p>
                      <a:pPr algn="ctr" indent="0" marL="0">
                        <a:buNone/>
                      </a:pPr>
                      <a:r>
                        <a:rPr lang="en-US" sz="1100" dirty="0">
                          <a:solidFill>
                            <a:srgbClr val="1C1A1B"/>
                          </a:solidFill>
                          <a:latin typeface="Calibri" pitchFamily="34" charset="0"/>
                          <a:ea typeface="Calibri" pitchFamily="34" charset="-122"/>
                          <a:cs typeface="Calibri" pitchFamily="34" charset="-120"/>
                        </a:rPr>
                        <a:t>35%</a:t>
                      </a:r>
                      <a:endParaRPr lang="en-US" sz="11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5E5853"/>
                          </a:solidFill>
                          <a:latin typeface="Calibri" pitchFamily="34" charset="0"/>
                          <a:ea typeface="Calibri" pitchFamily="34" charset="-122"/>
                          <a:cs typeface="Calibri" pitchFamily="34" charset="-120"/>
                        </a:rPr>
                        <a:t>Assumption</a:t>
                      </a:r>
                      <a:endParaRPr lang="en-US" sz="11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1C1A1B"/>
                          </a:solidFill>
                          <a:latin typeface="Calibri" pitchFamily="34" charset="0"/>
                          <a:ea typeface="Calibri" pitchFamily="34" charset="-122"/>
                          <a:cs typeface="Calibri" pitchFamily="34" charset="-120"/>
                        </a:rPr>
                        <a:t>Build + year-1 run</a:t>
                      </a:r>
                      <a:endParaRPr lang="en-US" sz="11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C1A1B"/>
                          </a:solidFill>
                          <a:latin typeface="Calibri" pitchFamily="34" charset="0"/>
                          <a:ea typeface="Calibri" pitchFamily="34" charset="-122"/>
                          <a:cs typeface="Calibri" pitchFamily="34" charset="-120"/>
                        </a:rPr>
                        <a:t>₹12.0 cr</a:t>
                      </a:r>
                      <a:endParaRPr lang="en-US" sz="11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C1A1B"/>
                          </a:solidFill>
                          <a:latin typeface="Calibri" pitchFamily="34" charset="0"/>
                          <a:ea typeface="Calibri" pitchFamily="34" charset="-122"/>
                          <a:cs typeface="Calibri" pitchFamily="34" charset="-120"/>
                        </a:rPr>
                        <a:t>₹10.0 cr</a:t>
                      </a:r>
                      <a:endParaRPr lang="en-US" sz="11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4EFEA"/>
                    </a:solidFill>
                  </a:tcPr>
                </a:tc>
                <a:tc>
                  <a:txBody>
                    <a:bodyPr/>
                    <a:lstStyle/>
                    <a:p>
                      <a:pPr algn="ctr" indent="0" marL="0">
                        <a:buNone/>
                      </a:pPr>
                      <a:r>
                        <a:rPr lang="en-US" sz="1100" dirty="0">
                          <a:solidFill>
                            <a:srgbClr val="1C1A1B"/>
                          </a:solidFill>
                          <a:latin typeface="Calibri" pitchFamily="34" charset="0"/>
                          <a:ea typeface="Calibri" pitchFamily="34" charset="-122"/>
                          <a:cs typeface="Calibri" pitchFamily="34" charset="-120"/>
                        </a:rPr>
                        <a:t>₹8.0 cr</a:t>
                      </a:r>
                      <a:endParaRPr lang="en-US" sz="11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5E5853"/>
                          </a:solidFill>
                          <a:latin typeface="Calibri" pitchFamily="34" charset="0"/>
                          <a:ea typeface="Calibri" pitchFamily="34" charset="-122"/>
                          <a:cs typeface="Calibri" pitchFamily="34" charset="-120"/>
                        </a:rPr>
                        <a:t>Assumption; lower if configured in existing SFA</a:t>
                      </a:r>
                      <a:endParaRPr lang="en-US" sz="11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r>
            </a:tbl>
          </a:graphicData>
        </a:graphic>
      </p:graphicFrame>
      <p:graphicFrame>
        <p:nvGraphicFramePr>
          <p:cNvPr id="6" name="sensitivity-chart-611" descr=""/>
          <p:cNvGraphicFramePr/>
          <p:nvPr/>
        </p:nvGraphicFramePr>
        <p:xfrm>
          <a:off x="8001000" y="1691640"/>
          <a:ext cx="3639312" cy="420624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229600" cy="274320"/>
          </a:xfrm>
          <a:prstGeom prst="rect">
            <a:avLst/>
          </a:prstGeom>
          <a:noFill/>
          <a:ln/>
        </p:spPr>
        <p:txBody>
          <a:bodyPr wrap="square" lIns="0" tIns="0" rIns="0" bIns="0" rtlCol="0" anchor="t"/>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APPENDIX D · THE FIVE PLAYBOOKS</a:t>
            </a:r>
            <a:endParaRPr lang="en-US" sz="1100" dirty="0"/>
          </a:p>
        </p:txBody>
      </p:sp>
      <p:sp>
        <p:nvSpPr>
          <p:cNvPr id="3" name="Text 0"/>
          <p:cNvSpPr/>
          <p:nvPr>
            <p:ph idx="101" type="title" hasCustomPrompt="1"/>
          </p:nvPr>
        </p:nvSpPr>
        <p:spPr>
          <a:xfrm>
            <a:off x="548640" y="566928"/>
            <a:ext cx="11064240" cy="96012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Each risk state gets its own sequence, cost and guardrail</a:t>
            </a:r>
            <a:endParaRPr lang="en-US" sz="3000" dirty="0"/>
          </a:p>
        </p:txBody>
      </p:sp>
      <p:sp>
        <p:nvSpPr>
          <p:cNvPr id="4" name="Text 0"/>
          <p:cNvSpPr/>
          <p:nvPr>
            <p:ph idx="102" type="body" hasCustomPrompt="1"/>
          </p:nvPr>
        </p:nvSpPr>
        <p:spPr>
          <a:xfrm>
            <a:off x="548640" y="6382512"/>
            <a:ext cx="9692640" cy="329184"/>
          </a:xfrm>
          <a:prstGeom prst="rect">
            <a:avLst/>
          </a:prstGeom>
          <a:noFill/>
          <a:ln/>
        </p:spPr>
        <p:txBody>
          <a:bodyPr wrap="square" lIns="0" tIns="0" rIns="0" bIns="0" rtlCol="0" anchor="t"/>
          <a:lstStyle/>
          <a:p>
            <a:pPr indent="0" marL="0">
              <a:buNone/>
            </a:pPr>
            <a:r>
              <a:rPr lang="en-US" sz="1000" dirty="0">
                <a:solidFill>
                  <a:schemeClr val="tx2"/>
                </a:solidFill>
                <a:latin typeface="Calibri" pitchFamily="34" charset="0"/>
                <a:ea typeface="Calibri" pitchFamily="34" charset="-122"/>
                <a:cs typeface="Calibri" pitchFamily="34" charset="-120"/>
              </a:rPr>
              <a:t>Approval thresholds: transfers above ₹10,000 or across distributors, any scheme, sampling budget and end-of-life need ASM approval. Luxe and Derma: no price schemes; Luxe: no bundles.</a:t>
            </a:r>
            <a:endParaRPr lang="en-US" sz="1000" dirty="0"/>
          </a:p>
        </p:txBody>
      </p:sp>
      <p:graphicFrame>
        <p:nvGraphicFramePr>
          <p:cNvPr id="23" name="playbooks-table-612"/>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914400"/>
        </p:xfrm>
        <a:graphic>
          <a:graphicData uri="http://schemas.openxmlformats.org/drawingml/2006/table">
            <a:tbl>
              <a:tblPr/>
              <a:tblGrid>
                <a:gridCol w="1920240"/>
                <a:gridCol w="4754880"/>
                <a:gridCol w="2286000"/>
                <a:gridCol w="2130552"/>
              </a:tblGrid>
              <a:tr h="34747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Playbook</a:t>
                      </a:r>
                      <a:endParaRPr lang="en-US" sz="11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6E1A3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Sequence</a:t>
                      </a:r>
                      <a:endParaRPr lang="en-US" sz="11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6E1A3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Main risk</a:t>
                      </a:r>
                      <a:endParaRPr lang="en-US" sz="11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6E1A3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Guardrail</a:t>
                      </a:r>
                      <a:endParaRPr lang="en-US" sz="11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6E1A30"/>
                    </a:solidFill>
                  </a:tcPr>
                </a:tc>
              </a:tr>
              <a:tr h="804672">
                <a:tc>
                  <a:txBody>
                    <a:bodyPr/>
                    <a:lstStyle/>
                    <a:p>
                      <a:pPr indent="0" marL="0">
                        <a:buNone/>
                      </a:pPr>
                      <a:r>
                        <a:rPr lang="en-US" sz="1100" b="1" dirty="0">
                          <a:solidFill>
                            <a:srgbClr val="6E1A30"/>
                          </a:solidFill>
                          <a:latin typeface="Calibri" pitchFamily="34" charset="0"/>
                          <a:ea typeface="Calibri" pitchFamily="34" charset="-122"/>
                          <a:cs typeface="Calibri" pitchFamily="34" charset="-120"/>
                        </a:rPr>
                        <a:t>Near-expiry</a:t>
                      </a:r>
                      <a:endParaRPr lang="en-US" sz="11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c>
                  <a:txBody>
                    <a:bodyPr/>
                    <a:lstStyle/>
                    <a:p>
                      <a:pPr indent="0" marL="0">
                        <a:buNone/>
                      </a:pPr>
                      <a:r>
                        <a:rPr lang="en-US" sz="1100" dirty="0">
                          <a:solidFill>
                            <a:srgbClr val="1C1A1B"/>
                          </a:solidFill>
                          <a:latin typeface="Calibri" pitchFamily="34" charset="0"/>
                          <a:ea typeface="Calibri" pitchFamily="34" charset="-122"/>
                          <a:cs typeface="Calibri" pitchFamily="34" charset="-120"/>
                        </a:rPr>
                        <a:t>Verify batch → pause re-order → transfer projected-unsold units to the fastest outlets → approved bundle → controlled end-of-life if &lt;30 days</a:t>
                      </a:r>
                      <a:endParaRPr lang="en-US" sz="11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c>
                  <a:txBody>
                    <a:bodyPr/>
                    <a:lstStyle/>
                    <a:p>
                      <a:pPr indent="0" marL="0">
                        <a:buNone/>
                      </a:pPr>
                      <a:r>
                        <a:rPr lang="en-US" sz="1100" dirty="0">
                          <a:solidFill>
                            <a:srgbClr val="1C1A1B"/>
                          </a:solidFill>
                          <a:latin typeface="Calibri" pitchFamily="34" charset="0"/>
                          <a:ea typeface="Calibri" pitchFamily="34" charset="-122"/>
                          <a:cs typeface="Calibri" pitchFamily="34" charset="-120"/>
                        </a:rPr>
                        <a:t>Pushing short-dated stock onto retailers who return it</a:t>
                      </a:r>
                      <a:endParaRPr lang="en-US" sz="11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c>
                  <a:txBody>
                    <a:bodyPr/>
                    <a:lstStyle/>
                    <a:p>
                      <a:pPr indent="0" marL="0">
                        <a:buNone/>
                      </a:pPr>
                      <a:r>
                        <a:rPr lang="en-US" sz="1100" dirty="0">
                          <a:solidFill>
                            <a:srgbClr val="1C1A1B"/>
                          </a:solidFill>
                          <a:latin typeface="Calibri" pitchFamily="34" charset="0"/>
                          <a:ea typeface="Calibri" pitchFamily="34" charset="-122"/>
                          <a:cs typeface="Calibri" pitchFamily="34" charset="-120"/>
                        </a:rPr>
                        <a:t>Transfer capped at recipient's sell-through capacity</a:t>
                      </a:r>
                      <a:endParaRPr lang="en-US" sz="11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r>
              <a:tr h="804672">
                <a:tc>
                  <a:txBody>
                    <a:bodyPr/>
                    <a:lstStyle/>
                    <a:p>
                      <a:pPr indent="0" marL="0">
                        <a:buNone/>
                      </a:pPr>
                      <a:r>
                        <a:rPr lang="en-US" sz="1100" b="1" dirty="0">
                          <a:solidFill>
                            <a:srgbClr val="6E1A30"/>
                          </a:solidFill>
                          <a:latin typeface="Calibri" pitchFamily="34" charset="0"/>
                          <a:ea typeface="Calibri" pitchFamily="34" charset="-122"/>
                          <a:cs typeface="Calibri" pitchFamily="34" charset="-120"/>
                        </a:rPr>
                        <a:t>Slow-moving (healthy shelf life)</a:t>
                      </a:r>
                      <a:endParaRPr lang="en-US" sz="11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c>
                  <a:txBody>
                    <a:bodyPr/>
                    <a:lstStyle/>
                    <a:p>
                      <a:pPr indent="0" marL="0">
                        <a:buNone/>
                      </a:pPr>
                      <a:r>
                        <a:rPr lang="en-US" sz="1100" dirty="0">
                          <a:solidFill>
                            <a:srgbClr val="1C1A1B"/>
                          </a:solidFill>
                          <a:latin typeface="Calibri" pitchFamily="34" charset="0"/>
                          <a:ea typeface="Calibri" pitchFamily="34" charset="-122"/>
                          <a:cs typeface="Calibri" pitchFamily="34" charset="-120"/>
                        </a:rPr>
                        <a:t>Diagnose (reason code) → visibility → tester or sampling → cap re-orders → range correction → rebalance if no change in 2 visits</a:t>
                      </a:r>
                      <a:endParaRPr lang="en-US" sz="11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c>
                  <a:txBody>
                    <a:bodyPr/>
                    <a:lstStyle/>
                    <a:p>
                      <a:pPr indent="0" marL="0">
                        <a:buNone/>
                      </a:pPr>
                      <a:r>
                        <a:rPr lang="en-US" sz="1100" dirty="0">
                          <a:solidFill>
                            <a:srgbClr val="1C1A1B"/>
                          </a:solidFill>
                          <a:latin typeface="Calibri" pitchFamily="34" charset="0"/>
                          <a:ea typeface="Calibri" pitchFamily="34" charset="-122"/>
                          <a:cs typeface="Calibri" pitchFamily="34" charset="-120"/>
                        </a:rPr>
                        <a:t>Acting on the wrong diagnosis</a:t>
                      </a:r>
                      <a:endParaRPr lang="en-US" sz="11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c>
                  <a:txBody>
                    <a:bodyPr/>
                    <a:lstStyle/>
                    <a:p>
                      <a:pPr indent="0" marL="0">
                        <a:buNone/>
                      </a:pPr>
                      <a:r>
                        <a:rPr lang="en-US" sz="1100" dirty="0">
                          <a:solidFill>
                            <a:srgbClr val="1C1A1B"/>
                          </a:solidFill>
                          <a:latin typeface="Calibri" pitchFamily="34" charset="0"/>
                          <a:ea typeface="Calibri" pitchFamily="34" charset="-122"/>
                          <a:cs typeface="Calibri" pitchFamily="34" charset="-120"/>
                        </a:rPr>
                        <a:t>Re-measure velocity at the next 2 visits</a:t>
                      </a:r>
                      <a:endParaRPr lang="en-US" sz="11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r>
              <a:tr h="685800">
                <a:tc>
                  <a:txBody>
                    <a:bodyPr/>
                    <a:lstStyle/>
                    <a:p>
                      <a:pPr indent="0" marL="0">
                        <a:buNone/>
                      </a:pPr>
                      <a:r>
                        <a:rPr lang="en-US" sz="1100" b="1" dirty="0">
                          <a:solidFill>
                            <a:srgbClr val="6E1A30"/>
                          </a:solidFill>
                          <a:latin typeface="Calibri" pitchFamily="34" charset="0"/>
                          <a:ea typeface="Calibri" pitchFamily="34" charset="-122"/>
                          <a:cs typeface="Calibri" pitchFamily="34" charset="-120"/>
                        </a:rPr>
                        <a:t>Overstocked node</a:t>
                      </a:r>
                      <a:endParaRPr lang="en-US" sz="11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c>
                  <a:txBody>
                    <a:bodyPr/>
                    <a:lstStyle/>
                    <a:p>
                      <a:pPr indent="0" marL="0">
                        <a:buNone/>
                      </a:pPr>
                      <a:r>
                        <a:rPr lang="en-US" sz="1100" dirty="0">
                          <a:solidFill>
                            <a:srgbClr val="1C1A1B"/>
                          </a:solidFill>
                          <a:latin typeface="Calibri" pitchFamily="34" charset="0"/>
                          <a:ea typeface="Calibri" pitchFamily="34" charset="-122"/>
                          <a:cs typeface="Calibri" pitchFamily="34" charset="-120"/>
                        </a:rPr>
                        <a:t>SKU-level cover review → guardrail on over-covered SKUs only → rebalance → reset norms by SKU class</a:t>
                      </a:r>
                      <a:endParaRPr lang="en-US" sz="11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c>
                  <a:txBody>
                    <a:bodyPr/>
                    <a:lstStyle/>
                    <a:p>
                      <a:pPr indent="0" marL="0">
                        <a:buNone/>
                      </a:pPr>
                      <a:r>
                        <a:rPr lang="en-US" sz="1100" dirty="0">
                          <a:solidFill>
                            <a:srgbClr val="1C1A1B"/>
                          </a:solidFill>
                          <a:latin typeface="Calibri" pitchFamily="34" charset="0"/>
                          <a:ea typeface="Calibri" pitchFamily="34" charset="-122"/>
                          <a:cs typeface="Calibri" pitchFamily="34" charset="-120"/>
                        </a:rPr>
                        <a:t>Revenue cliff from blanket cuts</a:t>
                      </a:r>
                      <a:endParaRPr lang="en-US" sz="11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c>
                  <a:txBody>
                    <a:bodyPr/>
                    <a:lstStyle/>
                    <a:p>
                      <a:pPr indent="0" marL="0">
                        <a:buNone/>
                      </a:pPr>
                      <a:r>
                        <a:rPr lang="en-US" sz="1100" dirty="0">
                          <a:solidFill>
                            <a:srgbClr val="1C1A1B"/>
                          </a:solidFill>
                          <a:latin typeface="Calibri" pitchFamily="34" charset="0"/>
                          <a:ea typeface="Calibri" pitchFamily="34" charset="-122"/>
                          <a:cs typeface="Calibri" pitchFamily="34" charset="-120"/>
                        </a:rPr>
                        <a:t>Fast SKUs keep ordering</a:t>
                      </a:r>
                      <a:endParaRPr lang="en-US" sz="11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r>
              <a:tr h="603504">
                <a:tc>
                  <a:txBody>
                    <a:bodyPr/>
                    <a:lstStyle/>
                    <a:p>
                      <a:pPr indent="0" marL="0">
                        <a:buNone/>
                      </a:pPr>
                      <a:r>
                        <a:rPr lang="en-US" sz="1100" b="1" dirty="0">
                          <a:solidFill>
                            <a:srgbClr val="6E1A30"/>
                          </a:solidFill>
                          <a:latin typeface="Calibri" pitchFamily="34" charset="0"/>
                          <a:ea typeface="Calibri" pitchFamily="34" charset="-122"/>
                          <a:cs typeface="Calibri" pitchFamily="34" charset="-120"/>
                        </a:rPr>
                        <a:t>Stock-out risk</a:t>
                      </a:r>
                      <a:endParaRPr lang="en-US" sz="11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c>
                  <a:txBody>
                    <a:bodyPr/>
                    <a:lstStyle/>
                    <a:p>
                      <a:pPr indent="0" marL="0">
                        <a:buNone/>
                      </a:pPr>
                      <a:r>
                        <a:rPr lang="en-US" sz="1100" dirty="0">
                          <a:solidFill>
                            <a:srgbClr val="1C1A1B"/>
                          </a:solidFill>
                          <a:latin typeface="Calibri" pitchFamily="34" charset="0"/>
                          <a:ea typeface="Calibri" pitchFamily="34" charset="-122"/>
                          <a:cs typeface="Calibri" pitchFamily="34" charset="-120"/>
                        </a:rPr>
                        <a:t>Source from surplus outlets first → replenish to cover + lead time → raise beat frequency</a:t>
                      </a:r>
                      <a:endParaRPr lang="en-US" sz="11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c>
                  <a:txBody>
                    <a:bodyPr/>
                    <a:lstStyle/>
                    <a:p>
                      <a:pPr indent="0" marL="0">
                        <a:buNone/>
                      </a:pPr>
                      <a:r>
                        <a:rPr lang="en-US" sz="1100" dirty="0">
                          <a:solidFill>
                            <a:srgbClr val="1C1A1B"/>
                          </a:solidFill>
                          <a:latin typeface="Calibri" pitchFamily="34" charset="0"/>
                          <a:ea typeface="Calibri" pitchFamily="34" charset="-122"/>
                          <a:cs typeface="Calibri" pitchFamily="34" charset="-120"/>
                        </a:rPr>
                        <a:t>Over-correcting into excess</a:t>
                      </a:r>
                      <a:endParaRPr lang="en-US" sz="11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c>
                  <a:txBody>
                    <a:bodyPr/>
                    <a:lstStyle/>
                    <a:p>
                      <a:pPr indent="0" marL="0">
                        <a:buNone/>
                      </a:pPr>
                      <a:r>
                        <a:rPr lang="en-US" sz="1100" dirty="0">
                          <a:solidFill>
                            <a:srgbClr val="1C1A1B"/>
                          </a:solidFill>
                          <a:latin typeface="Calibri" pitchFamily="34" charset="0"/>
                          <a:ea typeface="Calibri" pitchFamily="34" charset="-122"/>
                          <a:cs typeface="Calibri" pitchFamily="34" charset="-120"/>
                        </a:rPr>
                        <a:t>Capped at target cover</a:t>
                      </a:r>
                      <a:endParaRPr lang="en-US" sz="11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r>
              <a:tr h="804672">
                <a:tc>
                  <a:txBody>
                    <a:bodyPr/>
                    <a:lstStyle/>
                    <a:p>
                      <a:pPr indent="0" marL="0">
                        <a:buNone/>
                      </a:pPr>
                      <a:r>
                        <a:rPr lang="en-US" sz="1100" b="1" dirty="0">
                          <a:solidFill>
                            <a:srgbClr val="6E1A30"/>
                          </a:solidFill>
                          <a:latin typeface="Calibri" pitchFamily="34" charset="0"/>
                          <a:ea typeface="Calibri" pitchFamily="34" charset="-122"/>
                          <a:cs typeface="Calibri" pitchFamily="34" charset="-120"/>
                        </a:rPr>
                        <a:t>Poor visibility / channel shift</a:t>
                      </a:r>
                      <a:endParaRPr lang="en-US" sz="11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c>
                  <a:txBody>
                    <a:bodyPr/>
                    <a:lstStyle/>
                    <a:p>
                      <a:pPr indent="0" marL="0">
                        <a:buNone/>
                      </a:pPr>
                      <a:r>
                        <a:rPr lang="en-US" sz="1100" dirty="0">
                          <a:solidFill>
                            <a:srgbClr val="1C1A1B"/>
                          </a:solidFill>
                          <a:latin typeface="Calibri" pitchFamily="34" charset="0"/>
                          <a:ea typeface="Calibri" pitchFamily="34" charset="-122"/>
                          <a:cs typeface="Calibri" pitchFamily="34" charset="-120"/>
                        </a:rPr>
                        <a:t>Benchmark peers → placement and testers → or, if demand moved online, resize orders and hand off to quick-commerce KAM</a:t>
                      </a:r>
                      <a:endParaRPr lang="en-US" sz="11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c>
                  <a:txBody>
                    <a:bodyPr/>
                    <a:lstStyle/>
                    <a:p>
                      <a:pPr indent="0" marL="0">
                        <a:buNone/>
                      </a:pPr>
                      <a:r>
                        <a:rPr lang="en-US" sz="1100" dirty="0">
                          <a:solidFill>
                            <a:srgbClr val="1C1A1B"/>
                          </a:solidFill>
                          <a:latin typeface="Calibri" pitchFamily="34" charset="0"/>
                          <a:ea typeface="Calibri" pitchFamily="34" charset="-122"/>
                          <a:cs typeface="Calibri" pitchFamily="34" charset="-120"/>
                        </a:rPr>
                        <a:t>Blaming the product for an execution or channel issue</a:t>
                      </a:r>
                      <a:endParaRPr lang="en-US" sz="11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c>
                  <a:txBody>
                    <a:bodyPr/>
                    <a:lstStyle/>
                    <a:p>
                      <a:pPr indent="0" marL="0">
                        <a:buNone/>
                      </a:pPr>
                      <a:r>
                        <a:rPr lang="en-US" sz="1100" dirty="0">
                          <a:solidFill>
                            <a:srgbClr val="1C1A1B"/>
                          </a:solidFill>
                          <a:latin typeface="Calibri" pitchFamily="34" charset="0"/>
                          <a:ea typeface="Calibri" pitchFamily="34" charset="-122"/>
                          <a:cs typeface="Calibri" pitchFamily="34" charset="-120"/>
                        </a:rPr>
                        <a:t>Never dump ageing stock on quick commerce</a:t>
                      </a:r>
                      <a:endParaRPr lang="en-US" sz="11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229600" cy="274320"/>
          </a:xfrm>
          <a:prstGeom prst="rect">
            <a:avLst/>
          </a:prstGeom>
          <a:noFill/>
          <a:ln/>
        </p:spPr>
        <p:txBody>
          <a:bodyPr wrap="square" lIns="0" tIns="0" rIns="0" bIns="0" rtlCol="0" anchor="t"/>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APPENDIX E · RISKS AND OBJECTIONS</a:t>
            </a:r>
            <a:endParaRPr lang="en-US" sz="1100" dirty="0"/>
          </a:p>
        </p:txBody>
      </p:sp>
      <p:sp>
        <p:nvSpPr>
          <p:cNvPr id="3" name="Text 0"/>
          <p:cNvSpPr/>
          <p:nvPr>
            <p:ph idx="101" type="title" hasCustomPrompt="1"/>
          </p:nvPr>
        </p:nvSpPr>
        <p:spPr>
          <a:xfrm>
            <a:off x="548640" y="566928"/>
            <a:ext cx="11064240" cy="96012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The five biggest risks to SMARTSELL, and how we address them</a:t>
            </a:r>
            <a:endParaRPr lang="en-US" sz="3000" dirty="0"/>
          </a:p>
        </p:txBody>
      </p:sp>
      <p:sp>
        <p:nvSpPr>
          <p:cNvPr id="4" name="Text 0"/>
          <p:cNvSpPr/>
          <p:nvPr>
            <p:ph idx="102" type="body" hasCustomPrompt="1"/>
          </p:nvPr>
        </p:nvSpPr>
        <p:spPr>
          <a:xfrm>
            <a:off x="548640" y="6382512"/>
            <a:ext cx="9692640" cy="329184"/>
          </a:xfrm>
          <a:prstGeom prst="rect">
            <a:avLst/>
          </a:prstGeom>
          <a:noFill/>
          <a:ln/>
        </p:spPr>
        <p:txBody>
          <a:bodyPr wrap="square" lIns="0" tIns="0" rIns="0" bIns="0" rtlCol="0" anchor="t"/>
          <a:lstStyle/>
          <a:p>
            <a:pPr indent="0" marL="0">
              <a:buNone/>
            </a:pPr>
            <a:r>
              <a:rPr lang="en-US" sz="1000" dirty="0">
                <a:solidFill>
                  <a:schemeClr val="tx2"/>
                </a:solidFill>
                <a:latin typeface="Calibri" pitchFamily="34" charset="0"/>
                <a:ea typeface="Calibri" pitchFamily="34" charset="-122"/>
                <a:cs typeface="Calibri" pitchFamily="34" charset="-120"/>
              </a:rPr>
              <a:t>Each mitigation is built into the prototype or the pilot design.</a:t>
            </a:r>
            <a:endParaRPr lang="en-US" sz="1000" dirty="0"/>
          </a:p>
        </p:txBody>
      </p:sp>
      <p:sp>
        <p:nvSpPr>
          <p:cNvPr id="5" name="card-613"/>
          <p:cNvSpPr/>
          <p:nvPr/>
        </p:nvSpPr>
        <p:spPr>
          <a:xfrm>
            <a:off x="548640" y="1691640"/>
            <a:ext cx="11091672" cy="786384"/>
          </a:xfrm>
          <a:prstGeom prst="roundRect">
            <a:avLst>
              <a:gd name="adj" fmla="val 9302"/>
            </a:avLst>
          </a:prstGeom>
          <a:solidFill>
            <a:schemeClr val="bg2"/>
          </a:solidFill>
          <a:ln w="12700">
            <a:solidFill>
              <a:schemeClr val="bg2"/>
            </a:solidFill>
            <a:prstDash val="solid"/>
          </a:ln>
        </p:spPr>
      </p:sp>
      <p:sp>
        <p:nvSpPr>
          <p:cNvPr id="6" name="icon-circle-614"/>
          <p:cNvSpPr/>
          <p:nvPr/>
        </p:nvSpPr>
        <p:spPr>
          <a:xfrm>
            <a:off x="685800" y="1837944"/>
            <a:ext cx="493776" cy="493776"/>
          </a:xfrm>
          <a:prstGeom prst="ellipse">
            <a:avLst/>
          </a:prstGeom>
          <a:solidFill>
            <a:schemeClr val="accent1"/>
          </a:solidFill>
          <a:ln w="12700">
            <a:solidFill>
              <a:schemeClr val="accent1"/>
            </a:solidFill>
            <a:prstDash val="solid"/>
          </a:ln>
        </p:spPr>
      </p:sp>
      <p:pic>
        <p:nvPicPr>
          <p:cNvPr id="7" name="icon-615" descr="preencoded.png">    </p:cNvPr>
          <p:cNvPicPr>
            <a:picLocks noChangeAspect="1"/>
          </p:cNvPicPr>
          <p:nvPr/>
        </p:nvPicPr>
        <p:blipFill>
          <a:blip r:embed="rId1"/>
          <a:stretch>
            <a:fillRect/>
          </a:stretch>
        </p:blipFill>
        <p:spPr>
          <a:xfrm>
            <a:off x="809244" y="1961388"/>
            <a:ext cx="246888" cy="246888"/>
          </a:xfrm>
          <a:prstGeom prst="rect">
            <a:avLst/>
          </a:prstGeom>
        </p:spPr>
      </p:pic>
      <p:sp>
        <p:nvSpPr>
          <p:cNvPr id="8" name="text-616"/>
          <p:cNvSpPr txBox="1"/>
          <p:nvPr/>
        </p:nvSpPr>
        <p:spPr>
          <a:xfrm>
            <a:off x="1325880" y="1764792"/>
            <a:ext cx="2377440" cy="640080"/>
          </a:xfrm>
          <a:prstGeom prst="rect">
            <a:avLst/>
          </a:prstGeom>
          <a:noFill/>
          <a:ln/>
        </p:spPr>
        <p:txBody>
          <a:bodyPr wrap="square" lIns="0" tIns="0" rIns="0" bIns="0" rtlCol="0" anchor="ctr"/>
          <a:lstStyle/>
          <a:p>
            <a:pPr indent="0" marL="0">
              <a:buNone/>
            </a:pPr>
            <a:r>
              <a:rPr lang="en-US" sz="1400" b="1" dirty="0">
                <a:solidFill>
                  <a:schemeClr val="accent1"/>
                </a:solidFill>
                <a:latin typeface="Calibri" pitchFamily="34" charset="0"/>
                <a:ea typeface="Calibri" pitchFamily="34" charset="-122"/>
                <a:cs typeface="Calibri" pitchFamily="34" charset="-120"/>
              </a:rPr>
              <a:t>Reps won't adopt it</a:t>
            </a:r>
            <a:endParaRPr lang="en-US" sz="1400" dirty="0"/>
          </a:p>
        </p:txBody>
      </p:sp>
      <p:sp>
        <p:nvSpPr>
          <p:cNvPr id="9" name="text-617"/>
          <p:cNvSpPr txBox="1"/>
          <p:nvPr/>
        </p:nvSpPr>
        <p:spPr>
          <a:xfrm>
            <a:off x="3749040" y="1764792"/>
            <a:ext cx="3017520" cy="640080"/>
          </a:xfrm>
          <a:prstGeom prst="rect">
            <a:avLst/>
          </a:prstGeom>
          <a:noFill/>
          <a:ln/>
        </p:spPr>
        <p:txBody>
          <a:bodyPr wrap="square" lIns="0" tIns="0" rIns="0" bIns="0" rtlCol="0" anchor="ctr"/>
          <a:lstStyle/>
          <a:p>
            <a:pPr indent="0" marL="0">
              <a:buNone/>
            </a:pPr>
            <a:r>
              <a:rPr lang="en-US" sz="1200" dirty="0">
                <a:solidFill>
                  <a:schemeClr val="tx2"/>
                </a:solidFill>
                <a:latin typeface="Calibri" pitchFamily="34" charset="0"/>
                <a:ea typeface="Calibri" pitchFamily="34" charset="-122"/>
                <a:cs typeface="Calibri" pitchFamily="34" charset="-120"/>
              </a:rPr>
              <a:t>Extra time, "another app", incentives still pay for sell-in</a:t>
            </a:r>
            <a:endParaRPr lang="en-US" sz="1200" dirty="0"/>
          </a:p>
        </p:txBody>
      </p:sp>
      <p:sp>
        <p:nvSpPr>
          <p:cNvPr id="10" name="text-618"/>
          <p:cNvSpPr txBox="1"/>
          <p:nvPr/>
        </p:nvSpPr>
        <p:spPr>
          <a:xfrm>
            <a:off x="6858000" y="1764792"/>
            <a:ext cx="4663440" cy="64008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Count flagged SKUs only (≤4 min is a stop criterion); embed in existing SFA; Healthy Sales Scorecard; credit for ₹ rescued</a:t>
            </a:r>
            <a:endParaRPr lang="en-US" sz="1200" dirty="0"/>
          </a:p>
        </p:txBody>
      </p:sp>
      <p:sp>
        <p:nvSpPr>
          <p:cNvPr id="11" name="card-619"/>
          <p:cNvSpPr/>
          <p:nvPr/>
        </p:nvSpPr>
        <p:spPr>
          <a:xfrm>
            <a:off x="548640" y="2587752"/>
            <a:ext cx="11091672" cy="786384"/>
          </a:xfrm>
          <a:prstGeom prst="roundRect">
            <a:avLst>
              <a:gd name="adj" fmla="val 9302"/>
            </a:avLst>
          </a:prstGeom>
          <a:solidFill>
            <a:srgbClr val="FFFFFF"/>
          </a:solidFill>
          <a:ln w="12700">
            <a:solidFill>
              <a:srgbClr val="FFFFFF"/>
            </a:solidFill>
            <a:prstDash val="solid"/>
          </a:ln>
        </p:spPr>
      </p:sp>
      <p:sp>
        <p:nvSpPr>
          <p:cNvPr id="12" name="icon-circle-620"/>
          <p:cNvSpPr/>
          <p:nvPr/>
        </p:nvSpPr>
        <p:spPr>
          <a:xfrm>
            <a:off x="685800" y="2734056"/>
            <a:ext cx="493776" cy="493776"/>
          </a:xfrm>
          <a:prstGeom prst="ellipse">
            <a:avLst/>
          </a:prstGeom>
          <a:solidFill>
            <a:schemeClr val="accent1"/>
          </a:solidFill>
          <a:ln w="12700">
            <a:solidFill>
              <a:schemeClr val="accent1"/>
            </a:solidFill>
            <a:prstDash val="solid"/>
          </a:ln>
        </p:spPr>
      </p:sp>
      <p:pic>
        <p:nvPicPr>
          <p:cNvPr id="13" name="icon-621" descr="preencoded.png">    </p:cNvPr>
          <p:cNvPicPr>
            <a:picLocks noChangeAspect="1"/>
          </p:cNvPicPr>
          <p:nvPr/>
        </p:nvPicPr>
        <p:blipFill>
          <a:blip r:embed="rId2"/>
          <a:stretch>
            <a:fillRect/>
          </a:stretch>
        </p:blipFill>
        <p:spPr>
          <a:xfrm>
            <a:off x="809244" y="2857500"/>
            <a:ext cx="246888" cy="246888"/>
          </a:xfrm>
          <a:prstGeom prst="rect">
            <a:avLst/>
          </a:prstGeom>
        </p:spPr>
      </p:pic>
      <p:sp>
        <p:nvSpPr>
          <p:cNvPr id="14" name="text-622"/>
          <p:cNvSpPr txBox="1"/>
          <p:nvPr/>
        </p:nvSpPr>
        <p:spPr>
          <a:xfrm>
            <a:off x="1325880" y="2660904"/>
            <a:ext cx="2377440" cy="640080"/>
          </a:xfrm>
          <a:prstGeom prst="rect">
            <a:avLst/>
          </a:prstGeom>
          <a:noFill/>
          <a:ln/>
        </p:spPr>
        <p:txBody>
          <a:bodyPr wrap="square" lIns="0" tIns="0" rIns="0" bIns="0" rtlCol="0" anchor="ctr"/>
          <a:lstStyle/>
          <a:p>
            <a:pPr indent="0" marL="0">
              <a:buNone/>
            </a:pPr>
            <a:r>
              <a:rPr lang="en-US" sz="1400" b="1" dirty="0">
                <a:solidFill>
                  <a:schemeClr val="accent1"/>
                </a:solidFill>
                <a:latin typeface="Calibri" pitchFamily="34" charset="0"/>
                <a:ea typeface="Calibri" pitchFamily="34" charset="-122"/>
                <a:cs typeface="Calibri" pitchFamily="34" charset="-120"/>
              </a:rPr>
              <a:t>Data is poor</a:t>
            </a:r>
            <a:endParaRPr lang="en-US" sz="1400" dirty="0"/>
          </a:p>
        </p:txBody>
      </p:sp>
      <p:sp>
        <p:nvSpPr>
          <p:cNvPr id="15" name="text-623"/>
          <p:cNvSpPr txBox="1"/>
          <p:nvPr/>
        </p:nvSpPr>
        <p:spPr>
          <a:xfrm>
            <a:off x="3749040" y="2660904"/>
            <a:ext cx="3017520" cy="640080"/>
          </a:xfrm>
          <a:prstGeom prst="rect">
            <a:avLst/>
          </a:prstGeom>
          <a:noFill/>
          <a:ln/>
        </p:spPr>
        <p:txBody>
          <a:bodyPr wrap="square" lIns="0" tIns="0" rIns="0" bIns="0" rtlCol="0" anchor="ctr"/>
          <a:lstStyle/>
          <a:p>
            <a:pPr indent="0" marL="0">
              <a:buNone/>
            </a:pPr>
            <a:r>
              <a:rPr lang="en-US" sz="1200" dirty="0">
                <a:solidFill>
                  <a:schemeClr val="tx2"/>
                </a:solidFill>
                <a:latin typeface="Calibri" pitchFamily="34" charset="0"/>
                <a:ea typeface="Calibri" pitchFamily="34" charset="-122"/>
                <a:cs typeface="Calibri" pitchFamily="34" charset="-120"/>
              </a:rPr>
              <a:t>No POS in general trade, missing batches, stale counts</a:t>
            </a:r>
            <a:endParaRPr lang="en-US" sz="1200" dirty="0"/>
          </a:p>
        </p:txBody>
      </p:sp>
      <p:sp>
        <p:nvSpPr>
          <p:cNvPr id="16" name="text-624"/>
          <p:cNvSpPr txBox="1"/>
          <p:nvPr/>
        </p:nvSpPr>
        <p:spPr>
          <a:xfrm>
            <a:off x="6858000" y="2660904"/>
            <a:ext cx="4663440" cy="64008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Stock-flow sell-out; confidence weighting; "verify first" locks costly actions; DMS as the base layer</a:t>
            </a:r>
            <a:endParaRPr lang="en-US" sz="1200" dirty="0"/>
          </a:p>
        </p:txBody>
      </p:sp>
      <p:sp>
        <p:nvSpPr>
          <p:cNvPr id="17" name="card-625"/>
          <p:cNvSpPr/>
          <p:nvPr/>
        </p:nvSpPr>
        <p:spPr>
          <a:xfrm>
            <a:off x="548640" y="3483864"/>
            <a:ext cx="11091672" cy="786384"/>
          </a:xfrm>
          <a:prstGeom prst="roundRect">
            <a:avLst>
              <a:gd name="adj" fmla="val 9302"/>
            </a:avLst>
          </a:prstGeom>
          <a:solidFill>
            <a:schemeClr val="bg2"/>
          </a:solidFill>
          <a:ln w="12700">
            <a:solidFill>
              <a:schemeClr val="bg2"/>
            </a:solidFill>
            <a:prstDash val="solid"/>
          </a:ln>
        </p:spPr>
      </p:sp>
      <p:sp>
        <p:nvSpPr>
          <p:cNvPr id="18" name="icon-circle-626"/>
          <p:cNvSpPr/>
          <p:nvPr/>
        </p:nvSpPr>
        <p:spPr>
          <a:xfrm>
            <a:off x="685800" y="3630168"/>
            <a:ext cx="493776" cy="493776"/>
          </a:xfrm>
          <a:prstGeom prst="ellipse">
            <a:avLst/>
          </a:prstGeom>
          <a:solidFill>
            <a:schemeClr val="accent1"/>
          </a:solidFill>
          <a:ln w="12700">
            <a:solidFill>
              <a:schemeClr val="accent1"/>
            </a:solidFill>
            <a:prstDash val="solid"/>
          </a:ln>
        </p:spPr>
      </p:sp>
      <p:pic>
        <p:nvPicPr>
          <p:cNvPr id="19" name="icon-627" descr="preencoded.png">    </p:cNvPr>
          <p:cNvPicPr>
            <a:picLocks noChangeAspect="1"/>
          </p:cNvPicPr>
          <p:nvPr/>
        </p:nvPicPr>
        <p:blipFill>
          <a:blip r:embed="rId3"/>
          <a:stretch>
            <a:fillRect/>
          </a:stretch>
        </p:blipFill>
        <p:spPr>
          <a:xfrm>
            <a:off x="809244" y="3753612"/>
            <a:ext cx="246888" cy="246888"/>
          </a:xfrm>
          <a:prstGeom prst="rect">
            <a:avLst/>
          </a:prstGeom>
        </p:spPr>
      </p:pic>
      <p:sp>
        <p:nvSpPr>
          <p:cNvPr id="20" name="text-628"/>
          <p:cNvSpPr txBox="1"/>
          <p:nvPr/>
        </p:nvSpPr>
        <p:spPr>
          <a:xfrm>
            <a:off x="1325880" y="3557016"/>
            <a:ext cx="2377440" cy="640080"/>
          </a:xfrm>
          <a:prstGeom prst="rect">
            <a:avLst/>
          </a:prstGeom>
          <a:noFill/>
          <a:ln/>
        </p:spPr>
        <p:txBody>
          <a:bodyPr wrap="square" lIns="0" tIns="0" rIns="0" bIns="0" rtlCol="0" anchor="ctr"/>
          <a:lstStyle/>
          <a:p>
            <a:pPr indent="0" marL="0">
              <a:buNone/>
            </a:pPr>
            <a:r>
              <a:rPr lang="en-US" sz="1400" b="1" dirty="0">
                <a:solidFill>
                  <a:schemeClr val="accent1"/>
                </a:solidFill>
                <a:latin typeface="Calibri" pitchFamily="34" charset="0"/>
                <a:ea typeface="Calibri" pitchFamily="34" charset="-122"/>
                <a:cs typeface="Calibri" pitchFamily="34" charset="-120"/>
              </a:rPr>
              <a:t>Unintended consequences</a:t>
            </a:r>
            <a:endParaRPr lang="en-US" sz="1400" dirty="0"/>
          </a:p>
        </p:txBody>
      </p:sp>
      <p:sp>
        <p:nvSpPr>
          <p:cNvPr id="21" name="text-629"/>
          <p:cNvSpPr txBox="1"/>
          <p:nvPr/>
        </p:nvSpPr>
        <p:spPr>
          <a:xfrm>
            <a:off x="3749040" y="3557016"/>
            <a:ext cx="3017520" cy="640080"/>
          </a:xfrm>
          <a:prstGeom prst="rect">
            <a:avLst/>
          </a:prstGeom>
          <a:noFill/>
          <a:ln/>
        </p:spPr>
        <p:txBody>
          <a:bodyPr wrap="square" lIns="0" tIns="0" rIns="0" bIns="0" rtlCol="0" anchor="ctr"/>
          <a:lstStyle/>
          <a:p>
            <a:pPr indent="0" marL="0">
              <a:buNone/>
            </a:pPr>
            <a:r>
              <a:rPr lang="en-US" sz="1200" dirty="0">
                <a:solidFill>
                  <a:schemeClr val="tx2"/>
                </a:solidFill>
                <a:latin typeface="Calibri" pitchFamily="34" charset="0"/>
                <a:ea typeface="Calibri" pitchFamily="34" charset="-122"/>
                <a:cs typeface="Calibri" pitchFamily="34" charset="-120"/>
              </a:rPr>
              <a:t>Discount habit, brand dilution, channel conflict, under-ordering</a:t>
            </a:r>
            <a:endParaRPr lang="en-US" sz="1200" dirty="0"/>
          </a:p>
        </p:txBody>
      </p:sp>
      <p:sp>
        <p:nvSpPr>
          <p:cNvPr id="22" name="text-630"/>
          <p:cNvSpPr txBox="1"/>
          <p:nvPr/>
        </p:nvSpPr>
        <p:spPr>
          <a:xfrm>
            <a:off x="6858000" y="3557016"/>
            <a:ext cx="4663440" cy="64008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Discount is step 6 of 8; no schemes for Luxe/Derma; transfers within authorised network; growth guardrail KPI vs control</a:t>
            </a:r>
            <a:endParaRPr lang="en-US" sz="1200" dirty="0"/>
          </a:p>
        </p:txBody>
      </p:sp>
      <p:sp>
        <p:nvSpPr>
          <p:cNvPr id="23" name="card-631"/>
          <p:cNvSpPr/>
          <p:nvPr/>
        </p:nvSpPr>
        <p:spPr>
          <a:xfrm>
            <a:off x="548640" y="4379976"/>
            <a:ext cx="11091672" cy="786384"/>
          </a:xfrm>
          <a:prstGeom prst="roundRect">
            <a:avLst>
              <a:gd name="adj" fmla="val 9302"/>
            </a:avLst>
          </a:prstGeom>
          <a:solidFill>
            <a:srgbClr val="FFFFFF"/>
          </a:solidFill>
          <a:ln w="12700">
            <a:solidFill>
              <a:srgbClr val="FFFFFF"/>
            </a:solidFill>
            <a:prstDash val="solid"/>
          </a:ln>
        </p:spPr>
      </p:sp>
      <p:sp>
        <p:nvSpPr>
          <p:cNvPr id="24" name="icon-circle-632"/>
          <p:cNvSpPr/>
          <p:nvPr/>
        </p:nvSpPr>
        <p:spPr>
          <a:xfrm>
            <a:off x="685800" y="4526280"/>
            <a:ext cx="493776" cy="493776"/>
          </a:xfrm>
          <a:prstGeom prst="ellipse">
            <a:avLst/>
          </a:prstGeom>
          <a:solidFill>
            <a:schemeClr val="accent1"/>
          </a:solidFill>
          <a:ln w="12700">
            <a:solidFill>
              <a:schemeClr val="accent1"/>
            </a:solidFill>
            <a:prstDash val="solid"/>
          </a:ln>
        </p:spPr>
      </p:sp>
      <p:pic>
        <p:nvPicPr>
          <p:cNvPr id="25" name="icon-633" descr="preencoded.png">    </p:cNvPr>
          <p:cNvPicPr>
            <a:picLocks noChangeAspect="1"/>
          </p:cNvPicPr>
          <p:nvPr/>
        </p:nvPicPr>
        <p:blipFill>
          <a:blip r:embed="rId4"/>
          <a:stretch>
            <a:fillRect/>
          </a:stretch>
        </p:blipFill>
        <p:spPr>
          <a:xfrm>
            <a:off x="809244" y="4649724"/>
            <a:ext cx="246888" cy="246888"/>
          </a:xfrm>
          <a:prstGeom prst="rect">
            <a:avLst/>
          </a:prstGeom>
        </p:spPr>
      </p:pic>
      <p:sp>
        <p:nvSpPr>
          <p:cNvPr id="26" name="text-634"/>
          <p:cNvSpPr txBox="1"/>
          <p:nvPr/>
        </p:nvSpPr>
        <p:spPr>
          <a:xfrm>
            <a:off x="1325880" y="4453128"/>
            <a:ext cx="2377440" cy="640080"/>
          </a:xfrm>
          <a:prstGeom prst="rect">
            <a:avLst/>
          </a:prstGeom>
          <a:noFill/>
          <a:ln/>
        </p:spPr>
        <p:txBody>
          <a:bodyPr wrap="square" lIns="0" tIns="0" rIns="0" bIns="0" rtlCol="0" anchor="ctr"/>
          <a:lstStyle/>
          <a:p>
            <a:pPr indent="0" marL="0">
              <a:buNone/>
            </a:pPr>
            <a:r>
              <a:rPr lang="en-US" sz="1400" b="1" dirty="0">
                <a:solidFill>
                  <a:schemeClr val="accent1"/>
                </a:solidFill>
                <a:latin typeface="Calibri" pitchFamily="34" charset="0"/>
                <a:ea typeface="Calibri" pitchFamily="34" charset="-122"/>
                <a:cs typeface="Calibri" pitchFamily="34" charset="-120"/>
              </a:rPr>
              <a:t>L'Oréal already has systems</a:t>
            </a:r>
            <a:endParaRPr lang="en-US" sz="1400" dirty="0"/>
          </a:p>
        </p:txBody>
      </p:sp>
      <p:sp>
        <p:nvSpPr>
          <p:cNvPr id="27" name="text-635"/>
          <p:cNvSpPr txBox="1"/>
          <p:nvPr/>
        </p:nvSpPr>
        <p:spPr>
          <a:xfrm>
            <a:off x="3749040" y="4453128"/>
            <a:ext cx="3017520" cy="640080"/>
          </a:xfrm>
          <a:prstGeom prst="rect">
            <a:avLst/>
          </a:prstGeom>
          <a:noFill/>
          <a:ln/>
        </p:spPr>
        <p:txBody>
          <a:bodyPr wrap="square" lIns="0" tIns="0" rIns="0" bIns="0" rtlCol="0" anchor="ctr"/>
          <a:lstStyle/>
          <a:p>
            <a:pPr indent="0" marL="0">
              <a:buNone/>
            </a:pPr>
            <a:r>
              <a:rPr lang="en-US" sz="1200" dirty="0">
                <a:solidFill>
                  <a:schemeClr val="tx2"/>
                </a:solidFill>
                <a:latin typeface="Calibri" pitchFamily="34" charset="0"/>
                <a:ea typeface="Calibri" pitchFamily="34" charset="-122"/>
                <a:cs typeface="Calibri" pitchFamily="34" charset="-120"/>
              </a:rPr>
              <a:t>SFA/DMS and central demand sensing exist</a:t>
            </a:r>
            <a:endParaRPr lang="en-US" sz="1200" dirty="0"/>
          </a:p>
        </p:txBody>
      </p:sp>
      <p:sp>
        <p:nvSpPr>
          <p:cNvPr id="28" name="text-636"/>
          <p:cNvSpPr txBox="1"/>
          <p:nvPr/>
        </p:nvSpPr>
        <p:spPr>
          <a:xfrm>
            <a:off x="6858000" y="4453128"/>
            <a:ext cx="4663440" cy="64008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SMARTSELL is a logic and workflow layer the current SFA can host; it feeds outlet signals into demand planning</a:t>
            </a:r>
            <a:endParaRPr lang="en-US" sz="1200" dirty="0"/>
          </a:p>
        </p:txBody>
      </p:sp>
      <p:sp>
        <p:nvSpPr>
          <p:cNvPr id="29" name="card-637"/>
          <p:cNvSpPr/>
          <p:nvPr/>
        </p:nvSpPr>
        <p:spPr>
          <a:xfrm>
            <a:off x="548640" y="5276088"/>
            <a:ext cx="11091672" cy="786384"/>
          </a:xfrm>
          <a:prstGeom prst="roundRect">
            <a:avLst>
              <a:gd name="adj" fmla="val 9302"/>
            </a:avLst>
          </a:prstGeom>
          <a:solidFill>
            <a:schemeClr val="bg2"/>
          </a:solidFill>
          <a:ln w="12700">
            <a:solidFill>
              <a:schemeClr val="bg2"/>
            </a:solidFill>
            <a:prstDash val="solid"/>
          </a:ln>
        </p:spPr>
      </p:sp>
      <p:sp>
        <p:nvSpPr>
          <p:cNvPr id="30" name="icon-circle-638"/>
          <p:cNvSpPr/>
          <p:nvPr/>
        </p:nvSpPr>
        <p:spPr>
          <a:xfrm>
            <a:off x="685800" y="5422392"/>
            <a:ext cx="493776" cy="493776"/>
          </a:xfrm>
          <a:prstGeom prst="ellipse">
            <a:avLst/>
          </a:prstGeom>
          <a:solidFill>
            <a:schemeClr val="accent1"/>
          </a:solidFill>
          <a:ln w="12700">
            <a:solidFill>
              <a:schemeClr val="accent1"/>
            </a:solidFill>
            <a:prstDash val="solid"/>
          </a:ln>
        </p:spPr>
      </p:sp>
      <p:pic>
        <p:nvPicPr>
          <p:cNvPr id="31" name="icon-639" descr="preencoded.png">    </p:cNvPr>
          <p:cNvPicPr>
            <a:picLocks noChangeAspect="1"/>
          </p:cNvPicPr>
          <p:nvPr/>
        </p:nvPicPr>
        <p:blipFill>
          <a:blip r:embed="rId5"/>
          <a:stretch>
            <a:fillRect/>
          </a:stretch>
        </p:blipFill>
        <p:spPr>
          <a:xfrm>
            <a:off x="809244" y="5545836"/>
            <a:ext cx="246888" cy="246888"/>
          </a:xfrm>
          <a:prstGeom prst="rect">
            <a:avLst/>
          </a:prstGeom>
        </p:spPr>
      </p:pic>
      <p:sp>
        <p:nvSpPr>
          <p:cNvPr id="32" name="text-640"/>
          <p:cNvSpPr txBox="1"/>
          <p:nvPr/>
        </p:nvSpPr>
        <p:spPr>
          <a:xfrm>
            <a:off x="1325880" y="5349240"/>
            <a:ext cx="2377440" cy="640080"/>
          </a:xfrm>
          <a:prstGeom prst="rect">
            <a:avLst/>
          </a:prstGeom>
          <a:noFill/>
          <a:ln/>
        </p:spPr>
        <p:txBody>
          <a:bodyPr wrap="square" lIns="0" tIns="0" rIns="0" bIns="0" rtlCol="0" anchor="ctr"/>
          <a:lstStyle/>
          <a:p>
            <a:pPr indent="0" marL="0">
              <a:buNone/>
            </a:pPr>
            <a:r>
              <a:rPr lang="en-US" sz="1400" b="1" dirty="0">
                <a:solidFill>
                  <a:schemeClr val="accent1"/>
                </a:solidFill>
                <a:latin typeface="Calibri" pitchFamily="34" charset="0"/>
                <a:ea typeface="Calibri" pitchFamily="34" charset="-122"/>
                <a:cs typeface="Calibri" pitchFamily="34" charset="-120"/>
              </a:rPr>
              <a:t>Benefits are overstated</a:t>
            </a:r>
            <a:endParaRPr lang="en-US" sz="1400" dirty="0"/>
          </a:p>
        </p:txBody>
      </p:sp>
      <p:sp>
        <p:nvSpPr>
          <p:cNvPr id="33" name="text-641"/>
          <p:cNvSpPr txBox="1"/>
          <p:nvPr/>
        </p:nvSpPr>
        <p:spPr>
          <a:xfrm>
            <a:off x="3749040" y="5349240"/>
            <a:ext cx="3017520" cy="640080"/>
          </a:xfrm>
          <a:prstGeom prst="rect">
            <a:avLst/>
          </a:prstGeom>
          <a:noFill/>
          <a:ln/>
        </p:spPr>
        <p:txBody>
          <a:bodyPr wrap="square" lIns="0" tIns="0" rIns="0" bIns="0" rtlCol="0" anchor="ctr"/>
          <a:lstStyle/>
          <a:p>
            <a:pPr indent="0" marL="0">
              <a:buNone/>
            </a:pPr>
            <a:r>
              <a:rPr lang="en-US" sz="1200" dirty="0">
                <a:solidFill>
                  <a:schemeClr val="tx2"/>
                </a:solidFill>
                <a:latin typeface="Calibri" pitchFamily="34" charset="0"/>
                <a:ea typeface="Calibri" pitchFamily="34" charset="-122"/>
                <a:cs typeface="Calibri" pitchFamily="34" charset="-120"/>
              </a:rPr>
              <a:t>Estimates mistaken for results</a:t>
            </a:r>
            <a:endParaRPr lang="en-US" sz="1200" dirty="0"/>
          </a:p>
        </p:txBody>
      </p:sp>
      <p:sp>
        <p:nvSpPr>
          <p:cNvPr id="34" name="text-642"/>
          <p:cNvSpPr txBox="1"/>
          <p:nvPr/>
        </p:nvSpPr>
        <p:spPr>
          <a:xfrm>
            <a:off x="6858000" y="5349240"/>
            <a:ext cx="4663440" cy="64008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Only case % are sourced; three scenarios with a break-even conservative case; pilot with stop criteria</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229600" cy="274320"/>
          </a:xfrm>
          <a:prstGeom prst="rect">
            <a:avLst/>
          </a:prstGeom>
          <a:noFill/>
          <a:ln/>
        </p:spPr>
        <p:txBody>
          <a:bodyPr wrap="square" lIns="0" tIns="0" rIns="0" bIns="0" rtlCol="0" anchor="t"/>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APPENDIX F · LIKELY JUDGE QUESTIONS</a:t>
            </a:r>
            <a:endParaRPr lang="en-US" sz="1100" dirty="0"/>
          </a:p>
        </p:txBody>
      </p:sp>
      <p:sp>
        <p:nvSpPr>
          <p:cNvPr id="3" name="Text 0"/>
          <p:cNvSpPr/>
          <p:nvPr>
            <p:ph idx="101" type="title" hasCustomPrompt="1"/>
          </p:nvPr>
        </p:nvSpPr>
        <p:spPr>
          <a:xfrm>
            <a:off x="548640" y="566928"/>
            <a:ext cx="11064240" cy="96012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Short answers to the questions we expect</a:t>
            </a:r>
            <a:endParaRPr lang="en-US" sz="3000" dirty="0"/>
          </a:p>
        </p:txBody>
      </p:sp>
      <p:sp>
        <p:nvSpPr>
          <p:cNvPr id="4" name="Text 0"/>
          <p:cNvSpPr/>
          <p:nvPr>
            <p:ph idx="102" type="body" hasCustomPrompt="1"/>
          </p:nvPr>
        </p:nvSpPr>
        <p:spPr>
          <a:xfrm>
            <a:off x="548640" y="6382512"/>
            <a:ext cx="9692640" cy="329184"/>
          </a:xfrm>
          <a:prstGeom prst="rect">
            <a:avLst/>
          </a:prstGeom>
          <a:noFill/>
          <a:ln/>
        </p:spPr>
        <p:txBody>
          <a:bodyPr wrap="square" lIns="0" tIns="0" rIns="0" bIns="0" rtlCol="0" anchor="t"/>
          <a:lstStyle/>
          <a:p>
            <a:pPr indent="0" marL="0">
              <a:buNone/>
            </a:pPr>
            <a:r>
              <a:rPr lang="en-US" sz="1000" dirty="0">
                <a:solidFill>
                  <a:schemeClr val="tx2"/>
                </a:solidFill>
                <a:latin typeface="Calibri" pitchFamily="34" charset="0"/>
                <a:ea typeface="Calibri" pitchFamily="34" charset="-122"/>
                <a:cs typeface="Calibri" pitchFamily="34" charset="-120"/>
              </a:rPr>
              <a:t>Full answers: research folder, 12-judge-qa.md.</a:t>
            </a:r>
            <a:endParaRPr lang="en-US" sz="1000" dirty="0"/>
          </a:p>
        </p:txBody>
      </p:sp>
      <p:sp>
        <p:nvSpPr>
          <p:cNvPr id="5" name="card-643"/>
          <p:cNvSpPr/>
          <p:nvPr/>
        </p:nvSpPr>
        <p:spPr>
          <a:xfrm>
            <a:off x="548640" y="1691640"/>
            <a:ext cx="5468112" cy="1325880"/>
          </a:xfrm>
          <a:prstGeom prst="roundRect">
            <a:avLst>
              <a:gd name="adj" fmla="val 5517"/>
            </a:avLst>
          </a:prstGeom>
          <a:solidFill>
            <a:schemeClr val="bg2"/>
          </a:solidFill>
          <a:ln w="12700">
            <a:solidFill>
              <a:schemeClr val="bg2"/>
            </a:solidFill>
            <a:prstDash val="solid"/>
          </a:ln>
        </p:spPr>
      </p:sp>
      <p:sp>
        <p:nvSpPr>
          <p:cNvPr id="6" name="text-644"/>
          <p:cNvSpPr txBox="1"/>
          <p:nvPr/>
        </p:nvSpPr>
        <p:spPr>
          <a:xfrm>
            <a:off x="731520" y="1801368"/>
            <a:ext cx="5120640" cy="320040"/>
          </a:xfrm>
          <a:prstGeom prst="rect">
            <a:avLst/>
          </a:prstGeom>
          <a:noFill/>
          <a:ln/>
        </p:spPr>
        <p:txBody>
          <a:bodyPr wrap="square" lIns="0" tIns="0" rIns="0" bIns="0" rtlCol="0" anchor="t"/>
          <a:lstStyle/>
          <a:p>
            <a:pPr indent="0" marL="0">
              <a:buNone/>
            </a:pPr>
            <a:r>
              <a:rPr lang="en-US" sz="1300" b="1" dirty="0">
                <a:solidFill>
                  <a:schemeClr val="accent1"/>
                </a:solidFill>
                <a:latin typeface="Calibri" pitchFamily="34" charset="0"/>
                <a:ea typeface="Calibri" pitchFamily="34" charset="-122"/>
                <a:cs typeface="Calibri" pitchFamily="34" charset="-120"/>
              </a:rPr>
              <a:t>We already have an SFA and DMS. Why this?</a:t>
            </a:r>
            <a:endParaRPr lang="en-US" sz="1300" dirty="0"/>
          </a:p>
        </p:txBody>
      </p:sp>
      <p:sp>
        <p:nvSpPr>
          <p:cNvPr id="7" name="text-645"/>
          <p:cNvSpPr txBox="1"/>
          <p:nvPr/>
        </p:nvSpPr>
        <p:spPr>
          <a:xfrm>
            <a:off x="731520" y="2148840"/>
            <a:ext cx="5120640" cy="82296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They capture orders and stock. SMARTSELL adds the decision layer: batch-level risk at the outlet, sanctioned actions, and verified outcomes. Your SFA can host it.</a:t>
            </a:r>
            <a:endParaRPr lang="en-US" sz="1200" dirty="0"/>
          </a:p>
        </p:txBody>
      </p:sp>
      <p:sp>
        <p:nvSpPr>
          <p:cNvPr id="8" name="card-646"/>
          <p:cNvSpPr/>
          <p:nvPr/>
        </p:nvSpPr>
        <p:spPr>
          <a:xfrm>
            <a:off x="6153912" y="1691640"/>
            <a:ext cx="5468112" cy="1325880"/>
          </a:xfrm>
          <a:prstGeom prst="roundRect">
            <a:avLst>
              <a:gd name="adj" fmla="val 5517"/>
            </a:avLst>
          </a:prstGeom>
          <a:solidFill>
            <a:schemeClr val="bg2"/>
          </a:solidFill>
          <a:ln w="12700">
            <a:solidFill>
              <a:schemeClr val="bg2"/>
            </a:solidFill>
            <a:prstDash val="solid"/>
          </a:ln>
        </p:spPr>
      </p:sp>
      <p:sp>
        <p:nvSpPr>
          <p:cNvPr id="9" name="text-647"/>
          <p:cNvSpPr txBox="1"/>
          <p:nvPr/>
        </p:nvSpPr>
        <p:spPr>
          <a:xfrm>
            <a:off x="6336792" y="1801368"/>
            <a:ext cx="5120640" cy="320040"/>
          </a:xfrm>
          <a:prstGeom prst="rect">
            <a:avLst/>
          </a:prstGeom>
          <a:noFill/>
          <a:ln/>
        </p:spPr>
        <p:txBody>
          <a:bodyPr wrap="square" lIns="0" tIns="0" rIns="0" bIns="0" rtlCol="0" anchor="t"/>
          <a:lstStyle/>
          <a:p>
            <a:pPr indent="0" marL="0">
              <a:buNone/>
            </a:pPr>
            <a:r>
              <a:rPr lang="en-US" sz="1300" b="1" dirty="0">
                <a:solidFill>
                  <a:schemeClr val="accent1"/>
                </a:solidFill>
                <a:latin typeface="Calibri" pitchFamily="34" charset="0"/>
                <a:ea typeface="Calibri" pitchFamily="34" charset="-122"/>
                <a:cs typeface="Calibri" pitchFamily="34" charset="-120"/>
              </a:rPr>
              <a:t>Where is the AI?</a:t>
            </a:r>
            <a:endParaRPr lang="en-US" sz="1300" dirty="0"/>
          </a:p>
        </p:txBody>
      </p:sp>
      <p:sp>
        <p:nvSpPr>
          <p:cNvPr id="10" name="text-648"/>
          <p:cNvSpPr txBox="1"/>
          <p:nvPr/>
        </p:nvSpPr>
        <p:spPr>
          <a:xfrm>
            <a:off x="6336792" y="2148840"/>
            <a:ext cx="5120640" cy="82296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Deliberately rules-first so it can be audited. ML comes in phase 3 for sparse-SKU forecasts and learning which action works where.</a:t>
            </a:r>
            <a:endParaRPr lang="en-US" sz="1200" dirty="0"/>
          </a:p>
        </p:txBody>
      </p:sp>
      <p:sp>
        <p:nvSpPr>
          <p:cNvPr id="11" name="card-649"/>
          <p:cNvSpPr/>
          <p:nvPr/>
        </p:nvSpPr>
        <p:spPr>
          <a:xfrm>
            <a:off x="548640" y="3154680"/>
            <a:ext cx="5468112" cy="1325880"/>
          </a:xfrm>
          <a:prstGeom prst="roundRect">
            <a:avLst>
              <a:gd name="adj" fmla="val 5517"/>
            </a:avLst>
          </a:prstGeom>
          <a:solidFill>
            <a:schemeClr val="bg2"/>
          </a:solidFill>
          <a:ln w="12700">
            <a:solidFill>
              <a:schemeClr val="bg2"/>
            </a:solidFill>
            <a:prstDash val="solid"/>
          </a:ln>
        </p:spPr>
      </p:sp>
      <p:sp>
        <p:nvSpPr>
          <p:cNvPr id="12" name="text-650"/>
          <p:cNvSpPr txBox="1"/>
          <p:nvPr/>
        </p:nvSpPr>
        <p:spPr>
          <a:xfrm>
            <a:off x="731520" y="3264408"/>
            <a:ext cx="5120640" cy="320040"/>
          </a:xfrm>
          <a:prstGeom prst="rect">
            <a:avLst/>
          </a:prstGeom>
          <a:noFill/>
          <a:ln/>
        </p:spPr>
        <p:txBody>
          <a:bodyPr wrap="square" lIns="0" tIns="0" rIns="0" bIns="0" rtlCol="0" anchor="t"/>
          <a:lstStyle/>
          <a:p>
            <a:pPr indent="0" marL="0">
              <a:buNone/>
            </a:pPr>
            <a:r>
              <a:rPr lang="en-US" sz="1300" b="1" dirty="0">
                <a:solidFill>
                  <a:schemeClr val="accent1"/>
                </a:solidFill>
                <a:latin typeface="Calibri" pitchFamily="34" charset="0"/>
                <a:ea typeface="Calibri" pitchFamily="34" charset="-122"/>
                <a:cs typeface="Calibri" pitchFamily="34" charset="-120"/>
              </a:rPr>
              <a:t>Reps visit 20 outlets a day. They won't count.</a:t>
            </a:r>
            <a:endParaRPr lang="en-US" sz="1300" dirty="0"/>
          </a:p>
        </p:txBody>
      </p:sp>
      <p:sp>
        <p:nvSpPr>
          <p:cNvPr id="13" name="text-651"/>
          <p:cNvSpPr txBox="1"/>
          <p:nvPr/>
        </p:nvSpPr>
        <p:spPr>
          <a:xfrm>
            <a:off x="731520" y="3611880"/>
            <a:ext cx="5120640" cy="82296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They count only flagged SKUs at flagged outlets. Batch dates are printed by law, so reading one takes seconds. ≤4 minutes is a stop criterion.</a:t>
            </a:r>
            <a:endParaRPr lang="en-US" sz="1200" dirty="0"/>
          </a:p>
        </p:txBody>
      </p:sp>
      <p:sp>
        <p:nvSpPr>
          <p:cNvPr id="14" name="card-652"/>
          <p:cNvSpPr/>
          <p:nvPr/>
        </p:nvSpPr>
        <p:spPr>
          <a:xfrm>
            <a:off x="6153912" y="3154680"/>
            <a:ext cx="5468112" cy="1325880"/>
          </a:xfrm>
          <a:prstGeom prst="roundRect">
            <a:avLst>
              <a:gd name="adj" fmla="val 5517"/>
            </a:avLst>
          </a:prstGeom>
          <a:solidFill>
            <a:schemeClr val="bg2"/>
          </a:solidFill>
          <a:ln w="12700">
            <a:solidFill>
              <a:schemeClr val="bg2"/>
            </a:solidFill>
            <a:prstDash val="solid"/>
          </a:ln>
        </p:spPr>
      </p:sp>
      <p:sp>
        <p:nvSpPr>
          <p:cNvPr id="15" name="text-653"/>
          <p:cNvSpPr txBox="1"/>
          <p:nvPr/>
        </p:nvSpPr>
        <p:spPr>
          <a:xfrm>
            <a:off x="6336792" y="3264408"/>
            <a:ext cx="5120640" cy="320040"/>
          </a:xfrm>
          <a:prstGeom prst="rect">
            <a:avLst/>
          </a:prstGeom>
          <a:noFill/>
          <a:ln/>
        </p:spPr>
        <p:txBody>
          <a:bodyPr wrap="square" lIns="0" tIns="0" rIns="0" bIns="0" rtlCol="0" anchor="t"/>
          <a:lstStyle/>
          <a:p>
            <a:pPr indent="0" marL="0">
              <a:buNone/>
            </a:pPr>
            <a:r>
              <a:rPr lang="en-US" sz="1300" b="1" dirty="0">
                <a:solidFill>
                  <a:schemeClr val="accent1"/>
                </a:solidFill>
                <a:latin typeface="Calibri" pitchFamily="34" charset="0"/>
                <a:ea typeface="Calibri" pitchFamily="34" charset="-122"/>
                <a:cs typeface="Calibri" pitchFamily="34" charset="-120"/>
              </a:rPr>
              <a:t>Doesn't a transfer just move the problem?</a:t>
            </a:r>
            <a:endParaRPr lang="en-US" sz="1300" dirty="0"/>
          </a:p>
        </p:txBody>
      </p:sp>
      <p:sp>
        <p:nvSpPr>
          <p:cNvPr id="16" name="text-654"/>
          <p:cNvSpPr txBox="1"/>
          <p:nvPr/>
        </p:nvSpPr>
        <p:spPr>
          <a:xfrm>
            <a:off x="6336792" y="3611880"/>
            <a:ext cx="5120640" cy="82296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Only if you send too much. Quantity is capped at what the recipient can sell before its own buffer date.</a:t>
            </a:r>
            <a:endParaRPr lang="en-US" sz="1200" dirty="0"/>
          </a:p>
        </p:txBody>
      </p:sp>
      <p:sp>
        <p:nvSpPr>
          <p:cNvPr id="17" name="card-655"/>
          <p:cNvSpPr/>
          <p:nvPr/>
        </p:nvSpPr>
        <p:spPr>
          <a:xfrm>
            <a:off x="548640" y="4617720"/>
            <a:ext cx="5468112" cy="1325880"/>
          </a:xfrm>
          <a:prstGeom prst="roundRect">
            <a:avLst>
              <a:gd name="adj" fmla="val 5517"/>
            </a:avLst>
          </a:prstGeom>
          <a:solidFill>
            <a:schemeClr val="bg2"/>
          </a:solidFill>
          <a:ln w="12700">
            <a:solidFill>
              <a:schemeClr val="bg2"/>
            </a:solidFill>
            <a:prstDash val="solid"/>
          </a:ln>
        </p:spPr>
      </p:sp>
      <p:sp>
        <p:nvSpPr>
          <p:cNvPr id="18" name="text-656"/>
          <p:cNvSpPr txBox="1"/>
          <p:nvPr/>
        </p:nvSpPr>
        <p:spPr>
          <a:xfrm>
            <a:off x="731520" y="4727448"/>
            <a:ext cx="5120640" cy="320040"/>
          </a:xfrm>
          <a:prstGeom prst="rect">
            <a:avLst/>
          </a:prstGeom>
          <a:noFill/>
          <a:ln/>
        </p:spPr>
        <p:txBody>
          <a:bodyPr wrap="square" lIns="0" tIns="0" rIns="0" bIns="0" rtlCol="0" anchor="t"/>
          <a:lstStyle/>
          <a:p>
            <a:pPr indent="0" marL="0">
              <a:buNone/>
            </a:pPr>
            <a:r>
              <a:rPr lang="en-US" sz="1300" b="1" dirty="0">
                <a:solidFill>
                  <a:schemeClr val="accent1"/>
                </a:solidFill>
                <a:latin typeface="Calibri" pitchFamily="34" charset="0"/>
                <a:ea typeface="Calibri" pitchFamily="34" charset="-122"/>
                <a:cs typeface="Calibri" pitchFamily="34" charset="-120"/>
              </a:rPr>
              <a:t>What about quick commerce?</a:t>
            </a:r>
            <a:endParaRPr lang="en-US" sz="1300" dirty="0"/>
          </a:p>
        </p:txBody>
      </p:sp>
      <p:sp>
        <p:nvSpPr>
          <p:cNvPr id="19" name="text-657"/>
          <p:cNvSpPr txBox="1"/>
          <p:nvPr/>
        </p:nvSpPr>
        <p:spPr>
          <a:xfrm>
            <a:off x="731520" y="5074920"/>
            <a:ext cx="5120640" cy="82296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We detect demand moving online, tighten general-trade orders there and hand off to the quick-commerce KAM. We never dump short-dated stock online.</a:t>
            </a:r>
            <a:endParaRPr lang="en-US" sz="1200" dirty="0"/>
          </a:p>
        </p:txBody>
      </p:sp>
      <p:sp>
        <p:nvSpPr>
          <p:cNvPr id="20" name="card-658"/>
          <p:cNvSpPr/>
          <p:nvPr/>
        </p:nvSpPr>
        <p:spPr>
          <a:xfrm>
            <a:off x="6153912" y="4617720"/>
            <a:ext cx="5468112" cy="1325880"/>
          </a:xfrm>
          <a:prstGeom prst="roundRect">
            <a:avLst>
              <a:gd name="adj" fmla="val 5517"/>
            </a:avLst>
          </a:prstGeom>
          <a:solidFill>
            <a:schemeClr val="bg2"/>
          </a:solidFill>
          <a:ln w="12700">
            <a:solidFill>
              <a:schemeClr val="bg2"/>
            </a:solidFill>
            <a:prstDash val="solid"/>
          </a:ln>
        </p:spPr>
      </p:sp>
      <p:sp>
        <p:nvSpPr>
          <p:cNvPr id="21" name="text-659"/>
          <p:cNvSpPr txBox="1"/>
          <p:nvPr/>
        </p:nvSpPr>
        <p:spPr>
          <a:xfrm>
            <a:off x="6336792" y="4727448"/>
            <a:ext cx="5120640" cy="320040"/>
          </a:xfrm>
          <a:prstGeom prst="rect">
            <a:avLst/>
          </a:prstGeom>
          <a:noFill/>
          <a:ln/>
        </p:spPr>
        <p:txBody>
          <a:bodyPr wrap="square" lIns="0" tIns="0" rIns="0" bIns="0" rtlCol="0" anchor="t"/>
          <a:lstStyle/>
          <a:p>
            <a:pPr indent="0" marL="0">
              <a:buNone/>
            </a:pPr>
            <a:r>
              <a:rPr lang="en-US" sz="1300" b="1" dirty="0">
                <a:solidFill>
                  <a:schemeClr val="accent1"/>
                </a:solidFill>
                <a:latin typeface="Calibri" pitchFamily="34" charset="0"/>
                <a:ea typeface="Calibri" pitchFamily="34" charset="-122"/>
                <a:cs typeface="Calibri" pitchFamily="34" charset="-120"/>
              </a:rPr>
              <a:t>Is the ₹18 cr real?</a:t>
            </a:r>
            <a:endParaRPr lang="en-US" sz="1300" dirty="0"/>
          </a:p>
        </p:txBody>
      </p:sp>
      <p:sp>
        <p:nvSpPr>
          <p:cNvPr id="22" name="text-660"/>
          <p:cNvSpPr txBox="1"/>
          <p:nvPr/>
        </p:nvSpPr>
        <p:spPr>
          <a:xfrm>
            <a:off x="6336792" y="5074920"/>
            <a:ext cx="5120640" cy="82296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No. It's an illustrative base case built only on the case percentages and labelled assumptions. The pilot measures the real number.</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229600" cy="274320"/>
          </a:xfrm>
          <a:prstGeom prst="rect">
            <a:avLst/>
          </a:prstGeom>
          <a:noFill/>
          <a:ln/>
        </p:spPr>
        <p:txBody>
          <a:bodyPr wrap="square" lIns="0" tIns="0" rIns="0" bIns="0" rtlCol="0" anchor="t"/>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APPENDIX G · OPTIONS CONSIDERED</a:t>
            </a:r>
            <a:endParaRPr lang="en-US" sz="1100" dirty="0"/>
          </a:p>
        </p:txBody>
      </p:sp>
      <p:sp>
        <p:nvSpPr>
          <p:cNvPr id="3" name="Text 0"/>
          <p:cNvSpPr/>
          <p:nvPr>
            <p:ph idx="101" type="title" hasCustomPrompt="1"/>
          </p:nvPr>
        </p:nvSpPr>
        <p:spPr>
          <a:xfrm>
            <a:off x="548640" y="566928"/>
            <a:ext cx="11064240" cy="96012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Why a hybrid beats a tech-only or process-only answer</a:t>
            </a:r>
            <a:endParaRPr lang="en-US" sz="3000" dirty="0"/>
          </a:p>
        </p:txBody>
      </p:sp>
      <p:sp>
        <p:nvSpPr>
          <p:cNvPr id="4" name="Text 0"/>
          <p:cNvSpPr/>
          <p:nvPr>
            <p:ph idx="102" type="body" hasCustomPrompt="1"/>
          </p:nvPr>
        </p:nvSpPr>
        <p:spPr>
          <a:xfrm>
            <a:off x="548640" y="6382512"/>
            <a:ext cx="9692640" cy="329184"/>
          </a:xfrm>
          <a:prstGeom prst="rect">
            <a:avLst/>
          </a:prstGeom>
          <a:noFill/>
          <a:ln/>
        </p:spPr>
        <p:txBody>
          <a:bodyPr wrap="square" lIns="0" tIns="0" rIns="0" bIns="0" rtlCol="0" anchor="t"/>
          <a:lstStyle/>
          <a:p>
            <a:pPr indent="0" marL="0">
              <a:buNone/>
            </a:pPr>
            <a:r>
              <a:rPr lang="en-US" sz="1000" dirty="0">
                <a:solidFill>
                  <a:schemeClr val="tx2"/>
                </a:solidFill>
                <a:latin typeface="Calibri" pitchFamily="34" charset="0"/>
                <a:ea typeface="Calibri" pitchFamily="34" charset="-122"/>
                <a:cs typeface="Calibri" pitchFamily="34" charset="-120"/>
              </a:rPr>
              <a:t>Weights and scores are our judgement (1–5). Weighted: tech-led 0.25·4+0.20·2+0.20·2+0.15·3+0.10·4+0.10·4 = 3.05, and so on. Judges are welcome to re-weight.</a:t>
            </a:r>
            <a:endParaRPr lang="en-US" sz="1000" dirty="0"/>
          </a:p>
        </p:txBody>
      </p:sp>
      <p:graphicFrame>
        <p:nvGraphicFramePr>
          <p:cNvPr id="26" name="options-table-661"/>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914400"/>
        </p:xfrm>
        <a:graphic>
          <a:graphicData uri="http://schemas.openxmlformats.org/drawingml/2006/table">
            <a:tbl>
              <a:tblPr/>
              <a:tblGrid>
                <a:gridCol w="3044952"/>
                <a:gridCol w="2011680"/>
                <a:gridCol w="2011680"/>
                <a:gridCol w="2011680"/>
                <a:gridCol w="2011680"/>
              </a:tblGrid>
              <a:tr h="45720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Criterion (weight)</a:t>
                      </a:r>
                      <a:endParaRPr lang="en-US" sz="13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6E1A30"/>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Tech-led AI platform</a:t>
                      </a:r>
                      <a:endParaRPr lang="en-US" sz="13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6E1A30"/>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Process-led playbook</a:t>
                      </a:r>
                      <a:endParaRPr lang="en-US" sz="13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6E1A30"/>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Hybrid: SMARTSELL</a:t>
                      </a:r>
                      <a:endParaRPr lang="en-US" sz="13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6E1A30"/>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Policy-led returns</a:t>
                      </a:r>
                      <a:endParaRPr lang="en-US" sz="13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6E1A30"/>
                    </a:solidFill>
                  </a:tcPr>
                </a:tc>
              </a:tr>
              <a:tr h="457200">
                <a:tc>
                  <a:txBody>
                    <a:bodyPr/>
                    <a:lstStyle/>
                    <a:p>
                      <a:pPr algn="l" indent="0" marL="0">
                        <a:buNone/>
                      </a:pPr>
                      <a:r>
                        <a:rPr lang="en-US" sz="1300" dirty="0">
                          <a:solidFill>
                            <a:srgbClr val="1C1A1B"/>
                          </a:solidFill>
                          <a:latin typeface="Calibri" pitchFamily="34" charset="0"/>
                          <a:ea typeface="Calibri" pitchFamily="34" charset="-122"/>
                          <a:cs typeface="Calibri" pitchFamily="34" charset="-120"/>
                        </a:rPr>
                        <a:t>Business impact (25%)</a:t>
                      </a:r>
                      <a:endParaRPr lang="en-US" sz="13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C1A1B"/>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C1A1B"/>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6E1A30"/>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4EFEA"/>
                    </a:solidFill>
                  </a:tcPr>
                </a:tc>
                <a:tc>
                  <a:txBody>
                    <a:bodyPr/>
                    <a:lstStyle/>
                    <a:p>
                      <a:pPr algn="ctr" indent="0" marL="0">
                        <a:buNone/>
                      </a:pPr>
                      <a:r>
                        <a:rPr lang="en-US" sz="1300" dirty="0">
                          <a:solidFill>
                            <a:srgbClr val="1C1A1B"/>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r>
              <a:tr h="457200">
                <a:tc>
                  <a:txBody>
                    <a:bodyPr/>
                    <a:lstStyle/>
                    <a:p>
                      <a:pPr algn="l" indent="0" marL="0">
                        <a:buNone/>
                      </a:pPr>
                      <a:r>
                        <a:rPr lang="en-US" sz="1300" dirty="0">
                          <a:solidFill>
                            <a:srgbClr val="1C1A1B"/>
                          </a:solidFill>
                          <a:latin typeface="Calibri" pitchFamily="34" charset="0"/>
                          <a:ea typeface="Calibri" pitchFamily="34" charset="-122"/>
                          <a:cs typeface="Calibri" pitchFamily="34" charset="-120"/>
                        </a:rPr>
                        <a:t>Feasibility in 6–12 months (20%)</a:t>
                      </a:r>
                      <a:endParaRPr lang="en-US" sz="13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C1A1B"/>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C1A1B"/>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6E1A30"/>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4EFEA"/>
                    </a:solidFill>
                  </a:tcPr>
                </a:tc>
                <a:tc>
                  <a:txBody>
                    <a:bodyPr/>
                    <a:lstStyle/>
                    <a:p>
                      <a:pPr algn="ctr" indent="0" marL="0">
                        <a:buNone/>
                      </a:pPr>
                      <a:r>
                        <a:rPr lang="en-US" sz="1300" dirty="0">
                          <a:solidFill>
                            <a:srgbClr val="1C1A1B"/>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r>
              <a:tr h="457200">
                <a:tc>
                  <a:txBody>
                    <a:bodyPr/>
                    <a:lstStyle/>
                    <a:p>
                      <a:pPr algn="l" indent="0" marL="0">
                        <a:buNone/>
                      </a:pPr>
                      <a:r>
                        <a:rPr lang="en-US" sz="1300" dirty="0">
                          <a:solidFill>
                            <a:srgbClr val="1C1A1B"/>
                          </a:solidFill>
                          <a:latin typeface="Calibri" pitchFamily="34" charset="0"/>
                          <a:ea typeface="Calibri" pitchFamily="34" charset="-122"/>
                          <a:cs typeface="Calibri" pitchFamily="34" charset="-120"/>
                        </a:rPr>
                        <a:t>Answers the case brief (20%)</a:t>
                      </a:r>
                      <a:endParaRPr lang="en-US" sz="13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C1A1B"/>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C1A1B"/>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6E1A30"/>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4EFEA"/>
                    </a:solidFill>
                  </a:tcPr>
                </a:tc>
                <a:tc>
                  <a:txBody>
                    <a:bodyPr/>
                    <a:lstStyle/>
                    <a:p>
                      <a:pPr algn="ctr" indent="0" marL="0">
                        <a:buNone/>
                      </a:pPr>
                      <a:r>
                        <a:rPr lang="en-US" sz="1300" dirty="0">
                          <a:solidFill>
                            <a:srgbClr val="1C1A1B"/>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r>
              <a:tr h="457200">
                <a:tc>
                  <a:txBody>
                    <a:bodyPr/>
                    <a:lstStyle/>
                    <a:p>
                      <a:pPr algn="l" indent="0" marL="0">
                        <a:buNone/>
                      </a:pPr>
                      <a:r>
                        <a:rPr lang="en-US" sz="1300" dirty="0">
                          <a:solidFill>
                            <a:srgbClr val="1C1A1B"/>
                          </a:solidFill>
                          <a:latin typeface="Calibri" pitchFamily="34" charset="0"/>
                          <a:ea typeface="Calibri" pitchFamily="34" charset="-122"/>
                          <a:cs typeface="Calibri" pitchFamily="34" charset="-120"/>
                        </a:rPr>
                        <a:t>Differentiation (15%)</a:t>
                      </a:r>
                      <a:endParaRPr lang="en-US" sz="13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C1A1B"/>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C1A1B"/>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6E1A30"/>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4EFEA"/>
                    </a:solidFill>
                  </a:tcPr>
                </a:tc>
                <a:tc>
                  <a:txBody>
                    <a:bodyPr/>
                    <a:lstStyle/>
                    <a:p>
                      <a:pPr algn="ctr" indent="0" marL="0">
                        <a:buNone/>
                      </a:pPr>
                      <a:r>
                        <a:rPr lang="en-US" sz="1300" dirty="0">
                          <a:solidFill>
                            <a:srgbClr val="1C1A1B"/>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r>
              <a:tr h="457200">
                <a:tc>
                  <a:txBody>
                    <a:bodyPr/>
                    <a:lstStyle/>
                    <a:p>
                      <a:pPr algn="l" indent="0" marL="0">
                        <a:buNone/>
                      </a:pPr>
                      <a:r>
                        <a:rPr lang="en-US" sz="1300" dirty="0">
                          <a:solidFill>
                            <a:srgbClr val="1C1A1B"/>
                          </a:solidFill>
                          <a:latin typeface="Calibri" pitchFamily="34" charset="0"/>
                          <a:ea typeface="Calibri" pitchFamily="34" charset="-122"/>
                          <a:cs typeface="Calibri" pitchFamily="34" charset="-120"/>
                        </a:rPr>
                        <a:t>Scalability (10%)</a:t>
                      </a:r>
                      <a:endParaRPr lang="en-US" sz="13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C1A1B"/>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C1A1B"/>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6E1A30"/>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4EFEA"/>
                    </a:solidFill>
                  </a:tcPr>
                </a:tc>
                <a:tc>
                  <a:txBody>
                    <a:bodyPr/>
                    <a:lstStyle/>
                    <a:p>
                      <a:pPr algn="ctr" indent="0" marL="0">
                        <a:buNone/>
                      </a:pPr>
                      <a:r>
                        <a:rPr lang="en-US" sz="1300" dirty="0">
                          <a:solidFill>
                            <a:srgbClr val="1C1A1B"/>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r>
              <a:tr h="457200">
                <a:tc>
                  <a:txBody>
                    <a:bodyPr/>
                    <a:lstStyle/>
                    <a:p>
                      <a:pPr algn="l" indent="0" marL="0">
                        <a:buNone/>
                      </a:pPr>
                      <a:r>
                        <a:rPr lang="en-US" sz="1300" dirty="0">
                          <a:solidFill>
                            <a:srgbClr val="1C1A1B"/>
                          </a:solidFill>
                          <a:latin typeface="Calibri" pitchFamily="34" charset="0"/>
                          <a:ea typeface="Calibri" pitchFamily="34" charset="-122"/>
                          <a:cs typeface="Calibri" pitchFamily="34" charset="-120"/>
                        </a:rPr>
                        <a:t>Judge demo appeal (10%)</a:t>
                      </a:r>
                      <a:endParaRPr lang="en-US" sz="13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C1A1B"/>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C1A1B"/>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6E1A30"/>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4EFEA"/>
                    </a:solidFill>
                  </a:tcPr>
                </a:tc>
                <a:tc>
                  <a:txBody>
                    <a:bodyPr/>
                    <a:lstStyle/>
                    <a:p>
                      <a:pPr algn="ctr" indent="0" marL="0">
                        <a:buNone/>
                      </a:pPr>
                      <a:r>
                        <a:rPr lang="en-US" sz="1300" dirty="0">
                          <a:solidFill>
                            <a:srgbClr val="1C1A1B"/>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r>
              <a:tr h="457200">
                <a:tc>
                  <a:txBody>
                    <a:bodyPr/>
                    <a:lstStyle/>
                    <a:p>
                      <a:pPr algn="l" indent="0" marL="0">
                        <a:buNone/>
                      </a:pPr>
                      <a:r>
                        <a:rPr lang="en-US" sz="1300" b="1" dirty="0">
                          <a:solidFill>
                            <a:srgbClr val="1C1A1B"/>
                          </a:solidFill>
                          <a:latin typeface="Calibri" pitchFamily="34" charset="0"/>
                          <a:ea typeface="Calibri" pitchFamily="34" charset="-122"/>
                          <a:cs typeface="Calibri" pitchFamily="34" charset="-120"/>
                        </a:rPr>
                        <a:t>Weighted score</a:t>
                      </a:r>
                      <a:endParaRPr lang="en-US" sz="13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C1A1B"/>
                          </a:solidFill>
                          <a:latin typeface="Calibri" pitchFamily="34" charset="0"/>
                          <a:ea typeface="Calibri" pitchFamily="34" charset="-122"/>
                          <a:cs typeface="Calibri" pitchFamily="34" charset="-120"/>
                        </a:rPr>
                        <a:t>3.05</a:t>
                      </a:r>
                      <a:endParaRPr lang="en-US" sz="13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C1A1B"/>
                          </a:solidFill>
                          <a:latin typeface="Calibri" pitchFamily="34" charset="0"/>
                          <a:ea typeface="Calibri" pitchFamily="34" charset="-122"/>
                          <a:cs typeface="Calibri" pitchFamily="34" charset="-120"/>
                        </a:rPr>
                        <a:t>3.15</a:t>
                      </a:r>
                      <a:endParaRPr lang="en-US" sz="13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6E1A30"/>
                          </a:solidFill>
                          <a:latin typeface="Calibri" pitchFamily="34" charset="0"/>
                          <a:ea typeface="Calibri" pitchFamily="34" charset="-122"/>
                          <a:cs typeface="Calibri" pitchFamily="34" charset="-120"/>
                        </a:rPr>
                        <a:t>4.70</a:t>
                      </a:r>
                      <a:endParaRPr lang="en-US" sz="13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4EFEA"/>
                    </a:solidFill>
                  </a:tcPr>
                </a:tc>
                <a:tc>
                  <a:txBody>
                    <a:bodyPr/>
                    <a:lstStyle/>
                    <a:p>
                      <a:pPr algn="ctr" indent="0" marL="0">
                        <a:buNone/>
                      </a:pPr>
                      <a:r>
                        <a:rPr lang="en-US" sz="1300" b="1" dirty="0">
                          <a:solidFill>
                            <a:srgbClr val="1C1A1B"/>
                          </a:solidFill>
                          <a:latin typeface="Calibri" pitchFamily="34" charset="0"/>
                          <a:ea typeface="Calibri" pitchFamily="34" charset="-122"/>
                          <a:cs typeface="Calibri" pitchFamily="34" charset="-120"/>
                        </a:rPr>
                        <a:t>2.45</a:t>
                      </a:r>
                      <a:endParaRPr lang="en-US" sz="1300" dirty="0">
                        <a:latin typeface="Calibri" charset="0"/>
                        <a:ea typeface="Calibri" charset="0"/>
                        <a:cs typeface="Calibri" charset="0"/>
                      </a:endParaRPr>
                    </a:p>
                  </a:txBody>
                  <a:tcPr marL="91440" marR="91440" marT="45720" marB="45720" anchor="ctr">
                    <a:lnL w="6350" cap="flat" cmpd="sng" algn="ctr">
                      <a:solidFill>
                        <a:srgbClr val="E4DDD6"/>
                      </a:solidFill>
                      <a:prstDash val="solid"/>
                      <a:round/>
                      <a:headEnd type="none" w="med" len="med"/>
                      <a:tailEnd type="none" w="med" len="med"/>
                    </a:lnL>
                    <a:lnR w="6350" cap="flat" cmpd="sng" algn="ctr">
                      <a:solidFill>
                        <a:srgbClr val="E4DDD6"/>
                      </a:solidFill>
                      <a:prstDash val="solid"/>
                      <a:round/>
                      <a:headEnd type="none" w="med" len="med"/>
                      <a:tailEnd type="none" w="med" len="med"/>
                    </a:lnR>
                    <a:lnT w="6350" cap="flat" cmpd="sng" algn="ctr">
                      <a:solidFill>
                        <a:srgbClr val="E4DDD6"/>
                      </a:solidFill>
                      <a:prstDash val="solid"/>
                      <a:round/>
                      <a:headEnd type="none" w="med" len="med"/>
                      <a:tailEnd type="none" w="med" len="med"/>
                    </a:lnT>
                    <a:lnB w="6350" cap="flat" cmpd="sng" algn="ctr">
                      <a:solidFill>
                        <a:srgbClr val="E4DDD6"/>
                      </a:solidFill>
                      <a:prstDash val="solid"/>
                      <a:round/>
                      <a:headEnd type="none" w="med" len="med"/>
                      <a:tailEnd type="none" w="med" len="med"/>
                    </a:lnB>
                    <a:solidFill>
                      <a:srgbClr val="FFFFFF"/>
                    </a:solidFill>
                  </a:tcPr>
                </a:tc>
              </a:tr>
            </a:tbl>
          </a:graphicData>
        </a:graphic>
      </p:graphicFrame>
      <p:sp>
        <p:nvSpPr>
          <p:cNvPr id="6" name="text-662"/>
          <p:cNvSpPr txBox="1"/>
          <p:nvPr/>
        </p:nvSpPr>
        <p:spPr>
          <a:xfrm>
            <a:off x="548640" y="5486400"/>
            <a:ext cx="11064240" cy="6858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Tech-only answers a question the case didn't ask (L'Oréal already runs central demand sensing). Process-only can't rebalance across outlets or measure outcomes. Policy-only shifts the cost to distributors instead of removing waste.</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theme/theme1.xml><?xml version="1.0" encoding="utf-8"?>
<a:theme xmlns:a="http://schemas.openxmlformats.org/drawingml/2006/main" name="SMARTSELL Burgundy">
  <a:themeElements>
    <a:clrScheme name="SMARTSELL Burgundy">
      <a:dk1>
        <a:srgbClr val="1C1A1B"/>
      </a:dk1>
      <a:lt1>
        <a:srgbClr val="FFFFFF"/>
      </a:lt1>
      <a:dk2>
        <a:srgbClr val="5E5853"/>
      </a:dk2>
      <a:lt2>
        <a:srgbClr val="F4EFEA"/>
      </a:lt2>
      <a:accent1>
        <a:srgbClr val="6E1A30"/>
      </a:accent1>
      <a:accent2>
        <a:srgbClr val="B08D57"/>
      </a:accent2>
      <a:accent3>
        <a:srgbClr val="2E7D5B"/>
      </a:accent3>
      <a:accent4>
        <a:srgbClr val="2F5D8C"/>
      </a:accent4>
      <a:accent5>
        <a:srgbClr val="B4321F"/>
      </a:accent5>
      <a:accent6>
        <a:srgbClr val="C08A2B"/>
      </a:accent6>
      <a:hlink>
        <a:srgbClr val="6E1A30"/>
      </a:hlink>
      <a:folHlink>
        <a:srgbClr val="4A1020"/>
      </a:folHlink>
    </a:clrScheme>
    <a:fontScheme name="SMARTSELL Burgund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SMARTSELL: Turning Field Sales into a Growth and Sustainability Engine</dc:title>
  <dc:subject>L'Oréal Sustainability Challenge 2026, Sales Track</dc:subject>
  <dc:creator>SMARTSELL team</dc:creator>
  <cp:lastModifiedBy>SMARTSELL team</cp:lastModifiedBy>
  <cp:revision>1</cp:revision>
  <dcterms:created xsi:type="dcterms:W3CDTF">2026-10-31T09:45:41Z</dcterms:created>
  <dcterms:modified xsi:type="dcterms:W3CDTF">2026-10-31T09:45:41Z</dcterms:modified>
</cp:coreProperties>
</file>