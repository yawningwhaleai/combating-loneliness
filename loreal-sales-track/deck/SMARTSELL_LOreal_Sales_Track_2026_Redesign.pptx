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3.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9fba0df-47b7-94a2-8383-b3777b88eb69}">
          <p14:sldIdLst>
            <p14:sldId id="256"/>
            <p14:sldId id="257"/>
          </p14:sldIdLst>
        </p14:section>
        <p14:section name="The problem" id="{d05a9196-a322-6b17-9ad9-5f4ffa5fea77}">
          <p14:sldIdLst>
            <p14:sldId id="258"/>
            <p14:sldId id="259"/>
          </p14:sldIdLst>
        </p14:section>
        <p14:section name="The solution" id="{741e3bef-d7e9-103a-79fb-2cacf9cef8d9}">
          <p14:sldIdLst>
            <p14:sldId id="260"/>
            <p14:sldId id="261"/>
          </p14:sldIdLst>
        </p14:section>
        <p14:section name="Detection and action" id="{a9a422e5-c569-d4d8-48b3-e73b3945c175}">
          <p14:sldIdLst>
            <p14:sldId id="262"/>
            <p14:sldId id="263"/>
            <p14:sldId id="264"/>
            <p14:sldId id="265"/>
            <p14:sldId id="266"/>
          </p14:sldIdLst>
        </p14:section>
        <p14:section name="The product" id="{dd6fde8f-2df0-8663-29ef-844787c0036d}">
          <p14:sldIdLst>
            <p14:sldId id="267"/>
            <p14:sldId id="268"/>
          </p14:sldIdLst>
        </p14:section>
        <p14:section name="Impact and roll-out" id="{25c69db4-4ff5-89be-7a8d-f0f312eb70cc}">
          <p14:sldIdLst>
            <p14:sldId id="269"/>
            <p14:sldId id="270"/>
            <p14:sldId id="271"/>
            <p14:sldId id="272"/>
          </p14:sldIdLst>
        </p14:section>
        <p14:section name="Appendix" id="{69ef0b50-1af9-b218-1739-0e42dfea45bc}">
          <p14:sldIdLst>
            <p14:sldId id="273"/>
            <p14:sldId id="274"/>
            <p14:sldId id="275"/>
            <p14:sldId id="276"/>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With SMARTSELL</c:v>
                </c:pt>
              </c:strCache>
            </c:strRef>
          </c:tx>
          <c:spPr>
            <a:solidFill>
              <a:srgbClr val="65172F"/>
            </a:solidFill>
            <a:effectLst/>
          </c:spPr>
          <c:invertIfNegative val="0"/>
          <c:dLbls>
            <c:numFmt formatCode="₹#,##0" sourceLinked="0"/>
            <c:txPr>
              <a:bodyPr/>
              <a:lstStyle/>
              <a:p>
                <a:pPr>
                  <a:defRPr b="1" i="0" strike="noStrike" sz="1400" u="none">
                    <a:solidFill>
                      <a:srgbClr val="171717"/>
                    </a:solidFill>
                    <a:latin typeface="+mn-lt"/>
                  </a:defRPr>
                </a:pPr>
              </a:p>
            </c:txPr>
            <c:showLegendKey val="0"/>
            <c:showVal val="1"/>
            <c:showCatName val="0"/>
            <c:showSerName val="0"/>
            <c:showPercent val="0"/>
            <c:showBubbleSize val="0"/>
            <c:showLeaderLines val="0"/>
          </c:dLbls>
          <c:cat>
            <c:multiLvlStrRef>
              <c:f>Sheet1!$A$2:$A$3</c:f>
              <c:multiLvlStrCache>
                <c:ptCount val="2"/>
                <c:lvl>
                  <c:pt idx="0">
                    <c:v>Returned / expired stock</c:v>
                  </c:pt>
                  <c:pt idx="1">
                    <c:v>Sales lost to stock-outs</c:v>
                  </c:pt>
                </c:lvl>
              </c:multiLvlStrCache>
            </c:multiLvlStrRef>
          </c:cat>
          <c:val>
            <c:numRef>
              <c:f>Sheet1!$B$2:$B$3</c:f>
              <c:numCache>
                <c:formatCode>General</c:formatCode>
                <c:ptCount val="2"/>
                <c:pt idx="0">
                  <c:v>16416</c:v>
                </c:pt>
                <c:pt idx="1">
                  <c:v>1526</c:v>
                </c:pt>
              </c:numCache>
            </c:numRef>
          </c:val>
        </c:ser>
        <c:ser>
          <c:idx val="1"/>
          <c:order val="1"/>
          <c:tx>
            <c:strRef>
              <c:f>Sheet1!$C$1</c:f>
              <c:strCache>
                <c:ptCount val="1"/>
                <c:pt idx="0">
                  <c:v>Business-as-usual</c:v>
                </c:pt>
              </c:strCache>
            </c:strRef>
          </c:tx>
          <c:spPr>
            <a:solidFill>
              <a:srgbClr val="E3DED7"/>
            </a:solidFill>
            <a:effectLst/>
          </c:spPr>
          <c:invertIfNegative val="0"/>
          <c:dLbls>
            <c:numFmt formatCode="₹#,##0" sourceLinked="0"/>
            <c:txPr>
              <a:bodyPr/>
              <a:lstStyle/>
              <a:p>
                <a:pPr>
                  <a:defRPr b="1" i="0" strike="noStrike" sz="1400" u="none">
                    <a:solidFill>
                      <a:srgbClr val="171717"/>
                    </a:solidFill>
                    <a:latin typeface="+mn-lt"/>
                  </a:defRPr>
                </a:pPr>
              </a:p>
            </c:txPr>
            <c:showLegendKey val="0"/>
            <c:showVal val="1"/>
            <c:showCatName val="0"/>
            <c:showSerName val="0"/>
            <c:showPercent val="0"/>
            <c:showBubbleSize val="0"/>
            <c:showLeaderLines val="0"/>
          </c:dLbls>
          <c:cat>
            <c:multiLvlStrRef>
              <c:f>Sheet1!$A$2:$A$3</c:f>
              <c:multiLvlStrCache>
                <c:ptCount val="2"/>
                <c:lvl>
                  <c:pt idx="0">
                    <c:v>Returned / expired stock</c:v>
                  </c:pt>
                  <c:pt idx="1">
                    <c:v>Sales lost to stock-outs</c:v>
                  </c:pt>
                </c:lvl>
              </c:multiLvlStrCache>
            </c:multiLvlStrRef>
          </c:cat>
          <c:val>
            <c:numRef>
              <c:f>Sheet1!$C$2:$C$3</c:f>
              <c:numCache>
                <c:formatCode>General</c:formatCode>
                <c:ptCount val="2"/>
                <c:pt idx="0">
                  <c:v>30276</c:v>
                </c:pt>
                <c:pt idx="1">
                  <c:v>37900</c:v>
                </c:pt>
              </c:numCache>
            </c:numRef>
          </c:val>
        </c:ser>
        <c:dLbls>
          <c:numFmt formatCode="₹#,##0" sourceLinked="0"/>
          <c:txPr>
            <a:bodyPr/>
            <a:lstStyle/>
            <a:p>
              <a:pPr>
                <a:defRPr b="1" i="0" strike="noStrike" sz="1400" u="none">
                  <a:solidFill>
                    <a:srgbClr val="171717"/>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A9A096"/>
            </a:solidFill>
            <a:prstDash val="solid"/>
            <a:round/>
          </a:ln>
        </c:spPr>
        <c:txPr>
          <a:bodyPr/>
          <a:lstStyle/>
          <a:p>
            <a:pPr>
              <a:defRPr sz="1300" b="0" i="0" u="none" strike="noStrike">
                <a:solidFill>
                  <a:srgbClr val="6E665E"/>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300">
              <a:solidFill>
                <a:srgbClr val="171717"/>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base</c:v>
                </c:pt>
              </c:strCache>
            </c:strRef>
          </c:tx>
          <c:spPr>
            <a:solidFill>
              <a:srgbClr val="FFFFFF"/>
            </a:solidFill>
            <a:effectLst/>
          </c:spPr>
          <c:invertIfNegative val="0"/>
          <c:dLbls>
            <c:numFmt formatCode="0.0;;;" sourceLinked="0"/>
            <c:txPr>
              <a:bodyPr/>
              <a:lstStyle/>
              <a:p>
                <a:pPr>
                  <a:defRPr b="1" i="0" strike="noStrike" sz="14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Sheet1!$A$2:$A$6</c:f>
              <c:multiLvlStrCache>
                <c:ptCount val="5"/>
                <c:lvl>
                  <c:pt idx="0">
                    <c:v>Expiry loss avoided</c:v>
                  </c:pt>
                  <c:pt idx="1">
                    <c:v>Handling avoided</c:v>
                  </c:pt>
                  <c:pt idx="2">
                    <c:v>Less: cost to recover</c:v>
                  </c:pt>
                  <c:pt idx="3">
                    <c:v>Contribution from fewer stock-outs</c:v>
                  </c:pt>
                  <c:pt idx="4">
                    <c:v>Net benefit</c:v>
                  </c:pt>
                </c:lvl>
              </c:multiLvlStrCache>
            </c:multiLvlStrRef>
          </c:cat>
          <c:val>
            <c:numRef>
              <c:f>Sheet1!$B$2:$B$6</c:f>
              <c:numCache>
                <c:formatCode>General</c:formatCode>
                <c:ptCount val="5"/>
                <c:pt idx="0">
                  <c:v>0</c:v>
                </c:pt>
                <c:pt idx="1">
                  <c:v>8</c:v>
                </c:pt>
                <c:pt idx="2">
                  <c:v>11.3</c:v>
                </c:pt>
                <c:pt idx="3">
                  <c:v>11.3</c:v>
                </c:pt>
                <c:pt idx="4">
                  <c:v>0</c:v>
                </c:pt>
              </c:numCache>
            </c:numRef>
          </c:val>
        </c:ser>
        <c:ser>
          <c:idx val="1"/>
          <c:order val="1"/>
          <c:tx>
            <c:strRef>
              <c:f>Sheet1!$C$1</c:f>
              <c:strCache>
                <c:ptCount val="1"/>
                <c:pt idx="0">
                  <c:v>Benefit</c:v>
                </c:pt>
              </c:strCache>
            </c:strRef>
          </c:tx>
          <c:spPr>
            <a:solidFill>
              <a:srgbClr val="327B60"/>
            </a:solidFill>
            <a:effectLst/>
          </c:spPr>
          <c:invertIfNegative val="0"/>
          <c:dLbls>
            <c:numFmt formatCode="0.0;;;" sourceLinked="0"/>
            <c:txPr>
              <a:bodyPr/>
              <a:lstStyle/>
              <a:p>
                <a:pPr>
                  <a:defRPr b="1" i="0" strike="noStrike" sz="14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Sheet1!$A$2:$A$6</c:f>
              <c:multiLvlStrCache>
                <c:ptCount val="5"/>
                <c:lvl>
                  <c:pt idx="0">
                    <c:v>Expiry loss avoided</c:v>
                  </c:pt>
                  <c:pt idx="1">
                    <c:v>Handling avoided</c:v>
                  </c:pt>
                  <c:pt idx="2">
                    <c:v>Less: cost to recover</c:v>
                  </c:pt>
                  <c:pt idx="3">
                    <c:v>Contribution from fewer stock-outs</c:v>
                  </c:pt>
                  <c:pt idx="4">
                    <c:v>Net benefit</c:v>
                  </c:pt>
                </c:lvl>
              </c:multiLvlStrCache>
            </c:multiLvlStrRef>
          </c:cat>
          <c:val>
            <c:numRef>
              <c:f>Sheet1!$C$2:$C$6</c:f>
              <c:numCache>
                <c:formatCode>General</c:formatCode>
                <c:ptCount val="5"/>
                <c:pt idx="0">
                  <c:v>8</c:v>
                </c:pt>
                <c:pt idx="1">
                  <c:v>5.3</c:v>
                </c:pt>
                <c:pt idx="2">
                  <c:v>0</c:v>
                </c:pt>
                <c:pt idx="3">
                  <c:v>6.9</c:v>
                </c:pt>
                <c:pt idx="4">
                  <c:v>0</c:v>
                </c:pt>
              </c:numCache>
            </c:numRef>
          </c:val>
        </c:ser>
        <c:ser>
          <c:idx val="2"/>
          <c:order val="2"/>
          <c:tx>
            <c:strRef>
              <c:f>Sheet1!$D$1</c:f>
              <c:strCache>
                <c:ptCount val="1"/>
                <c:pt idx="0">
                  <c:v>Cost</c:v>
                </c:pt>
              </c:strCache>
            </c:strRef>
          </c:tx>
          <c:spPr>
            <a:solidFill>
              <a:srgbClr val="8C3A52"/>
            </a:solidFill>
            <a:effectLst/>
          </c:spPr>
          <c:invertIfNegative val="0"/>
          <c:dLbls>
            <c:numFmt formatCode="0.0;;;" sourceLinked="0"/>
            <c:txPr>
              <a:bodyPr/>
              <a:lstStyle/>
              <a:p>
                <a:pPr>
                  <a:defRPr b="1" i="0" strike="noStrike" sz="14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Sheet1!$A$2:$A$6</c:f>
              <c:multiLvlStrCache>
                <c:ptCount val="5"/>
                <c:lvl>
                  <c:pt idx="0">
                    <c:v>Expiry loss avoided</c:v>
                  </c:pt>
                  <c:pt idx="1">
                    <c:v>Handling avoided</c:v>
                  </c:pt>
                  <c:pt idx="2">
                    <c:v>Less: cost to recover</c:v>
                  </c:pt>
                  <c:pt idx="3">
                    <c:v>Contribution from fewer stock-outs</c:v>
                  </c:pt>
                  <c:pt idx="4">
                    <c:v>Net benefit</c:v>
                  </c:pt>
                </c:lvl>
              </c:multiLvlStrCache>
            </c:multiLvlStrRef>
          </c:cat>
          <c:val>
            <c:numRef>
              <c:f>Sheet1!$D$2:$D$6</c:f>
              <c:numCache>
                <c:formatCode>General</c:formatCode>
                <c:ptCount val="5"/>
                <c:pt idx="0">
                  <c:v>0</c:v>
                </c:pt>
                <c:pt idx="1">
                  <c:v>0</c:v>
                </c:pt>
                <c:pt idx="2">
                  <c:v>2</c:v>
                </c:pt>
                <c:pt idx="3">
                  <c:v>0</c:v>
                </c:pt>
                <c:pt idx="4">
                  <c:v>0</c:v>
                </c:pt>
              </c:numCache>
            </c:numRef>
          </c:val>
        </c:ser>
        <c:ser>
          <c:idx val="3"/>
          <c:order val="3"/>
          <c:tx>
            <c:strRef>
              <c:f>Sheet1!$E$1</c:f>
              <c:strCache>
                <c:ptCount val="1"/>
                <c:pt idx="0">
                  <c:v>Net</c:v>
                </c:pt>
              </c:strCache>
            </c:strRef>
          </c:tx>
          <c:spPr>
            <a:solidFill>
              <a:srgbClr val="65172F"/>
            </a:solidFill>
            <a:effectLst/>
          </c:spPr>
          <c:invertIfNegative val="0"/>
          <c:dLbls>
            <c:numFmt formatCode="0.0;;;" sourceLinked="0"/>
            <c:txPr>
              <a:bodyPr/>
              <a:lstStyle/>
              <a:p>
                <a:pPr>
                  <a:defRPr b="1" i="0" strike="noStrike" sz="14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Sheet1!$A$2:$A$6</c:f>
              <c:multiLvlStrCache>
                <c:ptCount val="5"/>
                <c:lvl>
                  <c:pt idx="0">
                    <c:v>Expiry loss avoided</c:v>
                  </c:pt>
                  <c:pt idx="1">
                    <c:v>Handling avoided</c:v>
                  </c:pt>
                  <c:pt idx="2">
                    <c:v>Less: cost to recover</c:v>
                  </c:pt>
                  <c:pt idx="3">
                    <c:v>Contribution from fewer stock-outs</c:v>
                  </c:pt>
                  <c:pt idx="4">
                    <c:v>Net benefit</c:v>
                  </c:pt>
                </c:lvl>
              </c:multiLvlStrCache>
            </c:multiLvlStrRef>
          </c:cat>
          <c:val>
            <c:numRef>
              <c:f>Sheet1!$E$2:$E$6</c:f>
              <c:numCache>
                <c:formatCode>General</c:formatCode>
                <c:ptCount val="5"/>
                <c:pt idx="0">
                  <c:v>0</c:v>
                </c:pt>
                <c:pt idx="1">
                  <c:v>0</c:v>
                </c:pt>
                <c:pt idx="2">
                  <c:v>0</c:v>
                </c:pt>
                <c:pt idx="3">
                  <c:v>0</c:v>
                </c:pt>
                <c:pt idx="4">
                  <c:v>18.2</c:v>
                </c:pt>
              </c:numCache>
            </c:numRef>
          </c:val>
        </c:ser>
        <c:dLbls>
          <c:numFmt formatCode="0.0;;;" sourceLinked="0"/>
          <c:txPr>
            <a:bodyPr/>
            <a:lstStyle/>
            <a:p>
              <a:pPr>
                <a:defRPr b="1" i="0" strike="noStrike" sz="1400" u="none">
                  <a:solidFill>
                    <a:srgbClr val="FFFFFF"/>
                  </a:solidFill>
                  <a:latin typeface="+mn-lt"/>
                </a:defRPr>
              </a:pPr>
            </a:p>
          </c:txPr>
          <c:dLblPos val="inEnd"/>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A9A096"/>
            </a:solidFill>
            <a:prstDash val="solid"/>
            <a:round/>
          </a:ln>
        </c:spPr>
        <c:txPr>
          <a:bodyPr/>
          <a:lstStyle/>
          <a:p>
            <a:pPr>
              <a:defRPr sz="1100" b="0" i="0" u="none" strike="noStrike">
                <a:solidFill>
                  <a:srgbClr val="6E665E"/>
                </a:solidFill>
                <a:latin typeface="+mn-lt"/>
              </a:defRPr>
            </a:pPr>
            <a:endParaRPr lang="en-US"/>
          </a:p>
        </c:txPr>
        <c:crossAx val="2094734552"/>
        <c:crosses val="autoZero"/>
        <c:auto val="1"/>
        <c:lblAlgn val="ctr"/>
        <c:noMultiLvlLbl val="1"/>
      </c:catAx>
      <c:valAx>
        <c:axId val="2094734552"/>
        <c:scaling>
          <c:orientation val="minMax"/>
          <c:max val="2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71717"/>
                </a:solidFill>
                <a:latin typeface="+mn-lt"/>
              </a:defRPr>
            </a:pPr>
            <a:r>
              <a:rPr sz="1200" b="0" i="0" u="none" strike="noStrike">
                <a:solidFill>
                  <a:srgbClr val="171717"/>
                </a:solidFill>
                <a:latin typeface="+mn-lt"/>
              </a:rPr>
              <a:t>Net benefit ₹ cr/yr (base 18.2)</a:t>
            </a:r>
          </a:p>
        </c:rich>
      </c:tx>
      <c:layout/>
      <c:overlay val="0"/>
    </c:title>
    <c:autoTitleDeleted val="0"/>
    <c:plotArea>
      <c:layout/>
      <c:barChart>
        <c:barDir val="bar"/>
        <c:grouping val="clustered"/>
        <c:varyColors val="0"/>
        <c:ser>
          <c:idx val="0"/>
          <c:order val="0"/>
          <c:tx>
            <c:strRef>
              <c:f>Sheet1!$B$1</c:f>
              <c:strCache>
                <c:ptCount val="1"/>
                <c:pt idx="0">
                  <c:v>Low</c:v>
                </c:pt>
              </c:strCache>
            </c:strRef>
          </c:tx>
          <c:spPr>
            <a:solidFill>
              <a:srgbClr val="E3DED7"/>
            </a:solidFill>
            <a:effectLst/>
          </c:spPr>
          <c:invertIfNegative val="0"/>
          <c:dLbls>
            <c:numFmt formatCode="0.0" sourceLinked="0"/>
            <c:txPr>
              <a:bodyPr/>
              <a:lstStyle/>
              <a:p>
                <a:pPr>
                  <a:defRPr b="0" i="0" strike="noStrike" sz="1100" u="none">
                    <a:solidFill>
                      <a:srgbClr val="171717"/>
                    </a:solidFill>
                    <a:latin typeface="+mn-lt"/>
                  </a:defRPr>
                </a:pPr>
              </a:p>
            </c:txPr>
            <c:showLegendKey val="0"/>
            <c:showVal val="1"/>
            <c:showCatName val="0"/>
            <c:showSerName val="0"/>
            <c:showPercent val="0"/>
            <c:showBubbleSize val="0"/>
            <c:showLeaderLines val="0"/>
          </c:dLbls>
          <c:cat>
            <c:multiLvlStrRef>
              <c:f>Sheet1!$A$2:$A$6</c:f>
              <c:multiLvlStrCache>
                <c:ptCount val="5"/>
                <c:lvl>
                  <c:pt idx="0">
                    <c:v>Waste prevented 15–35%</c:v>
                  </c:pt>
                  <c:pt idx="1">
                    <c:v>Stock-out reduction 10–30%</c:v>
                  </c:pt>
                  <c:pt idx="2">
                    <c:v>Baseline OOS 5–12%</c:v>
                  </c:pt>
                  <c:pt idx="3">
                    <c:v>Field-covered share 50–70%</c:v>
                  </c:pt>
                  <c:pt idx="4">
                    <c:v>Contribution margin 25–45%</c:v>
                  </c:pt>
                </c:lvl>
              </c:multiLvlStrCache>
            </c:multiLvlStrRef>
          </c:cat>
          <c:val>
            <c:numRef>
              <c:f>Sheet1!$B$2:$B$6</c:f>
              <c:numCache>
                <c:formatCode>General</c:formatCode>
                <c:ptCount val="5"/>
                <c:pt idx="0">
                  <c:v>13.7</c:v>
                </c:pt>
                <c:pt idx="1">
                  <c:v>14.8</c:v>
                </c:pt>
                <c:pt idx="2">
                  <c:v>15.6</c:v>
                </c:pt>
                <c:pt idx="3">
                  <c:v>15.2</c:v>
                </c:pt>
                <c:pt idx="4">
                  <c:v>16.2</c:v>
                </c:pt>
              </c:numCache>
            </c:numRef>
          </c:val>
        </c:ser>
        <c:ser>
          <c:idx val="1"/>
          <c:order val="1"/>
          <c:tx>
            <c:strRef>
              <c:f>Sheet1!$C$1</c:f>
              <c:strCache>
                <c:ptCount val="1"/>
                <c:pt idx="0">
                  <c:v>High</c:v>
                </c:pt>
              </c:strCache>
            </c:strRef>
          </c:tx>
          <c:spPr>
            <a:solidFill>
              <a:srgbClr val="65172F"/>
            </a:solidFill>
            <a:effectLst/>
          </c:spPr>
          <c:invertIfNegative val="0"/>
          <c:dLbls>
            <c:numFmt formatCode="0.0" sourceLinked="0"/>
            <c:txPr>
              <a:bodyPr/>
              <a:lstStyle/>
              <a:p>
                <a:pPr>
                  <a:defRPr b="0" i="0" strike="noStrike" sz="1100" u="none">
                    <a:solidFill>
                      <a:srgbClr val="171717"/>
                    </a:solidFill>
                    <a:latin typeface="+mn-lt"/>
                  </a:defRPr>
                </a:pPr>
              </a:p>
            </c:txPr>
            <c:showLegendKey val="0"/>
            <c:showVal val="1"/>
            <c:showCatName val="0"/>
            <c:showSerName val="0"/>
            <c:showPercent val="0"/>
            <c:showBubbleSize val="0"/>
            <c:showLeaderLines val="0"/>
          </c:dLbls>
          <c:cat>
            <c:multiLvlStrRef>
              <c:f>Sheet1!$A$2:$A$6</c:f>
              <c:multiLvlStrCache>
                <c:ptCount val="5"/>
                <c:lvl>
                  <c:pt idx="0">
                    <c:v>Waste prevented 15–35%</c:v>
                  </c:pt>
                  <c:pt idx="1">
                    <c:v>Stock-out reduction 10–30%</c:v>
                  </c:pt>
                  <c:pt idx="2">
                    <c:v>Baseline OOS 5–12%</c:v>
                  </c:pt>
                  <c:pt idx="3">
                    <c:v>Field-covered share 50–70%</c:v>
                  </c:pt>
                  <c:pt idx="4">
                    <c:v>Contribution margin 25–45%</c:v>
                  </c:pt>
                </c:lvl>
              </c:multiLvlStrCache>
            </c:multiLvlStrRef>
          </c:cat>
          <c:val>
            <c:numRef>
              <c:f>Sheet1!$C$2:$C$6</c:f>
              <c:numCache>
                <c:formatCode>General</c:formatCode>
                <c:ptCount val="5"/>
                <c:pt idx="0">
                  <c:v>22.7</c:v>
                </c:pt>
                <c:pt idx="1">
                  <c:v>21.7</c:v>
                </c:pt>
                <c:pt idx="2">
                  <c:v>21.7</c:v>
                </c:pt>
                <c:pt idx="3">
                  <c:v>21.3</c:v>
                </c:pt>
                <c:pt idx="4">
                  <c:v>20.2</c:v>
                </c:pt>
              </c:numCache>
            </c:numRef>
          </c:val>
        </c:ser>
        <c:dLbls>
          <c:numFmt formatCode="0.0" sourceLinked="0"/>
          <c:txPr>
            <a:bodyPr/>
            <a:lstStyle/>
            <a:p>
              <a:pPr>
                <a:defRPr b="0" i="0" strike="noStrike" sz="1100" u="none">
                  <a:solidFill>
                    <a:srgbClr val="171717"/>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6E665E"/>
                </a:solidFill>
                <a:latin typeface="+mn-lt"/>
              </a:defRPr>
            </a:pPr>
            <a:endParaRPr lang="en-US"/>
          </a:p>
        </c:txPr>
        <c:crossAx val="2094734552"/>
        <c:crosses val="autoZero"/>
        <c:auto val="1"/>
        <c:lblAlgn val="ctr"/>
        <c:noMultiLvlLbl val="1"/>
      </c:catAx>
      <c:valAx>
        <c:axId val="2094734552"/>
        <c:scaling>
          <c:orientation val="minMax"/>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We're presenting SMARTSELL.
Our one-line idea is on the slide: move from selling more inventory INTO the channel, to moving the right inventory to the right customer, at the right place and time.
On the right is our working product, on a phone, because that's where it lives: in the hands of a L'Oréal sales rep standing in a shop. Everything you'll see today runs live at smartsell-loreal.vercel.app, on synthetic data.
In twelve minutes we'll show you the problem, its root cause, how SMARTSELL works, a live demo, the business case and a pilot that proves it or stops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story on one page.
The problem: about 1.5% of revenue comes back as returned, expired or damaged stock, and another 1% goes on handling it. Those are the case's numbers. The obvious fix, ordering less, just creates stock-outs.
The root cause: waste is decided at the order and discovered at the return. In between, the rep is in that shop many times, and nothing in the visit asks them to act. Quick commerce is making this worse.
Our solution, SMARTSELL, gives every rep a four-minute routine that catches the problem early and fixes it cheaply.
The impact: around 18 crore a year in our base case, clearly labelled as an estimate. And our ask is small: a 16-week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system. L'Oréal books revenue when stock moves into distributors: that's sell-in. The money is only real when a consumer buys it off the shelf: that's sell-out.
The coloured strip shows what each part of the chain can see. The ERP sees the depot. The distributor's system sees totals, but rarely how old each batch is. And at the retailer, where waste actually happens, nobody sees batch age or real sales, except the rep who walks in every week.
When sell-in and sell-out drift apart, stock ages and comes back. The case puts that at about 1.5% of revenue, plus 1% to handle it. At L'Oréal India's scale, that's roughly 148 crore a year, if those percentages apply. Every one of those units was made, shipped and advertised, then shipped back and destroyed.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stock go bad? We mapped six root causes and rated how much a rep can influence each.
Forecasting matters, but central forecasting can't see an outlet's shelf. The big levers are ones the rep controls: how orders are sized, which range each outlet carries, whether old batches go to the front, and whether anyone acts on what they see.
And why not simply order less? Dabur tried that publicly last year: it stopped shipping for over a week to cut distributor stock from 30 to 21 days, and took a revenue hit. A global study found about one in three shoppers who hit an empty shelf switch brand or don't buy at all.
So the insight at the bottom is the heart of our pitch. Waste is decided at the order and discovered at the return, and nothing in today's visit closes that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SMARTSELL is a field sales intelligence and inventory intervention system for L'Oréal's existing on-ground salesforce.
It takes data L'Oréal already has (distributor stock and invoices), adds what only the rep can capture (a quick count, the batch date printed on every pack, and simple signals like dust or unopened cartons), and runs it through four connected modules.
Stock Intelligence captures it. The Risk Engine turns it into rupees at risk and days left to act. The Action Engine recommends the cheapest sanctioned fix. Manager Intelligence closes the loop.
Five reasons this is the right answer, along the bottom: it answers the case directly; it uses the salesforce L'Oréal already pays for; it protects growth and cuts waste with the same move; it's measurable; and you can try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it works in practice: a closed loop of capture, detect, recommend, execute, measure and learn.
The bottom row answers the case's first question directly: where in a visit can you spot slow or ageing stock? We found six moments. Before walking in, the phone already shows the five to ten SKUs predicted to be at risk from distributor invoices. Then a shelf walk, a look in the back room for unopened cartons and old batch codes, three quick questions to the retailer, and finally the order moment, where the guardrail stops new waste being created.
The rep only counts flagged SKUs, at flagged outlets. Our design target is four extra minutes, and if the pilot shows more, that's a stop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case asks: which simple signals, and flagged to whom? Here's our answer.
On the left are twelve signals a rep can see without any technology: dust, unopened cartons, the same count as last week, an old MRP sticker, a product hidden behind the counter. We added a twelfth that matters more every month: "shoppers say they buy it on quick commerce."
On the right is where each flag goes. The rep fixes shelf-level issues on the spot. The distributor executes transfers. The ASM approves anything with a cost. If the same SKU is slow in three or more outlets, that's a range problem for the brand team, not the rep. And channel shift goes to the quick-commerce key-account team.
One rule matters: a signal can lower our sales estimate, but only real batch data can trigger a near-expiry alert. That keeps false alarms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deliberately didn't build a black-box AI score. A sales director should be able to audit every number in five minutes.
For each SKU we compute three things. First, how many units won't sell in time: batches sell oldest-first, and each can only sell until thirty days before expiry. Second, what those units are worth. Third, how many days are left to act.
Take a real example from the prototype: Shree Beauty has 120 bottles of shampoo selling 20 a month, expiring in 105 days. Seventy won't sell in time: ₹14,700 at risk, 75 days to act. Tick "caught 150 days earlier" in the what-if lab and the risk drops to zero. That's the value of early detection.
The states on the bottom left each get a different playbook, including a new one: channel shift, when an outlet is losing demand to quick commerce.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case's second question: what actions move slow stock, and how is near-expiry different from slow-moving?
On the left is our intervention ladder. The cheapest, least brand-risky steps come first: verify, rotate the shelf, pause re-orders of that one SKU, move stock to a faster outlet, then demand activation like testers and sampling. Discounting is step six of eight, and never for Luxe or dermatology brands. That protects brand equity and avoids the channel conflict distributors have publicly complained about.
The table answers near-expiry versus slow-moving. They're different problems. Near-expiry is about speed: where can this sell before it's too late? Slow-moving is about diagnosis: why isn't it selling here? Discounting a slow mover just hides the cause.
The screenshot shows exactly this in the product: ranked actions, each with a reason, an effect, a cost and an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that looks like in four real-looking outlets from our prototype.
At Shree Beauty, shampoo is near expiry: ₹14,700 at risk. The retailer wants 24 more; SMARTSELL says pause that SKU. Two kilometres away, Glow Chemist is eight days from running out of the same shampoo. One approved transfer of 66 units: no discount, no return, no lost sale. Risk drops to ₹840.
At Sai Kirana, a premium serum is slow but has plenty of shelf life. That's a diagnosis problem: it's in the wrong outlet. Move it to the counter, stop re-ordering, and send some to a chemist where it sells. No discount.
At Powai Wellness, the risk is the opposite: a stock-out. We replenish to demand, not to the retailer's habitual ask.
And at the luxury counter, a discount request is blocked by the brand guardrail.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commerce is the force that makes this problem urgent now.
NielsenIQ reports that in India's top eight metros, about 18% of FMCG sales are already online, and over three-quarters of that is quick commerce. L'Oréal itself has named quick commerce a priority. But dark stores hold only days of stock, so when demand moves online, the old volumes keep flowing into general-trade distributors and age there. That's exactly what happened at Dabur.
Our approach has four steps. Detect: when an outlet's sales fall while the brand grows online, that's demand moving, not dying. Resize: the order guardrail tightens for that SKU at that outlet. Hand off: the rep flags it to the quick-commerce key-account team. Route: fresh stock follows demand online, while ageing stock stays in general trade. We never dump it online at a discount, which is what distributors have publicly objected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actual product, running today. Every screen here is a real screenshot.
One: the rep's day, with outlets ranked by rupees at stake. Two: Smart Count, with a simulated barcode and batch scan and the twelve signals. Three: "why it's flagged", in plain English, batch by batch. Four: ranked actions the rep can accept, modify or reject with a reason. Five: the order guardrail, showing what the retailer asked for against what will actually sell. Six: the manager's approval queue, with guardrail checks attached.
You can try it yourself at smartsell-loreal.vercel.app. There's a five-minute judge guide built in, and it works on a phone.
[If presenting live: switch to the demo here. Follow the judge guide: Shree Beauty, count, why flagged, accept the transfer, order, approve as manager, fast-forward a quarter.]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 it work? We built a side-by-side simulation into the product. Same starting stock, two worlds, fast-forwarded one quarter.
In the business-as-usual world, retailers re-order "same as last time" and nothing is rebalanced. In the SMARTSELL world, orders follow the guardrail and approved actions execute. With just the one hero transfer accepted, returns roughly halve, and lost sales from empty shelves almost disappear.
Interestingly, the business-as-usual world lands at about 1.6% of sell-out returned, close to the case's 1.5% figure, which suggests the model behaves realistically. SMARTSELL brings it to about 0.9%.
To be clear: this is a synthetic simulation, not a forecast. Its job is to show the mechanism. The pilot's job is to measure the real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money, with honest bounds.
We start from the case's pools: 2.5% of revenue, roughly 147 crore at L'Oréal India's scale. But we don't claim it all. Only about a third arises in channels and causes a rep can influence, and we assume a quarter of that can be prevented.
The waterfall shows the base case: 8 crore of expiry loss avoided, 5.3 crore of handling avoided, minus 2 crore to actually move the stock, plus 6.9 crore of contribution from fewer stock-outs, valued at margin, not revenue. Net: about 18 crore a year.
We avoid double counting: stock rescued by a transfer is counted once, never again as extra sales.
The conservative case only breaks even. We're showing you that on purpose. It's why we're asking for a pilot, not a national roll-out.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get from prototype to proof? A 16-week pilot that either proves it or stops it.
Two cities: Mumbai, where quick commerce is strongest, and one tier-2 city where general trade dominates. Four test distributors against four matched controls, about 600 outlets, a dozen reps, and forty focus SKUs chosen from past returns and top sellers.
Training is light: a one-day workshop and two ride-along days. The technology is our prototype, hardened and fed by a weekly distributor-data extract, or configured inside L'Oréal's existing SFA if the vendor allows.
On the right is the decision rule, agreed up front. If at-risk stock doesn't fall at least 20% versus control without hurting growth, we stop. The budget is about 50 lakh, and what it buys is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will management know it's working? Eight KPIs, deliberately balanced between waste and growth.
The waste side: return rate, at-risk inventory value, days of inventory and inventory recovered. The growth side: sell-through, stock-out rate and incremental contribution. And intervention completion, because the playbook only works if it's used.
The cadence is simple: reps daily, ASMs weekly, distributors and brand teams monthly, and sales leadership quarterly.
Most importantly, the incentive. Without changing what reps are paid for, no tool changes behaviour. Our Healthy Sales Scorecard keeps secondary sales at half the weight, so growth stays the priority, and adds sell-through health, availability and execution. In the pilot it runs as a shadow scorecard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close with the shift we're proposing.
Today, a rep's job is to collect orders. With SMARTSELL, it becomes intelligent demand and inventory management: moving the right stock to the right shelf, catching waste while the fix is cheap, keeping discounts as a last resort, and treating quick commerce as a planning signal rather than a threat.
And every unit that sells instead of expiring is waste avoided at the very top of the waste hierarchy, before any recycling. That fits L'Oréal for the Future.
We didn't add a new team or a new system. We gave L'Oréal's existing salesforce a reason, a routine and a tool. Our ask is one data extract, two territories and sixteen weeks. Thank you; we'd love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slides for Q&amp;A. Jump to the relevant one when a judge asks about sources, the formula, the financial assumptions, playbooks, risks or alternatives.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"where does this number come from?", this slide separates case facts, dated research, our estimates and synthetic prototype data. The full register with URLs is in sources.md in our research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if a judge probes the formula or thresholds. Key message: every parameter is explicit and configurable, and the pilot calibrates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only if asked. The two assumptions that matter most are the waste-prevention rate and the stock-out reduction, which is exactly what the pilot is designed to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 behind the action engine. Use if asked "what exactly does the rep do for 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judge asks "what could go wrong?", answer with adoption first: it is the biggest risk, and it is why time-per-visit and completion rate are explicit pilot stop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answers to three beats: direct answer, evidence or number, what the pilot does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if asked "why not just a better forecast?" or "why not just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pic>
        <p:nvPicPr>
          <p:cNvPr id="2" name="Image 0" descr="/home/user/Combating-Loneliness/loreal-sales-track/deck/brand/loreal-logo-black.png">    </p:cNvPr>
          <p:cNvPicPr>
            <a:picLocks noChangeAspect="1"/>
          </p:cNvPicPr>
          <p:nvPr/>
        </p:nvPicPr>
        <p:blipFill>
          <a:blip r:embed="rId1"/>
          <a:stretch>
            <a:fillRect/>
          </a:stretch>
        </p:blipFill>
        <p:spPr>
          <a:xfrm>
            <a:off x="10408615" y="457200"/>
            <a:ext cx="1143000" cy="205740"/>
          </a:xfrm>
          <a:prstGeom prst="rect">
            <a:avLst/>
          </a:prstGeom>
        </p:spPr>
      </p:pic>
      <p:sp>
        <p:nvSpPr>
          <p:cNvPr id="3" name="Text 0"/>
          <p:cNvSpPr/>
          <p:nvPr>
            <p:ph idx="101" type="body" hasCustomPrompt="1"/>
          </p:nvPr>
        </p:nvSpPr>
        <p:spPr>
          <a:xfrm>
            <a:off x="640080" y="457200"/>
            <a:ext cx="8686800" cy="237744"/>
          </a:xfrm>
          <a:prstGeom prst="rect">
            <a:avLst/>
          </a:prstGeom>
          <a:noFill/>
          <a:ln/>
        </p:spPr>
        <p:txBody>
          <a:bodyPr wrap="square" rtlCol="0"/>
          <a:lstStyle>
            <a:lvl1pPr indent="0" marL="0">
              <a:buNone/>
              <a:defRPr lang="en-US" sz="1100" b="1" spc="200" kern="0" dirty="0">
                <a:solidFill>
                  <a:srgbClr val="65172F"/>
                </a:solidFill>
              </a:defRPr>
            </a:lvl1pPr>
          </a:lstStyle>
          <a:p>
            <a:pPr indent="0" marL="0">
              <a:buNone/>
            </a:pPr>
            <a:endParaRPr lang="en-US" sz="1100" dirty="0"/>
          </a:p>
        </p:txBody>
      </p:sp>
      <p:sp>
        <p:nvSpPr>
          <p:cNvPr id="4" name="Text 0"/>
          <p:cNvSpPr/>
          <p:nvPr>
            <p:ph idx="102" type="title" hasCustomPrompt="1"/>
          </p:nvPr>
        </p:nvSpPr>
        <p:spPr>
          <a:xfrm>
            <a:off x="640080" y="749808"/>
            <a:ext cx="9418320" cy="1005840"/>
          </a:xfrm>
          <a:prstGeom prst="rect">
            <a:avLst/>
          </a:prstGeom>
          <a:noFill/>
          <a:ln/>
        </p:spPr>
        <p:txBody>
          <a:bodyPr wrap="square" rtlCol="0"/>
          <a:lstStyle>
            <a:lvl1pPr algn="l" indent="0" marL="0">
              <a:lnSpc>
                <a:spcPct val="95000"/>
              </a:lnSpc>
              <a:buNone/>
              <a:defRPr lang="en-US" sz="3000" b="1" dirty="0">
                <a:solidFill>
                  <a:srgbClr val="171717"/>
                </a:solidFill>
                <a:latin typeface="Aptos Display" pitchFamily="34" charset="0"/>
                <a:ea typeface="Aptos Display" pitchFamily="34" charset="-122"/>
                <a:cs typeface="Aptos Display" pitchFamily="34" charset="-120"/>
              </a:defRPr>
            </a:lvl1pPr>
          </a:lstStyle>
          <a:p>
            <a:pPr algn="l" indent="0" marL="0">
              <a:lnSpc>
                <a:spcPct val="95000"/>
              </a:lnSpc>
              <a:buNone/>
            </a:pPr>
            <a:endParaRPr lang="en-US" sz="3000" dirty="0"/>
          </a:p>
        </p:txBody>
      </p:sp>
      <p:sp>
        <p:nvSpPr>
          <p:cNvPr id="5" name="Text 0"/>
          <p:cNvSpPr/>
          <p:nvPr>
            <p:ph idx="103" type="body" hasCustomPrompt="1"/>
          </p:nvPr>
        </p:nvSpPr>
        <p:spPr>
          <a:xfrm>
            <a:off x="640080" y="6355080"/>
            <a:ext cx="9189720" cy="347472"/>
          </a:xfrm>
          <a:prstGeom prst="rect">
            <a:avLst/>
          </a:prstGeom>
          <a:noFill/>
          <a:ln/>
        </p:spPr>
        <p:txBody>
          <a:bodyPr wrap="square" rtlCol="0"/>
          <a:lstStyle>
            <a:lvl1pPr indent="0" marL="0">
              <a:buNone/>
              <a:defRPr lang="en-US" sz="1000" dirty="0">
                <a:solidFill>
                  <a:srgbClr val="6E665E"/>
                </a:solidFill>
              </a:defRPr>
            </a:lvl1pPr>
          </a:lstStyle>
          <a:p>
            <a:pPr indent="0" marL="0">
              <a:buNone/>
            </a:pPr>
            <a:endParaRPr lang="en-US" sz="1000" dirty="0"/>
          </a:p>
        </p:txBody>
      </p:sp>
      <p:sp>
        <p:nvSpPr>
          <p:cNvPr id="6" name="Text 0"/>
          <p:cNvSpPr/>
          <p:nvPr/>
        </p:nvSpPr>
        <p:spPr>
          <a:xfrm>
            <a:off x="9966960" y="6382512"/>
            <a:ext cx="1051560" cy="256032"/>
          </a:xfrm>
          <a:prstGeom prst="rect">
            <a:avLst/>
          </a:prstGeom>
          <a:noFill/>
          <a:ln/>
        </p:spPr>
        <p:txBody>
          <a:bodyPr wrap="square" lIns="0" tIns="0" rIns="0" bIns="0" rtlCol="0" anchor="ctr"/>
          <a:lstStyle/>
          <a:p>
            <a:pPr algn="r" indent="0" marL="0">
              <a:buNone/>
            </a:pPr>
            <a:r>
              <a:rPr lang="en-US" sz="1000" b="1" spc="100" kern="0" dirty="0">
                <a:solidFill>
                  <a:srgbClr val="65172F"/>
                </a:solidFill>
              </a:rPr>
              <a:t>SMARTSELL</a:t>
            </a:r>
            <a:endParaRPr lang="en-US" sz="1000" dirty="0"/>
          </a:p>
        </p:txBody>
      </p:sp>
      <p:sp>
        <p:nvSpPr>
          <p:cNvPr id="25" name="Slide Number Placeholder 0"/>
          <p:cNvSpPr>
            <a:spLocks noGrp="1"/>
          </p:cNvSpPr>
          <p:nvPr>
            <p:ph type="sldNum" sz="quarter" idx="4294967295"/>
          </p:nvPr>
        </p:nvSpPr>
        <p:spPr>
          <a:xfrm>
            <a:off x="11091672"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665E"/>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VORY">
    <p:bg>
      <p:bgPr>
        <a:solidFill>
          <a:srgbClr val="F7F5F1"/>
        </a:solidFill>
      </p:bgPr>
    </p:bg>
    <p:spTree>
      <p:nvGrpSpPr>
        <p:cNvPr id="1" name=""/>
        <p:cNvGrpSpPr/>
        <p:nvPr/>
      </p:nvGrpSpPr>
      <p:grpSpPr>
        <a:xfrm>
          <a:off x="0" y="0"/>
          <a:ext cx="0" cy="0"/>
          <a:chOff x="0" y="0"/>
          <a:chExt cx="0" cy="0"/>
        </a:xfrm>
      </p:grpSpPr>
      <p:pic>
        <p:nvPicPr>
          <p:cNvPr id="2" name="Image 0" descr="/home/user/Combating-Loneliness/loreal-sales-track/deck/brand/loreal-logo-black.png">    </p:cNvPr>
          <p:cNvPicPr>
            <a:picLocks noChangeAspect="1"/>
          </p:cNvPicPr>
          <p:nvPr/>
        </p:nvPicPr>
        <p:blipFill>
          <a:blip r:embed="rId1"/>
          <a:stretch>
            <a:fillRect/>
          </a:stretch>
        </p:blipFill>
        <p:spPr>
          <a:xfrm>
            <a:off x="10408615" y="457200"/>
            <a:ext cx="1143000" cy="205740"/>
          </a:xfrm>
          <a:prstGeom prst="rect">
            <a:avLst/>
          </a:prstGeom>
        </p:spPr>
      </p:pic>
      <p:sp>
        <p:nvSpPr>
          <p:cNvPr id="3" name="Text 0"/>
          <p:cNvSpPr/>
          <p:nvPr>
            <p:ph idx="101" type="body" hasCustomPrompt="1"/>
          </p:nvPr>
        </p:nvSpPr>
        <p:spPr>
          <a:xfrm>
            <a:off x="640080" y="457200"/>
            <a:ext cx="8686800" cy="237744"/>
          </a:xfrm>
          <a:prstGeom prst="rect">
            <a:avLst/>
          </a:prstGeom>
          <a:noFill/>
          <a:ln/>
        </p:spPr>
        <p:txBody>
          <a:bodyPr wrap="square" rtlCol="0"/>
          <a:lstStyle>
            <a:lvl1pPr indent="0" marL="0">
              <a:buNone/>
              <a:defRPr lang="en-US" sz="1100" b="1" spc="200" kern="0" dirty="0">
                <a:solidFill>
                  <a:srgbClr val="65172F"/>
                </a:solidFill>
              </a:defRPr>
            </a:lvl1pPr>
          </a:lstStyle>
          <a:p>
            <a:pPr indent="0" marL="0">
              <a:buNone/>
            </a:pPr>
            <a:endParaRPr lang="en-US" sz="1100" dirty="0"/>
          </a:p>
        </p:txBody>
      </p:sp>
      <p:sp>
        <p:nvSpPr>
          <p:cNvPr id="4" name="Text 0"/>
          <p:cNvSpPr/>
          <p:nvPr>
            <p:ph idx="102" type="title" hasCustomPrompt="1"/>
          </p:nvPr>
        </p:nvSpPr>
        <p:spPr>
          <a:xfrm>
            <a:off x="640080" y="749808"/>
            <a:ext cx="9418320" cy="1005840"/>
          </a:xfrm>
          <a:prstGeom prst="rect">
            <a:avLst/>
          </a:prstGeom>
          <a:noFill/>
          <a:ln/>
        </p:spPr>
        <p:txBody>
          <a:bodyPr wrap="square" rtlCol="0"/>
          <a:lstStyle>
            <a:lvl1pPr algn="l" indent="0" marL="0">
              <a:lnSpc>
                <a:spcPct val="95000"/>
              </a:lnSpc>
              <a:buNone/>
              <a:defRPr lang="en-US" sz="3000" b="1" dirty="0">
                <a:solidFill>
                  <a:srgbClr val="171717"/>
                </a:solidFill>
                <a:latin typeface="Aptos Display" pitchFamily="34" charset="0"/>
                <a:ea typeface="Aptos Display" pitchFamily="34" charset="-122"/>
                <a:cs typeface="Aptos Display" pitchFamily="34" charset="-120"/>
              </a:defRPr>
            </a:lvl1pPr>
          </a:lstStyle>
          <a:p>
            <a:pPr algn="l" indent="0" marL="0">
              <a:lnSpc>
                <a:spcPct val="95000"/>
              </a:lnSpc>
              <a:buNone/>
            </a:pPr>
            <a:endParaRPr lang="en-US" sz="3000" dirty="0"/>
          </a:p>
        </p:txBody>
      </p:sp>
      <p:sp>
        <p:nvSpPr>
          <p:cNvPr id="5" name="Text 0"/>
          <p:cNvSpPr/>
          <p:nvPr>
            <p:ph idx="103" type="body" hasCustomPrompt="1"/>
          </p:nvPr>
        </p:nvSpPr>
        <p:spPr>
          <a:xfrm>
            <a:off x="640080" y="6355080"/>
            <a:ext cx="9189720" cy="347472"/>
          </a:xfrm>
          <a:prstGeom prst="rect">
            <a:avLst/>
          </a:prstGeom>
          <a:noFill/>
          <a:ln/>
        </p:spPr>
        <p:txBody>
          <a:bodyPr wrap="square" rtlCol="0"/>
          <a:lstStyle>
            <a:lvl1pPr indent="0" marL="0">
              <a:buNone/>
              <a:defRPr lang="en-US" sz="1000" dirty="0">
                <a:solidFill>
                  <a:srgbClr val="6E665E"/>
                </a:solidFill>
              </a:defRPr>
            </a:lvl1pPr>
          </a:lstStyle>
          <a:p>
            <a:pPr indent="0" marL="0">
              <a:buNone/>
            </a:pPr>
            <a:endParaRPr lang="en-US" sz="1000" dirty="0"/>
          </a:p>
        </p:txBody>
      </p:sp>
      <p:sp>
        <p:nvSpPr>
          <p:cNvPr id="6" name="Text 0"/>
          <p:cNvSpPr/>
          <p:nvPr/>
        </p:nvSpPr>
        <p:spPr>
          <a:xfrm>
            <a:off x="9966960" y="6382512"/>
            <a:ext cx="1051560" cy="256032"/>
          </a:xfrm>
          <a:prstGeom prst="rect">
            <a:avLst/>
          </a:prstGeom>
          <a:noFill/>
          <a:ln/>
        </p:spPr>
        <p:txBody>
          <a:bodyPr wrap="square" lIns="0" tIns="0" rIns="0" bIns="0" rtlCol="0" anchor="ctr"/>
          <a:lstStyle/>
          <a:p>
            <a:pPr algn="r" indent="0" marL="0">
              <a:buNone/>
            </a:pPr>
            <a:r>
              <a:rPr lang="en-US" sz="1000" b="1" spc="100" kern="0" dirty="0">
                <a:solidFill>
                  <a:srgbClr val="65172F"/>
                </a:solidFill>
              </a:rPr>
              <a:t>SMARTSELL</a:t>
            </a:r>
            <a:endParaRPr lang="en-US" sz="1000" dirty="0"/>
          </a:p>
        </p:txBody>
      </p:sp>
      <p:sp>
        <p:nvSpPr>
          <p:cNvPr id="25" name="Slide Number Placeholder 0"/>
          <p:cNvSpPr>
            <a:spLocks noGrp="1"/>
          </p:cNvSpPr>
          <p:nvPr>
            <p:ph type="sldNum" sz="quarter" idx="4294967295"/>
          </p:nvPr>
        </p:nvSpPr>
        <p:spPr>
          <a:xfrm>
            <a:off x="11091672"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665E"/>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NIGHT">
    <p:bg>
      <p:bgPr>
        <a:solidFill>
          <a:srgbClr val="171717"/>
        </a:solidFill>
      </p:bgPr>
    </p:bg>
    <p:spTree>
      <p:nvGrpSpPr>
        <p:cNvPr id="1" name=""/>
        <p:cNvGrpSpPr/>
        <p:nvPr/>
      </p:nvGrpSpPr>
      <p:grpSpPr>
        <a:xfrm>
          <a:off x="0" y="0"/>
          <a:ext cx="0" cy="0"/>
          <a:chOff x="0" y="0"/>
          <a:chExt cx="0" cy="0"/>
        </a:xfrm>
      </p:grpSpPr>
      <p:pic>
        <p:nvPicPr>
          <p:cNvPr id="2" name="Image 0" descr="/home/user/Combating-Loneliness/loreal-sales-track/deck/brand/loreal-logo-white.png">    </p:cNvPr>
          <p:cNvPicPr>
            <a:picLocks noChangeAspect="1"/>
          </p:cNvPicPr>
          <p:nvPr/>
        </p:nvPicPr>
        <p:blipFill>
          <a:blip r:embed="rId1"/>
          <a:stretch>
            <a:fillRect/>
          </a:stretch>
        </p:blipFill>
        <p:spPr>
          <a:xfrm>
            <a:off x="10408615" y="457200"/>
            <a:ext cx="1143000" cy="205740"/>
          </a:xfrm>
          <a:prstGeom prst="rect">
            <a:avLst/>
          </a:prstGeom>
        </p:spPr>
      </p:pic>
      <p:sp>
        <p:nvSpPr>
          <p:cNvPr id="3" name="Text 0"/>
          <p:cNvSpPr/>
          <p:nvPr>
            <p:ph idx="101" type="body" hasCustomPrompt="1"/>
          </p:nvPr>
        </p:nvSpPr>
        <p:spPr>
          <a:xfrm>
            <a:off x="640080" y="457200"/>
            <a:ext cx="8686800" cy="237744"/>
          </a:xfrm>
          <a:prstGeom prst="rect">
            <a:avLst/>
          </a:prstGeom>
          <a:noFill/>
          <a:ln/>
        </p:spPr>
        <p:txBody>
          <a:bodyPr wrap="square" rtlCol="0"/>
          <a:lstStyle>
            <a:lvl1pPr indent="0" marL="0">
              <a:buNone/>
              <a:defRPr lang="en-US" sz="1100" b="1" spc="200" kern="0" dirty="0">
                <a:solidFill>
                  <a:srgbClr val="B9808F"/>
                </a:solidFill>
              </a:defRPr>
            </a:lvl1pPr>
          </a:lstStyle>
          <a:p>
            <a:pPr indent="0" marL="0">
              <a:buNone/>
            </a:pPr>
            <a:endParaRPr lang="en-US" sz="1100" dirty="0"/>
          </a:p>
        </p:txBody>
      </p:sp>
      <p:sp>
        <p:nvSpPr>
          <p:cNvPr id="4" name="Text 0"/>
          <p:cNvSpPr/>
          <p:nvPr>
            <p:ph idx="102" type="title" hasCustomPrompt="1"/>
          </p:nvPr>
        </p:nvSpPr>
        <p:spPr>
          <a:xfrm>
            <a:off x="640080" y="749808"/>
            <a:ext cx="9418320" cy="1005840"/>
          </a:xfrm>
          <a:prstGeom prst="rect">
            <a:avLst/>
          </a:prstGeom>
          <a:noFill/>
          <a:ln/>
        </p:spPr>
        <p:txBody>
          <a:bodyPr wrap="square" rtlCol="0"/>
          <a:lstStyle>
            <a:lvl1pPr algn="l" indent="0" marL="0">
              <a:lnSpc>
                <a:spcPct val="95000"/>
              </a:lnSpc>
              <a:buNone/>
              <a:defRPr lang="en-US" sz="3000" b="1" dirty="0">
                <a:solidFill>
                  <a:srgbClr val="FFFFFF"/>
                </a:solidFill>
                <a:latin typeface="Aptos Display" pitchFamily="34" charset="0"/>
                <a:ea typeface="Aptos Display" pitchFamily="34" charset="-122"/>
                <a:cs typeface="Aptos Display" pitchFamily="34" charset="-120"/>
              </a:defRPr>
            </a:lvl1pPr>
          </a:lstStyle>
          <a:p>
            <a:pPr algn="l" indent="0" marL="0">
              <a:lnSpc>
                <a:spcPct val="95000"/>
              </a:lnSpc>
              <a:buNone/>
            </a:pPr>
            <a:endParaRPr lang="en-US" sz="3000" dirty="0"/>
          </a:p>
        </p:txBody>
      </p:sp>
      <p:sp>
        <p:nvSpPr>
          <p:cNvPr id="5" name="Text 0"/>
          <p:cNvSpPr/>
          <p:nvPr>
            <p:ph idx="103" type="body" hasCustomPrompt="1"/>
          </p:nvPr>
        </p:nvSpPr>
        <p:spPr>
          <a:xfrm>
            <a:off x="640080" y="6355080"/>
            <a:ext cx="9189720" cy="347472"/>
          </a:xfrm>
          <a:prstGeom prst="rect">
            <a:avLst/>
          </a:prstGeom>
          <a:noFill/>
          <a:ln/>
        </p:spPr>
        <p:txBody>
          <a:bodyPr wrap="square" rtlCol="0"/>
          <a:lstStyle>
            <a:lvl1pPr indent="0" marL="0">
              <a:buNone/>
              <a:defRPr lang="en-US" sz="1000" dirty="0">
                <a:solidFill>
                  <a:srgbClr val="A9A096"/>
                </a:solidFill>
              </a:defRPr>
            </a:lvl1pPr>
          </a:lstStyle>
          <a:p>
            <a:pPr indent="0" marL="0">
              <a:buNone/>
            </a:pPr>
            <a:endParaRPr lang="en-US" sz="1000" dirty="0"/>
          </a:p>
        </p:txBody>
      </p:sp>
      <p:sp>
        <p:nvSpPr>
          <p:cNvPr id="6" name="Text 0"/>
          <p:cNvSpPr/>
          <p:nvPr/>
        </p:nvSpPr>
        <p:spPr>
          <a:xfrm>
            <a:off x="9966960" y="6382512"/>
            <a:ext cx="1051560" cy="256032"/>
          </a:xfrm>
          <a:prstGeom prst="rect">
            <a:avLst/>
          </a:prstGeom>
          <a:noFill/>
          <a:ln/>
        </p:spPr>
        <p:txBody>
          <a:bodyPr wrap="square" lIns="0" tIns="0" rIns="0" bIns="0" rtlCol="0" anchor="ctr"/>
          <a:lstStyle/>
          <a:p>
            <a:pPr algn="r" indent="0" marL="0">
              <a:buNone/>
            </a:pPr>
            <a:r>
              <a:rPr lang="en-US" sz="1000" b="1" spc="100" kern="0" dirty="0">
                <a:solidFill>
                  <a:srgbClr val="EFE3E6"/>
                </a:solidFill>
              </a:rPr>
              <a:t>SMARTSELL</a:t>
            </a:r>
            <a:endParaRPr lang="en-US" sz="1000" dirty="0"/>
          </a:p>
        </p:txBody>
      </p:sp>
      <p:sp>
        <p:nvSpPr>
          <p:cNvPr id="25" name="Slide Number Placeholder 0"/>
          <p:cNvSpPr>
            <a:spLocks noGrp="1"/>
          </p:cNvSpPr>
          <p:nvPr>
            <p:ph type="sldNum" sz="quarter" idx="4294967295"/>
          </p:nvPr>
        </p:nvSpPr>
        <p:spPr>
          <a:xfrm>
            <a:off x="11091672"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A9A096"/>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URGUNDY">
    <p:bg>
      <p:bgPr>
        <a:solidFill>
          <a:srgbClr val="65172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EFE3E6"/>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665E"/>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smartsell-loreal.vercel.app" TargetMode="External"/><Relationship Id="rId1" Type="http://schemas.openxmlformats.org/officeDocument/2006/relationships/image" Target="../media/image-1-1.png"/><Relationship Id="rId3" Type="http://schemas.openxmlformats.org/officeDocument/2006/relationships/image" Target="../media/image-1-2.jpg"/><Relationship Id="rId4" Type="http://schemas.openxmlformats.org/officeDocument/2006/relationships/image" Target="../media/image-1-3.jpg"/><Relationship Id="rId5" Type="http://schemas.openxmlformats.org/officeDocument/2006/relationships/slideLayout" Target="../slideLayouts/slideLayout5.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6" Type="http://schemas.openxmlformats.org/officeDocument/2006/relationships/hyperlink" Target="https://smartsell-loreal.vercel.app" TargetMode="External"/><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image" Target="../media/image-12-3.jpg"/><Relationship Id="rId4" Type="http://schemas.openxmlformats.org/officeDocument/2006/relationships/image" Target="../media/image-12-4.jpg"/><Relationship Id="rId5" Type="http://schemas.openxmlformats.org/officeDocument/2006/relationships/image" Target="../media/image-12-5.png"/><Relationship Id="rId7" Type="http://schemas.openxmlformats.org/officeDocument/2006/relationships/slideLayout" Target="../slideLayouts/slideLayout4.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hyperlink" Target="https://smartsell-loreal.vercel.app" TargetMode="External"/><Relationship Id="rId1" Type="http://schemas.openxmlformats.org/officeDocument/2006/relationships/image" Target="../media/image-17-1.png"/><Relationship Id="rId3" Type="http://schemas.openxmlformats.org/officeDocument/2006/relationships/image" Target="../media/image-17-2.png"/><Relationship Id="rId4" Type="http://schemas.openxmlformats.org/officeDocument/2006/relationships/slideLayout" Target="../slideLayouts/slideLayout5.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home/user/Combating-Loneliness/loreal-sales-track/deck/brand/loreal-logo-white.png">    </p:cNvPr>
          <p:cNvPicPr>
            <a:picLocks noChangeAspect="1"/>
          </p:cNvPicPr>
          <p:nvPr/>
        </p:nvPicPr>
        <p:blipFill>
          <a:blip r:embed="rId1"/>
          <a:stretch>
            <a:fillRect/>
          </a:stretch>
        </p:blipFill>
        <p:spPr>
          <a:xfrm>
            <a:off x="640080" y="566928"/>
            <a:ext cx="1417320" cy="255118"/>
          </a:xfrm>
          <a:prstGeom prst="rect">
            <a:avLst/>
          </a:prstGeom>
        </p:spPr>
      </p:pic>
      <p:sp>
        <p:nvSpPr>
          <p:cNvPr id="3" name="line-1"/>
          <p:cNvSpPr/>
          <p:nvPr/>
        </p:nvSpPr>
        <p:spPr>
          <a:xfrm>
            <a:off x="2267712" y="521208"/>
            <a:ext cx="0" cy="347472"/>
          </a:xfrm>
          <a:prstGeom prst="line">
            <a:avLst/>
          </a:prstGeom>
          <a:noFill/>
          <a:ln w="9525">
            <a:solidFill>
              <a:srgbClr val="B9808F"/>
            </a:solidFill>
            <a:prstDash val="solid"/>
          </a:ln>
        </p:spPr>
      </p:sp>
      <p:sp>
        <p:nvSpPr>
          <p:cNvPr id="4" name="text-2"/>
          <p:cNvSpPr txBox="1"/>
          <p:nvPr/>
        </p:nvSpPr>
        <p:spPr>
          <a:xfrm>
            <a:off x="2423160" y="585216"/>
            <a:ext cx="5029200" cy="237744"/>
          </a:xfrm>
          <a:prstGeom prst="rect">
            <a:avLst/>
          </a:prstGeom>
          <a:noFill/>
          <a:ln/>
        </p:spPr>
        <p:txBody>
          <a:bodyPr wrap="square" lIns="0" tIns="0" rIns="0" bIns="0" rtlCol="0" anchor="t"/>
          <a:lstStyle/>
          <a:p>
            <a:pPr indent="0" marL="0">
              <a:buNone/>
            </a:pPr>
            <a:r>
              <a:rPr lang="en-US" sz="1100" b="1" spc="200" kern="0" dirty="0">
                <a:solidFill>
                  <a:srgbClr val="EFE3E6"/>
                </a:solidFill>
              </a:rPr>
              <a:t>SUSTAINABILITY CHALLENGE 2026 · SALES TRACK</a:t>
            </a:r>
            <a:endParaRPr lang="en-US" sz="1100" dirty="0"/>
          </a:p>
        </p:txBody>
      </p:sp>
      <p:sp>
        <p:nvSpPr>
          <p:cNvPr id="5" name="text-3"/>
          <p:cNvSpPr txBox="1"/>
          <p:nvPr/>
        </p:nvSpPr>
        <p:spPr>
          <a:xfrm>
            <a:off x="640080" y="1783080"/>
            <a:ext cx="6035040" cy="1143000"/>
          </a:xfrm>
          <a:prstGeom prst="rect">
            <a:avLst/>
          </a:prstGeom>
          <a:noFill/>
          <a:ln/>
        </p:spPr>
        <p:txBody>
          <a:bodyPr wrap="square" lIns="0" tIns="0" rIns="0" bIns="0" rtlCol="0" anchor="t"/>
          <a:lstStyle/>
          <a:p>
            <a:pPr indent="0" marL="0">
              <a:buNone/>
            </a:pPr>
            <a:r>
              <a:rPr lang="en-US" sz="7200" b="1" spc="-100" kern="0" dirty="0">
                <a:solidFill>
                  <a:srgbClr val="FFFFFF"/>
                </a:solidFill>
                <a:latin typeface="Aptos Display" pitchFamily="34" charset="0"/>
                <a:ea typeface="Aptos Display" pitchFamily="34" charset="-122"/>
                <a:cs typeface="Aptos Display" pitchFamily="34" charset="-120"/>
              </a:rPr>
              <a:t>SMARTSELL</a:t>
            </a:r>
            <a:endParaRPr lang="en-US" sz="7200" dirty="0"/>
          </a:p>
        </p:txBody>
      </p:sp>
      <p:sp>
        <p:nvSpPr>
          <p:cNvPr id="6" name="text-4"/>
          <p:cNvSpPr txBox="1"/>
          <p:nvPr/>
        </p:nvSpPr>
        <p:spPr>
          <a:xfrm>
            <a:off x="640080" y="2971800"/>
            <a:ext cx="5486400" cy="914400"/>
          </a:xfrm>
          <a:prstGeom prst="rect">
            <a:avLst/>
          </a:prstGeom>
          <a:noFill/>
          <a:ln/>
        </p:spPr>
        <p:txBody>
          <a:bodyPr wrap="square" lIns="0" tIns="0" rIns="0" bIns="0" rtlCol="0" anchor="t"/>
          <a:lstStyle/>
          <a:p>
            <a:pPr indent="0" marL="0">
              <a:buNone/>
            </a:pPr>
            <a:r>
              <a:rPr lang="en-US" sz="2600" dirty="0">
                <a:solidFill>
                  <a:srgbClr val="FFFFFF"/>
                </a:solidFill>
                <a:latin typeface="Aptos Display" pitchFamily="34" charset="0"/>
                <a:ea typeface="Aptos Display" pitchFamily="34" charset="-122"/>
                <a:cs typeface="Aptos Display" pitchFamily="34" charset="-120"/>
              </a:rPr>
              <a:t>Turning field sales into a growth and sustainability engine</a:t>
            </a:r>
            <a:endParaRPr lang="en-US" sz="2600" dirty="0"/>
          </a:p>
        </p:txBody>
      </p:sp>
      <p:sp>
        <p:nvSpPr>
          <p:cNvPr id="7" name="text-5"/>
          <p:cNvSpPr txBox="1"/>
          <p:nvPr/>
        </p:nvSpPr>
        <p:spPr>
          <a:xfrm>
            <a:off x="640080" y="4114800"/>
            <a:ext cx="5303520" cy="868680"/>
          </a:xfrm>
          <a:prstGeom prst="rect">
            <a:avLst/>
          </a:prstGeom>
          <a:noFill/>
          <a:ln/>
        </p:spPr>
        <p:txBody>
          <a:bodyPr wrap="square" lIns="0" tIns="0" rIns="0" bIns="0" rtlCol="0" anchor="t"/>
          <a:lstStyle/>
          <a:p>
            <a:pPr indent="0" marL="0">
              <a:buNone/>
            </a:pPr>
            <a:r>
              <a:rPr lang="en-US" sz="1500" dirty="0">
                <a:solidFill>
                  <a:srgbClr val="EFE3E6"/>
                </a:solidFill>
              </a:rPr>
              <a:t>Move from selling more inventory into the channel to moving the right inventory to the right customer, at the right place and at the right time.</a:t>
            </a:r>
            <a:endParaRPr lang="en-US" sz="1500" dirty="0"/>
          </a:p>
        </p:txBody>
      </p:sp>
      <p:sp>
        <p:nvSpPr>
          <p:cNvPr id="8" name="text-6"/>
          <p:cNvSpPr txBox="1"/>
          <p:nvPr/>
        </p:nvSpPr>
        <p:spPr>
          <a:xfrm>
            <a:off x="640080" y="5532120"/>
            <a:ext cx="2743200" cy="237744"/>
          </a:xfrm>
          <a:prstGeom prst="rect">
            <a:avLst/>
          </a:prstGeom>
          <a:noFill/>
          <a:ln/>
        </p:spPr>
        <p:txBody>
          <a:bodyPr wrap="square" lIns="0" tIns="0" rIns="0" bIns="0" rtlCol="0" anchor="t"/>
          <a:lstStyle/>
          <a:p>
            <a:pPr indent="0" marL="0">
              <a:buNone/>
            </a:pPr>
            <a:r>
              <a:rPr lang="en-US" sz="1050" b="1" spc="150" kern="0" dirty="0">
                <a:solidFill>
                  <a:srgbClr val="B9808F"/>
                </a:solidFill>
              </a:rPr>
              <a:t>LIVE PROTOTYPE</a:t>
            </a:r>
            <a:endParaRPr lang="en-US" sz="1050" dirty="0"/>
          </a:p>
        </p:txBody>
      </p:sp>
      <p:sp>
        <p:nvSpPr>
          <p:cNvPr id="9" name="text-7"/>
          <p:cNvSpPr txBox="1"/>
          <p:nvPr/>
        </p:nvSpPr>
        <p:spPr>
          <a:xfrm>
            <a:off x="640080" y="5788152"/>
            <a:ext cx="4114800" cy="320040"/>
          </a:xfrm>
          <a:prstGeom prst="rect">
            <a:avLst/>
          </a:prstGeom>
          <a:noFill/>
          <a:ln/>
        </p:spPr>
        <p:txBody>
          <a:bodyPr wrap="square" lIns="0" tIns="0" rIns="0" bIns="0" rtlCol="0" anchor="t"/>
          <a:lstStyle/>
          <a:p>
            <a:pPr indent="0" marL="0">
              <a:buNone/>
            </a:pPr>
            <a:r>
              <a:rPr lang="en-US" sz="1600" b="1" u="sng" dirty="0">
                <a:solidFill>
                  <a:srgbClr val="FFFFFF"/>
                </a:solidFill>
                <a:hlinkClick r:id="rId2" invalidUrl="" action="" tgtFrame="" tooltip="" history="1" highlightClick="0" endSnd="0">
                  <a:extLst>
                    <a:ext uri="{A12FA001-AC4F-418D-AE19-62706E023703}">
                      <ahyp:hlinkClr xmlns:ahyp="http://schemas.microsoft.com/office/drawing/2018/hyperlinkcolor" val="tx"/>
                    </a:ext>
                  </a:extLst>
                </a:hlinkClick>
              </a:rPr>
              <a:t>smartsell-loreal.vercel.app</a:t>
            </a:r>
            <a:endParaRPr lang="en-US" sz="1600" dirty="0"/>
          </a:p>
        </p:txBody>
      </p:sp>
      <p:sp>
        <p:nvSpPr>
          <p:cNvPr id="10" name="text-8"/>
          <p:cNvSpPr txBox="1"/>
          <p:nvPr/>
        </p:nvSpPr>
        <p:spPr>
          <a:xfrm>
            <a:off x="4206240" y="5833872"/>
            <a:ext cx="2377440" cy="274320"/>
          </a:xfrm>
          <a:prstGeom prst="rect">
            <a:avLst/>
          </a:prstGeom>
          <a:noFill/>
          <a:ln/>
        </p:spPr>
        <p:txBody>
          <a:bodyPr wrap="square" lIns="0" tIns="0" rIns="0" bIns="0" rtlCol="0" anchor="t"/>
          <a:lstStyle/>
          <a:p>
            <a:pPr indent="0" marL="0">
              <a:buNone/>
            </a:pPr>
            <a:r>
              <a:rPr lang="en-US" sz="1100" dirty="0">
                <a:solidFill>
                  <a:srgbClr val="B9808F"/>
                </a:solidFill>
              </a:rPr>
              <a:t>All prototype data is synthetic</a:t>
            </a:r>
            <a:endParaRPr lang="en-US" sz="1100" dirty="0"/>
          </a:p>
        </p:txBody>
      </p:sp>
      <p:sp>
        <p:nvSpPr>
          <p:cNvPr id="11" name="rrect-9"/>
          <p:cNvSpPr/>
          <p:nvPr/>
        </p:nvSpPr>
        <p:spPr>
          <a:xfrm>
            <a:off x="6720840" y="1371600"/>
            <a:ext cx="4983480" cy="3310128"/>
          </a:xfrm>
          <a:prstGeom prst="roundRect">
            <a:avLst>
              <a:gd name="adj" fmla="val 2210"/>
            </a:avLst>
          </a:prstGeom>
          <a:solidFill>
            <a:srgbClr val="1A1A1A"/>
          </a:solidFill>
          <a:ln w="12700">
            <a:solidFill>
              <a:srgbClr val="1A1A1A"/>
            </a:solidFill>
            <a:prstDash val="solid"/>
          </a:ln>
          <a:effectLst>
            <a:outerShdw sx="100000" sy="100000" kx="0" ky="0" algn="bl" rotWithShape="0" blurRad="203200" dist="76200" dir="5400000">
              <a:srgbClr val="000000">
                <a:alpha val="40000"/>
              </a:srgbClr>
            </a:outerShdw>
          </a:effectLst>
        </p:spPr>
      </p:sp>
      <p:pic>
        <p:nvPicPr>
          <p:cNvPr id="12" name="laptop-screen-10" descr="Today's beat in SMARTSELL">    </p:cNvPr>
          <p:cNvPicPr>
            <a:picLocks noChangeAspect="1"/>
          </p:cNvPicPr>
          <p:nvPr/>
        </p:nvPicPr>
        <p:blipFill>
          <a:blip r:embed="rId3"/>
          <a:stretch>
            <a:fillRect/>
          </a:stretch>
        </p:blipFill>
        <p:spPr>
          <a:xfrm>
            <a:off x="6858000" y="1508760"/>
            <a:ext cx="4709160" cy="2943225"/>
          </a:xfrm>
          <a:prstGeom prst="rect">
            <a:avLst/>
          </a:prstGeom>
        </p:spPr>
      </p:pic>
      <p:sp>
        <p:nvSpPr>
          <p:cNvPr id="13" name="rrect-11"/>
          <p:cNvSpPr/>
          <p:nvPr/>
        </p:nvSpPr>
        <p:spPr>
          <a:xfrm>
            <a:off x="6355080" y="4681728"/>
            <a:ext cx="5715000" cy="146304"/>
          </a:xfrm>
          <a:prstGeom prst="roundRect">
            <a:avLst>
              <a:gd name="adj" fmla="val 50000"/>
            </a:avLst>
          </a:prstGeom>
          <a:solidFill>
            <a:srgbClr val="2A2A2A"/>
          </a:solidFill>
          <a:ln w="12700">
            <a:solidFill>
              <a:srgbClr val="2A2A2A"/>
            </a:solidFill>
            <a:prstDash val="solid"/>
          </a:ln>
        </p:spPr>
      </p:sp>
      <p:sp>
        <p:nvSpPr>
          <p:cNvPr id="14" name="rect-12"/>
          <p:cNvSpPr/>
          <p:nvPr/>
        </p:nvSpPr>
        <p:spPr>
          <a:xfrm>
            <a:off x="8869680" y="4681728"/>
            <a:ext cx="685800" cy="45720"/>
          </a:xfrm>
          <a:prstGeom prst="rect">
            <a:avLst/>
          </a:prstGeom>
          <a:solidFill>
            <a:srgbClr val="3E3E3E"/>
          </a:solidFill>
          <a:ln w="12700">
            <a:solidFill>
              <a:srgbClr val="3E3E3E"/>
            </a:solidFill>
            <a:prstDash val="solid"/>
          </a:ln>
        </p:spPr>
      </p:sp>
      <p:sp>
        <p:nvSpPr>
          <p:cNvPr id="15" name="rrect-13"/>
          <p:cNvSpPr/>
          <p:nvPr/>
        </p:nvSpPr>
        <p:spPr>
          <a:xfrm>
            <a:off x="10158984" y="2706624"/>
            <a:ext cx="1536192" cy="3132875"/>
          </a:xfrm>
          <a:prstGeom prst="roundRect">
            <a:avLst>
              <a:gd name="adj" fmla="val 10714"/>
            </a:avLst>
          </a:prstGeom>
          <a:solidFill>
            <a:srgbClr val="0E0E0E"/>
          </a:solidFill>
          <a:ln w="12700">
            <a:solidFill>
              <a:srgbClr val="0E0E0E"/>
            </a:solidFill>
            <a:prstDash val="solid"/>
          </a:ln>
          <a:effectLst>
            <a:outerShdw sx="100000" sy="100000" kx="0" ky="0" algn="bl" rotWithShape="0" blurRad="152400" dist="50800" dir="5400000">
              <a:srgbClr val="000000">
                <a:alpha val="35000"/>
              </a:srgbClr>
            </a:outerShdw>
          </a:effectLst>
        </p:spPr>
      </p:sp>
      <p:pic>
        <p:nvPicPr>
          <p:cNvPr id="16" name="phone-shot-14" descr="Smart Count on a phone">    </p:cNvPr>
          <p:cNvPicPr>
            <a:picLocks noChangeAspect="1"/>
          </p:cNvPicPr>
          <p:nvPr/>
        </p:nvPicPr>
        <p:blipFill>
          <a:blip r:embed="rId4"/>
          <a:stretch>
            <a:fillRect/>
          </a:stretch>
        </p:blipFill>
        <p:spPr>
          <a:xfrm>
            <a:off x="10241280" y="2788920"/>
            <a:ext cx="1371600" cy="2968283"/>
          </a:xfrm>
          <a:prstGeom prst="rect">
            <a:avLst/>
          </a:prstGeom>
        </p:spPr>
      </p:pic>
      <p:sp>
        <p:nvSpPr>
          <p:cNvPr id="25" name="Slide Number Placeholder 0"/>
          <p:cNvSpPr>
            <a:spLocks noGrp="1"/>
          </p:cNvSpPr>
          <p:nvPr>
            <p:ph type="sldNum" sz="quarter" idx="4294967295"/>
          </p:nvPr>
        </p:nvSpPr>
        <p:spPr>
          <a:xfrm>
            <a:off x="11091672"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EFE3E6"/>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body" hasCustomPrompt="1"/>
          </p:nvPr>
        </p:nvSpPr>
        <p:spPr>
          <a:xfrm>
            <a:off x="640080" y="457200"/>
            <a:ext cx="8686800" cy="237744"/>
          </a:xfrm>
          <a:prstGeom prst="rect">
            <a:avLst/>
          </a:prstGeom>
          <a:noFill/>
          <a:ln/>
        </p:spPr>
        <p:txBody>
          <a:bodyPr wrap="square" lIns="0" tIns="0" rIns="0" bIns="0" rtlCol="0" anchor="t"/>
          <a:lstStyle/>
          <a:p>
            <a:pPr indent="0" marL="0">
              <a:buNone/>
            </a:pPr>
            <a:r>
              <a:rPr lang="en-US" sz="1100" b="1" spc="200" kern="0" dirty="0">
                <a:solidFill>
                  <a:srgbClr val="65172F"/>
                </a:solidFill>
              </a:rPr>
              <a:t>EXECUTIVE SUMMARY</a:t>
            </a:r>
            <a:endParaRPr lang="en-US" sz="1100" dirty="0"/>
          </a:p>
        </p:txBody>
      </p:sp>
      <p:sp>
        <p:nvSpPr>
          <p:cNvPr id="3" name="Text 0"/>
          <p:cNvSpPr/>
          <p:nvPr>
            <p:ph idx="102" type="title" hasCustomPrompt="1"/>
          </p:nvPr>
        </p:nvSpPr>
        <p:spPr>
          <a:xfrm>
            <a:off x="640080" y="749808"/>
            <a:ext cx="9418320" cy="1005840"/>
          </a:xfrm>
          <a:prstGeom prst="rect">
            <a:avLst/>
          </a:prstGeom>
          <a:noFill/>
          <a:ln/>
        </p:spPr>
        <p:txBody>
          <a:bodyPr wrap="square" lIns="0" tIns="0" rIns="0" bIns="0" rtlCol="0" anchor="t"/>
          <a:lstStyle/>
          <a:p>
            <a:pPr algn="l" indent="0" marL="0">
              <a:lnSpc>
                <a:spcPct val="95000"/>
              </a:lnSpc>
              <a:buNone/>
            </a:pPr>
            <a:r>
              <a:rPr lang="en-US" sz="3000" b="1" dirty="0">
                <a:solidFill>
                  <a:srgbClr val="171717"/>
                </a:solidFill>
                <a:latin typeface="Aptos Display" pitchFamily="34" charset="0"/>
                <a:ea typeface="Aptos Display" pitchFamily="34" charset="-122"/>
                <a:cs typeface="Aptos Display" pitchFamily="34" charset="-120"/>
              </a:rPr>
              <a:t>Less waste and more growth come from the same move: acting on the shelf before the order</a:t>
            </a:r>
            <a:endParaRPr lang="en-US" sz="3000" dirty="0"/>
          </a:p>
        </p:txBody>
      </p:sp>
      <p:sp>
        <p:nvSpPr>
          <p:cNvPr id="4" name="Text 0"/>
          <p:cNvSpPr/>
          <p:nvPr>
            <p:ph idx="103" type="body" hasCustomPrompt="1"/>
          </p:nvPr>
        </p:nvSpPr>
        <p:spPr>
          <a:xfrm>
            <a:off x="640080" y="6355080"/>
            <a:ext cx="9189720" cy="347472"/>
          </a:xfrm>
          <a:prstGeom prst="rect">
            <a:avLst/>
          </a:prstGeom>
          <a:noFill/>
          <a:ln/>
        </p:spPr>
        <p:txBody>
          <a:bodyPr wrap="square" lIns="0" tIns="0" rIns="0" bIns="0" rtlCol="0" anchor="t"/>
          <a:lstStyle/>
          <a:p>
            <a:pPr indent="0" marL="0">
              <a:buNone/>
            </a:pPr>
            <a:r>
              <a:rPr lang="en-US" sz="1000" dirty="0">
                <a:solidFill>
                  <a:srgbClr val="6E665E"/>
                </a:solidFill>
              </a:rPr>
              <a:t>Sources: L'Oréal Sales Track case (≈1.5%, ≈1%); financials are illustrative estimates (Appendix C). Prototype data is synthetic.</a:t>
            </a:r>
            <a:endParaRPr lang="en-US" sz="1000" dirty="0"/>
          </a:p>
        </p:txBody>
      </p:sp>
      <p:sp>
        <p:nvSpPr>
          <p:cNvPr id="6" name="line-15"/>
          <p:cNvSpPr/>
          <p:nvPr/>
        </p:nvSpPr>
        <p:spPr>
          <a:xfrm>
            <a:off x="768096" y="2121408"/>
            <a:ext cx="10637215" cy="0"/>
          </a:xfrm>
          <a:prstGeom prst="line">
            <a:avLst/>
          </a:prstGeom>
          <a:noFill/>
          <a:ln w="15875">
            <a:solidFill>
              <a:srgbClr val="E3DED7"/>
            </a:solidFill>
            <a:prstDash val="solid"/>
          </a:ln>
        </p:spPr>
      </p:sp>
      <p:sp>
        <p:nvSpPr>
          <p:cNvPr id="7" name="dot-16"/>
          <p:cNvSpPr/>
          <p:nvPr/>
        </p:nvSpPr>
        <p:spPr>
          <a:xfrm>
            <a:off x="640080" y="1993392"/>
            <a:ext cx="256032" cy="256032"/>
          </a:xfrm>
          <a:prstGeom prst="ellipse">
            <a:avLst/>
          </a:prstGeom>
          <a:solidFill>
            <a:srgbClr val="65172F"/>
          </a:solidFill>
          <a:ln w="12700">
            <a:solidFill>
              <a:srgbClr val="65172F"/>
            </a:solidFill>
            <a:prstDash val="solid"/>
          </a:ln>
        </p:spPr>
      </p:sp>
      <p:sp>
        <p:nvSpPr>
          <p:cNvPr id="8" name="text-17"/>
          <p:cNvSpPr txBox="1"/>
          <p:nvPr/>
        </p:nvSpPr>
        <p:spPr>
          <a:xfrm>
            <a:off x="640080" y="2395728"/>
            <a:ext cx="2560320" cy="237744"/>
          </a:xfrm>
          <a:prstGeom prst="rect">
            <a:avLst/>
          </a:prstGeom>
          <a:noFill/>
          <a:ln/>
        </p:spPr>
        <p:txBody>
          <a:bodyPr wrap="square" lIns="0" tIns="0" rIns="0" bIns="0" rtlCol="0" anchor="t"/>
          <a:lstStyle/>
          <a:p>
            <a:pPr indent="0" marL="0">
              <a:buNone/>
            </a:pPr>
            <a:r>
              <a:rPr lang="en-US" sz="1050" b="1" spc="150" kern="0" dirty="0">
                <a:solidFill>
                  <a:srgbClr val="65172F"/>
                </a:solidFill>
              </a:rPr>
              <a:t>01  PROBLEM</a:t>
            </a:r>
            <a:endParaRPr lang="en-US" sz="1050" dirty="0"/>
          </a:p>
        </p:txBody>
      </p:sp>
      <p:sp>
        <p:nvSpPr>
          <p:cNvPr id="9" name="text-18"/>
          <p:cNvSpPr txBox="1"/>
          <p:nvPr/>
        </p:nvSpPr>
        <p:spPr>
          <a:xfrm>
            <a:off x="640080" y="2697480"/>
            <a:ext cx="2514600" cy="1143000"/>
          </a:xfrm>
          <a:prstGeom prst="rect">
            <a:avLst/>
          </a:prstGeom>
          <a:noFill/>
          <a:ln/>
        </p:spPr>
        <p:txBody>
          <a:bodyPr wrap="square" lIns="0" tIns="0" rIns="0" bIns="0" rtlCol="0" anchor="t"/>
          <a:lstStyle/>
          <a:p>
            <a:pPr indent="0" marL="0">
              <a:lnSpc>
                <a:spcPct val="95000"/>
              </a:lnSpc>
              <a:buNone/>
            </a:pPr>
            <a:r>
              <a:rPr lang="en-US" sz="2400" b="1" dirty="0">
                <a:solidFill>
                  <a:srgbClr val="171717"/>
                </a:solidFill>
                <a:latin typeface="Aptos Display" pitchFamily="34" charset="0"/>
                <a:ea typeface="Aptos Display" pitchFamily="34" charset="-122"/>
                <a:cs typeface="Aptos Display" pitchFamily="34" charset="-120"/>
              </a:rPr>
              <a:t>≈2.5% of revenue</a:t>
            </a:r>
            <a:endParaRPr lang="en-US" sz="2400" dirty="0"/>
          </a:p>
        </p:txBody>
      </p:sp>
      <p:sp>
        <p:nvSpPr>
          <p:cNvPr id="10" name="text-19"/>
          <p:cNvSpPr txBox="1"/>
          <p:nvPr/>
        </p:nvSpPr>
        <p:spPr>
          <a:xfrm>
            <a:off x="640080" y="3886200"/>
            <a:ext cx="2468880" cy="1097280"/>
          </a:xfrm>
          <a:prstGeom prst="rect">
            <a:avLst/>
          </a:prstGeom>
          <a:noFill/>
          <a:ln/>
        </p:spPr>
        <p:txBody>
          <a:bodyPr wrap="square" lIns="0" tIns="0" rIns="0" bIns="0" rtlCol="0" anchor="t"/>
          <a:lstStyle/>
          <a:p>
            <a:pPr indent="0" marL="0">
              <a:buNone/>
            </a:pPr>
            <a:r>
              <a:rPr lang="en-US" sz="1300" dirty="0">
                <a:solidFill>
                  <a:srgbClr val="6E665E"/>
                </a:solidFill>
              </a:rPr>
              <a:t>≈1.5% returned, expired or damaged plus ≈1% to handle it (case). Cutting orders only swaps waste for stock-outs.</a:t>
            </a:r>
            <a:endParaRPr lang="en-US" sz="1300" dirty="0"/>
          </a:p>
        </p:txBody>
      </p:sp>
      <p:sp>
        <p:nvSpPr>
          <p:cNvPr id="11" name="dot-20"/>
          <p:cNvSpPr/>
          <p:nvPr/>
        </p:nvSpPr>
        <p:spPr>
          <a:xfrm>
            <a:off x="3429000" y="1993392"/>
            <a:ext cx="256032" cy="256032"/>
          </a:xfrm>
          <a:prstGeom prst="ellipse">
            <a:avLst/>
          </a:prstGeom>
          <a:solidFill>
            <a:srgbClr val="171717"/>
          </a:solidFill>
          <a:ln w="12700">
            <a:solidFill>
              <a:srgbClr val="171717"/>
            </a:solidFill>
            <a:prstDash val="solid"/>
          </a:ln>
        </p:spPr>
      </p:sp>
      <p:sp>
        <p:nvSpPr>
          <p:cNvPr id="12" name="text-21"/>
          <p:cNvSpPr txBox="1"/>
          <p:nvPr/>
        </p:nvSpPr>
        <p:spPr>
          <a:xfrm>
            <a:off x="3429000" y="2395728"/>
            <a:ext cx="2560320" cy="237744"/>
          </a:xfrm>
          <a:prstGeom prst="rect">
            <a:avLst/>
          </a:prstGeom>
          <a:noFill/>
          <a:ln/>
        </p:spPr>
        <p:txBody>
          <a:bodyPr wrap="square" lIns="0" tIns="0" rIns="0" bIns="0" rtlCol="0" anchor="t"/>
          <a:lstStyle/>
          <a:p>
            <a:pPr indent="0" marL="0">
              <a:buNone/>
            </a:pPr>
            <a:r>
              <a:rPr lang="en-US" sz="1050" b="1" spc="150" kern="0" dirty="0">
                <a:solidFill>
                  <a:srgbClr val="171717"/>
                </a:solidFill>
              </a:rPr>
              <a:t>02  INSIGHT</a:t>
            </a:r>
            <a:endParaRPr lang="en-US" sz="1050" dirty="0"/>
          </a:p>
        </p:txBody>
      </p:sp>
      <p:sp>
        <p:nvSpPr>
          <p:cNvPr id="13" name="text-22"/>
          <p:cNvSpPr txBox="1"/>
          <p:nvPr/>
        </p:nvSpPr>
        <p:spPr>
          <a:xfrm>
            <a:off x="3429000" y="2697480"/>
            <a:ext cx="2514600" cy="1143000"/>
          </a:xfrm>
          <a:prstGeom prst="rect">
            <a:avLst/>
          </a:prstGeom>
          <a:noFill/>
          <a:ln/>
        </p:spPr>
        <p:txBody>
          <a:bodyPr wrap="square" lIns="0" tIns="0" rIns="0" bIns="0" rtlCol="0" anchor="t"/>
          <a:lstStyle/>
          <a:p>
            <a:pPr indent="0" marL="0">
              <a:lnSpc>
                <a:spcPct val="95000"/>
              </a:lnSpc>
              <a:buNone/>
            </a:pPr>
            <a:r>
              <a:rPr lang="en-US" sz="2400" b="1" dirty="0">
                <a:solidFill>
                  <a:srgbClr val="171717"/>
                </a:solidFill>
                <a:latin typeface="Aptos Display" pitchFamily="34" charset="0"/>
                <a:ea typeface="Aptos Display" pitchFamily="34" charset="-122"/>
                <a:cs typeface="Aptos Display" pitchFamily="34" charset="-120"/>
              </a:rPr>
              <a:t>Decided at the order, found at the return</a:t>
            </a:r>
            <a:endParaRPr lang="en-US" sz="2400" dirty="0"/>
          </a:p>
        </p:txBody>
      </p:sp>
      <p:sp>
        <p:nvSpPr>
          <p:cNvPr id="14" name="text-23"/>
          <p:cNvSpPr txBox="1"/>
          <p:nvPr/>
        </p:nvSpPr>
        <p:spPr>
          <a:xfrm>
            <a:off x="3429000" y="3886200"/>
            <a:ext cx="2468880" cy="1097280"/>
          </a:xfrm>
          <a:prstGeom prst="rect">
            <a:avLst/>
          </a:prstGeom>
          <a:noFill/>
          <a:ln/>
        </p:spPr>
        <p:txBody>
          <a:bodyPr wrap="square" lIns="0" tIns="0" rIns="0" bIns="0" rtlCol="0" anchor="t"/>
          <a:lstStyle/>
          <a:p>
            <a:pPr indent="0" marL="0">
              <a:buNone/>
            </a:pPr>
            <a:r>
              <a:rPr lang="en-US" sz="1300" dirty="0">
                <a:solidFill>
                  <a:srgbClr val="6E665E"/>
                </a:solidFill>
              </a:rPr>
              <a:t>Reps visit the shop many times in between, but nothing asks them to act. Quick commerce is widening the gap.</a:t>
            </a:r>
            <a:endParaRPr lang="en-US" sz="1300" dirty="0"/>
          </a:p>
        </p:txBody>
      </p:sp>
      <p:sp>
        <p:nvSpPr>
          <p:cNvPr id="15" name="dot-24"/>
          <p:cNvSpPr/>
          <p:nvPr/>
        </p:nvSpPr>
        <p:spPr>
          <a:xfrm>
            <a:off x="6217920" y="1993392"/>
            <a:ext cx="256032" cy="256032"/>
          </a:xfrm>
          <a:prstGeom prst="ellipse">
            <a:avLst/>
          </a:prstGeom>
          <a:solidFill>
            <a:srgbClr val="171717"/>
          </a:solidFill>
          <a:ln w="12700">
            <a:solidFill>
              <a:srgbClr val="171717"/>
            </a:solidFill>
            <a:prstDash val="solid"/>
          </a:ln>
        </p:spPr>
      </p:sp>
      <p:sp>
        <p:nvSpPr>
          <p:cNvPr id="16" name="text-25"/>
          <p:cNvSpPr txBox="1"/>
          <p:nvPr/>
        </p:nvSpPr>
        <p:spPr>
          <a:xfrm>
            <a:off x="6217920" y="2395728"/>
            <a:ext cx="2560320" cy="237744"/>
          </a:xfrm>
          <a:prstGeom prst="rect">
            <a:avLst/>
          </a:prstGeom>
          <a:noFill/>
          <a:ln/>
        </p:spPr>
        <p:txBody>
          <a:bodyPr wrap="square" lIns="0" tIns="0" rIns="0" bIns="0" rtlCol="0" anchor="t"/>
          <a:lstStyle/>
          <a:p>
            <a:pPr indent="0" marL="0">
              <a:buNone/>
            </a:pPr>
            <a:r>
              <a:rPr lang="en-US" sz="1050" b="1" spc="150" kern="0" dirty="0">
                <a:solidFill>
                  <a:srgbClr val="171717"/>
                </a:solidFill>
              </a:rPr>
              <a:t>03  SOLUTION</a:t>
            </a:r>
            <a:endParaRPr lang="en-US" sz="1050" dirty="0"/>
          </a:p>
        </p:txBody>
      </p:sp>
      <p:sp>
        <p:nvSpPr>
          <p:cNvPr id="17" name="text-26"/>
          <p:cNvSpPr txBox="1"/>
          <p:nvPr/>
        </p:nvSpPr>
        <p:spPr>
          <a:xfrm>
            <a:off x="6217920" y="2697480"/>
            <a:ext cx="2514600" cy="1143000"/>
          </a:xfrm>
          <a:prstGeom prst="rect">
            <a:avLst/>
          </a:prstGeom>
          <a:noFill/>
          <a:ln/>
        </p:spPr>
        <p:txBody>
          <a:bodyPr wrap="square" lIns="0" tIns="0" rIns="0" bIns="0" rtlCol="0" anchor="t"/>
          <a:lstStyle/>
          <a:p>
            <a:pPr indent="0" marL="0">
              <a:lnSpc>
                <a:spcPct val="95000"/>
              </a:lnSpc>
              <a:buNone/>
            </a:pPr>
            <a:r>
              <a:rPr lang="en-US" sz="2400" b="1" dirty="0">
                <a:solidFill>
                  <a:srgbClr val="171717"/>
                </a:solidFill>
                <a:latin typeface="Aptos Display" pitchFamily="34" charset="0"/>
                <a:ea typeface="Aptos Display" pitchFamily="34" charset="-122"/>
                <a:cs typeface="Aptos Display" pitchFamily="34" charset="-120"/>
              </a:rPr>
              <a:t>A 4-minute visit routine</a:t>
            </a:r>
            <a:endParaRPr lang="en-US" sz="2400" dirty="0"/>
          </a:p>
        </p:txBody>
      </p:sp>
      <p:sp>
        <p:nvSpPr>
          <p:cNvPr id="18" name="text-27"/>
          <p:cNvSpPr txBox="1"/>
          <p:nvPr/>
        </p:nvSpPr>
        <p:spPr>
          <a:xfrm>
            <a:off x="6217920" y="3886200"/>
            <a:ext cx="2468880" cy="1097280"/>
          </a:xfrm>
          <a:prstGeom prst="rect">
            <a:avLst/>
          </a:prstGeom>
          <a:noFill/>
          <a:ln/>
        </p:spPr>
        <p:txBody>
          <a:bodyPr wrap="square" lIns="0" tIns="0" rIns="0" bIns="0" rtlCol="0" anchor="t"/>
          <a:lstStyle/>
          <a:p>
            <a:pPr indent="0" marL="0">
              <a:buNone/>
            </a:pPr>
            <a:r>
              <a:rPr lang="en-US" sz="1300" dirty="0">
                <a:solidFill>
                  <a:srgbClr val="6E665E"/>
                </a:solidFill>
              </a:rPr>
              <a:t>See the at-risk SKUs, get ₹ at risk and days to act, take the cheapest sanctioned fix, rebalance across the beat, order to what will sell.</a:t>
            </a:r>
            <a:endParaRPr lang="en-US" sz="1300" dirty="0"/>
          </a:p>
        </p:txBody>
      </p:sp>
      <p:sp>
        <p:nvSpPr>
          <p:cNvPr id="19" name="dot-28"/>
          <p:cNvSpPr/>
          <p:nvPr/>
        </p:nvSpPr>
        <p:spPr>
          <a:xfrm>
            <a:off x="9006840" y="1993392"/>
            <a:ext cx="256032" cy="256032"/>
          </a:xfrm>
          <a:prstGeom prst="ellipse">
            <a:avLst/>
          </a:prstGeom>
          <a:solidFill>
            <a:srgbClr val="327B60"/>
          </a:solidFill>
          <a:ln w="12700">
            <a:solidFill>
              <a:srgbClr val="327B60"/>
            </a:solidFill>
            <a:prstDash val="solid"/>
          </a:ln>
        </p:spPr>
      </p:sp>
      <p:sp>
        <p:nvSpPr>
          <p:cNvPr id="20" name="text-29"/>
          <p:cNvSpPr txBox="1"/>
          <p:nvPr/>
        </p:nvSpPr>
        <p:spPr>
          <a:xfrm>
            <a:off x="9006840" y="2395728"/>
            <a:ext cx="2560320" cy="237744"/>
          </a:xfrm>
          <a:prstGeom prst="rect">
            <a:avLst/>
          </a:prstGeom>
          <a:noFill/>
          <a:ln/>
        </p:spPr>
        <p:txBody>
          <a:bodyPr wrap="square" lIns="0" tIns="0" rIns="0" bIns="0" rtlCol="0" anchor="t"/>
          <a:lstStyle/>
          <a:p>
            <a:pPr indent="0" marL="0">
              <a:buNone/>
            </a:pPr>
            <a:r>
              <a:rPr lang="en-US" sz="1050" b="1" spc="150" kern="0" dirty="0">
                <a:solidFill>
                  <a:srgbClr val="327B60"/>
                </a:solidFill>
              </a:rPr>
              <a:t>04  IMPACT</a:t>
            </a:r>
            <a:endParaRPr lang="en-US" sz="1050" dirty="0"/>
          </a:p>
        </p:txBody>
      </p:sp>
      <p:sp>
        <p:nvSpPr>
          <p:cNvPr id="21" name="text-30"/>
          <p:cNvSpPr txBox="1"/>
          <p:nvPr/>
        </p:nvSpPr>
        <p:spPr>
          <a:xfrm>
            <a:off x="9006840" y="2697480"/>
            <a:ext cx="2514600" cy="1143000"/>
          </a:xfrm>
          <a:prstGeom prst="rect">
            <a:avLst/>
          </a:prstGeom>
          <a:noFill/>
          <a:ln/>
        </p:spPr>
        <p:txBody>
          <a:bodyPr wrap="square" lIns="0" tIns="0" rIns="0" bIns="0" rtlCol="0" anchor="t"/>
          <a:lstStyle/>
          <a:p>
            <a:pPr indent="0" marL="0">
              <a:lnSpc>
                <a:spcPct val="95000"/>
              </a:lnSpc>
              <a:buNone/>
            </a:pPr>
            <a:r>
              <a:rPr lang="en-US" sz="2400" b="1" dirty="0">
                <a:solidFill>
                  <a:srgbClr val="171717"/>
                </a:solidFill>
                <a:latin typeface="Aptos Display" pitchFamily="34" charset="0"/>
                <a:ea typeface="Aptos Display" pitchFamily="34" charset="-122"/>
                <a:cs typeface="Aptos Display" pitchFamily="34" charset="-120"/>
              </a:rPr>
              <a:t>≈₹18 cr a year, base case</a:t>
            </a:r>
            <a:endParaRPr lang="en-US" sz="2400" dirty="0"/>
          </a:p>
        </p:txBody>
      </p:sp>
      <p:sp>
        <p:nvSpPr>
          <p:cNvPr id="22" name="text-31"/>
          <p:cNvSpPr txBox="1"/>
          <p:nvPr/>
        </p:nvSpPr>
        <p:spPr>
          <a:xfrm>
            <a:off x="9006840" y="3886200"/>
            <a:ext cx="2468880" cy="1097280"/>
          </a:xfrm>
          <a:prstGeom prst="rect">
            <a:avLst/>
          </a:prstGeom>
          <a:noFill/>
          <a:ln/>
        </p:spPr>
        <p:txBody>
          <a:bodyPr wrap="square" lIns="0" tIns="0" rIns="0" bIns="0" rtlCol="0" anchor="t"/>
          <a:lstStyle/>
          <a:p>
            <a:pPr indent="0" marL="0">
              <a:buNone/>
            </a:pPr>
            <a:r>
              <a:rPr lang="en-US" sz="1300" dirty="0">
                <a:solidFill>
                  <a:srgbClr val="6E665E"/>
                </a:solidFill>
              </a:rPr>
              <a:t>About 3× its cost over 3 years (illustrative). In our live simulation, returns fell from 1.6% to 0.9% of sell-out.</a:t>
            </a:r>
            <a:endParaRPr lang="en-US" sz="1300" dirty="0"/>
          </a:p>
        </p:txBody>
      </p:sp>
      <p:sp>
        <p:nvSpPr>
          <p:cNvPr id="23" name="rect-32"/>
          <p:cNvSpPr/>
          <p:nvPr/>
        </p:nvSpPr>
        <p:spPr>
          <a:xfrm>
            <a:off x="640080" y="5120640"/>
            <a:ext cx="10911535" cy="960120"/>
          </a:xfrm>
          <a:prstGeom prst="rect">
            <a:avLst/>
          </a:prstGeom>
          <a:solidFill>
            <a:srgbClr val="65172F"/>
          </a:solidFill>
          <a:ln w="12700">
            <a:solidFill>
              <a:srgbClr val="65172F"/>
            </a:solidFill>
            <a:prstDash val="solid"/>
          </a:ln>
        </p:spPr>
      </p:sp>
      <p:sp>
        <p:nvSpPr>
          <p:cNvPr id="24" name="text-33"/>
          <p:cNvSpPr txBox="1"/>
          <p:nvPr/>
        </p:nvSpPr>
        <p:spPr>
          <a:xfrm>
            <a:off x="960120" y="5257800"/>
            <a:ext cx="1828800" cy="237744"/>
          </a:xfrm>
          <a:prstGeom prst="rect">
            <a:avLst/>
          </a:prstGeom>
          <a:noFill/>
          <a:ln/>
        </p:spPr>
        <p:txBody>
          <a:bodyPr wrap="square" lIns="0" tIns="0" rIns="0" bIns="0" rtlCol="0" anchor="t"/>
          <a:lstStyle/>
          <a:p>
            <a:pPr indent="0" marL="0">
              <a:buNone/>
            </a:pPr>
            <a:r>
              <a:rPr lang="en-US" sz="1050" b="1" spc="150" kern="0" dirty="0">
                <a:solidFill>
                  <a:srgbClr val="B9808F"/>
                </a:solidFill>
              </a:rPr>
              <a:t>THE ASK</a:t>
            </a:r>
            <a:endParaRPr lang="en-US" sz="1050" dirty="0"/>
          </a:p>
        </p:txBody>
      </p:sp>
      <p:sp>
        <p:nvSpPr>
          <p:cNvPr id="25" name="text-34"/>
          <p:cNvSpPr txBox="1"/>
          <p:nvPr/>
        </p:nvSpPr>
        <p:spPr>
          <a:xfrm>
            <a:off x="960120" y="5504688"/>
            <a:ext cx="10241280" cy="502920"/>
          </a:xfrm>
          <a:prstGeom prst="rect">
            <a:avLst/>
          </a:prstGeom>
          <a:noFill/>
          <a:ln/>
        </p:spPr>
        <p:txBody>
          <a:bodyPr wrap="square" lIns="0" tIns="0" rIns="0" bIns="0" rtlCol="0" anchor="t"/>
          <a:lstStyle/>
          <a:p>
            <a:pPr indent="0" marL="0">
              <a:buNone/>
            </a:pPr>
            <a:r>
              <a:rPr lang="en-US" sz="1600" dirty="0">
                <a:solidFill>
                  <a:srgbClr val="FFFFFF"/>
                </a:solidFill>
              </a:rPr>
              <a:t>A 16-week, two-city pilot against control territories with clear scale and stop criteria. We need one distributor-data extract and a willing ASM.</a:t>
            </a:r>
            <a:endParaRPr lang="en-US" sz="1600" dirty="0"/>
          </a:p>
        </p:txBody>
      </p:sp>
      <p:sp>
        <p:nvSpPr>
          <p:cNvPr id="25" name="Slide Number Placeholder 0"/>
          <p:cNvSpPr>
            <a:spLocks noGrp="1"/>
          </p:cNvSpPr>
          <p:nvPr>
            <p:ph type="sldNum" sz="quarter" idx="4294967295"/>
          </p:nvPr>
        </p:nvSpPr>
        <p:spPr>
          <a:xfrm>
            <a:off x="11091672"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665E"/>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body" hasCustomPrompt="1"/>
          </p:nvPr>
        </p:nvSpPr>
        <p:spPr>
          <a:xfrm>
            <a:off x="640080" y="457200"/>
            <a:ext cx="8686800" cy="237744"/>
          </a:xfrm>
          <a:prstGeom prst="rect">
            <a:avLst/>
          </a:prstGeom>
          <a:noFill/>
          <a:ln/>
        </p:spPr>
        <p:txBody>
          <a:bodyPr wrap="square" lIns="0" tIns="0" rIns="0" bIns="0" rtlCol="0" anchor="t"/>
          <a:lstStyle/>
          <a:p>
            <a:pPr indent="0" marL="0">
              <a:buNone/>
            </a:pPr>
            <a:r>
              <a:rPr lang="en-US" sz="1100" b="1" spc="200" kern="0" dirty="0">
                <a:solidFill>
                  <a:srgbClr val="65172F"/>
                </a:solidFill>
              </a:rPr>
              <a:t>THE BUSINESS PROBLEM</a:t>
            </a:r>
            <a:endParaRPr lang="en-US" sz="1100" dirty="0"/>
          </a:p>
        </p:txBody>
      </p:sp>
      <p:sp>
        <p:nvSpPr>
          <p:cNvPr id="3" name="Text 0"/>
          <p:cNvSpPr/>
          <p:nvPr>
            <p:ph idx="102" type="title" hasCustomPrompt="1"/>
          </p:nvPr>
        </p:nvSpPr>
        <p:spPr>
          <a:xfrm>
            <a:off x="640080" y="749808"/>
            <a:ext cx="9418320" cy="1005840"/>
          </a:xfrm>
          <a:prstGeom prst="rect">
            <a:avLst/>
          </a:prstGeom>
          <a:noFill/>
          <a:ln/>
        </p:spPr>
        <p:txBody>
          <a:bodyPr wrap="square" lIns="0" tIns="0" rIns="0" bIns="0" rtlCol="0" anchor="t"/>
          <a:lstStyle/>
          <a:p>
            <a:pPr algn="l" indent="0" marL="0">
              <a:lnSpc>
                <a:spcPct val="95000"/>
              </a:lnSpc>
              <a:buNone/>
            </a:pPr>
            <a:r>
              <a:rPr lang="en-US" sz="3000" b="1" dirty="0">
                <a:solidFill>
                  <a:srgbClr val="171717"/>
                </a:solidFill>
                <a:latin typeface="Aptos Display" pitchFamily="34" charset="0"/>
                <a:ea typeface="Aptos Display" pitchFamily="34" charset="-122"/>
                <a:cs typeface="Aptos Display" pitchFamily="34" charset="-120"/>
              </a:rPr>
              <a:t>Every expired unit was sold once, and paid for twice</a:t>
            </a:r>
            <a:endParaRPr lang="en-US" sz="3000" dirty="0"/>
          </a:p>
        </p:txBody>
      </p:sp>
      <p:sp>
        <p:nvSpPr>
          <p:cNvPr id="4" name="Text 0"/>
          <p:cNvSpPr/>
          <p:nvPr>
            <p:ph idx="103" type="body" hasCustomPrompt="1"/>
          </p:nvPr>
        </p:nvSpPr>
        <p:spPr>
          <a:xfrm>
            <a:off x="640080" y="6355080"/>
            <a:ext cx="9189720" cy="347472"/>
          </a:xfrm>
          <a:prstGeom prst="rect">
            <a:avLst/>
          </a:prstGeom>
          <a:noFill/>
          <a:ln/>
        </p:spPr>
        <p:txBody>
          <a:bodyPr wrap="square" lIns="0" tIns="0" rIns="0" bIns="0" rtlCol="0" anchor="t"/>
          <a:lstStyle/>
          <a:p>
            <a:pPr indent="0" marL="0">
              <a:buNone/>
            </a:pPr>
            <a:r>
              <a:rPr lang="en-US" sz="1000" dirty="0">
                <a:solidFill>
                  <a:srgbClr val="6E665E"/>
                </a:solidFill>
              </a:rPr>
              <a:t>Sources: L'Oréal Sustainability Challenge 2026 Sales Track case, p.2 (≈1.5% "capped", ≈1%). L'Oréal India FY25 net sales ₹5,925 cr (PTI via The Week, 3 Oct 2025). ₹148 cr is illustrative and assumes the case percentages apply to L'Oréal India.</a:t>
            </a:r>
            <a:endParaRPr lang="en-US" sz="1000" dirty="0"/>
          </a:p>
        </p:txBody>
      </p:sp>
      <p:sp>
        <p:nvSpPr>
          <p:cNvPr id="6" name="rrect-35"/>
          <p:cNvSpPr/>
          <p:nvPr/>
        </p:nvSpPr>
        <p:spPr>
          <a:xfrm>
            <a:off x="3520440" y="1810512"/>
            <a:ext cx="5029200" cy="1938528"/>
          </a:xfrm>
          <a:prstGeom prst="roundRect">
            <a:avLst>
              <a:gd name="adj" fmla="val 2830"/>
            </a:avLst>
          </a:prstGeom>
          <a:solidFill>
            <a:srgbClr val="EFE3E6"/>
          </a:solidFill>
          <a:ln w="12700">
            <a:solidFill>
              <a:srgbClr val="EFE3E6"/>
            </a:solidFill>
            <a:prstDash val="solid"/>
          </a:ln>
        </p:spPr>
      </p:sp>
      <p:sp>
        <p:nvSpPr>
          <p:cNvPr id="7" name="text-36"/>
          <p:cNvSpPr txBox="1"/>
          <p:nvPr/>
        </p:nvSpPr>
        <p:spPr>
          <a:xfrm>
            <a:off x="3520440" y="1883664"/>
            <a:ext cx="5029200" cy="237744"/>
          </a:xfrm>
          <a:prstGeom prst="rect">
            <a:avLst/>
          </a:prstGeom>
          <a:noFill/>
          <a:ln/>
        </p:spPr>
        <p:txBody>
          <a:bodyPr wrap="square" lIns="0" tIns="0" rIns="0" bIns="0" rtlCol="0" anchor="t"/>
          <a:lstStyle/>
          <a:p>
            <a:pPr algn="ctr" indent="0" marL="0">
              <a:buNone/>
            </a:pPr>
            <a:r>
              <a:rPr lang="en-US" sz="1050" b="1" spc="150" kern="0" dirty="0">
                <a:solidFill>
                  <a:srgbClr val="65172F"/>
                </a:solidFill>
              </a:rPr>
              <a:t>WHERE INVENTORY GETS STUCK</a:t>
            </a:r>
            <a:endParaRPr lang="en-US" sz="1050" dirty="0"/>
          </a:p>
        </p:txBody>
      </p:sp>
      <p:sp>
        <p:nvSpPr>
          <p:cNvPr id="8" name="node-37"/>
          <p:cNvSpPr/>
          <p:nvPr/>
        </p:nvSpPr>
        <p:spPr>
          <a:xfrm>
            <a:off x="1188720" y="2194560"/>
            <a:ext cx="822960" cy="822960"/>
          </a:xfrm>
          <a:prstGeom prst="ellipse">
            <a:avLst/>
          </a:prstGeom>
          <a:solidFill>
            <a:srgbClr val="65172F"/>
          </a:solidFill>
          <a:ln w="22225">
            <a:solidFill>
              <a:srgbClr val="65172F"/>
            </a:solidFill>
            <a:prstDash val="solid"/>
          </a:ln>
        </p:spPr>
      </p:sp>
      <p:pic>
        <p:nvPicPr>
          <p:cNvPr id="9" name="node-icon-38" descr="preencoded.png">    </p:cNvPr>
          <p:cNvPicPr>
            <a:picLocks noChangeAspect="1"/>
          </p:cNvPicPr>
          <p:nvPr/>
        </p:nvPicPr>
        <p:blipFill>
          <a:blip r:embed="rId1"/>
          <a:stretch>
            <a:fillRect/>
          </a:stretch>
        </p:blipFill>
        <p:spPr>
          <a:xfrm>
            <a:off x="1399032" y="2404872"/>
            <a:ext cx="402336" cy="402336"/>
          </a:xfrm>
          <a:prstGeom prst="rect">
            <a:avLst/>
          </a:prstGeom>
        </p:spPr>
      </p:pic>
      <p:sp>
        <p:nvSpPr>
          <p:cNvPr id="10" name="text-39"/>
          <p:cNvSpPr txBox="1"/>
          <p:nvPr/>
        </p:nvSpPr>
        <p:spPr>
          <a:xfrm>
            <a:off x="411480" y="3108960"/>
            <a:ext cx="2377440" cy="292608"/>
          </a:xfrm>
          <a:prstGeom prst="rect">
            <a:avLst/>
          </a:prstGeom>
          <a:noFill/>
          <a:ln/>
        </p:spPr>
        <p:txBody>
          <a:bodyPr wrap="square" lIns="0" tIns="0" rIns="0" bIns="0" rtlCol="0" anchor="t"/>
          <a:lstStyle/>
          <a:p>
            <a:pPr algn="ctr" indent="0" marL="0">
              <a:buNone/>
            </a:pPr>
            <a:r>
              <a:rPr lang="en-US" sz="1600" b="1" dirty="0">
                <a:solidFill>
                  <a:srgbClr val="171717"/>
                </a:solidFill>
              </a:rPr>
              <a:t>L'Oréal</a:t>
            </a:r>
            <a:endParaRPr lang="en-US" sz="1600" dirty="0"/>
          </a:p>
        </p:txBody>
      </p:sp>
      <p:sp>
        <p:nvSpPr>
          <p:cNvPr id="11" name="text-40"/>
          <p:cNvSpPr txBox="1"/>
          <p:nvPr/>
        </p:nvSpPr>
        <p:spPr>
          <a:xfrm>
            <a:off x="411480" y="3401568"/>
            <a:ext cx="2377440" cy="256032"/>
          </a:xfrm>
          <a:prstGeom prst="rect">
            <a:avLst/>
          </a:prstGeom>
          <a:noFill/>
          <a:ln/>
        </p:spPr>
        <p:txBody>
          <a:bodyPr wrap="square" lIns="0" tIns="0" rIns="0" bIns="0" rtlCol="0" anchor="t"/>
          <a:lstStyle/>
          <a:p>
            <a:pPr algn="ctr" indent="0" marL="0">
              <a:buNone/>
            </a:pPr>
            <a:r>
              <a:rPr lang="en-US" sz="1200" dirty="0">
                <a:solidFill>
                  <a:srgbClr val="6E665E"/>
                </a:solidFill>
              </a:rPr>
              <a:t>Plants &amp; depots</a:t>
            </a:r>
            <a:endParaRPr lang="en-US" sz="1200" dirty="0"/>
          </a:p>
        </p:txBody>
      </p:sp>
      <p:sp>
        <p:nvSpPr>
          <p:cNvPr id="12" name="text-41"/>
          <p:cNvSpPr txBox="1"/>
          <p:nvPr/>
        </p:nvSpPr>
        <p:spPr>
          <a:xfrm>
            <a:off x="411480" y="3822192"/>
            <a:ext cx="2377440" cy="219456"/>
          </a:xfrm>
          <a:prstGeom prst="rect">
            <a:avLst/>
          </a:prstGeom>
          <a:noFill/>
          <a:ln/>
        </p:spPr>
        <p:txBody>
          <a:bodyPr wrap="square" lIns="0" tIns="0" rIns="0" bIns="0" rtlCol="0" anchor="t"/>
          <a:lstStyle/>
          <a:p>
            <a:pPr algn="ctr" indent="0" marL="0">
              <a:buNone/>
            </a:pPr>
            <a:r>
              <a:rPr lang="en-US" sz="1000" b="1" spc="150" kern="0" dirty="0">
                <a:solidFill>
                  <a:srgbClr val="327B60"/>
                </a:solidFill>
              </a:rPr>
              <a:t>VISIBLE IN ERP</a:t>
            </a:r>
            <a:endParaRPr lang="en-US" sz="1000" dirty="0"/>
          </a:p>
        </p:txBody>
      </p:sp>
      <p:sp>
        <p:nvSpPr>
          <p:cNvPr id="13" name="line-42"/>
          <p:cNvSpPr/>
          <p:nvPr/>
        </p:nvSpPr>
        <p:spPr>
          <a:xfrm>
            <a:off x="2103120" y="2606040"/>
            <a:ext cx="2011680" cy="0"/>
          </a:xfrm>
          <a:prstGeom prst="line">
            <a:avLst/>
          </a:prstGeom>
          <a:noFill/>
          <a:ln w="25400">
            <a:solidFill>
              <a:srgbClr val="A9A096"/>
            </a:solidFill>
            <a:prstDash val="solid"/>
            <a:tailEnd type="triangle"/>
          </a:ln>
        </p:spPr>
      </p:sp>
      <p:sp>
        <p:nvSpPr>
          <p:cNvPr id="14" name="node-43"/>
          <p:cNvSpPr/>
          <p:nvPr/>
        </p:nvSpPr>
        <p:spPr>
          <a:xfrm>
            <a:off x="4206240" y="2194560"/>
            <a:ext cx="822960" cy="822960"/>
          </a:xfrm>
          <a:prstGeom prst="ellipse">
            <a:avLst/>
          </a:prstGeom>
          <a:solidFill>
            <a:srgbClr val="FFFFFF"/>
          </a:solidFill>
          <a:ln w="22225">
            <a:solidFill>
              <a:srgbClr val="65172F"/>
            </a:solidFill>
            <a:prstDash val="solid"/>
          </a:ln>
        </p:spPr>
      </p:sp>
      <p:pic>
        <p:nvPicPr>
          <p:cNvPr id="15" name="node-icon-44" descr="preencoded.png">    </p:cNvPr>
          <p:cNvPicPr>
            <a:picLocks noChangeAspect="1"/>
          </p:cNvPicPr>
          <p:nvPr/>
        </p:nvPicPr>
        <p:blipFill>
          <a:blip r:embed="rId2"/>
          <a:stretch>
            <a:fillRect/>
          </a:stretch>
        </p:blipFill>
        <p:spPr>
          <a:xfrm>
            <a:off x="4416552" y="2404872"/>
            <a:ext cx="402336" cy="402336"/>
          </a:xfrm>
          <a:prstGeom prst="rect">
            <a:avLst/>
          </a:prstGeom>
        </p:spPr>
      </p:pic>
      <p:sp>
        <p:nvSpPr>
          <p:cNvPr id="16" name="text-45"/>
          <p:cNvSpPr txBox="1"/>
          <p:nvPr/>
        </p:nvSpPr>
        <p:spPr>
          <a:xfrm>
            <a:off x="3429000" y="3108960"/>
            <a:ext cx="2377440" cy="292608"/>
          </a:xfrm>
          <a:prstGeom prst="rect">
            <a:avLst/>
          </a:prstGeom>
          <a:noFill/>
          <a:ln/>
        </p:spPr>
        <p:txBody>
          <a:bodyPr wrap="square" lIns="0" tIns="0" rIns="0" bIns="0" rtlCol="0" anchor="t"/>
          <a:lstStyle/>
          <a:p>
            <a:pPr algn="ctr" indent="0" marL="0">
              <a:buNone/>
            </a:pPr>
            <a:r>
              <a:rPr lang="en-US" sz="1600" b="1" dirty="0">
                <a:solidFill>
                  <a:srgbClr val="171717"/>
                </a:solidFill>
              </a:rPr>
              <a:t>Distributor</a:t>
            </a:r>
            <a:endParaRPr lang="en-US" sz="1600" dirty="0"/>
          </a:p>
        </p:txBody>
      </p:sp>
      <p:sp>
        <p:nvSpPr>
          <p:cNvPr id="17" name="text-46"/>
          <p:cNvSpPr txBox="1"/>
          <p:nvPr/>
        </p:nvSpPr>
        <p:spPr>
          <a:xfrm>
            <a:off x="3429000" y="3401568"/>
            <a:ext cx="2377440" cy="256032"/>
          </a:xfrm>
          <a:prstGeom prst="rect">
            <a:avLst/>
          </a:prstGeom>
          <a:noFill/>
          <a:ln/>
        </p:spPr>
        <p:txBody>
          <a:bodyPr wrap="square" lIns="0" tIns="0" rIns="0" bIns="0" rtlCol="0" anchor="t"/>
          <a:lstStyle/>
          <a:p>
            <a:pPr algn="ctr" indent="0" marL="0">
              <a:buNone/>
            </a:pPr>
            <a:r>
              <a:rPr lang="en-US" sz="1200" dirty="0">
                <a:solidFill>
                  <a:srgbClr val="6E665E"/>
                </a:solidFill>
              </a:rPr>
              <a:t>Weeks of stock, many batches</a:t>
            </a:r>
            <a:endParaRPr lang="en-US" sz="1200" dirty="0"/>
          </a:p>
        </p:txBody>
      </p:sp>
      <p:sp>
        <p:nvSpPr>
          <p:cNvPr id="18" name="text-47"/>
          <p:cNvSpPr txBox="1"/>
          <p:nvPr/>
        </p:nvSpPr>
        <p:spPr>
          <a:xfrm>
            <a:off x="3429000" y="3822192"/>
            <a:ext cx="2377440" cy="219456"/>
          </a:xfrm>
          <a:prstGeom prst="rect">
            <a:avLst/>
          </a:prstGeom>
          <a:noFill/>
          <a:ln/>
        </p:spPr>
        <p:txBody>
          <a:bodyPr wrap="square" lIns="0" tIns="0" rIns="0" bIns="0" rtlCol="0" anchor="t"/>
          <a:lstStyle/>
          <a:p>
            <a:pPr algn="ctr" indent="0" marL="0">
              <a:buNone/>
            </a:pPr>
            <a:r>
              <a:rPr lang="en-US" sz="1000" b="1" spc="150" kern="0" dirty="0">
                <a:solidFill>
                  <a:srgbClr val="6E665E"/>
                </a:solidFill>
              </a:rPr>
              <a:t>PARTLY VISIBLE</a:t>
            </a:r>
            <a:endParaRPr lang="en-US" sz="1000" dirty="0"/>
          </a:p>
        </p:txBody>
      </p:sp>
      <p:sp>
        <p:nvSpPr>
          <p:cNvPr id="19" name="line-48"/>
          <p:cNvSpPr/>
          <p:nvPr/>
        </p:nvSpPr>
        <p:spPr>
          <a:xfrm>
            <a:off x="5120640" y="2606040"/>
            <a:ext cx="1828800" cy="0"/>
          </a:xfrm>
          <a:prstGeom prst="line">
            <a:avLst/>
          </a:prstGeom>
          <a:noFill/>
          <a:ln w="25400">
            <a:solidFill>
              <a:srgbClr val="A9A096"/>
            </a:solidFill>
            <a:prstDash val="solid"/>
            <a:tailEnd type="triangle"/>
          </a:ln>
        </p:spPr>
      </p:sp>
      <p:sp>
        <p:nvSpPr>
          <p:cNvPr id="20" name="node-49"/>
          <p:cNvSpPr/>
          <p:nvPr/>
        </p:nvSpPr>
        <p:spPr>
          <a:xfrm>
            <a:off x="7040880" y="2194560"/>
            <a:ext cx="822960" cy="822960"/>
          </a:xfrm>
          <a:prstGeom prst="ellipse">
            <a:avLst/>
          </a:prstGeom>
          <a:solidFill>
            <a:srgbClr val="FFFFFF"/>
          </a:solidFill>
          <a:ln w="22225">
            <a:solidFill>
              <a:srgbClr val="65172F"/>
            </a:solidFill>
            <a:prstDash val="solid"/>
          </a:ln>
        </p:spPr>
      </p:sp>
      <p:pic>
        <p:nvPicPr>
          <p:cNvPr id="21" name="node-icon-50" descr="preencoded.png">    </p:cNvPr>
          <p:cNvPicPr>
            <a:picLocks noChangeAspect="1"/>
          </p:cNvPicPr>
          <p:nvPr/>
        </p:nvPicPr>
        <p:blipFill>
          <a:blip r:embed="rId3"/>
          <a:stretch>
            <a:fillRect/>
          </a:stretch>
        </p:blipFill>
        <p:spPr>
          <a:xfrm>
            <a:off x="7251192" y="2404872"/>
            <a:ext cx="402336" cy="402336"/>
          </a:xfrm>
          <a:prstGeom prst="rect">
            <a:avLst/>
          </a:prstGeom>
        </p:spPr>
      </p:pic>
      <p:sp>
        <p:nvSpPr>
          <p:cNvPr id="22" name="text-51"/>
          <p:cNvSpPr txBox="1"/>
          <p:nvPr/>
        </p:nvSpPr>
        <p:spPr>
          <a:xfrm>
            <a:off x="6263640" y="3108960"/>
            <a:ext cx="2377440" cy="292608"/>
          </a:xfrm>
          <a:prstGeom prst="rect">
            <a:avLst/>
          </a:prstGeom>
          <a:noFill/>
          <a:ln/>
        </p:spPr>
        <p:txBody>
          <a:bodyPr wrap="square" lIns="0" tIns="0" rIns="0" bIns="0" rtlCol="0" anchor="t"/>
          <a:lstStyle/>
          <a:p>
            <a:pPr algn="ctr" indent="0" marL="0">
              <a:buNone/>
            </a:pPr>
            <a:r>
              <a:rPr lang="en-US" sz="1600" b="1" dirty="0">
                <a:solidFill>
                  <a:srgbClr val="171717"/>
                </a:solidFill>
              </a:rPr>
              <a:t>Retailer</a:t>
            </a:r>
            <a:endParaRPr lang="en-US" sz="1600" dirty="0"/>
          </a:p>
        </p:txBody>
      </p:sp>
      <p:sp>
        <p:nvSpPr>
          <p:cNvPr id="23" name="text-52"/>
          <p:cNvSpPr txBox="1"/>
          <p:nvPr/>
        </p:nvSpPr>
        <p:spPr>
          <a:xfrm>
            <a:off x="6263640" y="3401568"/>
            <a:ext cx="2377440" cy="256032"/>
          </a:xfrm>
          <a:prstGeom prst="rect">
            <a:avLst/>
          </a:prstGeom>
          <a:noFill/>
          <a:ln/>
        </p:spPr>
        <p:txBody>
          <a:bodyPr wrap="square" lIns="0" tIns="0" rIns="0" bIns="0" rtlCol="0" anchor="t"/>
          <a:lstStyle/>
          <a:p>
            <a:pPr algn="ctr" indent="0" marL="0">
              <a:buNone/>
            </a:pPr>
            <a:r>
              <a:rPr lang="en-US" sz="1200" dirty="0">
                <a:solidFill>
                  <a:srgbClr val="6E665E"/>
                </a:solidFill>
              </a:rPr>
              <a:t>Shelf + back room, no POS</a:t>
            </a:r>
            <a:endParaRPr lang="en-US" sz="1200" dirty="0"/>
          </a:p>
        </p:txBody>
      </p:sp>
      <p:sp>
        <p:nvSpPr>
          <p:cNvPr id="24" name="text-53"/>
          <p:cNvSpPr txBox="1"/>
          <p:nvPr/>
        </p:nvSpPr>
        <p:spPr>
          <a:xfrm>
            <a:off x="6263640" y="3822192"/>
            <a:ext cx="2377440" cy="219456"/>
          </a:xfrm>
          <a:prstGeom prst="rect">
            <a:avLst/>
          </a:prstGeom>
          <a:noFill/>
          <a:ln/>
        </p:spPr>
        <p:txBody>
          <a:bodyPr wrap="square" lIns="0" tIns="0" rIns="0" bIns="0" rtlCol="0" anchor="t"/>
          <a:lstStyle/>
          <a:p>
            <a:pPr algn="ctr" indent="0" marL="0">
              <a:buNone/>
            </a:pPr>
            <a:r>
              <a:rPr lang="en-US" sz="1000" b="1" spc="150" kern="0" dirty="0">
                <a:solidFill>
                  <a:srgbClr val="65172F"/>
                </a:solidFill>
              </a:rPr>
              <a:t>BLIND SPOT</a:t>
            </a:r>
            <a:endParaRPr lang="en-US" sz="1000" dirty="0"/>
          </a:p>
        </p:txBody>
      </p:sp>
      <p:sp>
        <p:nvSpPr>
          <p:cNvPr id="25" name="line-54"/>
          <p:cNvSpPr/>
          <p:nvPr/>
        </p:nvSpPr>
        <p:spPr>
          <a:xfrm>
            <a:off x="7955280" y="2606040"/>
            <a:ext cx="2011680" cy="0"/>
          </a:xfrm>
          <a:prstGeom prst="line">
            <a:avLst/>
          </a:prstGeom>
          <a:noFill/>
          <a:ln w="25400">
            <a:solidFill>
              <a:srgbClr val="A9A096"/>
            </a:solidFill>
            <a:prstDash val="solid"/>
            <a:tailEnd type="triangle"/>
          </a:ln>
        </p:spPr>
      </p:sp>
      <p:sp>
        <p:nvSpPr>
          <p:cNvPr id="26" name="node-55"/>
          <p:cNvSpPr/>
          <p:nvPr/>
        </p:nvSpPr>
        <p:spPr>
          <a:xfrm>
            <a:off x="10058400" y="2194560"/>
            <a:ext cx="822960" cy="822960"/>
          </a:xfrm>
          <a:prstGeom prst="ellipse">
            <a:avLst/>
          </a:prstGeom>
          <a:solidFill>
            <a:srgbClr val="327B60"/>
          </a:solidFill>
          <a:ln w="22225">
            <a:solidFill>
              <a:srgbClr val="327B60"/>
            </a:solidFill>
            <a:prstDash val="solid"/>
          </a:ln>
        </p:spPr>
      </p:sp>
      <p:pic>
        <p:nvPicPr>
          <p:cNvPr id="27" name="node-icon-56" descr="preencoded.png">    </p:cNvPr>
          <p:cNvPicPr>
            <a:picLocks noChangeAspect="1"/>
          </p:cNvPicPr>
          <p:nvPr/>
        </p:nvPicPr>
        <p:blipFill>
          <a:blip r:embed="rId4"/>
          <a:stretch>
            <a:fillRect/>
          </a:stretch>
        </p:blipFill>
        <p:spPr>
          <a:xfrm>
            <a:off x="10268712" y="2404872"/>
            <a:ext cx="402336" cy="402336"/>
          </a:xfrm>
          <a:prstGeom prst="rect">
            <a:avLst/>
          </a:prstGeom>
        </p:spPr>
      </p:pic>
      <p:sp>
        <p:nvSpPr>
          <p:cNvPr id="28" name="text-57"/>
          <p:cNvSpPr txBox="1"/>
          <p:nvPr/>
        </p:nvSpPr>
        <p:spPr>
          <a:xfrm>
            <a:off x="9281160" y="3108960"/>
            <a:ext cx="2377440" cy="292608"/>
          </a:xfrm>
          <a:prstGeom prst="rect">
            <a:avLst/>
          </a:prstGeom>
          <a:noFill/>
          <a:ln/>
        </p:spPr>
        <p:txBody>
          <a:bodyPr wrap="square" lIns="0" tIns="0" rIns="0" bIns="0" rtlCol="0" anchor="t"/>
          <a:lstStyle/>
          <a:p>
            <a:pPr algn="ctr" indent="0" marL="0">
              <a:buNone/>
            </a:pPr>
            <a:r>
              <a:rPr lang="en-US" sz="1600" b="1" dirty="0">
                <a:solidFill>
                  <a:srgbClr val="171717"/>
                </a:solidFill>
              </a:rPr>
              <a:t>Consumer</a:t>
            </a:r>
            <a:endParaRPr lang="en-US" sz="1600" dirty="0"/>
          </a:p>
        </p:txBody>
      </p:sp>
      <p:sp>
        <p:nvSpPr>
          <p:cNvPr id="29" name="text-58"/>
          <p:cNvSpPr txBox="1"/>
          <p:nvPr/>
        </p:nvSpPr>
        <p:spPr>
          <a:xfrm>
            <a:off x="9281160" y="3401568"/>
            <a:ext cx="2377440" cy="256032"/>
          </a:xfrm>
          <a:prstGeom prst="rect">
            <a:avLst/>
          </a:prstGeom>
          <a:noFill/>
          <a:ln/>
        </p:spPr>
        <p:txBody>
          <a:bodyPr wrap="square" lIns="0" tIns="0" rIns="0" bIns="0" rtlCol="0" anchor="t"/>
          <a:lstStyle/>
          <a:p>
            <a:pPr algn="ctr" indent="0" marL="0">
              <a:buNone/>
            </a:pPr>
            <a:r>
              <a:rPr lang="en-US" sz="1200" dirty="0">
                <a:solidFill>
                  <a:srgbClr val="6E665E"/>
                </a:solidFill>
              </a:rPr>
              <a:t>The only real sale</a:t>
            </a:r>
            <a:endParaRPr lang="en-US" sz="1200" dirty="0"/>
          </a:p>
        </p:txBody>
      </p:sp>
      <p:sp>
        <p:nvSpPr>
          <p:cNvPr id="30" name="text-59"/>
          <p:cNvSpPr txBox="1"/>
          <p:nvPr/>
        </p:nvSpPr>
        <p:spPr>
          <a:xfrm>
            <a:off x="9281160" y="3822192"/>
            <a:ext cx="2377440" cy="219456"/>
          </a:xfrm>
          <a:prstGeom prst="rect">
            <a:avLst/>
          </a:prstGeom>
          <a:noFill/>
          <a:ln/>
        </p:spPr>
        <p:txBody>
          <a:bodyPr wrap="square" lIns="0" tIns="0" rIns="0" bIns="0" rtlCol="0" anchor="t"/>
          <a:lstStyle/>
          <a:p>
            <a:pPr algn="ctr" indent="0" marL="0">
              <a:buNone/>
            </a:pPr>
            <a:r>
              <a:rPr lang="en-US" sz="1000" b="1" spc="150" kern="0" dirty="0">
                <a:solidFill>
                  <a:srgbClr val="327B60"/>
                </a:solidFill>
              </a:rPr>
              <a:t>REAL DEMAND</a:t>
            </a:r>
            <a:endParaRPr lang="en-US" sz="1000" dirty="0"/>
          </a:p>
        </p:txBody>
      </p:sp>
      <p:sp>
        <p:nvSpPr>
          <p:cNvPr id="31" name="text-60"/>
          <p:cNvSpPr txBox="1"/>
          <p:nvPr/>
        </p:nvSpPr>
        <p:spPr>
          <a:xfrm>
            <a:off x="2148840" y="2240280"/>
            <a:ext cx="1920240" cy="228600"/>
          </a:xfrm>
          <a:prstGeom prst="rect">
            <a:avLst/>
          </a:prstGeom>
          <a:noFill/>
          <a:ln/>
        </p:spPr>
        <p:txBody>
          <a:bodyPr wrap="square" lIns="0" tIns="0" rIns="0" bIns="0" rtlCol="0" anchor="t"/>
          <a:lstStyle/>
          <a:p>
            <a:pPr algn="ctr" indent="0" marL="0">
              <a:buNone/>
            </a:pPr>
            <a:r>
              <a:rPr lang="en-US" sz="1100" b="1" dirty="0">
                <a:solidFill>
                  <a:srgbClr val="65172F"/>
                </a:solidFill>
              </a:rPr>
              <a:t>Sell-in · revenue booked</a:t>
            </a:r>
            <a:endParaRPr lang="en-US" sz="1100" dirty="0"/>
          </a:p>
        </p:txBody>
      </p:sp>
      <p:sp>
        <p:nvSpPr>
          <p:cNvPr id="32" name="text-61"/>
          <p:cNvSpPr txBox="1"/>
          <p:nvPr/>
        </p:nvSpPr>
        <p:spPr>
          <a:xfrm>
            <a:off x="5074920" y="2240280"/>
            <a:ext cx="1920240" cy="228600"/>
          </a:xfrm>
          <a:prstGeom prst="rect">
            <a:avLst/>
          </a:prstGeom>
          <a:noFill/>
          <a:ln/>
        </p:spPr>
        <p:txBody>
          <a:bodyPr wrap="square" lIns="0" tIns="0" rIns="0" bIns="0" rtlCol="0" anchor="t"/>
          <a:lstStyle/>
          <a:p>
            <a:pPr algn="ctr" indent="0" marL="0">
              <a:buNone/>
            </a:pPr>
            <a:r>
              <a:rPr lang="en-US" sz="1100" b="1" dirty="0">
                <a:solidFill>
                  <a:srgbClr val="6E665E"/>
                </a:solidFill>
              </a:rPr>
              <a:t>Secondary sales</a:t>
            </a:r>
            <a:endParaRPr lang="en-US" sz="1100" dirty="0"/>
          </a:p>
        </p:txBody>
      </p:sp>
      <p:sp>
        <p:nvSpPr>
          <p:cNvPr id="33" name="text-62"/>
          <p:cNvSpPr txBox="1"/>
          <p:nvPr/>
        </p:nvSpPr>
        <p:spPr>
          <a:xfrm>
            <a:off x="8001000" y="2240280"/>
            <a:ext cx="1920240" cy="228600"/>
          </a:xfrm>
          <a:prstGeom prst="rect">
            <a:avLst/>
          </a:prstGeom>
          <a:noFill/>
          <a:ln/>
        </p:spPr>
        <p:txBody>
          <a:bodyPr wrap="square" lIns="0" tIns="0" rIns="0" bIns="0" rtlCol="0" anchor="t"/>
          <a:lstStyle/>
          <a:p>
            <a:pPr algn="ctr" indent="0" marL="0">
              <a:buNone/>
            </a:pPr>
            <a:r>
              <a:rPr lang="en-US" sz="1100" b="1" dirty="0">
                <a:solidFill>
                  <a:srgbClr val="327B60"/>
                </a:solidFill>
              </a:rPr>
              <a:t>Sell-out · real demand</a:t>
            </a:r>
            <a:endParaRPr lang="en-US" sz="1100" dirty="0"/>
          </a:p>
        </p:txBody>
      </p:sp>
      <p:sp>
        <p:nvSpPr>
          <p:cNvPr id="34" name="line-63"/>
          <p:cNvSpPr/>
          <p:nvPr/>
        </p:nvSpPr>
        <p:spPr>
          <a:xfrm>
            <a:off x="1600200" y="4343400"/>
            <a:ext cx="5852160" cy="0"/>
          </a:xfrm>
          <a:prstGeom prst="line">
            <a:avLst/>
          </a:prstGeom>
          <a:noFill/>
          <a:ln w="15875">
            <a:solidFill>
              <a:srgbClr val="8C3A52"/>
            </a:solidFill>
            <a:prstDash val="dash"/>
            <a:headEnd type="triangle"/>
          </a:ln>
        </p:spPr>
      </p:sp>
      <p:sp>
        <p:nvSpPr>
          <p:cNvPr id="35" name="text-64"/>
          <p:cNvSpPr txBox="1"/>
          <p:nvPr/>
        </p:nvSpPr>
        <p:spPr>
          <a:xfrm>
            <a:off x="2194560" y="4407408"/>
            <a:ext cx="4663440" cy="237744"/>
          </a:xfrm>
          <a:prstGeom prst="rect">
            <a:avLst/>
          </a:prstGeom>
          <a:noFill/>
          <a:ln/>
        </p:spPr>
        <p:txBody>
          <a:bodyPr wrap="square" lIns="0" tIns="0" rIns="0" bIns="0" rtlCol="0" anchor="t"/>
          <a:lstStyle/>
          <a:p>
            <a:pPr algn="ctr" indent="0" marL="0">
              <a:buNone/>
            </a:pPr>
            <a:r>
              <a:rPr lang="en-US" sz="1150" dirty="0">
                <a:solidFill>
                  <a:srgbClr val="8C3A52"/>
                </a:solidFill>
              </a:rPr>
              <a:t>Returns: credit note → reverse logistics → destruction</a:t>
            </a:r>
            <a:endParaRPr lang="en-US" sz="1150" dirty="0"/>
          </a:p>
        </p:txBody>
      </p:sp>
      <p:sp>
        <p:nvSpPr>
          <p:cNvPr id="36" name="text-65"/>
          <p:cNvSpPr txBox="1"/>
          <p:nvPr/>
        </p:nvSpPr>
        <p:spPr>
          <a:xfrm>
            <a:off x="640080" y="4800600"/>
            <a:ext cx="3383280" cy="685800"/>
          </a:xfrm>
          <a:prstGeom prst="rect">
            <a:avLst/>
          </a:prstGeom>
          <a:noFill/>
          <a:ln/>
        </p:spPr>
        <p:txBody>
          <a:bodyPr wrap="square" lIns="0" tIns="0" rIns="0" bIns="0" rtlCol="0" anchor="t"/>
          <a:lstStyle/>
          <a:p>
            <a:pPr indent="0" marL="0">
              <a:buNone/>
            </a:pPr>
            <a:r>
              <a:rPr lang="en-US" sz="4000" b="1" dirty="0">
                <a:solidFill>
                  <a:srgbClr val="65172F"/>
                </a:solidFill>
                <a:latin typeface="Aptos Display" pitchFamily="34" charset="0"/>
                <a:ea typeface="Aptos Display" pitchFamily="34" charset="-122"/>
                <a:cs typeface="Aptos Display" pitchFamily="34" charset="-120"/>
              </a:rPr>
              <a:t>≈1.5%</a:t>
            </a:r>
            <a:endParaRPr lang="en-US" sz="4000" dirty="0"/>
          </a:p>
        </p:txBody>
      </p:sp>
      <p:sp>
        <p:nvSpPr>
          <p:cNvPr id="37" name="text-66"/>
          <p:cNvSpPr txBox="1"/>
          <p:nvPr/>
        </p:nvSpPr>
        <p:spPr>
          <a:xfrm>
            <a:off x="640080" y="5504688"/>
            <a:ext cx="3429000" cy="274320"/>
          </a:xfrm>
          <a:prstGeom prst="rect">
            <a:avLst/>
          </a:prstGeom>
          <a:noFill/>
          <a:ln/>
        </p:spPr>
        <p:txBody>
          <a:bodyPr wrap="square" lIns="0" tIns="0" rIns="0" bIns="0" rtlCol="0" anchor="t"/>
          <a:lstStyle/>
          <a:p>
            <a:pPr indent="0" marL="0">
              <a:buNone/>
            </a:pPr>
            <a:r>
              <a:rPr lang="en-US" sz="1300" dirty="0">
                <a:solidFill>
                  <a:srgbClr val="171717"/>
                </a:solidFill>
              </a:rPr>
              <a:t>of revenue returned, expired or damaged</a:t>
            </a:r>
            <a:endParaRPr lang="en-US" sz="1300" dirty="0"/>
          </a:p>
        </p:txBody>
      </p:sp>
      <p:sp>
        <p:nvSpPr>
          <p:cNvPr id="38" name="text-67"/>
          <p:cNvSpPr txBox="1"/>
          <p:nvPr/>
        </p:nvSpPr>
        <p:spPr>
          <a:xfrm>
            <a:off x="640080" y="5815584"/>
            <a:ext cx="3429000" cy="237744"/>
          </a:xfrm>
          <a:prstGeom prst="rect">
            <a:avLst/>
          </a:prstGeom>
          <a:noFill/>
          <a:ln/>
        </p:spPr>
        <p:txBody>
          <a:bodyPr wrap="square" lIns="0" tIns="0" rIns="0" bIns="0" rtlCol="0" anchor="t"/>
          <a:lstStyle/>
          <a:p>
            <a:pPr indent="0" marL="0">
              <a:buNone/>
            </a:pPr>
            <a:r>
              <a:rPr lang="en-US" sz="1050" dirty="0">
                <a:solidFill>
                  <a:srgbClr val="6E665E"/>
                </a:solidFill>
              </a:rPr>
              <a:t>Case data ("capped" at ≈1.5%)</a:t>
            </a:r>
            <a:endParaRPr lang="en-US" sz="1050" dirty="0"/>
          </a:p>
        </p:txBody>
      </p:sp>
      <p:sp>
        <p:nvSpPr>
          <p:cNvPr id="39" name="line-68"/>
          <p:cNvSpPr/>
          <p:nvPr/>
        </p:nvSpPr>
        <p:spPr>
          <a:xfrm>
            <a:off x="4069080" y="4983480"/>
            <a:ext cx="0" cy="1097280"/>
          </a:xfrm>
          <a:prstGeom prst="line">
            <a:avLst/>
          </a:prstGeom>
          <a:noFill/>
          <a:ln w="12700">
            <a:solidFill>
              <a:srgbClr val="E3DED7"/>
            </a:solidFill>
            <a:prstDash val="solid"/>
          </a:ln>
        </p:spPr>
      </p:sp>
      <p:sp>
        <p:nvSpPr>
          <p:cNvPr id="40" name="text-69"/>
          <p:cNvSpPr txBox="1"/>
          <p:nvPr/>
        </p:nvSpPr>
        <p:spPr>
          <a:xfrm>
            <a:off x="4297680" y="4800600"/>
            <a:ext cx="3383280" cy="685800"/>
          </a:xfrm>
          <a:prstGeom prst="rect">
            <a:avLst/>
          </a:prstGeom>
          <a:noFill/>
          <a:ln/>
        </p:spPr>
        <p:txBody>
          <a:bodyPr wrap="square" lIns="0" tIns="0" rIns="0" bIns="0" rtlCol="0" anchor="t"/>
          <a:lstStyle/>
          <a:p>
            <a:pPr indent="0" marL="0">
              <a:buNone/>
            </a:pPr>
            <a:r>
              <a:rPr lang="en-US" sz="4000" b="1" dirty="0">
                <a:solidFill>
                  <a:srgbClr val="65172F"/>
                </a:solidFill>
                <a:latin typeface="Aptos Display" pitchFamily="34" charset="0"/>
                <a:ea typeface="Aptos Display" pitchFamily="34" charset="-122"/>
                <a:cs typeface="Aptos Display" pitchFamily="34" charset="-120"/>
              </a:rPr>
              <a:t>≈1%</a:t>
            </a:r>
            <a:endParaRPr lang="en-US" sz="4000" dirty="0"/>
          </a:p>
        </p:txBody>
      </p:sp>
      <p:sp>
        <p:nvSpPr>
          <p:cNvPr id="41" name="text-70"/>
          <p:cNvSpPr txBox="1"/>
          <p:nvPr/>
        </p:nvSpPr>
        <p:spPr>
          <a:xfrm>
            <a:off x="4297680" y="5504688"/>
            <a:ext cx="3429000" cy="274320"/>
          </a:xfrm>
          <a:prstGeom prst="rect">
            <a:avLst/>
          </a:prstGeom>
          <a:noFill/>
          <a:ln/>
        </p:spPr>
        <p:txBody>
          <a:bodyPr wrap="square" lIns="0" tIns="0" rIns="0" bIns="0" rtlCol="0" anchor="t"/>
          <a:lstStyle/>
          <a:p>
            <a:pPr indent="0" marL="0">
              <a:buNone/>
            </a:pPr>
            <a:r>
              <a:rPr lang="en-US" sz="1300" dirty="0">
                <a:solidFill>
                  <a:srgbClr val="171717"/>
                </a:solidFill>
              </a:rPr>
              <a:t>more to handle, reverse-ship and destroy it</a:t>
            </a:r>
            <a:endParaRPr lang="en-US" sz="1300" dirty="0"/>
          </a:p>
        </p:txBody>
      </p:sp>
      <p:sp>
        <p:nvSpPr>
          <p:cNvPr id="42" name="text-71"/>
          <p:cNvSpPr txBox="1"/>
          <p:nvPr/>
        </p:nvSpPr>
        <p:spPr>
          <a:xfrm>
            <a:off x="4297680" y="5815584"/>
            <a:ext cx="3429000" cy="237744"/>
          </a:xfrm>
          <a:prstGeom prst="rect">
            <a:avLst/>
          </a:prstGeom>
          <a:noFill/>
          <a:ln/>
        </p:spPr>
        <p:txBody>
          <a:bodyPr wrap="square" lIns="0" tIns="0" rIns="0" bIns="0" rtlCol="0" anchor="t"/>
          <a:lstStyle/>
          <a:p>
            <a:pPr indent="0" marL="0">
              <a:buNone/>
            </a:pPr>
            <a:r>
              <a:rPr lang="en-US" sz="1050" dirty="0">
                <a:solidFill>
                  <a:srgbClr val="6E665E"/>
                </a:solidFill>
              </a:rPr>
              <a:t>Case data</a:t>
            </a:r>
            <a:endParaRPr lang="en-US" sz="1050" dirty="0"/>
          </a:p>
        </p:txBody>
      </p:sp>
      <p:sp>
        <p:nvSpPr>
          <p:cNvPr id="43" name="line-72"/>
          <p:cNvSpPr/>
          <p:nvPr/>
        </p:nvSpPr>
        <p:spPr>
          <a:xfrm>
            <a:off x="7726680" y="4983480"/>
            <a:ext cx="0" cy="1097280"/>
          </a:xfrm>
          <a:prstGeom prst="line">
            <a:avLst/>
          </a:prstGeom>
          <a:noFill/>
          <a:ln w="12700">
            <a:solidFill>
              <a:srgbClr val="E3DED7"/>
            </a:solidFill>
            <a:prstDash val="solid"/>
          </a:ln>
        </p:spPr>
      </p:sp>
      <p:sp>
        <p:nvSpPr>
          <p:cNvPr id="44" name="text-73"/>
          <p:cNvSpPr txBox="1"/>
          <p:nvPr/>
        </p:nvSpPr>
        <p:spPr>
          <a:xfrm>
            <a:off x="7955280" y="4800600"/>
            <a:ext cx="3383280" cy="685800"/>
          </a:xfrm>
          <a:prstGeom prst="rect">
            <a:avLst/>
          </a:prstGeom>
          <a:noFill/>
          <a:ln/>
        </p:spPr>
        <p:txBody>
          <a:bodyPr wrap="square" lIns="0" tIns="0" rIns="0" bIns="0" rtlCol="0" anchor="t"/>
          <a:lstStyle/>
          <a:p>
            <a:pPr indent="0" marL="0">
              <a:buNone/>
            </a:pPr>
            <a:r>
              <a:rPr lang="en-US" sz="4000" b="1" dirty="0">
                <a:solidFill>
                  <a:srgbClr val="171717"/>
                </a:solidFill>
                <a:latin typeface="Aptos Display" pitchFamily="34" charset="0"/>
                <a:ea typeface="Aptos Display" pitchFamily="34" charset="-122"/>
                <a:cs typeface="Aptos Display" pitchFamily="34" charset="-120"/>
              </a:rPr>
              <a:t>≈₹148 cr</a:t>
            </a:r>
            <a:endParaRPr lang="en-US" sz="4000" dirty="0"/>
          </a:p>
        </p:txBody>
      </p:sp>
      <p:sp>
        <p:nvSpPr>
          <p:cNvPr id="45" name="text-74"/>
          <p:cNvSpPr txBox="1"/>
          <p:nvPr/>
        </p:nvSpPr>
        <p:spPr>
          <a:xfrm>
            <a:off x="7955280" y="5504688"/>
            <a:ext cx="3429000" cy="274320"/>
          </a:xfrm>
          <a:prstGeom prst="rect">
            <a:avLst/>
          </a:prstGeom>
          <a:noFill/>
          <a:ln/>
        </p:spPr>
        <p:txBody>
          <a:bodyPr wrap="square" lIns="0" tIns="0" rIns="0" bIns="0" rtlCol="0" anchor="t"/>
          <a:lstStyle/>
          <a:p>
            <a:pPr indent="0" marL="0">
              <a:buNone/>
            </a:pPr>
            <a:r>
              <a:rPr lang="en-US" sz="1300" dirty="0">
                <a:solidFill>
                  <a:srgbClr val="171717"/>
                </a:solidFill>
              </a:rPr>
              <a:t>a year at L'Oréal India's scale</a:t>
            </a:r>
            <a:endParaRPr lang="en-US" sz="1300" dirty="0"/>
          </a:p>
        </p:txBody>
      </p:sp>
      <p:sp>
        <p:nvSpPr>
          <p:cNvPr id="46" name="text-75"/>
          <p:cNvSpPr txBox="1"/>
          <p:nvPr/>
        </p:nvSpPr>
        <p:spPr>
          <a:xfrm>
            <a:off x="7955280" y="5815584"/>
            <a:ext cx="3429000" cy="237744"/>
          </a:xfrm>
          <a:prstGeom prst="rect">
            <a:avLst/>
          </a:prstGeom>
          <a:noFill/>
          <a:ln/>
        </p:spPr>
        <p:txBody>
          <a:bodyPr wrap="square" lIns="0" tIns="0" rIns="0" bIns="0" rtlCol="0" anchor="t"/>
          <a:lstStyle/>
          <a:p>
            <a:pPr indent="0" marL="0">
              <a:buNone/>
            </a:pPr>
            <a:r>
              <a:rPr lang="en-US" sz="1050" dirty="0">
                <a:solidFill>
                  <a:srgbClr val="6E665E"/>
                </a:solidFill>
              </a:rPr>
              <a:t>Illustrative: 2.5% × ₹5,925 cr FY25 net sales</a:t>
            </a:r>
            <a:endParaRPr lang="en-US" sz="1050" dirty="0"/>
          </a:p>
        </p:txBody>
      </p:sp>
      <p:sp>
        <p:nvSpPr>
          <p:cNvPr id="25" name="Slide Number Placeholder 0"/>
          <p:cNvSpPr>
            <a:spLocks noGrp="1"/>
          </p:cNvSpPr>
          <p:nvPr>
            <p:ph type="sldNum" sz="quarter" idx="4294967295"/>
          </p:nvPr>
        </p:nvSpPr>
        <p:spPr>
          <a:xfrm>
            <a:off x="11091672"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665E"/>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body" hasCustomPrompt="1"/>
          </p:nvPr>
        </p:nvSpPr>
        <p:spPr>
          <a:xfrm>
            <a:off x="640080" y="457200"/>
            <a:ext cx="8686800" cy="237744"/>
          </a:xfrm>
          <a:prstGeom prst="rect">
            <a:avLst/>
          </a:prstGeom>
          <a:noFill/>
          <a:ln/>
        </p:spPr>
        <p:txBody>
          <a:bodyPr wrap="square" lIns="0" tIns="0" rIns="0" bIns="0" rtlCol="0" anchor="t"/>
          <a:lstStyle/>
          <a:p>
            <a:pPr indent="0" marL="0">
              <a:buNone/>
            </a:pPr>
            <a:r>
              <a:rPr lang="en-US" sz="1100" b="1" spc="200" kern="0" dirty="0">
                <a:solidFill>
                  <a:srgbClr val="65172F"/>
                </a:solidFill>
              </a:rPr>
              <a:t>ROOT CAUSE</a:t>
            </a:r>
            <a:endParaRPr lang="en-US" sz="1100" dirty="0"/>
          </a:p>
        </p:txBody>
      </p:sp>
      <p:sp>
        <p:nvSpPr>
          <p:cNvPr id="3" name="Text 0"/>
          <p:cNvSpPr/>
          <p:nvPr>
            <p:ph idx="102" type="title" hasCustomPrompt="1"/>
          </p:nvPr>
        </p:nvSpPr>
        <p:spPr>
          <a:xfrm>
            <a:off x="640080" y="749808"/>
            <a:ext cx="9418320" cy="1005840"/>
          </a:xfrm>
          <a:prstGeom prst="rect">
            <a:avLst/>
          </a:prstGeom>
          <a:noFill/>
          <a:ln/>
        </p:spPr>
        <p:txBody>
          <a:bodyPr wrap="square" lIns="0" tIns="0" rIns="0" bIns="0" rtlCol="0" anchor="t"/>
          <a:lstStyle/>
          <a:p>
            <a:pPr algn="l" indent="0" marL="0">
              <a:lnSpc>
                <a:spcPct val="95000"/>
              </a:lnSpc>
              <a:buNone/>
            </a:pPr>
            <a:r>
              <a:rPr lang="en-US" sz="3000" b="1" dirty="0">
                <a:solidFill>
                  <a:srgbClr val="171717"/>
                </a:solidFill>
                <a:latin typeface="Aptos Display" pitchFamily="34" charset="0"/>
                <a:ea typeface="Aptos Display" pitchFamily="34" charset="-122"/>
                <a:cs typeface="Aptos Display" pitchFamily="34" charset="-120"/>
              </a:rPr>
              <a:t>Waste is a visibility and execution problem, not just a forecasting problem</a:t>
            </a:r>
            <a:endParaRPr lang="en-US" sz="3000" dirty="0"/>
          </a:p>
        </p:txBody>
      </p:sp>
      <p:sp>
        <p:nvSpPr>
          <p:cNvPr id="4" name="Text 0"/>
          <p:cNvSpPr/>
          <p:nvPr>
            <p:ph idx="103" type="body" hasCustomPrompt="1"/>
          </p:nvPr>
        </p:nvSpPr>
        <p:spPr>
          <a:xfrm>
            <a:off x="640080" y="6355080"/>
            <a:ext cx="9189720" cy="347472"/>
          </a:xfrm>
          <a:prstGeom prst="rect">
            <a:avLst/>
          </a:prstGeom>
          <a:noFill/>
          <a:ln/>
        </p:spPr>
        <p:txBody>
          <a:bodyPr wrap="square" lIns="0" tIns="0" rIns="0" bIns="0" rtlCol="0" anchor="t"/>
          <a:lstStyle/>
          <a:p>
            <a:pPr indent="0" marL="0">
              <a:buNone/>
            </a:pPr>
            <a:r>
              <a:rPr lang="en-US" sz="1000" dirty="0">
                <a:solidFill>
                  <a:srgbClr val="6E665E"/>
                </a:solidFill>
              </a:rPr>
              <a:t>Sources: Dabur Q2 FY25 inventory correction (Sharekhan, 30 Oct 2024; Baroda Securities, 31 Oct 2024). Out-of-stock shopper response: Gruen, Corsten &amp; Bharadwaj, GMA/FMI/CIES 2002 (global, not India). Rep-influence ratings are our assessment.</a:t>
            </a:r>
            <a:endParaRPr lang="en-US" sz="1000" dirty="0"/>
          </a:p>
        </p:txBody>
      </p:sp>
      <p:sp>
        <p:nvSpPr>
          <p:cNvPr id="6" name="line-76"/>
          <p:cNvSpPr/>
          <p:nvPr/>
        </p:nvSpPr>
        <p:spPr>
          <a:xfrm>
            <a:off x="777240" y="3520440"/>
            <a:ext cx="5989320" cy="0"/>
          </a:xfrm>
          <a:prstGeom prst="line">
            <a:avLst/>
          </a:prstGeom>
          <a:noFill/>
          <a:ln w="31750">
            <a:solidFill>
              <a:srgbClr val="171717"/>
            </a:solidFill>
            <a:prstDash val="solid"/>
            <a:tailEnd type="triangle"/>
          </a:ln>
        </p:spPr>
      </p:sp>
      <p:sp>
        <p:nvSpPr>
          <p:cNvPr id="7" name="rect-77"/>
          <p:cNvSpPr/>
          <p:nvPr/>
        </p:nvSpPr>
        <p:spPr>
          <a:xfrm>
            <a:off x="6812280" y="3017520"/>
            <a:ext cx="1600200" cy="1005840"/>
          </a:xfrm>
          <a:prstGeom prst="rect">
            <a:avLst/>
          </a:prstGeom>
          <a:solidFill>
            <a:srgbClr val="65172F"/>
          </a:solidFill>
          <a:ln w="12700">
            <a:solidFill>
              <a:srgbClr val="65172F"/>
            </a:solidFill>
            <a:prstDash val="solid"/>
          </a:ln>
        </p:spPr>
      </p:sp>
      <p:sp>
        <p:nvSpPr>
          <p:cNvPr id="8" name="text-78"/>
          <p:cNvSpPr txBox="1"/>
          <p:nvPr/>
        </p:nvSpPr>
        <p:spPr>
          <a:xfrm>
            <a:off x="6922008" y="3072384"/>
            <a:ext cx="1417320" cy="914400"/>
          </a:xfrm>
          <a:prstGeom prst="rect">
            <a:avLst/>
          </a:prstGeom>
          <a:noFill/>
          <a:ln/>
        </p:spPr>
        <p:txBody>
          <a:bodyPr wrap="square" lIns="0" tIns="0" rIns="0" bIns="0" rtlCol="0" anchor="ctr"/>
          <a:lstStyle/>
          <a:p>
            <a:pPr indent="0" marL="0">
              <a:buNone/>
            </a:pPr>
            <a:r>
              <a:rPr lang="en-US" sz="1300" b="1" dirty="0">
                <a:solidFill>
                  <a:srgbClr val="FFFFFF"/>
                </a:solidFill>
              </a:rPr>
              <a:t>Stock ages, expires and returns</a:t>
            </a:r>
            <a:endParaRPr lang="en-US" sz="1300" dirty="0"/>
          </a:p>
          <a:p>
            <a:pPr indent="0" marL="0">
              <a:buNone/>
            </a:pPr>
            <a:r>
              <a:rPr lang="en-US" sz="1100" dirty="0">
                <a:solidFill>
                  <a:srgbClr val="FFFFFF"/>
                </a:solidFill>
              </a:rPr>
              <a:t>≈2.5% of revenue</a:t>
            </a:r>
            <a:endParaRPr lang="en-US" sz="1300" dirty="0"/>
          </a:p>
        </p:txBody>
      </p:sp>
      <p:sp>
        <p:nvSpPr>
          <p:cNvPr id="9" name="text-79"/>
          <p:cNvSpPr txBox="1"/>
          <p:nvPr/>
        </p:nvSpPr>
        <p:spPr>
          <a:xfrm>
            <a:off x="777240" y="1810512"/>
            <a:ext cx="1828800" cy="256032"/>
          </a:xfrm>
          <a:prstGeom prst="rect">
            <a:avLst/>
          </a:prstGeom>
          <a:noFill/>
          <a:ln/>
        </p:spPr>
        <p:txBody>
          <a:bodyPr wrap="square" lIns="0" tIns="0" rIns="0" bIns="0" rtlCol="0" anchor="t"/>
          <a:lstStyle/>
          <a:p>
            <a:pPr indent="0" marL="0">
              <a:buNone/>
            </a:pPr>
            <a:r>
              <a:rPr lang="en-US" sz="1350" b="1" dirty="0">
                <a:solidFill>
                  <a:srgbClr val="6E665E"/>
                </a:solidFill>
              </a:rPr>
              <a:t>Demand forecasting</a:t>
            </a:r>
            <a:endParaRPr lang="en-US" sz="1350" dirty="0"/>
          </a:p>
        </p:txBody>
      </p:sp>
      <p:sp>
        <p:nvSpPr>
          <p:cNvPr id="10" name="text-80"/>
          <p:cNvSpPr txBox="1"/>
          <p:nvPr/>
        </p:nvSpPr>
        <p:spPr>
          <a:xfrm>
            <a:off x="777240" y="2075688"/>
            <a:ext cx="1783080" cy="548640"/>
          </a:xfrm>
          <a:prstGeom prst="rect">
            <a:avLst/>
          </a:prstGeom>
          <a:noFill/>
          <a:ln/>
        </p:spPr>
        <p:txBody>
          <a:bodyPr wrap="square" lIns="0" tIns="0" rIns="0" bIns="0" rtlCol="0" anchor="t"/>
          <a:lstStyle/>
          <a:p>
            <a:pPr indent="0" marL="0">
              <a:buNone/>
            </a:pPr>
            <a:r>
              <a:rPr lang="en-US" sz="1100" dirty="0">
                <a:solidFill>
                  <a:srgbClr val="6E665E"/>
                </a:solidFill>
              </a:rPr>
              <a:t>Central forecasts can't see outlet sell-out or batch age</a:t>
            </a:r>
            <a:endParaRPr lang="en-US" sz="1100" dirty="0"/>
          </a:p>
        </p:txBody>
      </p:sp>
      <p:sp>
        <p:nvSpPr>
          <p:cNvPr id="11" name="line-81"/>
          <p:cNvSpPr/>
          <p:nvPr/>
        </p:nvSpPr>
        <p:spPr>
          <a:xfrm>
            <a:off x="1097280" y="2697480"/>
            <a:ext cx="777240" cy="822960"/>
          </a:xfrm>
          <a:prstGeom prst="line">
            <a:avLst/>
          </a:prstGeom>
          <a:noFill/>
          <a:ln w="25400">
            <a:solidFill>
              <a:srgbClr val="A9A096"/>
            </a:solidFill>
            <a:prstDash val="solid"/>
          </a:ln>
        </p:spPr>
      </p:sp>
      <p:sp>
        <p:nvSpPr>
          <p:cNvPr id="12" name="text-82"/>
          <p:cNvSpPr txBox="1"/>
          <p:nvPr/>
        </p:nvSpPr>
        <p:spPr>
          <a:xfrm>
            <a:off x="2743200" y="1810512"/>
            <a:ext cx="1828800" cy="256032"/>
          </a:xfrm>
          <a:prstGeom prst="rect">
            <a:avLst/>
          </a:prstGeom>
          <a:noFill/>
          <a:ln/>
        </p:spPr>
        <p:txBody>
          <a:bodyPr wrap="square" lIns="0" tIns="0" rIns="0" bIns="0" rtlCol="0" anchor="t"/>
          <a:lstStyle/>
          <a:p>
            <a:pPr indent="0" marL="0">
              <a:buNone/>
            </a:pPr>
            <a:r>
              <a:rPr lang="en-US" sz="1350" b="1" dirty="0">
                <a:solidFill>
                  <a:srgbClr val="171717"/>
                </a:solidFill>
              </a:rPr>
              <a:t>Visibility</a:t>
            </a:r>
            <a:endParaRPr lang="en-US" sz="1350" dirty="0"/>
          </a:p>
        </p:txBody>
      </p:sp>
      <p:sp>
        <p:nvSpPr>
          <p:cNvPr id="13" name="text-83"/>
          <p:cNvSpPr txBox="1"/>
          <p:nvPr/>
        </p:nvSpPr>
        <p:spPr>
          <a:xfrm>
            <a:off x="2743200" y="2075688"/>
            <a:ext cx="1783080" cy="548640"/>
          </a:xfrm>
          <a:prstGeom prst="rect">
            <a:avLst/>
          </a:prstGeom>
          <a:noFill/>
          <a:ln/>
        </p:spPr>
        <p:txBody>
          <a:bodyPr wrap="square" lIns="0" tIns="0" rIns="0" bIns="0" rtlCol="0" anchor="t"/>
          <a:lstStyle/>
          <a:p>
            <a:pPr indent="0" marL="0">
              <a:buNone/>
            </a:pPr>
            <a:r>
              <a:rPr lang="en-US" sz="1100" dirty="0">
                <a:solidFill>
                  <a:srgbClr val="6E665E"/>
                </a:solidFill>
              </a:rPr>
              <a:t>No batch-age or sell-out view at the outlet</a:t>
            </a:r>
            <a:endParaRPr lang="en-US" sz="1100" dirty="0"/>
          </a:p>
        </p:txBody>
      </p:sp>
      <p:sp>
        <p:nvSpPr>
          <p:cNvPr id="14" name="line-84"/>
          <p:cNvSpPr/>
          <p:nvPr/>
        </p:nvSpPr>
        <p:spPr>
          <a:xfrm>
            <a:off x="3063240" y="2697480"/>
            <a:ext cx="777240" cy="822960"/>
          </a:xfrm>
          <a:prstGeom prst="line">
            <a:avLst/>
          </a:prstGeom>
          <a:noFill/>
          <a:ln w="25400">
            <a:solidFill>
              <a:srgbClr val="6E665E"/>
            </a:solidFill>
            <a:prstDash val="solid"/>
          </a:ln>
        </p:spPr>
      </p:sp>
      <p:sp>
        <p:nvSpPr>
          <p:cNvPr id="15" name="text-85"/>
          <p:cNvSpPr txBox="1"/>
          <p:nvPr/>
        </p:nvSpPr>
        <p:spPr>
          <a:xfrm>
            <a:off x="4709160" y="1810512"/>
            <a:ext cx="1828800" cy="256032"/>
          </a:xfrm>
          <a:prstGeom prst="rect">
            <a:avLst/>
          </a:prstGeom>
          <a:noFill/>
          <a:ln/>
        </p:spPr>
        <p:txBody>
          <a:bodyPr wrap="square" lIns="0" tIns="0" rIns="0" bIns="0" rtlCol="0" anchor="t"/>
          <a:lstStyle/>
          <a:p>
            <a:pPr indent="0" marL="0">
              <a:buNone/>
            </a:pPr>
            <a:r>
              <a:rPr lang="en-US" sz="1350" b="1" dirty="0">
                <a:solidFill>
                  <a:srgbClr val="171717"/>
                </a:solidFill>
              </a:rPr>
              <a:t>Product velocity</a:t>
            </a:r>
            <a:endParaRPr lang="en-US" sz="1350" dirty="0"/>
          </a:p>
        </p:txBody>
      </p:sp>
      <p:sp>
        <p:nvSpPr>
          <p:cNvPr id="16" name="text-86"/>
          <p:cNvSpPr txBox="1"/>
          <p:nvPr/>
        </p:nvSpPr>
        <p:spPr>
          <a:xfrm>
            <a:off x="4709160" y="2075688"/>
            <a:ext cx="1783080" cy="548640"/>
          </a:xfrm>
          <a:prstGeom prst="rect">
            <a:avLst/>
          </a:prstGeom>
          <a:noFill/>
          <a:ln/>
        </p:spPr>
        <p:txBody>
          <a:bodyPr wrap="square" lIns="0" tIns="0" rIns="0" bIns="0" rtlCol="0" anchor="t"/>
          <a:lstStyle/>
          <a:p>
            <a:pPr indent="0" marL="0">
              <a:buNone/>
            </a:pPr>
            <a:r>
              <a:rPr lang="en-US" sz="1100" dirty="0">
                <a:solidFill>
                  <a:srgbClr val="6E665E"/>
                </a:solidFill>
              </a:rPr>
              <a:t>Quick commerce and seasons shift demand faster than norms</a:t>
            </a:r>
            <a:endParaRPr lang="en-US" sz="1100" dirty="0"/>
          </a:p>
        </p:txBody>
      </p:sp>
      <p:sp>
        <p:nvSpPr>
          <p:cNvPr id="17" name="line-87"/>
          <p:cNvSpPr/>
          <p:nvPr/>
        </p:nvSpPr>
        <p:spPr>
          <a:xfrm>
            <a:off x="5029200" y="2697480"/>
            <a:ext cx="777240" cy="822960"/>
          </a:xfrm>
          <a:prstGeom prst="line">
            <a:avLst/>
          </a:prstGeom>
          <a:noFill/>
          <a:ln w="25400">
            <a:solidFill>
              <a:srgbClr val="6E665E"/>
            </a:solidFill>
            <a:prstDash val="solid"/>
          </a:ln>
        </p:spPr>
      </p:sp>
      <p:sp>
        <p:nvSpPr>
          <p:cNvPr id="18" name="line-88"/>
          <p:cNvSpPr/>
          <p:nvPr/>
        </p:nvSpPr>
        <p:spPr>
          <a:xfrm>
            <a:off x="1097280" y="3520440"/>
            <a:ext cx="777240" cy="822960"/>
          </a:xfrm>
          <a:prstGeom prst="line">
            <a:avLst/>
          </a:prstGeom>
          <a:noFill/>
          <a:ln w="25400">
            <a:solidFill>
              <a:srgbClr val="65172F"/>
            </a:solidFill>
            <a:prstDash val="solid"/>
          </a:ln>
        </p:spPr>
      </p:sp>
      <p:sp>
        <p:nvSpPr>
          <p:cNvPr id="19" name="text-89"/>
          <p:cNvSpPr txBox="1"/>
          <p:nvPr/>
        </p:nvSpPr>
        <p:spPr>
          <a:xfrm>
            <a:off x="777240" y="4434840"/>
            <a:ext cx="1828800" cy="256032"/>
          </a:xfrm>
          <a:prstGeom prst="rect">
            <a:avLst/>
          </a:prstGeom>
          <a:noFill/>
          <a:ln/>
        </p:spPr>
        <p:txBody>
          <a:bodyPr wrap="square" lIns="0" tIns="0" rIns="0" bIns="0" rtlCol="0" anchor="t"/>
          <a:lstStyle/>
          <a:p>
            <a:pPr indent="0" marL="0">
              <a:buNone/>
            </a:pPr>
            <a:r>
              <a:rPr lang="en-US" sz="1350" b="1" dirty="0">
                <a:solidFill>
                  <a:srgbClr val="65172F"/>
                </a:solidFill>
              </a:rPr>
              <a:t>Distributor ordering</a:t>
            </a:r>
            <a:endParaRPr lang="en-US" sz="1350" dirty="0"/>
          </a:p>
        </p:txBody>
      </p:sp>
      <p:sp>
        <p:nvSpPr>
          <p:cNvPr id="20" name="text-90"/>
          <p:cNvSpPr txBox="1"/>
          <p:nvPr/>
        </p:nvSpPr>
        <p:spPr>
          <a:xfrm>
            <a:off x="777240" y="4700016"/>
            <a:ext cx="1783080" cy="548640"/>
          </a:xfrm>
          <a:prstGeom prst="rect">
            <a:avLst/>
          </a:prstGeom>
          <a:noFill/>
          <a:ln/>
        </p:spPr>
        <p:txBody>
          <a:bodyPr wrap="square" lIns="0" tIns="0" rIns="0" bIns="0" rtlCol="0" anchor="t"/>
          <a:lstStyle/>
          <a:p>
            <a:pPr indent="0" marL="0">
              <a:buNone/>
            </a:pPr>
            <a:r>
              <a:rPr lang="en-US" sz="1100" dirty="0">
                <a:solidFill>
                  <a:srgbClr val="6E665E"/>
                </a:solidFill>
              </a:rPr>
              <a:t>Orders sized by habit, schemes and period-end loading</a:t>
            </a:r>
            <a:endParaRPr lang="en-US" sz="1100" dirty="0"/>
          </a:p>
        </p:txBody>
      </p:sp>
      <p:sp>
        <p:nvSpPr>
          <p:cNvPr id="21" name="line-91"/>
          <p:cNvSpPr/>
          <p:nvPr/>
        </p:nvSpPr>
        <p:spPr>
          <a:xfrm>
            <a:off x="3063240" y="3520440"/>
            <a:ext cx="777240" cy="822960"/>
          </a:xfrm>
          <a:prstGeom prst="line">
            <a:avLst/>
          </a:prstGeom>
          <a:noFill/>
          <a:ln w="25400">
            <a:solidFill>
              <a:srgbClr val="65172F"/>
            </a:solidFill>
            <a:prstDash val="solid"/>
          </a:ln>
        </p:spPr>
      </p:sp>
      <p:sp>
        <p:nvSpPr>
          <p:cNvPr id="22" name="text-92"/>
          <p:cNvSpPr txBox="1"/>
          <p:nvPr/>
        </p:nvSpPr>
        <p:spPr>
          <a:xfrm>
            <a:off x="2743200" y="4434840"/>
            <a:ext cx="1828800" cy="256032"/>
          </a:xfrm>
          <a:prstGeom prst="rect">
            <a:avLst/>
          </a:prstGeom>
          <a:noFill/>
          <a:ln/>
        </p:spPr>
        <p:txBody>
          <a:bodyPr wrap="square" lIns="0" tIns="0" rIns="0" bIns="0" rtlCol="0" anchor="t"/>
          <a:lstStyle/>
          <a:p>
            <a:pPr indent="0" marL="0">
              <a:buNone/>
            </a:pPr>
            <a:r>
              <a:rPr lang="en-US" sz="1350" b="1" dirty="0">
                <a:solidFill>
                  <a:srgbClr val="65172F"/>
                </a:solidFill>
              </a:rPr>
              <a:t>Retailer inventory</a:t>
            </a:r>
            <a:endParaRPr lang="en-US" sz="1350" dirty="0"/>
          </a:p>
        </p:txBody>
      </p:sp>
      <p:sp>
        <p:nvSpPr>
          <p:cNvPr id="23" name="text-93"/>
          <p:cNvSpPr txBox="1"/>
          <p:nvPr/>
        </p:nvSpPr>
        <p:spPr>
          <a:xfrm>
            <a:off x="2743200" y="4700016"/>
            <a:ext cx="1783080" cy="548640"/>
          </a:xfrm>
          <a:prstGeom prst="rect">
            <a:avLst/>
          </a:prstGeom>
          <a:noFill/>
          <a:ln/>
        </p:spPr>
        <p:txBody>
          <a:bodyPr wrap="square" lIns="0" tIns="0" rIns="0" bIns="0" rtlCol="0" anchor="t"/>
          <a:lstStyle/>
          <a:p>
            <a:pPr indent="0" marL="0">
              <a:buNone/>
            </a:pPr>
            <a:r>
              <a:rPr lang="en-US" sz="1100" dirty="0">
                <a:solidFill>
                  <a:srgbClr val="6E665E"/>
                </a:solidFill>
              </a:rPr>
              <a:t>Same range for every outlet; old batches hidden at the back</a:t>
            </a:r>
            <a:endParaRPr lang="en-US" sz="1100" dirty="0"/>
          </a:p>
        </p:txBody>
      </p:sp>
      <p:sp>
        <p:nvSpPr>
          <p:cNvPr id="24" name="line-94"/>
          <p:cNvSpPr/>
          <p:nvPr/>
        </p:nvSpPr>
        <p:spPr>
          <a:xfrm>
            <a:off x="5029200" y="3520440"/>
            <a:ext cx="777240" cy="822960"/>
          </a:xfrm>
          <a:prstGeom prst="line">
            <a:avLst/>
          </a:prstGeom>
          <a:noFill/>
          <a:ln w="25400">
            <a:solidFill>
              <a:srgbClr val="65172F"/>
            </a:solidFill>
            <a:prstDash val="solid"/>
          </a:ln>
        </p:spPr>
      </p:sp>
      <p:sp>
        <p:nvSpPr>
          <p:cNvPr id="25" name="text-95"/>
          <p:cNvSpPr txBox="1"/>
          <p:nvPr/>
        </p:nvSpPr>
        <p:spPr>
          <a:xfrm>
            <a:off x="4709160" y="4434840"/>
            <a:ext cx="1828800" cy="256032"/>
          </a:xfrm>
          <a:prstGeom prst="rect">
            <a:avLst/>
          </a:prstGeom>
          <a:noFill/>
          <a:ln/>
        </p:spPr>
        <p:txBody>
          <a:bodyPr wrap="square" lIns="0" tIns="0" rIns="0" bIns="0" rtlCol="0" anchor="t"/>
          <a:lstStyle/>
          <a:p>
            <a:pPr indent="0" marL="0">
              <a:buNone/>
            </a:pPr>
            <a:r>
              <a:rPr lang="en-US" sz="1350" b="1" dirty="0">
                <a:solidFill>
                  <a:srgbClr val="65172F"/>
                </a:solidFill>
              </a:rPr>
              <a:t>Field execution</a:t>
            </a:r>
            <a:endParaRPr lang="en-US" sz="1350" dirty="0"/>
          </a:p>
        </p:txBody>
      </p:sp>
      <p:sp>
        <p:nvSpPr>
          <p:cNvPr id="26" name="text-96"/>
          <p:cNvSpPr txBox="1"/>
          <p:nvPr/>
        </p:nvSpPr>
        <p:spPr>
          <a:xfrm>
            <a:off x="4709160" y="4700016"/>
            <a:ext cx="1783080" cy="548640"/>
          </a:xfrm>
          <a:prstGeom prst="rect">
            <a:avLst/>
          </a:prstGeom>
          <a:noFill/>
          <a:ln/>
        </p:spPr>
        <p:txBody>
          <a:bodyPr wrap="square" lIns="0" tIns="0" rIns="0" bIns="0" rtlCol="0" anchor="t"/>
          <a:lstStyle/>
          <a:p>
            <a:pPr indent="0" marL="0">
              <a:buNone/>
            </a:pPr>
            <a:r>
              <a:rPr lang="en-US" sz="1100" dirty="0">
                <a:solidFill>
                  <a:srgbClr val="6E665E"/>
                </a:solidFill>
              </a:rPr>
              <a:t>No trigger, no sanctioned actions, sell-in-only targets</a:t>
            </a:r>
            <a:endParaRPr lang="en-US" sz="1100" dirty="0"/>
          </a:p>
        </p:txBody>
      </p:sp>
      <p:sp>
        <p:nvSpPr>
          <p:cNvPr id="27" name="dot-97"/>
          <p:cNvSpPr/>
          <p:nvPr/>
        </p:nvSpPr>
        <p:spPr>
          <a:xfrm>
            <a:off x="777240" y="5422392"/>
            <a:ext cx="128016" cy="128016"/>
          </a:xfrm>
          <a:prstGeom prst="ellipse">
            <a:avLst/>
          </a:prstGeom>
          <a:solidFill>
            <a:srgbClr val="65172F"/>
          </a:solidFill>
          <a:ln w="12700">
            <a:solidFill>
              <a:srgbClr val="65172F"/>
            </a:solidFill>
            <a:prstDash val="solid"/>
          </a:ln>
        </p:spPr>
      </p:sp>
      <p:sp>
        <p:nvSpPr>
          <p:cNvPr id="28" name="text-98"/>
          <p:cNvSpPr txBox="1"/>
          <p:nvPr/>
        </p:nvSpPr>
        <p:spPr>
          <a:xfrm>
            <a:off x="960120" y="5358384"/>
            <a:ext cx="1371600" cy="256032"/>
          </a:xfrm>
          <a:prstGeom prst="rect">
            <a:avLst/>
          </a:prstGeom>
          <a:noFill/>
          <a:ln/>
        </p:spPr>
        <p:txBody>
          <a:bodyPr wrap="square" lIns="0" tIns="0" rIns="0" bIns="0" rtlCol="0" anchor="t"/>
          <a:lstStyle/>
          <a:p>
            <a:pPr indent="0" marL="0">
              <a:buNone/>
            </a:pPr>
            <a:r>
              <a:rPr lang="en-US" sz="1100" dirty="0">
                <a:solidFill>
                  <a:srgbClr val="6E665E"/>
                </a:solidFill>
              </a:rPr>
              <a:t>Rep controls it</a:t>
            </a:r>
            <a:endParaRPr lang="en-US" sz="1100" dirty="0"/>
          </a:p>
        </p:txBody>
      </p:sp>
      <p:sp>
        <p:nvSpPr>
          <p:cNvPr id="29" name="dot-99"/>
          <p:cNvSpPr/>
          <p:nvPr/>
        </p:nvSpPr>
        <p:spPr>
          <a:xfrm>
            <a:off x="2377440" y="5422392"/>
            <a:ext cx="128016" cy="128016"/>
          </a:xfrm>
          <a:prstGeom prst="ellipse">
            <a:avLst/>
          </a:prstGeom>
          <a:solidFill>
            <a:srgbClr val="6E665E"/>
          </a:solidFill>
          <a:ln w="12700">
            <a:solidFill>
              <a:srgbClr val="6E665E"/>
            </a:solidFill>
            <a:prstDash val="solid"/>
          </a:ln>
        </p:spPr>
      </p:sp>
      <p:sp>
        <p:nvSpPr>
          <p:cNvPr id="30" name="text-100"/>
          <p:cNvSpPr txBox="1"/>
          <p:nvPr/>
        </p:nvSpPr>
        <p:spPr>
          <a:xfrm>
            <a:off x="2560320" y="5358384"/>
            <a:ext cx="1371600" cy="256032"/>
          </a:xfrm>
          <a:prstGeom prst="rect">
            <a:avLst/>
          </a:prstGeom>
          <a:noFill/>
          <a:ln/>
        </p:spPr>
        <p:txBody>
          <a:bodyPr wrap="square" lIns="0" tIns="0" rIns="0" bIns="0" rtlCol="0" anchor="t"/>
          <a:lstStyle/>
          <a:p>
            <a:pPr indent="0" marL="0">
              <a:buNone/>
            </a:pPr>
            <a:r>
              <a:rPr lang="en-US" sz="1100" dirty="0">
                <a:solidFill>
                  <a:srgbClr val="6E665E"/>
                </a:solidFill>
              </a:rPr>
              <a:t>Partly</a:t>
            </a:r>
            <a:endParaRPr lang="en-US" sz="1100" dirty="0"/>
          </a:p>
        </p:txBody>
      </p:sp>
      <p:sp>
        <p:nvSpPr>
          <p:cNvPr id="31" name="dot-101"/>
          <p:cNvSpPr/>
          <p:nvPr/>
        </p:nvSpPr>
        <p:spPr>
          <a:xfrm>
            <a:off x="3977640" y="5422392"/>
            <a:ext cx="128016" cy="128016"/>
          </a:xfrm>
          <a:prstGeom prst="ellipse">
            <a:avLst/>
          </a:prstGeom>
          <a:solidFill>
            <a:srgbClr val="A9A096"/>
          </a:solidFill>
          <a:ln w="12700">
            <a:solidFill>
              <a:srgbClr val="A9A096"/>
            </a:solidFill>
            <a:prstDash val="solid"/>
          </a:ln>
        </p:spPr>
      </p:sp>
      <p:sp>
        <p:nvSpPr>
          <p:cNvPr id="32" name="text-102"/>
          <p:cNvSpPr txBox="1"/>
          <p:nvPr/>
        </p:nvSpPr>
        <p:spPr>
          <a:xfrm>
            <a:off x="4160520" y="5358384"/>
            <a:ext cx="1371600" cy="256032"/>
          </a:xfrm>
          <a:prstGeom prst="rect">
            <a:avLst/>
          </a:prstGeom>
          <a:noFill/>
          <a:ln/>
        </p:spPr>
        <p:txBody>
          <a:bodyPr wrap="square" lIns="0" tIns="0" rIns="0" bIns="0" rtlCol="0" anchor="t"/>
          <a:lstStyle/>
          <a:p>
            <a:pPr indent="0" marL="0">
              <a:buNone/>
            </a:pPr>
            <a:r>
              <a:rPr lang="en-US" sz="1100" dirty="0">
                <a:solidFill>
                  <a:srgbClr val="6E665E"/>
                </a:solidFill>
              </a:rPr>
              <a:t>Little control</a:t>
            </a:r>
            <a:endParaRPr lang="en-US" sz="1100" dirty="0"/>
          </a:p>
        </p:txBody>
      </p:sp>
      <p:sp>
        <p:nvSpPr>
          <p:cNvPr id="33" name="line-103"/>
          <p:cNvSpPr/>
          <p:nvPr/>
        </p:nvSpPr>
        <p:spPr>
          <a:xfrm>
            <a:off x="8796528" y="1810512"/>
            <a:ext cx="0" cy="3611880"/>
          </a:xfrm>
          <a:prstGeom prst="line">
            <a:avLst/>
          </a:prstGeom>
          <a:noFill/>
          <a:ln w="12700">
            <a:solidFill>
              <a:srgbClr val="E3DED7"/>
            </a:solidFill>
            <a:prstDash val="solid"/>
          </a:ln>
        </p:spPr>
      </p:sp>
      <p:sp>
        <p:nvSpPr>
          <p:cNvPr id="34" name="text-104"/>
          <p:cNvSpPr txBox="1"/>
          <p:nvPr/>
        </p:nvSpPr>
        <p:spPr>
          <a:xfrm>
            <a:off x="9006840" y="1810512"/>
            <a:ext cx="2560320" cy="237744"/>
          </a:xfrm>
          <a:prstGeom prst="rect">
            <a:avLst/>
          </a:prstGeom>
          <a:noFill/>
          <a:ln/>
        </p:spPr>
        <p:txBody>
          <a:bodyPr wrap="square" lIns="0" tIns="0" rIns="0" bIns="0" rtlCol="0" anchor="t"/>
          <a:lstStyle/>
          <a:p>
            <a:pPr indent="0" marL="0">
              <a:buNone/>
            </a:pPr>
            <a:r>
              <a:rPr lang="en-US" sz="1050" b="1" spc="150" kern="0" dirty="0">
                <a:solidFill>
                  <a:srgbClr val="65172F"/>
                </a:solidFill>
              </a:rPr>
              <a:t>WHY "JUST ORDER LESS" FAILS</a:t>
            </a:r>
            <a:endParaRPr lang="en-US" sz="1050" dirty="0"/>
          </a:p>
        </p:txBody>
      </p:sp>
      <p:sp>
        <p:nvSpPr>
          <p:cNvPr id="35" name="text-105"/>
          <p:cNvSpPr txBox="1"/>
          <p:nvPr/>
        </p:nvSpPr>
        <p:spPr>
          <a:xfrm>
            <a:off x="9006840" y="2148840"/>
            <a:ext cx="2560320" cy="502920"/>
          </a:xfrm>
          <a:prstGeom prst="rect">
            <a:avLst/>
          </a:prstGeom>
          <a:noFill/>
          <a:ln/>
        </p:spPr>
        <p:txBody>
          <a:bodyPr wrap="square" lIns="0" tIns="0" rIns="0" bIns="0" rtlCol="0" anchor="t"/>
          <a:lstStyle/>
          <a:p>
            <a:pPr indent="0" marL="0">
              <a:buNone/>
            </a:pPr>
            <a:r>
              <a:rPr lang="en-US" sz="3000" b="1" dirty="0">
                <a:solidFill>
                  <a:srgbClr val="65172F"/>
                </a:solidFill>
              </a:rPr>
              <a:t>30 → 21 days</a:t>
            </a:r>
            <a:endParaRPr lang="en-US" sz="3000" dirty="0"/>
          </a:p>
        </p:txBody>
      </p:sp>
      <p:sp>
        <p:nvSpPr>
          <p:cNvPr id="36" name="text-106"/>
          <p:cNvSpPr txBox="1"/>
          <p:nvPr/>
        </p:nvSpPr>
        <p:spPr>
          <a:xfrm>
            <a:off x="9006840" y="2670048"/>
            <a:ext cx="2514600" cy="868680"/>
          </a:xfrm>
          <a:prstGeom prst="rect">
            <a:avLst/>
          </a:prstGeom>
          <a:noFill/>
          <a:ln/>
        </p:spPr>
        <p:txBody>
          <a:bodyPr wrap="square" lIns="0" tIns="0" rIns="0" bIns="0" rtlCol="0" anchor="t"/>
          <a:lstStyle/>
          <a:p>
            <a:pPr indent="0" marL="0">
              <a:buNone/>
            </a:pPr>
            <a:r>
              <a:rPr lang="en-US" sz="1200" dirty="0">
                <a:solidFill>
                  <a:srgbClr val="6E665E"/>
                </a:solidFill>
              </a:rPr>
              <a:t>Dabur halted primary sales for 7–8 days to cut distributor stock, and guided to a revenue decline (Q2 FY25).</a:t>
            </a:r>
            <a:endParaRPr lang="en-US" sz="1200" dirty="0"/>
          </a:p>
        </p:txBody>
      </p:sp>
      <p:sp>
        <p:nvSpPr>
          <p:cNvPr id="37" name="text-107"/>
          <p:cNvSpPr txBox="1"/>
          <p:nvPr/>
        </p:nvSpPr>
        <p:spPr>
          <a:xfrm>
            <a:off x="9006840" y="3657600"/>
            <a:ext cx="2560320" cy="502920"/>
          </a:xfrm>
          <a:prstGeom prst="rect">
            <a:avLst/>
          </a:prstGeom>
          <a:noFill/>
          <a:ln/>
        </p:spPr>
        <p:txBody>
          <a:bodyPr wrap="square" lIns="0" tIns="0" rIns="0" bIns="0" rtlCol="0" anchor="t"/>
          <a:lstStyle/>
          <a:p>
            <a:pPr indent="0" marL="0">
              <a:buNone/>
            </a:pPr>
            <a:r>
              <a:rPr lang="en-US" sz="3000" b="1" dirty="0">
                <a:solidFill>
                  <a:srgbClr val="65172F"/>
                </a:solidFill>
              </a:rPr>
              <a:t>≈1 in 3</a:t>
            </a:r>
            <a:endParaRPr lang="en-US" sz="3000" dirty="0"/>
          </a:p>
        </p:txBody>
      </p:sp>
      <p:sp>
        <p:nvSpPr>
          <p:cNvPr id="38" name="text-108"/>
          <p:cNvSpPr txBox="1"/>
          <p:nvPr/>
        </p:nvSpPr>
        <p:spPr>
          <a:xfrm>
            <a:off x="9006840" y="4178808"/>
            <a:ext cx="2514600" cy="685800"/>
          </a:xfrm>
          <a:prstGeom prst="rect">
            <a:avLst/>
          </a:prstGeom>
          <a:noFill/>
          <a:ln/>
        </p:spPr>
        <p:txBody>
          <a:bodyPr wrap="square" lIns="0" tIns="0" rIns="0" bIns="0" rtlCol="0" anchor="t"/>
          <a:lstStyle/>
          <a:p>
            <a:pPr indent="0" marL="0">
              <a:buNone/>
            </a:pPr>
            <a:r>
              <a:rPr lang="en-US" sz="1200" dirty="0">
                <a:solidFill>
                  <a:srgbClr val="6E665E"/>
                </a:solidFill>
              </a:rPr>
              <a:t>shoppers facing a stock-out switch brand or don't buy at all (global study).</a:t>
            </a:r>
            <a:endParaRPr lang="en-US" sz="1200" dirty="0"/>
          </a:p>
        </p:txBody>
      </p:sp>
      <p:sp>
        <p:nvSpPr>
          <p:cNvPr id="39" name="text-109"/>
          <p:cNvSpPr txBox="1"/>
          <p:nvPr/>
        </p:nvSpPr>
        <p:spPr>
          <a:xfrm>
            <a:off x="640080" y="5715000"/>
            <a:ext cx="1828800" cy="237744"/>
          </a:xfrm>
          <a:prstGeom prst="rect">
            <a:avLst/>
          </a:prstGeom>
          <a:noFill/>
          <a:ln/>
        </p:spPr>
        <p:txBody>
          <a:bodyPr wrap="square" lIns="0" tIns="0" rIns="0" bIns="0" rtlCol="0" anchor="t"/>
          <a:lstStyle/>
          <a:p>
            <a:pPr indent="0" marL="0">
              <a:buNone/>
            </a:pPr>
            <a:r>
              <a:rPr lang="en-US" sz="1050" b="1" spc="150" kern="0" dirty="0">
                <a:solidFill>
                  <a:srgbClr val="65172F"/>
                </a:solidFill>
              </a:rPr>
              <a:t>KEY INSIGHT</a:t>
            </a:r>
            <a:endParaRPr lang="en-US" sz="1050" dirty="0"/>
          </a:p>
        </p:txBody>
      </p:sp>
      <p:sp>
        <p:nvSpPr>
          <p:cNvPr id="40" name="text-110"/>
          <p:cNvSpPr txBox="1"/>
          <p:nvPr/>
        </p:nvSpPr>
        <p:spPr>
          <a:xfrm>
            <a:off x="2011680" y="5669280"/>
            <a:ext cx="9509760" cy="566928"/>
          </a:xfrm>
          <a:prstGeom prst="rect">
            <a:avLst/>
          </a:prstGeom>
          <a:noFill/>
          <a:ln/>
        </p:spPr>
        <p:txBody>
          <a:bodyPr wrap="square" lIns="0" tIns="0" rIns="0" bIns="0" rtlCol="0" anchor="t"/>
          <a:lstStyle/>
          <a:p>
            <a:pPr indent="0" marL="0">
              <a:buNone/>
            </a:pPr>
            <a:r>
              <a:rPr lang="en-US" sz="1450" b="1" dirty="0">
                <a:solidFill>
                  <a:srgbClr val="171717"/>
                </a:solidFill>
              </a:rPr>
              <a:t>Waste is decided when the order is taken and discovered when the return arrives. Nothing in today's visit asks the rep to look, tells them what they may do, or rewards them for doing it.</a:t>
            </a:r>
            <a:endParaRPr lang="en-US" sz="1450" dirty="0"/>
          </a:p>
        </p:txBody>
      </p:sp>
      <p:sp>
        <p:nvSpPr>
          <p:cNvPr id="25" name="Slide Number Placeholder 0"/>
          <p:cNvSpPr>
            <a:spLocks noGrp="1"/>
          </p:cNvSpPr>
          <p:nvPr>
            <p:ph type="sldNum" sz="quarter" idx="4294967295"/>
          </p:nvPr>
        </p:nvSpPr>
        <p:spPr>
          <a:xfrm>
            <a:off x="11091672"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665E"/>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body" hasCustomPrompt="1"/>
          </p:nvPr>
        </p:nvSpPr>
        <p:spPr>
          <a:xfrm>
            <a:off x="640080" y="457200"/>
            <a:ext cx="8686800" cy="237744"/>
          </a:xfrm>
          <a:prstGeom prst="rect">
            <a:avLst/>
          </a:prstGeom>
          <a:noFill/>
          <a:ln/>
        </p:spPr>
        <p:txBody>
          <a:bodyPr wrap="square" lIns="0" tIns="0" rIns="0" bIns="0" rtlCol="0" anchor="t"/>
          <a:lstStyle/>
          <a:p>
            <a:pPr indent="0" marL="0">
              <a:buNone/>
            </a:pPr>
            <a:r>
              <a:rPr lang="en-US" sz="1100" b="1" spc="200" kern="0" dirty="0">
                <a:solidFill>
                  <a:srgbClr val="65172F"/>
                </a:solidFill>
              </a:rPr>
              <a:t>OUR STRATEGIC SOLUTION</a:t>
            </a:r>
            <a:endParaRPr lang="en-US" sz="1100" dirty="0"/>
          </a:p>
        </p:txBody>
      </p:sp>
      <p:sp>
        <p:nvSpPr>
          <p:cNvPr id="3" name="Text 0"/>
          <p:cNvSpPr/>
          <p:nvPr>
            <p:ph idx="102" type="title" hasCustomPrompt="1"/>
          </p:nvPr>
        </p:nvSpPr>
        <p:spPr>
          <a:xfrm>
            <a:off x="640080" y="749808"/>
            <a:ext cx="9418320" cy="1005840"/>
          </a:xfrm>
          <a:prstGeom prst="rect">
            <a:avLst/>
          </a:prstGeom>
          <a:noFill/>
          <a:ln/>
        </p:spPr>
        <p:txBody>
          <a:bodyPr wrap="square" lIns="0" tIns="0" rIns="0" bIns="0" rtlCol="0" anchor="t"/>
          <a:lstStyle/>
          <a:p>
            <a:pPr algn="l" indent="0" marL="0">
              <a:lnSpc>
                <a:spcPct val="95000"/>
              </a:lnSpc>
              <a:buNone/>
            </a:pPr>
            <a:r>
              <a:rPr lang="en-US" sz="3000" b="1" dirty="0">
                <a:solidFill>
                  <a:srgbClr val="171717"/>
                </a:solidFill>
                <a:latin typeface="Aptos Display" pitchFamily="34" charset="0"/>
                <a:ea typeface="Aptos Display" pitchFamily="34" charset="-122"/>
                <a:cs typeface="Aptos Display" pitchFamily="34" charset="-120"/>
              </a:rPr>
              <a:t>SMARTSELL turns every visit into early detection and the right action</a:t>
            </a:r>
            <a:endParaRPr lang="en-US" sz="3000" dirty="0"/>
          </a:p>
        </p:txBody>
      </p:sp>
      <p:sp>
        <p:nvSpPr>
          <p:cNvPr id="4" name="Text 0"/>
          <p:cNvSpPr/>
          <p:nvPr>
            <p:ph idx="103" type="body" hasCustomPrompt="1"/>
          </p:nvPr>
        </p:nvSpPr>
        <p:spPr>
          <a:xfrm>
            <a:off x="640080" y="6355080"/>
            <a:ext cx="9189720" cy="347472"/>
          </a:xfrm>
          <a:prstGeom prst="rect">
            <a:avLst/>
          </a:prstGeom>
          <a:noFill/>
          <a:ln/>
        </p:spPr>
        <p:txBody>
          <a:bodyPr wrap="square" lIns="0" tIns="0" rIns="0" bIns="0" rtlCol="0" anchor="t"/>
          <a:lstStyle/>
          <a:p>
            <a:pPr indent="0" marL="0">
              <a:buNone/>
            </a:pPr>
            <a:r>
              <a:rPr lang="en-US" sz="1000" dirty="0">
                <a:solidFill>
                  <a:srgbClr val="6E665E"/>
                </a:solidFill>
              </a:rPr>
              <a:t>Design principle: a layer on L'Oréal's existing SFA/DMS, not a replacement. Rules-based and explainable; machine learning only where it earns its place (phase 3).</a:t>
            </a:r>
            <a:endParaRPr lang="en-US" sz="1000" dirty="0"/>
          </a:p>
        </p:txBody>
      </p:sp>
      <p:sp>
        <p:nvSpPr>
          <p:cNvPr id="6" name="text-111"/>
          <p:cNvSpPr txBox="1"/>
          <p:nvPr/>
        </p:nvSpPr>
        <p:spPr>
          <a:xfrm>
            <a:off x="640080" y="1874520"/>
            <a:ext cx="1828800" cy="237744"/>
          </a:xfrm>
          <a:prstGeom prst="rect">
            <a:avLst/>
          </a:prstGeom>
          <a:noFill/>
          <a:ln/>
        </p:spPr>
        <p:txBody>
          <a:bodyPr wrap="square" lIns="0" tIns="0" rIns="0" bIns="0" rtlCol="0" anchor="t"/>
          <a:lstStyle/>
          <a:p>
            <a:pPr indent="0" marL="0">
              <a:buNone/>
            </a:pPr>
            <a:r>
              <a:rPr lang="en-US" sz="1050" b="1" spc="150" kern="0" dirty="0">
                <a:solidFill>
                  <a:srgbClr val="6E665E"/>
                </a:solidFill>
              </a:rPr>
              <a:t>INPUTS</a:t>
            </a:r>
            <a:endParaRPr lang="en-US" sz="1050" dirty="0"/>
          </a:p>
        </p:txBody>
      </p:sp>
      <p:sp>
        <p:nvSpPr>
          <p:cNvPr id="7" name="text-112"/>
          <p:cNvSpPr txBox="1"/>
          <p:nvPr/>
        </p:nvSpPr>
        <p:spPr>
          <a:xfrm>
            <a:off x="640080" y="2240280"/>
            <a:ext cx="1874520" cy="548640"/>
          </a:xfrm>
          <a:prstGeom prst="rect">
            <a:avLst/>
          </a:prstGeom>
          <a:noFill/>
          <a:ln/>
        </p:spPr>
        <p:txBody>
          <a:bodyPr wrap="square" lIns="0" tIns="0" rIns="0" bIns="0" rtlCol="0" anchor="t"/>
          <a:lstStyle/>
          <a:p>
            <a:pPr indent="0" marL="0">
              <a:buNone/>
            </a:pPr>
            <a:r>
              <a:rPr lang="en-US" sz="1300" dirty="0">
                <a:solidFill>
                  <a:srgbClr val="171717"/>
                </a:solidFill>
              </a:rPr>
              <a:t>Distributor DMS: stock and invoices</a:t>
            </a:r>
            <a:endParaRPr lang="en-US" sz="1300" dirty="0"/>
          </a:p>
        </p:txBody>
      </p:sp>
      <p:sp>
        <p:nvSpPr>
          <p:cNvPr id="8" name="line-113"/>
          <p:cNvSpPr/>
          <p:nvPr/>
        </p:nvSpPr>
        <p:spPr>
          <a:xfrm>
            <a:off x="640080" y="2807208"/>
            <a:ext cx="1828800" cy="0"/>
          </a:xfrm>
          <a:prstGeom prst="line">
            <a:avLst/>
          </a:prstGeom>
          <a:noFill/>
          <a:ln w="9525">
            <a:solidFill>
              <a:srgbClr val="E3DED7"/>
            </a:solidFill>
            <a:prstDash val="solid"/>
          </a:ln>
        </p:spPr>
      </p:sp>
      <p:sp>
        <p:nvSpPr>
          <p:cNvPr id="9" name="text-114"/>
          <p:cNvSpPr txBox="1"/>
          <p:nvPr/>
        </p:nvSpPr>
        <p:spPr>
          <a:xfrm>
            <a:off x="640080" y="2898648"/>
            <a:ext cx="1874520" cy="548640"/>
          </a:xfrm>
          <a:prstGeom prst="rect">
            <a:avLst/>
          </a:prstGeom>
          <a:noFill/>
          <a:ln/>
        </p:spPr>
        <p:txBody>
          <a:bodyPr wrap="square" lIns="0" tIns="0" rIns="0" bIns="0" rtlCol="0" anchor="t"/>
          <a:lstStyle/>
          <a:p>
            <a:pPr indent="0" marL="0">
              <a:buNone/>
            </a:pPr>
            <a:r>
              <a:rPr lang="en-US" sz="1300" dirty="0">
                <a:solidFill>
                  <a:srgbClr val="171717"/>
                </a:solidFill>
              </a:rPr>
              <a:t>Rep Smart Count + barcode and batch scan</a:t>
            </a:r>
            <a:endParaRPr lang="en-US" sz="1300" dirty="0"/>
          </a:p>
        </p:txBody>
      </p:sp>
      <p:sp>
        <p:nvSpPr>
          <p:cNvPr id="10" name="line-115"/>
          <p:cNvSpPr/>
          <p:nvPr/>
        </p:nvSpPr>
        <p:spPr>
          <a:xfrm>
            <a:off x="640080" y="3465576"/>
            <a:ext cx="1828800" cy="0"/>
          </a:xfrm>
          <a:prstGeom prst="line">
            <a:avLst/>
          </a:prstGeom>
          <a:noFill/>
          <a:ln w="9525">
            <a:solidFill>
              <a:srgbClr val="E3DED7"/>
            </a:solidFill>
            <a:prstDash val="solid"/>
          </a:ln>
        </p:spPr>
      </p:sp>
      <p:sp>
        <p:nvSpPr>
          <p:cNvPr id="11" name="text-116"/>
          <p:cNvSpPr txBox="1"/>
          <p:nvPr/>
        </p:nvSpPr>
        <p:spPr>
          <a:xfrm>
            <a:off x="640080" y="3557016"/>
            <a:ext cx="1874520" cy="548640"/>
          </a:xfrm>
          <a:prstGeom prst="rect">
            <a:avLst/>
          </a:prstGeom>
          <a:noFill/>
          <a:ln/>
        </p:spPr>
        <p:txBody>
          <a:bodyPr wrap="square" lIns="0" tIns="0" rIns="0" bIns="0" rtlCol="0" anchor="t"/>
          <a:lstStyle/>
          <a:p>
            <a:pPr indent="0" marL="0">
              <a:buNone/>
            </a:pPr>
            <a:r>
              <a:rPr lang="en-US" sz="1300" dirty="0">
                <a:solidFill>
                  <a:srgbClr val="171717"/>
                </a:solidFill>
              </a:rPr>
              <a:t>12 simple field signals</a:t>
            </a:r>
            <a:endParaRPr lang="en-US" sz="1300" dirty="0"/>
          </a:p>
        </p:txBody>
      </p:sp>
      <p:sp>
        <p:nvSpPr>
          <p:cNvPr id="12" name="line-117"/>
          <p:cNvSpPr/>
          <p:nvPr/>
        </p:nvSpPr>
        <p:spPr>
          <a:xfrm>
            <a:off x="640080" y="4123944"/>
            <a:ext cx="1828800" cy="0"/>
          </a:xfrm>
          <a:prstGeom prst="line">
            <a:avLst/>
          </a:prstGeom>
          <a:noFill/>
          <a:ln w="9525">
            <a:solidFill>
              <a:srgbClr val="E3DED7"/>
            </a:solidFill>
            <a:prstDash val="solid"/>
          </a:ln>
        </p:spPr>
      </p:sp>
      <p:sp>
        <p:nvSpPr>
          <p:cNvPr id="13" name="text-118"/>
          <p:cNvSpPr txBox="1"/>
          <p:nvPr/>
        </p:nvSpPr>
        <p:spPr>
          <a:xfrm>
            <a:off x="640080" y="4215384"/>
            <a:ext cx="1874520" cy="548640"/>
          </a:xfrm>
          <a:prstGeom prst="rect">
            <a:avLst/>
          </a:prstGeom>
          <a:noFill/>
          <a:ln/>
        </p:spPr>
        <p:txBody>
          <a:bodyPr wrap="square" lIns="0" tIns="0" rIns="0" bIns="0" rtlCol="0" anchor="t"/>
          <a:lstStyle/>
          <a:p>
            <a:pPr indent="0" marL="0">
              <a:buNone/>
            </a:pPr>
            <a:r>
              <a:rPr lang="en-US" sz="1300" dirty="0">
                <a:solidFill>
                  <a:srgbClr val="171717"/>
                </a:solidFill>
              </a:rPr>
              <a:t>Online / quick-commerce trend</a:t>
            </a:r>
            <a:endParaRPr lang="en-US" sz="1300" dirty="0"/>
          </a:p>
        </p:txBody>
      </p:sp>
      <p:sp>
        <p:nvSpPr>
          <p:cNvPr id="14" name="line-119"/>
          <p:cNvSpPr/>
          <p:nvPr/>
        </p:nvSpPr>
        <p:spPr>
          <a:xfrm>
            <a:off x="2560320" y="3429000"/>
            <a:ext cx="274320" cy="0"/>
          </a:xfrm>
          <a:prstGeom prst="line">
            <a:avLst/>
          </a:prstGeom>
          <a:noFill/>
          <a:ln w="19050">
            <a:solidFill>
              <a:srgbClr val="171717"/>
            </a:solidFill>
            <a:prstDash val="solid"/>
            <a:tailEnd type="triangle"/>
          </a:ln>
        </p:spPr>
      </p:sp>
      <p:sp>
        <p:nvSpPr>
          <p:cNvPr id="15" name="rect-120"/>
          <p:cNvSpPr/>
          <p:nvPr/>
        </p:nvSpPr>
        <p:spPr>
          <a:xfrm>
            <a:off x="2926080" y="1874520"/>
            <a:ext cx="1517904" cy="3108960"/>
          </a:xfrm>
          <a:prstGeom prst="rect">
            <a:avLst/>
          </a:prstGeom>
          <a:solidFill>
            <a:srgbClr val="65172F"/>
          </a:solidFill>
          <a:ln w="12700">
            <a:solidFill>
              <a:srgbClr val="65172F"/>
            </a:solidFill>
            <a:prstDash val="solid"/>
          </a:ln>
        </p:spPr>
      </p:sp>
      <p:sp>
        <p:nvSpPr>
          <p:cNvPr id="16" name="text-121"/>
          <p:cNvSpPr txBox="1"/>
          <p:nvPr/>
        </p:nvSpPr>
        <p:spPr>
          <a:xfrm>
            <a:off x="3090672" y="2029968"/>
            <a:ext cx="1188720" cy="274320"/>
          </a:xfrm>
          <a:prstGeom prst="rect">
            <a:avLst/>
          </a:prstGeom>
          <a:noFill/>
          <a:ln/>
        </p:spPr>
        <p:txBody>
          <a:bodyPr wrap="square" lIns="0" tIns="0" rIns="0" bIns="0" rtlCol="0" anchor="t"/>
          <a:lstStyle/>
          <a:p>
            <a:pPr indent="0" marL="0">
              <a:buNone/>
            </a:pPr>
            <a:r>
              <a:rPr lang="en-US" sz="1200" b="1" dirty="0">
                <a:solidFill>
                  <a:srgbClr val="B9808F"/>
                </a:solidFill>
              </a:rPr>
              <a:t>01</a:t>
            </a:r>
            <a:endParaRPr lang="en-US" sz="1200" dirty="0"/>
          </a:p>
        </p:txBody>
      </p:sp>
      <p:sp>
        <p:nvSpPr>
          <p:cNvPr id="17" name="text-122"/>
          <p:cNvSpPr txBox="1"/>
          <p:nvPr/>
        </p:nvSpPr>
        <p:spPr>
          <a:xfrm>
            <a:off x="3090672" y="2377440"/>
            <a:ext cx="1234440" cy="685800"/>
          </a:xfrm>
          <a:prstGeom prst="rect">
            <a:avLst/>
          </a:prstGeom>
          <a:noFill/>
          <a:ln/>
        </p:spPr>
        <p:txBody>
          <a:bodyPr wrap="square" lIns="0" tIns="0" rIns="0" bIns="0" rtlCol="0" anchor="t"/>
          <a:lstStyle/>
          <a:p>
            <a:pPr indent="0" marL="0">
              <a:lnSpc>
                <a:spcPct val="95000"/>
              </a:lnSpc>
              <a:buNone/>
            </a:pPr>
            <a:r>
              <a:rPr lang="en-US" sz="1700" b="1" dirty="0">
                <a:solidFill>
                  <a:srgbClr val="FFFFFF"/>
                </a:solidFill>
                <a:latin typeface="Aptos Display" pitchFamily="34" charset="0"/>
                <a:ea typeface="Aptos Display" pitchFamily="34" charset="-122"/>
                <a:cs typeface="Aptos Display" pitchFamily="34" charset="-120"/>
              </a:rPr>
              <a:t>Stock Intelligence</a:t>
            </a:r>
            <a:endParaRPr lang="en-US" sz="1700" dirty="0"/>
          </a:p>
        </p:txBody>
      </p:sp>
      <p:sp>
        <p:nvSpPr>
          <p:cNvPr id="18" name="text-123"/>
          <p:cNvSpPr txBox="1"/>
          <p:nvPr/>
        </p:nvSpPr>
        <p:spPr>
          <a:xfrm>
            <a:off x="3090672" y="3154680"/>
            <a:ext cx="1216152" cy="1737360"/>
          </a:xfrm>
          <a:prstGeom prst="rect">
            <a:avLst/>
          </a:prstGeom>
          <a:noFill/>
          <a:ln/>
        </p:spPr>
        <p:txBody>
          <a:bodyPr wrap="square" lIns="0" tIns="0" rIns="0" bIns="0" rtlCol="0" anchor="t"/>
          <a:lstStyle/>
          <a:p>
            <a:pPr indent="0" marL="0">
              <a:buNone/>
            </a:pPr>
            <a:r>
              <a:rPr lang="en-US" sz="1150" dirty="0">
                <a:solidFill>
                  <a:srgbClr val="F1E6E9"/>
                </a:solidFill>
              </a:rPr>
              <a:t>Pre-visit brief, Smart Count, batch and expiry capture, stock-flow sell-out</a:t>
            </a:r>
            <a:endParaRPr lang="en-US" sz="1150" dirty="0"/>
          </a:p>
        </p:txBody>
      </p:sp>
      <p:sp>
        <p:nvSpPr>
          <p:cNvPr id="19" name="line-124"/>
          <p:cNvSpPr/>
          <p:nvPr/>
        </p:nvSpPr>
        <p:spPr>
          <a:xfrm>
            <a:off x="4443984" y="3429000"/>
            <a:ext cx="146304" cy="0"/>
          </a:xfrm>
          <a:prstGeom prst="line">
            <a:avLst/>
          </a:prstGeom>
          <a:noFill/>
          <a:ln w="19050">
            <a:solidFill>
              <a:srgbClr val="171717"/>
            </a:solidFill>
            <a:prstDash val="solid"/>
            <a:tailEnd type="triangle"/>
          </a:ln>
        </p:spPr>
      </p:sp>
      <p:sp>
        <p:nvSpPr>
          <p:cNvPr id="20" name="rect-125"/>
          <p:cNvSpPr/>
          <p:nvPr/>
        </p:nvSpPr>
        <p:spPr>
          <a:xfrm>
            <a:off x="4590288" y="1874520"/>
            <a:ext cx="1517904" cy="3108960"/>
          </a:xfrm>
          <a:prstGeom prst="rect">
            <a:avLst/>
          </a:prstGeom>
          <a:solidFill>
            <a:srgbClr val="8C3A52"/>
          </a:solidFill>
          <a:ln w="12700">
            <a:solidFill>
              <a:srgbClr val="8C3A52"/>
            </a:solidFill>
            <a:prstDash val="solid"/>
          </a:ln>
        </p:spPr>
      </p:sp>
      <p:sp>
        <p:nvSpPr>
          <p:cNvPr id="21" name="text-126"/>
          <p:cNvSpPr txBox="1"/>
          <p:nvPr/>
        </p:nvSpPr>
        <p:spPr>
          <a:xfrm>
            <a:off x="4754880" y="2029968"/>
            <a:ext cx="1188720" cy="274320"/>
          </a:xfrm>
          <a:prstGeom prst="rect">
            <a:avLst/>
          </a:prstGeom>
          <a:noFill/>
          <a:ln/>
        </p:spPr>
        <p:txBody>
          <a:bodyPr wrap="square" lIns="0" tIns="0" rIns="0" bIns="0" rtlCol="0" anchor="t"/>
          <a:lstStyle/>
          <a:p>
            <a:pPr indent="0" marL="0">
              <a:buNone/>
            </a:pPr>
            <a:r>
              <a:rPr lang="en-US" sz="1200" b="1" dirty="0">
                <a:solidFill>
                  <a:srgbClr val="B9808F"/>
                </a:solidFill>
              </a:rPr>
              <a:t>02</a:t>
            </a:r>
            <a:endParaRPr lang="en-US" sz="1200" dirty="0"/>
          </a:p>
        </p:txBody>
      </p:sp>
      <p:sp>
        <p:nvSpPr>
          <p:cNvPr id="22" name="text-127"/>
          <p:cNvSpPr txBox="1"/>
          <p:nvPr/>
        </p:nvSpPr>
        <p:spPr>
          <a:xfrm>
            <a:off x="4754880" y="2377440"/>
            <a:ext cx="1234440" cy="685800"/>
          </a:xfrm>
          <a:prstGeom prst="rect">
            <a:avLst/>
          </a:prstGeom>
          <a:noFill/>
          <a:ln/>
        </p:spPr>
        <p:txBody>
          <a:bodyPr wrap="square" lIns="0" tIns="0" rIns="0" bIns="0" rtlCol="0" anchor="t"/>
          <a:lstStyle/>
          <a:p>
            <a:pPr indent="0" marL="0">
              <a:lnSpc>
                <a:spcPct val="95000"/>
              </a:lnSpc>
              <a:buNone/>
            </a:pPr>
            <a:r>
              <a:rPr lang="en-US" sz="1700" b="1" dirty="0">
                <a:solidFill>
                  <a:srgbClr val="FFFFFF"/>
                </a:solidFill>
                <a:latin typeface="Aptos Display" pitchFamily="34" charset="0"/>
                <a:ea typeface="Aptos Display" pitchFamily="34" charset="-122"/>
                <a:cs typeface="Aptos Display" pitchFamily="34" charset="-120"/>
              </a:rPr>
              <a:t>Risk Engine</a:t>
            </a:r>
            <a:endParaRPr lang="en-US" sz="1700" dirty="0"/>
          </a:p>
        </p:txBody>
      </p:sp>
      <p:sp>
        <p:nvSpPr>
          <p:cNvPr id="23" name="text-128"/>
          <p:cNvSpPr txBox="1"/>
          <p:nvPr/>
        </p:nvSpPr>
        <p:spPr>
          <a:xfrm>
            <a:off x="4754880" y="3154680"/>
            <a:ext cx="1216152" cy="1737360"/>
          </a:xfrm>
          <a:prstGeom prst="rect">
            <a:avLst/>
          </a:prstGeom>
          <a:noFill/>
          <a:ln/>
        </p:spPr>
        <p:txBody>
          <a:bodyPr wrap="square" lIns="0" tIns="0" rIns="0" bIns="0" rtlCol="0" anchor="t"/>
          <a:lstStyle/>
          <a:p>
            <a:pPr indent="0" marL="0">
              <a:buNone/>
            </a:pPr>
            <a:r>
              <a:rPr lang="en-US" sz="1150" dirty="0">
                <a:solidFill>
                  <a:srgbClr val="F1E6E9"/>
                </a:solidFill>
              </a:rPr>
              <a:t>FEFO projected waste, ₹ at risk, days to act, stock-out and channel-shift detection</a:t>
            </a:r>
            <a:endParaRPr lang="en-US" sz="1150" dirty="0"/>
          </a:p>
        </p:txBody>
      </p:sp>
      <p:sp>
        <p:nvSpPr>
          <p:cNvPr id="24" name="line-129"/>
          <p:cNvSpPr/>
          <p:nvPr/>
        </p:nvSpPr>
        <p:spPr>
          <a:xfrm>
            <a:off x="6108192" y="3429000"/>
            <a:ext cx="146304" cy="0"/>
          </a:xfrm>
          <a:prstGeom prst="line">
            <a:avLst/>
          </a:prstGeom>
          <a:noFill/>
          <a:ln w="19050">
            <a:solidFill>
              <a:srgbClr val="171717"/>
            </a:solidFill>
            <a:prstDash val="solid"/>
            <a:tailEnd type="triangle"/>
          </a:ln>
        </p:spPr>
      </p:sp>
      <p:sp>
        <p:nvSpPr>
          <p:cNvPr id="25" name="rect-130"/>
          <p:cNvSpPr/>
          <p:nvPr/>
        </p:nvSpPr>
        <p:spPr>
          <a:xfrm>
            <a:off x="6254496" y="1874520"/>
            <a:ext cx="1517904" cy="3108960"/>
          </a:xfrm>
          <a:prstGeom prst="rect">
            <a:avLst/>
          </a:prstGeom>
          <a:solidFill>
            <a:srgbClr val="7A2C44"/>
          </a:solidFill>
          <a:ln w="12700">
            <a:solidFill>
              <a:srgbClr val="7A2C44"/>
            </a:solidFill>
            <a:prstDash val="solid"/>
          </a:ln>
        </p:spPr>
      </p:sp>
      <p:sp>
        <p:nvSpPr>
          <p:cNvPr id="26" name="text-131"/>
          <p:cNvSpPr txBox="1"/>
          <p:nvPr/>
        </p:nvSpPr>
        <p:spPr>
          <a:xfrm>
            <a:off x="6419088" y="2029968"/>
            <a:ext cx="1188720" cy="274320"/>
          </a:xfrm>
          <a:prstGeom prst="rect">
            <a:avLst/>
          </a:prstGeom>
          <a:noFill/>
          <a:ln/>
        </p:spPr>
        <p:txBody>
          <a:bodyPr wrap="square" lIns="0" tIns="0" rIns="0" bIns="0" rtlCol="0" anchor="t"/>
          <a:lstStyle/>
          <a:p>
            <a:pPr indent="0" marL="0">
              <a:buNone/>
            </a:pPr>
            <a:r>
              <a:rPr lang="en-US" sz="1200" b="1" dirty="0">
                <a:solidFill>
                  <a:srgbClr val="B9808F"/>
                </a:solidFill>
              </a:rPr>
              <a:t>03</a:t>
            </a:r>
            <a:endParaRPr lang="en-US" sz="1200" dirty="0"/>
          </a:p>
        </p:txBody>
      </p:sp>
      <p:sp>
        <p:nvSpPr>
          <p:cNvPr id="27" name="text-132"/>
          <p:cNvSpPr txBox="1"/>
          <p:nvPr/>
        </p:nvSpPr>
        <p:spPr>
          <a:xfrm>
            <a:off x="6419088" y="2377440"/>
            <a:ext cx="1234440" cy="685800"/>
          </a:xfrm>
          <a:prstGeom prst="rect">
            <a:avLst/>
          </a:prstGeom>
          <a:noFill/>
          <a:ln/>
        </p:spPr>
        <p:txBody>
          <a:bodyPr wrap="square" lIns="0" tIns="0" rIns="0" bIns="0" rtlCol="0" anchor="t"/>
          <a:lstStyle/>
          <a:p>
            <a:pPr indent="0" marL="0">
              <a:lnSpc>
                <a:spcPct val="95000"/>
              </a:lnSpc>
              <a:buNone/>
            </a:pPr>
            <a:r>
              <a:rPr lang="en-US" sz="1700" b="1" dirty="0">
                <a:solidFill>
                  <a:srgbClr val="FFFFFF"/>
                </a:solidFill>
                <a:latin typeface="Aptos Display" pitchFamily="34" charset="0"/>
                <a:ea typeface="Aptos Display" pitchFamily="34" charset="-122"/>
                <a:cs typeface="Aptos Display" pitchFamily="34" charset="-120"/>
              </a:rPr>
              <a:t>Action Engine</a:t>
            </a:r>
            <a:endParaRPr lang="en-US" sz="1700" dirty="0"/>
          </a:p>
        </p:txBody>
      </p:sp>
      <p:sp>
        <p:nvSpPr>
          <p:cNvPr id="28" name="text-133"/>
          <p:cNvSpPr txBox="1"/>
          <p:nvPr/>
        </p:nvSpPr>
        <p:spPr>
          <a:xfrm>
            <a:off x="6419088" y="3154680"/>
            <a:ext cx="1216152" cy="1737360"/>
          </a:xfrm>
          <a:prstGeom prst="rect">
            <a:avLst/>
          </a:prstGeom>
          <a:noFill/>
          <a:ln/>
        </p:spPr>
        <p:txBody>
          <a:bodyPr wrap="square" lIns="0" tIns="0" rIns="0" bIns="0" rtlCol="0" anchor="t"/>
          <a:lstStyle/>
          <a:p>
            <a:pPr indent="0" marL="0">
              <a:buNone/>
            </a:pPr>
            <a:r>
              <a:rPr lang="en-US" sz="1150" dirty="0">
                <a:solidFill>
                  <a:srgbClr val="F1E6E9"/>
                </a:solidFill>
              </a:rPr>
              <a:t>8-step intervention ladder, transfer matching, order guardrail, approvals</a:t>
            </a:r>
            <a:endParaRPr lang="en-US" sz="1150" dirty="0"/>
          </a:p>
        </p:txBody>
      </p:sp>
      <p:sp>
        <p:nvSpPr>
          <p:cNvPr id="29" name="line-134"/>
          <p:cNvSpPr/>
          <p:nvPr/>
        </p:nvSpPr>
        <p:spPr>
          <a:xfrm>
            <a:off x="7772400" y="3429000"/>
            <a:ext cx="146304" cy="0"/>
          </a:xfrm>
          <a:prstGeom prst="line">
            <a:avLst/>
          </a:prstGeom>
          <a:noFill/>
          <a:ln w="19050">
            <a:solidFill>
              <a:srgbClr val="171717"/>
            </a:solidFill>
            <a:prstDash val="solid"/>
            <a:tailEnd type="triangle"/>
          </a:ln>
        </p:spPr>
      </p:sp>
      <p:sp>
        <p:nvSpPr>
          <p:cNvPr id="30" name="rect-135"/>
          <p:cNvSpPr/>
          <p:nvPr/>
        </p:nvSpPr>
        <p:spPr>
          <a:xfrm>
            <a:off x="7918704" y="1874520"/>
            <a:ext cx="1517904" cy="3108960"/>
          </a:xfrm>
          <a:prstGeom prst="rect">
            <a:avLst/>
          </a:prstGeom>
          <a:solidFill>
            <a:srgbClr val="171717"/>
          </a:solidFill>
          <a:ln w="12700">
            <a:solidFill>
              <a:srgbClr val="171717"/>
            </a:solidFill>
            <a:prstDash val="solid"/>
          </a:ln>
        </p:spPr>
      </p:sp>
      <p:sp>
        <p:nvSpPr>
          <p:cNvPr id="31" name="text-136"/>
          <p:cNvSpPr txBox="1"/>
          <p:nvPr/>
        </p:nvSpPr>
        <p:spPr>
          <a:xfrm>
            <a:off x="8083296" y="2029968"/>
            <a:ext cx="1188720" cy="274320"/>
          </a:xfrm>
          <a:prstGeom prst="rect">
            <a:avLst/>
          </a:prstGeom>
          <a:noFill/>
          <a:ln/>
        </p:spPr>
        <p:txBody>
          <a:bodyPr wrap="square" lIns="0" tIns="0" rIns="0" bIns="0" rtlCol="0" anchor="t"/>
          <a:lstStyle/>
          <a:p>
            <a:pPr indent="0" marL="0">
              <a:buNone/>
            </a:pPr>
            <a:r>
              <a:rPr lang="en-US" sz="1200" b="1" dirty="0">
                <a:solidFill>
                  <a:srgbClr val="B9808F"/>
                </a:solidFill>
              </a:rPr>
              <a:t>04</a:t>
            </a:r>
            <a:endParaRPr lang="en-US" sz="1200" dirty="0"/>
          </a:p>
        </p:txBody>
      </p:sp>
      <p:sp>
        <p:nvSpPr>
          <p:cNvPr id="32" name="text-137"/>
          <p:cNvSpPr txBox="1"/>
          <p:nvPr/>
        </p:nvSpPr>
        <p:spPr>
          <a:xfrm>
            <a:off x="8083296" y="2377440"/>
            <a:ext cx="1234440" cy="685800"/>
          </a:xfrm>
          <a:prstGeom prst="rect">
            <a:avLst/>
          </a:prstGeom>
          <a:noFill/>
          <a:ln/>
        </p:spPr>
        <p:txBody>
          <a:bodyPr wrap="square" lIns="0" tIns="0" rIns="0" bIns="0" rtlCol="0" anchor="t"/>
          <a:lstStyle/>
          <a:p>
            <a:pPr indent="0" marL="0">
              <a:lnSpc>
                <a:spcPct val="95000"/>
              </a:lnSpc>
              <a:buNone/>
            </a:pPr>
            <a:r>
              <a:rPr lang="en-US" sz="1700" b="1" dirty="0">
                <a:solidFill>
                  <a:srgbClr val="FFFFFF"/>
                </a:solidFill>
                <a:latin typeface="Aptos Display" pitchFamily="34" charset="0"/>
                <a:ea typeface="Aptos Display" pitchFamily="34" charset="-122"/>
                <a:cs typeface="Aptos Display" pitchFamily="34" charset="-120"/>
              </a:rPr>
              <a:t>Manager Intelligence</a:t>
            </a:r>
            <a:endParaRPr lang="en-US" sz="1700" dirty="0"/>
          </a:p>
        </p:txBody>
      </p:sp>
      <p:sp>
        <p:nvSpPr>
          <p:cNvPr id="33" name="text-138"/>
          <p:cNvSpPr txBox="1"/>
          <p:nvPr/>
        </p:nvSpPr>
        <p:spPr>
          <a:xfrm>
            <a:off x="8083296" y="3154680"/>
            <a:ext cx="1216152" cy="1737360"/>
          </a:xfrm>
          <a:prstGeom prst="rect">
            <a:avLst/>
          </a:prstGeom>
          <a:noFill/>
          <a:ln/>
        </p:spPr>
        <p:txBody>
          <a:bodyPr wrap="square" lIns="0" tIns="0" rIns="0" bIns="0" rtlCol="0" anchor="t"/>
          <a:lstStyle/>
          <a:p>
            <a:pPr indent="0" marL="0">
              <a:buNone/>
            </a:pPr>
            <a:r>
              <a:rPr lang="en-US" sz="1150" dirty="0">
                <a:solidFill>
                  <a:srgbClr val="F1E6E9"/>
                </a:solidFill>
              </a:rPr>
              <a:t>Territory risk, approvals, repeat offenders, scorecards, outcomes vs business-as-usual</a:t>
            </a:r>
            <a:endParaRPr lang="en-US" sz="1150" dirty="0"/>
          </a:p>
        </p:txBody>
      </p:sp>
      <p:sp>
        <p:nvSpPr>
          <p:cNvPr id="34" name="line-139"/>
          <p:cNvSpPr/>
          <p:nvPr/>
        </p:nvSpPr>
        <p:spPr>
          <a:xfrm>
            <a:off x="9582912" y="3429000"/>
            <a:ext cx="274320" cy="0"/>
          </a:xfrm>
          <a:prstGeom prst="line">
            <a:avLst/>
          </a:prstGeom>
          <a:noFill/>
          <a:ln w="19050">
            <a:solidFill>
              <a:srgbClr val="171717"/>
            </a:solidFill>
            <a:prstDash val="solid"/>
            <a:tailEnd type="triangle"/>
          </a:ln>
        </p:spPr>
      </p:sp>
      <p:sp>
        <p:nvSpPr>
          <p:cNvPr id="35" name="text-140"/>
          <p:cNvSpPr txBox="1"/>
          <p:nvPr/>
        </p:nvSpPr>
        <p:spPr>
          <a:xfrm>
            <a:off x="9966960" y="1874520"/>
            <a:ext cx="1645920" cy="237744"/>
          </a:xfrm>
          <a:prstGeom prst="rect">
            <a:avLst/>
          </a:prstGeom>
          <a:noFill/>
          <a:ln/>
        </p:spPr>
        <p:txBody>
          <a:bodyPr wrap="square" lIns="0" tIns="0" rIns="0" bIns="0" rtlCol="0" anchor="t"/>
          <a:lstStyle/>
          <a:p>
            <a:pPr indent="0" marL="0">
              <a:buNone/>
            </a:pPr>
            <a:r>
              <a:rPr lang="en-US" sz="1050" b="1" spc="150" kern="0" dirty="0">
                <a:solidFill>
                  <a:srgbClr val="6E665E"/>
                </a:solidFill>
              </a:rPr>
              <a:t>WHO ACTS ON IT</a:t>
            </a:r>
            <a:endParaRPr lang="en-US" sz="1050" dirty="0"/>
          </a:p>
        </p:txBody>
      </p:sp>
      <p:sp>
        <p:nvSpPr>
          <p:cNvPr id="36" name="text-141"/>
          <p:cNvSpPr txBox="1"/>
          <p:nvPr/>
        </p:nvSpPr>
        <p:spPr>
          <a:xfrm>
            <a:off x="9966960" y="2240280"/>
            <a:ext cx="1600200" cy="566928"/>
          </a:xfrm>
          <a:prstGeom prst="rect">
            <a:avLst/>
          </a:prstGeom>
          <a:noFill/>
          <a:ln/>
        </p:spPr>
        <p:txBody>
          <a:bodyPr wrap="square" lIns="0" tIns="0" rIns="0" bIns="0" rtlCol="0" anchor="t"/>
          <a:lstStyle/>
          <a:p>
            <a:pPr indent="0" marL="0">
              <a:buNone/>
            </a:pPr>
            <a:r>
              <a:rPr lang="en-US" sz="1300" b="1" dirty="0">
                <a:solidFill>
                  <a:srgbClr val="171717"/>
                </a:solidFill>
              </a:rPr>
              <a:t>Field rep</a:t>
            </a:r>
            <a:endParaRPr lang="en-US" sz="1300" dirty="0"/>
          </a:p>
          <a:p>
            <a:pPr indent="0" marL="0">
              <a:buNone/>
            </a:pPr>
            <a:r>
              <a:rPr lang="en-US" sz="1150" dirty="0">
                <a:solidFill>
                  <a:srgbClr val="6E665E"/>
                </a:solidFill>
              </a:rPr>
              <a:t>today's actions</a:t>
            </a:r>
            <a:endParaRPr lang="en-US" sz="1300" dirty="0"/>
          </a:p>
        </p:txBody>
      </p:sp>
      <p:sp>
        <p:nvSpPr>
          <p:cNvPr id="37" name="line-142"/>
          <p:cNvSpPr/>
          <p:nvPr/>
        </p:nvSpPr>
        <p:spPr>
          <a:xfrm>
            <a:off x="9966960" y="2807208"/>
            <a:ext cx="1572768" cy="0"/>
          </a:xfrm>
          <a:prstGeom prst="line">
            <a:avLst/>
          </a:prstGeom>
          <a:noFill/>
          <a:ln w="9525">
            <a:solidFill>
              <a:srgbClr val="E3DED7"/>
            </a:solidFill>
            <a:prstDash val="solid"/>
          </a:ln>
        </p:spPr>
      </p:sp>
      <p:sp>
        <p:nvSpPr>
          <p:cNvPr id="38" name="text-143"/>
          <p:cNvSpPr txBox="1"/>
          <p:nvPr/>
        </p:nvSpPr>
        <p:spPr>
          <a:xfrm>
            <a:off x="9966960" y="2898648"/>
            <a:ext cx="1600200" cy="566928"/>
          </a:xfrm>
          <a:prstGeom prst="rect">
            <a:avLst/>
          </a:prstGeom>
          <a:noFill/>
          <a:ln/>
        </p:spPr>
        <p:txBody>
          <a:bodyPr wrap="square" lIns="0" tIns="0" rIns="0" bIns="0" rtlCol="0" anchor="t"/>
          <a:lstStyle/>
          <a:p>
            <a:pPr indent="0" marL="0">
              <a:buNone/>
            </a:pPr>
            <a:r>
              <a:rPr lang="en-US" sz="1300" b="1" dirty="0">
                <a:solidFill>
                  <a:srgbClr val="171717"/>
                </a:solidFill>
              </a:rPr>
              <a:t>ASM</a:t>
            </a:r>
            <a:endParaRPr lang="en-US" sz="1300" dirty="0"/>
          </a:p>
          <a:p>
            <a:pPr indent="0" marL="0">
              <a:buNone/>
            </a:pPr>
            <a:r>
              <a:rPr lang="en-US" sz="1150" dirty="0">
                <a:solidFill>
                  <a:srgbClr val="6E665E"/>
                </a:solidFill>
              </a:rPr>
              <a:t>approvals, scorecard</a:t>
            </a:r>
            <a:endParaRPr lang="en-US" sz="1300" dirty="0"/>
          </a:p>
        </p:txBody>
      </p:sp>
      <p:sp>
        <p:nvSpPr>
          <p:cNvPr id="39" name="line-144"/>
          <p:cNvSpPr/>
          <p:nvPr/>
        </p:nvSpPr>
        <p:spPr>
          <a:xfrm>
            <a:off x="9966960" y="3465576"/>
            <a:ext cx="1572768" cy="0"/>
          </a:xfrm>
          <a:prstGeom prst="line">
            <a:avLst/>
          </a:prstGeom>
          <a:noFill/>
          <a:ln w="9525">
            <a:solidFill>
              <a:srgbClr val="E3DED7"/>
            </a:solidFill>
            <a:prstDash val="solid"/>
          </a:ln>
        </p:spPr>
      </p:sp>
      <p:sp>
        <p:nvSpPr>
          <p:cNvPr id="40" name="text-145"/>
          <p:cNvSpPr txBox="1"/>
          <p:nvPr/>
        </p:nvSpPr>
        <p:spPr>
          <a:xfrm>
            <a:off x="9966960" y="3557016"/>
            <a:ext cx="1600200" cy="566928"/>
          </a:xfrm>
          <a:prstGeom prst="rect">
            <a:avLst/>
          </a:prstGeom>
          <a:noFill/>
          <a:ln/>
        </p:spPr>
        <p:txBody>
          <a:bodyPr wrap="square" lIns="0" tIns="0" rIns="0" bIns="0" rtlCol="0" anchor="t"/>
          <a:lstStyle/>
          <a:p>
            <a:pPr indent="0" marL="0">
              <a:buNone/>
            </a:pPr>
            <a:r>
              <a:rPr lang="en-US" sz="1300" b="1" dirty="0">
                <a:solidFill>
                  <a:srgbClr val="171717"/>
                </a:solidFill>
              </a:rPr>
              <a:t>Distributor</a:t>
            </a:r>
            <a:endParaRPr lang="en-US" sz="1300" dirty="0"/>
          </a:p>
          <a:p>
            <a:pPr indent="0" marL="0">
              <a:buNone/>
            </a:pPr>
            <a:r>
              <a:rPr lang="en-US" sz="1150" dirty="0">
                <a:solidFill>
                  <a:srgbClr val="6E665E"/>
                </a:solidFill>
              </a:rPr>
              <a:t>transfer tasks</a:t>
            </a:r>
            <a:endParaRPr lang="en-US" sz="1300" dirty="0"/>
          </a:p>
        </p:txBody>
      </p:sp>
      <p:sp>
        <p:nvSpPr>
          <p:cNvPr id="41" name="line-146"/>
          <p:cNvSpPr/>
          <p:nvPr/>
        </p:nvSpPr>
        <p:spPr>
          <a:xfrm>
            <a:off x="9966960" y="4123944"/>
            <a:ext cx="1572768" cy="0"/>
          </a:xfrm>
          <a:prstGeom prst="line">
            <a:avLst/>
          </a:prstGeom>
          <a:noFill/>
          <a:ln w="9525">
            <a:solidFill>
              <a:srgbClr val="E3DED7"/>
            </a:solidFill>
            <a:prstDash val="solid"/>
          </a:ln>
        </p:spPr>
      </p:sp>
      <p:sp>
        <p:nvSpPr>
          <p:cNvPr id="42" name="text-147"/>
          <p:cNvSpPr txBox="1"/>
          <p:nvPr/>
        </p:nvSpPr>
        <p:spPr>
          <a:xfrm>
            <a:off x="9966960" y="4215384"/>
            <a:ext cx="1600200" cy="566928"/>
          </a:xfrm>
          <a:prstGeom prst="rect">
            <a:avLst/>
          </a:prstGeom>
          <a:noFill/>
          <a:ln/>
        </p:spPr>
        <p:txBody>
          <a:bodyPr wrap="square" lIns="0" tIns="0" rIns="0" bIns="0" rtlCol="0" anchor="t"/>
          <a:lstStyle/>
          <a:p>
            <a:pPr indent="0" marL="0">
              <a:buNone/>
            </a:pPr>
            <a:r>
              <a:rPr lang="en-US" sz="1300" b="1" dirty="0">
                <a:solidFill>
                  <a:srgbClr val="171717"/>
                </a:solidFill>
              </a:rPr>
              <a:t>Q-comm KAM</a:t>
            </a:r>
            <a:endParaRPr lang="en-US" sz="1300" dirty="0"/>
          </a:p>
          <a:p>
            <a:pPr indent="0" marL="0">
              <a:buNone/>
            </a:pPr>
            <a:r>
              <a:rPr lang="en-US" sz="1150" dirty="0">
                <a:solidFill>
                  <a:srgbClr val="6E665E"/>
                </a:solidFill>
              </a:rPr>
              <a:t>channel-shift flags</a:t>
            </a:r>
            <a:endParaRPr lang="en-US" sz="1300" dirty="0"/>
          </a:p>
        </p:txBody>
      </p:sp>
      <p:sp>
        <p:nvSpPr>
          <p:cNvPr id="43" name="text-148"/>
          <p:cNvSpPr txBox="1"/>
          <p:nvPr/>
        </p:nvSpPr>
        <p:spPr>
          <a:xfrm>
            <a:off x="640080" y="5321808"/>
            <a:ext cx="3657600" cy="237744"/>
          </a:xfrm>
          <a:prstGeom prst="rect">
            <a:avLst/>
          </a:prstGeom>
          <a:noFill/>
          <a:ln/>
        </p:spPr>
        <p:txBody>
          <a:bodyPr wrap="square" lIns="0" tIns="0" rIns="0" bIns="0" rtlCol="0" anchor="t"/>
          <a:lstStyle/>
          <a:p>
            <a:pPr indent="0" marL="0">
              <a:buNone/>
            </a:pPr>
            <a:r>
              <a:rPr lang="en-US" sz="1050" b="1" spc="150" kern="0" dirty="0">
                <a:solidFill>
                  <a:srgbClr val="327B60"/>
                </a:solidFill>
              </a:rPr>
              <a:t>WHY IT IS THE RIGHT ANSWER</a:t>
            </a:r>
            <a:endParaRPr lang="en-US" sz="1050" dirty="0"/>
          </a:p>
        </p:txBody>
      </p:sp>
      <p:sp>
        <p:nvSpPr>
          <p:cNvPr id="44" name="text-149"/>
          <p:cNvSpPr txBox="1"/>
          <p:nvPr/>
        </p:nvSpPr>
        <p:spPr>
          <a:xfrm>
            <a:off x="640080" y="5596128"/>
            <a:ext cx="10911535" cy="320040"/>
          </a:xfrm>
          <a:prstGeom prst="rect">
            <a:avLst/>
          </a:prstGeom>
          <a:noFill/>
          <a:ln/>
        </p:spPr>
        <p:txBody>
          <a:bodyPr wrap="square" lIns="0" tIns="0" rIns="0" bIns="0" rtlCol="0" anchor="t"/>
          <a:lstStyle/>
          <a:p>
            <a:pPr indent="0" marL="0">
              <a:buNone/>
            </a:pPr>
            <a:r>
              <a:rPr lang="en-US" sz="1200" b="1" dirty="0">
                <a:solidFill>
                  <a:srgbClr val="171717"/>
                </a:solidFill>
              </a:rPr>
              <a:t>✓ Directly answers the case   </a:t>
            </a:r>
            <a:pPr indent="0" marL="0">
              <a:buNone/>
            </a:pPr>
            <a:r>
              <a:rPr lang="en-US" sz="1200" b="1" dirty="0">
                <a:solidFill>
                  <a:srgbClr val="171717"/>
                </a:solidFill>
              </a:rPr>
              <a:t>✓ Empowers the existing salesforce   </a:t>
            </a:r>
            <a:pPr indent="0" marL="0">
              <a:buNone/>
            </a:pPr>
            <a:r>
              <a:rPr lang="en-US" sz="1200" b="1" dirty="0">
                <a:solidFill>
                  <a:srgbClr val="171717"/>
                </a:solidFill>
              </a:rPr>
              <a:t>✓ Balances growth and sustainability   </a:t>
            </a:r>
            <a:pPr indent="0" marL="0">
              <a:buNone/>
            </a:pPr>
            <a:r>
              <a:rPr lang="en-US" sz="1200" b="1" dirty="0">
                <a:solidFill>
                  <a:srgbClr val="171717"/>
                </a:solidFill>
              </a:rPr>
              <a:t>✓ Measurable   </a:t>
            </a:r>
            <a:pPr indent="0" marL="0">
              <a:buNone/>
            </a:pPr>
            <a:r>
              <a:rPr lang="en-US" sz="1200" b="1" dirty="0">
                <a:solidFill>
                  <a:srgbClr val="171717"/>
                </a:solidFill>
              </a:rPr>
              <a:t>✓ Demonstrable today</a:t>
            </a:r>
            <a:endParaRPr lang="en-US" sz="1200" dirty="0"/>
          </a:p>
        </p:txBody>
      </p:sp>
      <p:sp>
        <p:nvSpPr>
          <p:cNvPr id="25" name="Slide Number Placeholder 0"/>
          <p:cNvSpPr>
            <a:spLocks noGrp="1"/>
          </p:cNvSpPr>
          <p:nvPr>
            <p:ph type="sldNum" sz="quarter" idx="4294967295"/>
          </p:nvPr>
        </p:nvSpPr>
        <p:spPr>
          <a:xfrm>
            <a:off x="11091672"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665E"/>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body" hasCustomPrompt="1"/>
          </p:nvPr>
        </p:nvSpPr>
        <p:spPr>
          <a:xfrm>
            <a:off x="640080" y="457200"/>
            <a:ext cx="8686800" cy="237744"/>
          </a:xfrm>
          <a:prstGeom prst="rect">
            <a:avLst/>
          </a:prstGeom>
          <a:noFill/>
          <a:ln/>
        </p:spPr>
        <p:txBody>
          <a:bodyPr wrap="square" lIns="0" tIns="0" rIns="0" bIns="0" rtlCol="0" anchor="t"/>
          <a:lstStyle/>
          <a:p>
            <a:pPr indent="0" marL="0">
              <a:buNone/>
            </a:pPr>
            <a:r>
              <a:rPr lang="en-US" sz="1100" b="1" spc="200" kern="0" dirty="0">
                <a:solidFill>
                  <a:srgbClr val="65172F"/>
                </a:solidFill>
              </a:rPr>
              <a:t>HOW SMARTSELL WORKS</a:t>
            </a:r>
            <a:endParaRPr lang="en-US" sz="1100" dirty="0"/>
          </a:p>
        </p:txBody>
      </p:sp>
      <p:sp>
        <p:nvSpPr>
          <p:cNvPr id="3" name="Text 0"/>
          <p:cNvSpPr/>
          <p:nvPr>
            <p:ph idx="102" type="title" hasCustomPrompt="1"/>
          </p:nvPr>
        </p:nvSpPr>
        <p:spPr>
          <a:xfrm>
            <a:off x="640080" y="749808"/>
            <a:ext cx="9418320" cy="1005840"/>
          </a:xfrm>
          <a:prstGeom prst="rect">
            <a:avLst/>
          </a:prstGeom>
          <a:noFill/>
          <a:ln/>
        </p:spPr>
        <p:txBody>
          <a:bodyPr wrap="square" lIns="0" tIns="0" rIns="0" bIns="0" rtlCol="0" anchor="t"/>
          <a:lstStyle/>
          <a:p>
            <a:pPr algn="l" indent="0" marL="0">
              <a:lnSpc>
                <a:spcPct val="95000"/>
              </a:lnSpc>
              <a:buNone/>
            </a:pPr>
            <a:r>
              <a:rPr lang="en-US" sz="3000" b="1" dirty="0">
                <a:solidFill>
                  <a:srgbClr val="171717"/>
                </a:solidFill>
                <a:latin typeface="Aptos Display" pitchFamily="34" charset="0"/>
                <a:ea typeface="Aptos Display" pitchFamily="34" charset="-122"/>
                <a:cs typeface="Aptos Display" pitchFamily="34" charset="-120"/>
              </a:rPr>
              <a:t>A closed loop the rep runs in about four extra minutes per flagged outlet</a:t>
            </a:r>
            <a:endParaRPr lang="en-US" sz="3000" dirty="0"/>
          </a:p>
        </p:txBody>
      </p:sp>
      <p:sp>
        <p:nvSpPr>
          <p:cNvPr id="4" name="Text 0"/>
          <p:cNvSpPr/>
          <p:nvPr>
            <p:ph idx="103" type="body" hasCustomPrompt="1"/>
          </p:nvPr>
        </p:nvSpPr>
        <p:spPr>
          <a:xfrm>
            <a:off x="640080" y="6355080"/>
            <a:ext cx="9189720" cy="347472"/>
          </a:xfrm>
          <a:prstGeom prst="rect">
            <a:avLst/>
          </a:prstGeom>
          <a:noFill/>
          <a:ln/>
        </p:spPr>
        <p:txBody>
          <a:bodyPr wrap="square" lIns="0" tIns="0" rIns="0" bIns="0" rtlCol="0" anchor="t"/>
          <a:lstStyle/>
          <a:p>
            <a:pPr indent="0" marL="0">
              <a:buNone/>
            </a:pPr>
            <a:r>
              <a:rPr lang="en-US" sz="1000" dirty="0">
                <a:solidFill>
                  <a:srgbClr val="6E665E"/>
                </a:solidFill>
              </a:rPr>
              <a:t>Design target of ≤4 extra minutes is an assumption and a pilot stop criterion. Segment lengths are indicative. Case question A: "At which points during a retailer/distributor visit can slow-moving or ageing stock be spotted?"</a:t>
            </a:r>
            <a:endParaRPr lang="en-US" sz="1000" dirty="0"/>
          </a:p>
        </p:txBody>
      </p:sp>
      <p:sp>
        <p:nvSpPr>
          <p:cNvPr id="6" name="text-150"/>
          <p:cNvSpPr txBox="1"/>
          <p:nvPr/>
        </p:nvSpPr>
        <p:spPr>
          <a:xfrm>
            <a:off x="640080" y="1847088"/>
            <a:ext cx="1097280" cy="237744"/>
          </a:xfrm>
          <a:prstGeom prst="rect">
            <a:avLst/>
          </a:prstGeom>
          <a:noFill/>
          <a:ln/>
        </p:spPr>
        <p:txBody>
          <a:bodyPr wrap="square" lIns="0" tIns="0" rIns="0" bIns="0" rtlCol="0" anchor="t"/>
          <a:lstStyle/>
          <a:p>
            <a:pPr indent="0" marL="0">
              <a:buNone/>
            </a:pPr>
            <a:r>
              <a:rPr lang="en-US" sz="1050" b="1" spc="150" kern="0" dirty="0">
                <a:solidFill>
                  <a:srgbClr val="6E665E"/>
                </a:solidFill>
              </a:rPr>
              <a:t>THE LOOP</a:t>
            </a:r>
            <a:endParaRPr lang="en-US" sz="1050" dirty="0"/>
          </a:p>
        </p:txBody>
      </p:sp>
      <p:sp>
        <p:nvSpPr>
          <p:cNvPr id="7" name="text-151"/>
          <p:cNvSpPr txBox="1"/>
          <p:nvPr/>
        </p:nvSpPr>
        <p:spPr>
          <a:xfrm>
            <a:off x="1783080" y="1801368"/>
            <a:ext cx="9692640" cy="292608"/>
          </a:xfrm>
          <a:prstGeom prst="rect">
            <a:avLst/>
          </a:prstGeom>
          <a:noFill/>
          <a:ln/>
        </p:spPr>
        <p:txBody>
          <a:bodyPr wrap="square" lIns="0" tIns="0" rIns="0" bIns="0" rtlCol="0" anchor="t"/>
          <a:lstStyle/>
          <a:p>
            <a:pPr indent="0" marL="0">
              <a:buNone/>
            </a:pPr>
            <a:r>
              <a:rPr lang="en-US" sz="1500" b="1" dirty="0">
                <a:solidFill>
                  <a:srgbClr val="65172F"/>
                </a:solidFill>
              </a:rPr>
              <a:t>Capture   →   </a:t>
            </a:r>
            <a:pPr indent="0" marL="0">
              <a:buNone/>
            </a:pPr>
            <a:r>
              <a:rPr lang="en-US" sz="1500" b="1" dirty="0">
                <a:solidFill>
                  <a:srgbClr val="65172F"/>
                </a:solidFill>
              </a:rPr>
              <a:t>Detect   →   </a:t>
            </a:r>
            <a:pPr indent="0" marL="0">
              <a:buNone/>
            </a:pPr>
            <a:r>
              <a:rPr lang="en-US" sz="1500" b="1" dirty="0">
                <a:solidFill>
                  <a:srgbClr val="65172F"/>
                </a:solidFill>
              </a:rPr>
              <a:t>Recommend   →   </a:t>
            </a:r>
            <a:pPr indent="0" marL="0">
              <a:buNone/>
            </a:pPr>
            <a:r>
              <a:rPr lang="en-US" sz="1500" b="1" dirty="0">
                <a:solidFill>
                  <a:srgbClr val="65172F"/>
                </a:solidFill>
              </a:rPr>
              <a:t>Execute   →   </a:t>
            </a:r>
            <a:pPr indent="0" marL="0">
              <a:buNone/>
            </a:pPr>
            <a:r>
              <a:rPr lang="en-US" sz="1500" b="1" dirty="0">
                <a:solidFill>
                  <a:srgbClr val="65172F"/>
                </a:solidFill>
              </a:rPr>
              <a:t>Measure   →   </a:t>
            </a:r>
            <a:pPr indent="0" marL="0">
              <a:buNone/>
            </a:pPr>
            <a:r>
              <a:rPr lang="en-US" sz="1500" b="1" dirty="0">
                <a:solidFill>
                  <a:srgbClr val="327B60"/>
                </a:solidFill>
              </a:rPr>
              <a:t>Learn</a:t>
            </a:r>
            <a:endParaRPr lang="en-US" sz="1500" dirty="0"/>
          </a:p>
        </p:txBody>
      </p:sp>
      <p:sp>
        <p:nvSpPr>
          <p:cNvPr id="8" name="text-152"/>
          <p:cNvSpPr txBox="1"/>
          <p:nvPr/>
        </p:nvSpPr>
        <p:spPr>
          <a:xfrm>
            <a:off x="640080" y="2606040"/>
            <a:ext cx="548640" cy="329184"/>
          </a:xfrm>
          <a:prstGeom prst="rect">
            <a:avLst/>
          </a:prstGeom>
          <a:noFill/>
          <a:ln/>
        </p:spPr>
        <p:txBody>
          <a:bodyPr wrap="square" lIns="0" tIns="0" rIns="0" bIns="0" rtlCol="0" anchor="t"/>
          <a:lstStyle/>
          <a:p>
            <a:pPr indent="0" marL="0">
              <a:buNone/>
            </a:pPr>
            <a:r>
              <a:rPr lang="en-US" sz="2000" b="1" dirty="0">
                <a:solidFill>
                  <a:srgbClr val="A9A096"/>
                </a:solidFill>
                <a:latin typeface="Aptos Display" pitchFamily="34" charset="0"/>
                <a:ea typeface="Aptos Display" pitchFamily="34" charset="-122"/>
                <a:cs typeface="Aptos Display" pitchFamily="34" charset="-120"/>
              </a:rPr>
              <a:t>01</a:t>
            </a:r>
            <a:endParaRPr lang="en-US" sz="2000" dirty="0"/>
          </a:p>
        </p:txBody>
      </p:sp>
      <p:sp>
        <p:nvSpPr>
          <p:cNvPr id="9" name="text-153"/>
          <p:cNvSpPr txBox="1"/>
          <p:nvPr/>
        </p:nvSpPr>
        <p:spPr>
          <a:xfrm>
            <a:off x="640080" y="2944368"/>
            <a:ext cx="1353312" cy="292608"/>
          </a:xfrm>
          <a:prstGeom prst="rect">
            <a:avLst/>
          </a:prstGeom>
          <a:noFill/>
          <a:ln/>
        </p:spPr>
        <p:txBody>
          <a:bodyPr wrap="square" lIns="0" tIns="0" rIns="0" bIns="0" rtlCol="0" anchor="t"/>
          <a:lstStyle/>
          <a:p>
            <a:pPr indent="0" marL="0">
              <a:buNone/>
            </a:pPr>
            <a:r>
              <a:rPr lang="en-US" sz="1500" b="1" dirty="0">
                <a:solidFill>
                  <a:srgbClr val="171717"/>
                </a:solidFill>
              </a:rPr>
              <a:t>Pre-visit brief</a:t>
            </a:r>
            <a:endParaRPr lang="en-US" sz="1500" dirty="0"/>
          </a:p>
        </p:txBody>
      </p:sp>
      <p:sp>
        <p:nvSpPr>
          <p:cNvPr id="10" name="rect-154"/>
          <p:cNvSpPr/>
          <p:nvPr/>
        </p:nvSpPr>
        <p:spPr>
          <a:xfrm>
            <a:off x="640080" y="3337560"/>
            <a:ext cx="1426464" cy="566928"/>
          </a:xfrm>
          <a:prstGeom prst="rect">
            <a:avLst/>
          </a:prstGeom>
          <a:solidFill>
            <a:srgbClr val="65172F"/>
          </a:solidFill>
          <a:ln w="12700">
            <a:solidFill>
              <a:srgbClr val="65172F"/>
            </a:solidFill>
            <a:prstDash val="solid"/>
          </a:ln>
        </p:spPr>
      </p:sp>
      <p:sp>
        <p:nvSpPr>
          <p:cNvPr id="11" name="text-155"/>
          <p:cNvSpPr txBox="1"/>
          <p:nvPr/>
        </p:nvSpPr>
        <p:spPr>
          <a:xfrm>
            <a:off x="749808" y="3337560"/>
            <a:ext cx="1234440" cy="566928"/>
          </a:xfrm>
          <a:prstGeom prst="rect">
            <a:avLst/>
          </a:prstGeom>
          <a:noFill/>
          <a:ln/>
        </p:spPr>
        <p:txBody>
          <a:bodyPr wrap="square" lIns="0" tIns="0" rIns="0" bIns="0" rtlCol="0" anchor="ctr"/>
          <a:lstStyle/>
          <a:p>
            <a:pPr indent="0" marL="0">
              <a:buNone/>
            </a:pPr>
            <a:r>
              <a:rPr lang="en-US" sz="1500" b="1" dirty="0">
                <a:solidFill>
                  <a:srgbClr val="FFFFFF"/>
                </a:solidFill>
              </a:rPr>
              <a:t>30 s</a:t>
            </a:r>
            <a:endParaRPr lang="en-US" sz="1500" dirty="0"/>
          </a:p>
        </p:txBody>
      </p:sp>
      <p:sp>
        <p:nvSpPr>
          <p:cNvPr id="12" name="text-156"/>
          <p:cNvSpPr txBox="1"/>
          <p:nvPr/>
        </p:nvSpPr>
        <p:spPr>
          <a:xfrm>
            <a:off x="640080" y="4041648"/>
            <a:ext cx="1280160" cy="777240"/>
          </a:xfrm>
          <a:prstGeom prst="rect">
            <a:avLst/>
          </a:prstGeom>
          <a:noFill/>
          <a:ln/>
        </p:spPr>
        <p:txBody>
          <a:bodyPr wrap="square" lIns="0" tIns="0" rIns="0" bIns="0" rtlCol="0" anchor="t"/>
          <a:lstStyle/>
          <a:p>
            <a:pPr indent="0" marL="0">
              <a:buNone/>
            </a:pPr>
            <a:r>
              <a:rPr lang="en-US" sz="1200" dirty="0">
                <a:solidFill>
                  <a:srgbClr val="6E665E"/>
                </a:solidFill>
              </a:rPr>
              <a:t>Phone shows the 5–10 SKUs predicted at risk</a:t>
            </a:r>
            <a:endParaRPr lang="en-US" sz="1200" dirty="0"/>
          </a:p>
        </p:txBody>
      </p:sp>
      <p:sp>
        <p:nvSpPr>
          <p:cNvPr id="13" name="text-157"/>
          <p:cNvSpPr txBox="1"/>
          <p:nvPr/>
        </p:nvSpPr>
        <p:spPr>
          <a:xfrm>
            <a:off x="2103120" y="2606040"/>
            <a:ext cx="548640" cy="329184"/>
          </a:xfrm>
          <a:prstGeom prst="rect">
            <a:avLst/>
          </a:prstGeom>
          <a:noFill/>
          <a:ln/>
        </p:spPr>
        <p:txBody>
          <a:bodyPr wrap="square" lIns="0" tIns="0" rIns="0" bIns="0" rtlCol="0" anchor="t"/>
          <a:lstStyle/>
          <a:p>
            <a:pPr indent="0" marL="0">
              <a:buNone/>
            </a:pPr>
            <a:r>
              <a:rPr lang="en-US" sz="2000" b="1" dirty="0">
                <a:solidFill>
                  <a:srgbClr val="A9A096"/>
                </a:solidFill>
                <a:latin typeface="Aptos Display" pitchFamily="34" charset="0"/>
                <a:ea typeface="Aptos Display" pitchFamily="34" charset="-122"/>
                <a:cs typeface="Aptos Display" pitchFamily="34" charset="-120"/>
              </a:rPr>
              <a:t>02</a:t>
            </a:r>
            <a:endParaRPr lang="en-US" sz="2000" dirty="0"/>
          </a:p>
        </p:txBody>
      </p:sp>
      <p:sp>
        <p:nvSpPr>
          <p:cNvPr id="14" name="text-158"/>
          <p:cNvSpPr txBox="1"/>
          <p:nvPr/>
        </p:nvSpPr>
        <p:spPr>
          <a:xfrm>
            <a:off x="2103120" y="2944368"/>
            <a:ext cx="2221992" cy="292608"/>
          </a:xfrm>
          <a:prstGeom prst="rect">
            <a:avLst/>
          </a:prstGeom>
          <a:noFill/>
          <a:ln/>
        </p:spPr>
        <p:txBody>
          <a:bodyPr wrap="square" lIns="0" tIns="0" rIns="0" bIns="0" rtlCol="0" anchor="t"/>
          <a:lstStyle/>
          <a:p>
            <a:pPr indent="0" marL="0">
              <a:buNone/>
            </a:pPr>
            <a:r>
              <a:rPr lang="en-US" sz="1500" b="1" dirty="0">
                <a:solidFill>
                  <a:srgbClr val="171717"/>
                </a:solidFill>
              </a:rPr>
              <a:t>Shelf walk</a:t>
            </a:r>
            <a:endParaRPr lang="en-US" sz="1500" dirty="0"/>
          </a:p>
        </p:txBody>
      </p:sp>
      <p:sp>
        <p:nvSpPr>
          <p:cNvPr id="15" name="rect-159"/>
          <p:cNvSpPr/>
          <p:nvPr/>
        </p:nvSpPr>
        <p:spPr>
          <a:xfrm>
            <a:off x="2103120" y="3337560"/>
            <a:ext cx="2295144" cy="566928"/>
          </a:xfrm>
          <a:prstGeom prst="rect">
            <a:avLst/>
          </a:prstGeom>
          <a:solidFill>
            <a:srgbClr val="8C3A52"/>
          </a:solidFill>
          <a:ln w="12700">
            <a:solidFill>
              <a:srgbClr val="8C3A52"/>
            </a:solidFill>
            <a:prstDash val="solid"/>
          </a:ln>
        </p:spPr>
      </p:sp>
      <p:sp>
        <p:nvSpPr>
          <p:cNvPr id="16" name="text-160"/>
          <p:cNvSpPr txBox="1"/>
          <p:nvPr/>
        </p:nvSpPr>
        <p:spPr>
          <a:xfrm>
            <a:off x="2212848" y="3337560"/>
            <a:ext cx="2103120" cy="566928"/>
          </a:xfrm>
          <a:prstGeom prst="rect">
            <a:avLst/>
          </a:prstGeom>
          <a:noFill/>
          <a:ln/>
        </p:spPr>
        <p:txBody>
          <a:bodyPr wrap="square" lIns="0" tIns="0" rIns="0" bIns="0" rtlCol="0" anchor="ctr"/>
          <a:lstStyle/>
          <a:p>
            <a:pPr indent="0" marL="0">
              <a:buNone/>
            </a:pPr>
            <a:r>
              <a:rPr lang="en-US" sz="1500" b="1" dirty="0">
                <a:solidFill>
                  <a:srgbClr val="FFFFFF"/>
                </a:solidFill>
              </a:rPr>
              <a:t>60–90 s</a:t>
            </a:r>
            <a:endParaRPr lang="en-US" sz="1500" dirty="0"/>
          </a:p>
        </p:txBody>
      </p:sp>
      <p:sp>
        <p:nvSpPr>
          <p:cNvPr id="17" name="text-161"/>
          <p:cNvSpPr txBox="1"/>
          <p:nvPr/>
        </p:nvSpPr>
        <p:spPr>
          <a:xfrm>
            <a:off x="2103120" y="4041648"/>
            <a:ext cx="2148840" cy="777240"/>
          </a:xfrm>
          <a:prstGeom prst="rect">
            <a:avLst/>
          </a:prstGeom>
          <a:noFill/>
          <a:ln/>
        </p:spPr>
        <p:txBody>
          <a:bodyPr wrap="square" lIns="0" tIns="0" rIns="0" bIns="0" rtlCol="0" anchor="t"/>
          <a:lstStyle/>
          <a:p>
            <a:pPr indent="0" marL="0">
              <a:buNone/>
            </a:pPr>
            <a:r>
              <a:rPr lang="en-US" sz="1200" dirty="0">
                <a:solidFill>
                  <a:srgbClr val="6E665E"/>
                </a:solidFill>
              </a:rPr>
              <a:t>Dust, faded packs, same facings as last time</a:t>
            </a:r>
            <a:endParaRPr lang="en-US" sz="1200" dirty="0"/>
          </a:p>
        </p:txBody>
      </p:sp>
      <p:sp>
        <p:nvSpPr>
          <p:cNvPr id="18" name="text-162"/>
          <p:cNvSpPr txBox="1"/>
          <p:nvPr/>
        </p:nvSpPr>
        <p:spPr>
          <a:xfrm>
            <a:off x="4434840" y="2606040"/>
            <a:ext cx="548640" cy="329184"/>
          </a:xfrm>
          <a:prstGeom prst="rect">
            <a:avLst/>
          </a:prstGeom>
          <a:noFill/>
          <a:ln/>
        </p:spPr>
        <p:txBody>
          <a:bodyPr wrap="square" lIns="0" tIns="0" rIns="0" bIns="0" rtlCol="0" anchor="t"/>
          <a:lstStyle/>
          <a:p>
            <a:pPr indent="0" marL="0">
              <a:buNone/>
            </a:pPr>
            <a:r>
              <a:rPr lang="en-US" sz="2000" b="1" dirty="0">
                <a:solidFill>
                  <a:srgbClr val="A9A096"/>
                </a:solidFill>
                <a:latin typeface="Aptos Display" pitchFamily="34" charset="0"/>
                <a:ea typeface="Aptos Display" pitchFamily="34" charset="-122"/>
                <a:cs typeface="Aptos Display" pitchFamily="34" charset="-120"/>
              </a:rPr>
              <a:t>03</a:t>
            </a:r>
            <a:endParaRPr lang="en-US" sz="2000" dirty="0"/>
          </a:p>
        </p:txBody>
      </p:sp>
      <p:sp>
        <p:nvSpPr>
          <p:cNvPr id="19" name="text-163"/>
          <p:cNvSpPr txBox="1"/>
          <p:nvPr/>
        </p:nvSpPr>
        <p:spPr>
          <a:xfrm>
            <a:off x="4434840" y="2944368"/>
            <a:ext cx="1856232" cy="292608"/>
          </a:xfrm>
          <a:prstGeom prst="rect">
            <a:avLst/>
          </a:prstGeom>
          <a:noFill/>
          <a:ln/>
        </p:spPr>
        <p:txBody>
          <a:bodyPr wrap="square" lIns="0" tIns="0" rIns="0" bIns="0" rtlCol="0" anchor="t"/>
          <a:lstStyle/>
          <a:p>
            <a:pPr indent="0" marL="0">
              <a:buNone/>
            </a:pPr>
            <a:r>
              <a:rPr lang="en-US" sz="1500" b="1" dirty="0">
                <a:solidFill>
                  <a:srgbClr val="171717"/>
                </a:solidFill>
              </a:rPr>
              <a:t>Back room</a:t>
            </a:r>
            <a:endParaRPr lang="en-US" sz="1500" dirty="0"/>
          </a:p>
        </p:txBody>
      </p:sp>
      <p:sp>
        <p:nvSpPr>
          <p:cNvPr id="20" name="rect-164"/>
          <p:cNvSpPr/>
          <p:nvPr/>
        </p:nvSpPr>
        <p:spPr>
          <a:xfrm>
            <a:off x="4434840" y="3337560"/>
            <a:ext cx="1929384" cy="566928"/>
          </a:xfrm>
          <a:prstGeom prst="rect">
            <a:avLst/>
          </a:prstGeom>
          <a:solidFill>
            <a:srgbClr val="7A2C44"/>
          </a:solidFill>
          <a:ln w="12700">
            <a:solidFill>
              <a:srgbClr val="7A2C44"/>
            </a:solidFill>
            <a:prstDash val="solid"/>
          </a:ln>
        </p:spPr>
      </p:sp>
      <p:sp>
        <p:nvSpPr>
          <p:cNvPr id="21" name="text-165"/>
          <p:cNvSpPr txBox="1"/>
          <p:nvPr/>
        </p:nvSpPr>
        <p:spPr>
          <a:xfrm>
            <a:off x="4544568" y="3337560"/>
            <a:ext cx="1737360" cy="566928"/>
          </a:xfrm>
          <a:prstGeom prst="rect">
            <a:avLst/>
          </a:prstGeom>
          <a:noFill/>
          <a:ln/>
        </p:spPr>
        <p:txBody>
          <a:bodyPr wrap="square" lIns="0" tIns="0" rIns="0" bIns="0" rtlCol="0" anchor="ctr"/>
          <a:lstStyle/>
          <a:p>
            <a:pPr indent="0" marL="0">
              <a:buNone/>
            </a:pPr>
            <a:r>
              <a:rPr lang="en-US" sz="1500" b="1" dirty="0">
                <a:solidFill>
                  <a:srgbClr val="FFFFFF"/>
                </a:solidFill>
              </a:rPr>
              <a:t>60 s</a:t>
            </a:r>
            <a:endParaRPr lang="en-US" sz="1500" dirty="0"/>
          </a:p>
        </p:txBody>
      </p:sp>
      <p:sp>
        <p:nvSpPr>
          <p:cNvPr id="22" name="text-166"/>
          <p:cNvSpPr txBox="1"/>
          <p:nvPr/>
        </p:nvSpPr>
        <p:spPr>
          <a:xfrm>
            <a:off x="4434840" y="4041648"/>
            <a:ext cx="1783080" cy="777240"/>
          </a:xfrm>
          <a:prstGeom prst="rect">
            <a:avLst/>
          </a:prstGeom>
          <a:noFill/>
          <a:ln/>
        </p:spPr>
        <p:txBody>
          <a:bodyPr wrap="square" lIns="0" tIns="0" rIns="0" bIns="0" rtlCol="0" anchor="t"/>
          <a:lstStyle/>
          <a:p>
            <a:pPr indent="0" marL="0">
              <a:buNone/>
            </a:pPr>
            <a:r>
              <a:rPr lang="en-US" sz="1200" dirty="0">
                <a:solidFill>
                  <a:srgbClr val="6E665E"/>
                </a:solidFill>
              </a:rPr>
              <a:t>Unopened cartons, oldest batch codes</a:t>
            </a:r>
            <a:endParaRPr lang="en-US" sz="1200" dirty="0"/>
          </a:p>
        </p:txBody>
      </p:sp>
      <p:sp>
        <p:nvSpPr>
          <p:cNvPr id="23" name="text-167"/>
          <p:cNvSpPr txBox="1"/>
          <p:nvPr/>
        </p:nvSpPr>
        <p:spPr>
          <a:xfrm>
            <a:off x="6400800" y="2606040"/>
            <a:ext cx="548640" cy="329184"/>
          </a:xfrm>
          <a:prstGeom prst="rect">
            <a:avLst/>
          </a:prstGeom>
          <a:noFill/>
          <a:ln/>
        </p:spPr>
        <p:txBody>
          <a:bodyPr wrap="square" lIns="0" tIns="0" rIns="0" bIns="0" rtlCol="0" anchor="t"/>
          <a:lstStyle/>
          <a:p>
            <a:pPr indent="0" marL="0">
              <a:buNone/>
            </a:pPr>
            <a:r>
              <a:rPr lang="en-US" sz="2000" b="1" dirty="0">
                <a:solidFill>
                  <a:srgbClr val="A9A096"/>
                </a:solidFill>
                <a:latin typeface="Aptos Display" pitchFamily="34" charset="0"/>
                <a:ea typeface="Aptos Display" pitchFamily="34" charset="-122"/>
                <a:cs typeface="Aptos Display" pitchFamily="34" charset="-120"/>
              </a:rPr>
              <a:t>04</a:t>
            </a:r>
            <a:endParaRPr lang="en-US" sz="2000" dirty="0"/>
          </a:p>
        </p:txBody>
      </p:sp>
      <p:sp>
        <p:nvSpPr>
          <p:cNvPr id="24" name="text-168"/>
          <p:cNvSpPr txBox="1"/>
          <p:nvPr/>
        </p:nvSpPr>
        <p:spPr>
          <a:xfrm>
            <a:off x="6400800" y="2944368"/>
            <a:ext cx="1856232" cy="292608"/>
          </a:xfrm>
          <a:prstGeom prst="rect">
            <a:avLst/>
          </a:prstGeom>
          <a:noFill/>
          <a:ln/>
        </p:spPr>
        <p:txBody>
          <a:bodyPr wrap="square" lIns="0" tIns="0" rIns="0" bIns="0" rtlCol="0" anchor="t"/>
          <a:lstStyle/>
          <a:p>
            <a:pPr indent="0" marL="0">
              <a:buNone/>
            </a:pPr>
            <a:r>
              <a:rPr lang="en-US" sz="1500" b="1" dirty="0">
                <a:solidFill>
                  <a:srgbClr val="171717"/>
                </a:solidFill>
              </a:rPr>
              <a:t>Retailer chat</a:t>
            </a:r>
            <a:endParaRPr lang="en-US" sz="1500" dirty="0"/>
          </a:p>
        </p:txBody>
      </p:sp>
      <p:sp>
        <p:nvSpPr>
          <p:cNvPr id="25" name="rect-169"/>
          <p:cNvSpPr/>
          <p:nvPr/>
        </p:nvSpPr>
        <p:spPr>
          <a:xfrm>
            <a:off x="6400800" y="3337560"/>
            <a:ext cx="1929384" cy="566928"/>
          </a:xfrm>
          <a:prstGeom prst="rect">
            <a:avLst/>
          </a:prstGeom>
          <a:solidFill>
            <a:srgbClr val="8C3A52"/>
          </a:solidFill>
          <a:ln w="12700">
            <a:solidFill>
              <a:srgbClr val="8C3A52"/>
            </a:solidFill>
            <a:prstDash val="solid"/>
          </a:ln>
        </p:spPr>
      </p:sp>
      <p:sp>
        <p:nvSpPr>
          <p:cNvPr id="26" name="text-170"/>
          <p:cNvSpPr txBox="1"/>
          <p:nvPr/>
        </p:nvSpPr>
        <p:spPr>
          <a:xfrm>
            <a:off x="6510528" y="3337560"/>
            <a:ext cx="1737360" cy="566928"/>
          </a:xfrm>
          <a:prstGeom prst="rect">
            <a:avLst/>
          </a:prstGeom>
          <a:noFill/>
          <a:ln/>
        </p:spPr>
        <p:txBody>
          <a:bodyPr wrap="square" lIns="0" tIns="0" rIns="0" bIns="0" rtlCol="0" anchor="ctr"/>
          <a:lstStyle/>
          <a:p>
            <a:pPr indent="0" marL="0">
              <a:buNone/>
            </a:pPr>
            <a:r>
              <a:rPr lang="en-US" sz="1500" b="1" dirty="0">
                <a:solidFill>
                  <a:srgbClr val="FFFFFF"/>
                </a:solidFill>
              </a:rPr>
              <a:t>60 s</a:t>
            </a:r>
            <a:endParaRPr lang="en-US" sz="1500" dirty="0"/>
          </a:p>
        </p:txBody>
      </p:sp>
      <p:sp>
        <p:nvSpPr>
          <p:cNvPr id="27" name="text-171"/>
          <p:cNvSpPr txBox="1"/>
          <p:nvPr/>
        </p:nvSpPr>
        <p:spPr>
          <a:xfrm>
            <a:off x="6400800" y="4041648"/>
            <a:ext cx="1783080" cy="777240"/>
          </a:xfrm>
          <a:prstGeom prst="rect">
            <a:avLst/>
          </a:prstGeom>
          <a:noFill/>
          <a:ln/>
        </p:spPr>
        <p:txBody>
          <a:bodyPr wrap="square" lIns="0" tIns="0" rIns="0" bIns="0" rtlCol="0" anchor="t"/>
          <a:lstStyle/>
          <a:p>
            <a:pPr indent="0" marL="0">
              <a:buNone/>
            </a:pPr>
            <a:r>
              <a:rPr lang="en-US" sz="1200" dirty="0">
                <a:solidFill>
                  <a:srgbClr val="6E665E"/>
                </a:solidFill>
              </a:rPr>
              <a:t>"What aren't customers asking for?"</a:t>
            </a:r>
            <a:endParaRPr lang="en-US" sz="1200" dirty="0"/>
          </a:p>
        </p:txBody>
      </p:sp>
      <p:sp>
        <p:nvSpPr>
          <p:cNvPr id="28" name="text-172"/>
          <p:cNvSpPr txBox="1"/>
          <p:nvPr/>
        </p:nvSpPr>
        <p:spPr>
          <a:xfrm>
            <a:off x="8366760" y="2606040"/>
            <a:ext cx="548640" cy="329184"/>
          </a:xfrm>
          <a:prstGeom prst="rect">
            <a:avLst/>
          </a:prstGeom>
          <a:noFill/>
          <a:ln/>
        </p:spPr>
        <p:txBody>
          <a:bodyPr wrap="square" lIns="0" tIns="0" rIns="0" bIns="0" rtlCol="0" anchor="t"/>
          <a:lstStyle/>
          <a:p>
            <a:pPr indent="0" marL="0">
              <a:buNone/>
            </a:pPr>
            <a:r>
              <a:rPr lang="en-US" sz="2000" b="1" dirty="0">
                <a:solidFill>
                  <a:srgbClr val="A9A096"/>
                </a:solidFill>
                <a:latin typeface="Aptos Display" pitchFamily="34" charset="0"/>
                <a:ea typeface="Aptos Display" pitchFamily="34" charset="-122"/>
                <a:cs typeface="Aptos Display" pitchFamily="34" charset="-120"/>
              </a:rPr>
              <a:t>05</a:t>
            </a:r>
            <a:endParaRPr lang="en-US" sz="2000" dirty="0"/>
          </a:p>
        </p:txBody>
      </p:sp>
      <p:sp>
        <p:nvSpPr>
          <p:cNvPr id="29" name="text-173"/>
          <p:cNvSpPr txBox="1"/>
          <p:nvPr/>
        </p:nvSpPr>
        <p:spPr>
          <a:xfrm>
            <a:off x="8366760" y="2944368"/>
            <a:ext cx="1490472" cy="292608"/>
          </a:xfrm>
          <a:prstGeom prst="rect">
            <a:avLst/>
          </a:prstGeom>
          <a:noFill/>
          <a:ln/>
        </p:spPr>
        <p:txBody>
          <a:bodyPr wrap="square" lIns="0" tIns="0" rIns="0" bIns="0" rtlCol="0" anchor="t"/>
          <a:lstStyle/>
          <a:p>
            <a:pPr indent="0" marL="0">
              <a:buNone/>
            </a:pPr>
            <a:r>
              <a:rPr lang="en-US" sz="1500" b="1" dirty="0">
                <a:solidFill>
                  <a:srgbClr val="171717"/>
                </a:solidFill>
              </a:rPr>
              <a:t>Order moment</a:t>
            </a:r>
            <a:endParaRPr lang="en-US" sz="1500" dirty="0"/>
          </a:p>
        </p:txBody>
      </p:sp>
      <p:sp>
        <p:nvSpPr>
          <p:cNvPr id="30" name="rect-174"/>
          <p:cNvSpPr/>
          <p:nvPr/>
        </p:nvSpPr>
        <p:spPr>
          <a:xfrm>
            <a:off x="8366760" y="3337560"/>
            <a:ext cx="1563624" cy="566928"/>
          </a:xfrm>
          <a:prstGeom prst="rect">
            <a:avLst/>
          </a:prstGeom>
          <a:solidFill>
            <a:srgbClr val="65172F"/>
          </a:solidFill>
          <a:ln w="12700">
            <a:solidFill>
              <a:srgbClr val="65172F"/>
            </a:solidFill>
            <a:prstDash val="solid"/>
          </a:ln>
        </p:spPr>
      </p:sp>
      <p:sp>
        <p:nvSpPr>
          <p:cNvPr id="31" name="text-175"/>
          <p:cNvSpPr txBox="1"/>
          <p:nvPr/>
        </p:nvSpPr>
        <p:spPr>
          <a:xfrm>
            <a:off x="8476488" y="3337560"/>
            <a:ext cx="1371600" cy="566928"/>
          </a:xfrm>
          <a:prstGeom prst="rect">
            <a:avLst/>
          </a:prstGeom>
          <a:noFill/>
          <a:ln/>
        </p:spPr>
        <p:txBody>
          <a:bodyPr wrap="square" lIns="0" tIns="0" rIns="0" bIns="0" rtlCol="0" anchor="ctr"/>
          <a:lstStyle/>
          <a:p>
            <a:pPr indent="0" marL="0">
              <a:buNone/>
            </a:pPr>
            <a:r>
              <a:rPr lang="en-US" sz="1500" b="1" dirty="0">
                <a:solidFill>
                  <a:srgbClr val="FFFFFF"/>
                </a:solidFill>
              </a:rPr>
              <a:t>30 s</a:t>
            </a:r>
            <a:endParaRPr lang="en-US" sz="1500" dirty="0"/>
          </a:p>
        </p:txBody>
      </p:sp>
      <p:sp>
        <p:nvSpPr>
          <p:cNvPr id="32" name="text-176"/>
          <p:cNvSpPr txBox="1"/>
          <p:nvPr/>
        </p:nvSpPr>
        <p:spPr>
          <a:xfrm>
            <a:off x="8366760" y="4041648"/>
            <a:ext cx="1417320" cy="777240"/>
          </a:xfrm>
          <a:prstGeom prst="rect">
            <a:avLst/>
          </a:prstGeom>
          <a:noFill/>
          <a:ln/>
        </p:spPr>
        <p:txBody>
          <a:bodyPr wrap="square" lIns="0" tIns="0" rIns="0" bIns="0" rtlCol="0" anchor="t"/>
          <a:lstStyle/>
          <a:p>
            <a:pPr indent="0" marL="0">
              <a:buNone/>
            </a:pPr>
            <a:r>
              <a:rPr lang="en-US" sz="1200" dirty="0">
                <a:solidFill>
                  <a:srgbClr val="6E665E"/>
                </a:solidFill>
              </a:rPr>
              <a:t>Guardrail: suggested vs asked quantity</a:t>
            </a:r>
            <a:endParaRPr lang="en-US" sz="1200" dirty="0"/>
          </a:p>
        </p:txBody>
      </p:sp>
      <p:sp>
        <p:nvSpPr>
          <p:cNvPr id="33" name="text-177"/>
          <p:cNvSpPr txBox="1"/>
          <p:nvPr/>
        </p:nvSpPr>
        <p:spPr>
          <a:xfrm>
            <a:off x="9966960" y="2606040"/>
            <a:ext cx="548640" cy="329184"/>
          </a:xfrm>
          <a:prstGeom prst="rect">
            <a:avLst/>
          </a:prstGeom>
          <a:noFill/>
          <a:ln/>
        </p:spPr>
        <p:txBody>
          <a:bodyPr wrap="square" lIns="0" tIns="0" rIns="0" bIns="0" rtlCol="0" anchor="t"/>
          <a:lstStyle/>
          <a:p>
            <a:pPr indent="0" marL="0">
              <a:buNone/>
            </a:pPr>
            <a:r>
              <a:rPr lang="en-US" sz="2000" b="1" dirty="0">
                <a:solidFill>
                  <a:srgbClr val="A9A096"/>
                </a:solidFill>
                <a:latin typeface="Aptos Display" pitchFamily="34" charset="0"/>
                <a:ea typeface="Aptos Display" pitchFamily="34" charset="-122"/>
                <a:cs typeface="Aptos Display" pitchFamily="34" charset="-120"/>
              </a:rPr>
              <a:t>06</a:t>
            </a:r>
            <a:endParaRPr lang="en-US" sz="2000" dirty="0"/>
          </a:p>
        </p:txBody>
      </p:sp>
      <p:sp>
        <p:nvSpPr>
          <p:cNvPr id="34" name="text-178"/>
          <p:cNvSpPr txBox="1"/>
          <p:nvPr/>
        </p:nvSpPr>
        <p:spPr>
          <a:xfrm>
            <a:off x="9966960" y="2944368"/>
            <a:ext cx="1474927" cy="292608"/>
          </a:xfrm>
          <a:prstGeom prst="rect">
            <a:avLst/>
          </a:prstGeom>
          <a:noFill/>
          <a:ln/>
        </p:spPr>
        <p:txBody>
          <a:bodyPr wrap="square" lIns="0" tIns="0" rIns="0" bIns="0" rtlCol="0" anchor="t"/>
          <a:lstStyle/>
          <a:p>
            <a:pPr indent="0" marL="0">
              <a:buNone/>
            </a:pPr>
            <a:r>
              <a:rPr lang="en-US" sz="1500" b="1" dirty="0">
                <a:solidFill>
                  <a:srgbClr val="171717"/>
                </a:solidFill>
              </a:rPr>
              <a:t>Day-end sync</a:t>
            </a:r>
            <a:endParaRPr lang="en-US" sz="1500" dirty="0"/>
          </a:p>
        </p:txBody>
      </p:sp>
      <p:sp>
        <p:nvSpPr>
          <p:cNvPr id="35" name="rect-179"/>
          <p:cNvSpPr/>
          <p:nvPr/>
        </p:nvSpPr>
        <p:spPr>
          <a:xfrm>
            <a:off x="9966960" y="3337560"/>
            <a:ext cx="1548079" cy="566928"/>
          </a:xfrm>
          <a:prstGeom prst="rect">
            <a:avLst/>
          </a:prstGeom>
          <a:solidFill>
            <a:srgbClr val="A9A096"/>
          </a:solidFill>
          <a:ln w="12700">
            <a:solidFill>
              <a:srgbClr val="A9A096"/>
            </a:solidFill>
            <a:prstDash val="solid"/>
          </a:ln>
        </p:spPr>
      </p:sp>
      <p:sp>
        <p:nvSpPr>
          <p:cNvPr id="36" name="text-180"/>
          <p:cNvSpPr txBox="1"/>
          <p:nvPr/>
        </p:nvSpPr>
        <p:spPr>
          <a:xfrm>
            <a:off x="10076688" y="3337560"/>
            <a:ext cx="1356055" cy="566928"/>
          </a:xfrm>
          <a:prstGeom prst="rect">
            <a:avLst/>
          </a:prstGeom>
          <a:noFill/>
          <a:ln/>
        </p:spPr>
        <p:txBody>
          <a:bodyPr wrap="square" lIns="0" tIns="0" rIns="0" bIns="0" rtlCol="0" anchor="ctr"/>
          <a:lstStyle/>
          <a:p>
            <a:pPr indent="0" marL="0">
              <a:buNone/>
            </a:pPr>
            <a:r>
              <a:rPr lang="en-US" sz="1500" b="1" dirty="0">
                <a:solidFill>
                  <a:srgbClr val="FFFFFF"/>
                </a:solidFill>
              </a:rPr>
              <a:t>auto</a:t>
            </a:r>
            <a:endParaRPr lang="en-US" sz="1500" dirty="0"/>
          </a:p>
        </p:txBody>
      </p:sp>
      <p:sp>
        <p:nvSpPr>
          <p:cNvPr id="37" name="text-181"/>
          <p:cNvSpPr txBox="1"/>
          <p:nvPr/>
        </p:nvSpPr>
        <p:spPr>
          <a:xfrm>
            <a:off x="9966960" y="4041648"/>
            <a:ext cx="1401775" cy="777240"/>
          </a:xfrm>
          <a:prstGeom prst="rect">
            <a:avLst/>
          </a:prstGeom>
          <a:noFill/>
          <a:ln/>
        </p:spPr>
        <p:txBody>
          <a:bodyPr wrap="square" lIns="0" tIns="0" rIns="0" bIns="0" rtlCol="0" anchor="t"/>
          <a:lstStyle/>
          <a:p>
            <a:pPr indent="0" marL="0">
              <a:buNone/>
            </a:pPr>
            <a:r>
              <a:rPr lang="en-US" sz="1200" dirty="0">
                <a:solidFill>
                  <a:srgbClr val="6E665E"/>
                </a:solidFill>
              </a:rPr>
              <a:t>Escalations to ASM, distributor, KAM</a:t>
            </a:r>
            <a:endParaRPr lang="en-US" sz="1200" dirty="0"/>
          </a:p>
        </p:txBody>
      </p:sp>
      <p:sp>
        <p:nvSpPr>
          <p:cNvPr id="38" name="text-182"/>
          <p:cNvSpPr txBox="1"/>
          <p:nvPr/>
        </p:nvSpPr>
        <p:spPr>
          <a:xfrm>
            <a:off x="640080" y="4983480"/>
            <a:ext cx="3200400" cy="594360"/>
          </a:xfrm>
          <a:prstGeom prst="rect">
            <a:avLst/>
          </a:prstGeom>
          <a:noFill/>
          <a:ln/>
        </p:spPr>
        <p:txBody>
          <a:bodyPr wrap="square" lIns="0" tIns="0" rIns="0" bIns="0" rtlCol="0" anchor="t"/>
          <a:lstStyle/>
          <a:p>
            <a:pPr indent="0" marL="0">
              <a:buNone/>
            </a:pPr>
            <a:r>
              <a:rPr lang="en-US" sz="3400" b="1" dirty="0">
                <a:solidFill>
                  <a:srgbClr val="171717"/>
                </a:solidFill>
                <a:latin typeface="Aptos Display" pitchFamily="34" charset="0"/>
                <a:ea typeface="Aptos Display" pitchFamily="34" charset="-122"/>
                <a:cs typeface="Aptos Display" pitchFamily="34" charset="-120"/>
              </a:rPr>
              <a:t>≤4 min</a:t>
            </a:r>
            <a:endParaRPr lang="en-US" sz="3400" dirty="0"/>
          </a:p>
        </p:txBody>
      </p:sp>
      <p:sp>
        <p:nvSpPr>
          <p:cNvPr id="39" name="text-183"/>
          <p:cNvSpPr txBox="1"/>
          <p:nvPr/>
        </p:nvSpPr>
        <p:spPr>
          <a:xfrm>
            <a:off x="640080" y="5596128"/>
            <a:ext cx="3200400" cy="274320"/>
          </a:xfrm>
          <a:prstGeom prst="rect">
            <a:avLst/>
          </a:prstGeom>
          <a:noFill/>
          <a:ln/>
        </p:spPr>
        <p:txBody>
          <a:bodyPr wrap="square" lIns="0" tIns="0" rIns="0" bIns="0" rtlCol="0" anchor="t"/>
          <a:lstStyle/>
          <a:p>
            <a:pPr indent="0" marL="0">
              <a:buNone/>
            </a:pPr>
            <a:r>
              <a:rPr lang="en-US" sz="1300" dirty="0">
                <a:solidFill>
                  <a:srgbClr val="6E665E"/>
                </a:solidFill>
              </a:rPr>
              <a:t>extra at a flagged outlet (design target)</a:t>
            </a:r>
            <a:endParaRPr lang="en-US" sz="1300" dirty="0"/>
          </a:p>
        </p:txBody>
      </p:sp>
      <p:sp>
        <p:nvSpPr>
          <p:cNvPr id="40" name="line-184"/>
          <p:cNvSpPr/>
          <p:nvPr/>
        </p:nvSpPr>
        <p:spPr>
          <a:xfrm>
            <a:off x="4069080" y="5120640"/>
            <a:ext cx="0" cy="868680"/>
          </a:xfrm>
          <a:prstGeom prst="line">
            <a:avLst/>
          </a:prstGeom>
          <a:noFill/>
          <a:ln w="12700">
            <a:solidFill>
              <a:srgbClr val="E3DED7"/>
            </a:solidFill>
            <a:prstDash val="solid"/>
          </a:ln>
        </p:spPr>
      </p:sp>
      <p:sp>
        <p:nvSpPr>
          <p:cNvPr id="41" name="text-185"/>
          <p:cNvSpPr txBox="1"/>
          <p:nvPr/>
        </p:nvSpPr>
        <p:spPr>
          <a:xfrm>
            <a:off x="4297680" y="4983480"/>
            <a:ext cx="3200400" cy="594360"/>
          </a:xfrm>
          <a:prstGeom prst="rect">
            <a:avLst/>
          </a:prstGeom>
          <a:noFill/>
          <a:ln/>
        </p:spPr>
        <p:txBody>
          <a:bodyPr wrap="square" lIns="0" tIns="0" rIns="0" bIns="0" rtlCol="0" anchor="t"/>
          <a:lstStyle/>
          <a:p>
            <a:pPr indent="0" marL="0">
              <a:buNone/>
            </a:pPr>
            <a:r>
              <a:rPr lang="en-US" sz="3400" b="1" dirty="0">
                <a:solidFill>
                  <a:srgbClr val="327B60"/>
                </a:solidFill>
                <a:latin typeface="Aptos Display" pitchFamily="34" charset="0"/>
                <a:ea typeface="Aptos Display" pitchFamily="34" charset="-122"/>
                <a:cs typeface="Aptos Display" pitchFamily="34" charset="-120"/>
              </a:rPr>
              <a:t>0 min</a:t>
            </a:r>
            <a:endParaRPr lang="en-US" sz="3400" dirty="0"/>
          </a:p>
        </p:txBody>
      </p:sp>
      <p:sp>
        <p:nvSpPr>
          <p:cNvPr id="42" name="text-186"/>
          <p:cNvSpPr txBox="1"/>
          <p:nvPr/>
        </p:nvSpPr>
        <p:spPr>
          <a:xfrm>
            <a:off x="4297680" y="5596128"/>
            <a:ext cx="3200400" cy="274320"/>
          </a:xfrm>
          <a:prstGeom prst="rect">
            <a:avLst/>
          </a:prstGeom>
          <a:noFill/>
          <a:ln/>
        </p:spPr>
        <p:txBody>
          <a:bodyPr wrap="square" lIns="0" tIns="0" rIns="0" bIns="0" rtlCol="0" anchor="t"/>
          <a:lstStyle/>
          <a:p>
            <a:pPr indent="0" marL="0">
              <a:buNone/>
            </a:pPr>
            <a:r>
              <a:rPr lang="en-US" sz="1300" dirty="0">
                <a:solidFill>
                  <a:srgbClr val="6E665E"/>
                </a:solidFill>
              </a:rPr>
              <a:t>extra at healthy outlets</a:t>
            </a:r>
            <a:endParaRPr lang="en-US" sz="1300" dirty="0"/>
          </a:p>
        </p:txBody>
      </p:sp>
      <p:sp>
        <p:nvSpPr>
          <p:cNvPr id="43" name="line-187"/>
          <p:cNvSpPr/>
          <p:nvPr/>
        </p:nvSpPr>
        <p:spPr>
          <a:xfrm>
            <a:off x="7726680" y="5120640"/>
            <a:ext cx="0" cy="868680"/>
          </a:xfrm>
          <a:prstGeom prst="line">
            <a:avLst/>
          </a:prstGeom>
          <a:noFill/>
          <a:ln w="12700">
            <a:solidFill>
              <a:srgbClr val="E3DED7"/>
            </a:solidFill>
            <a:prstDash val="solid"/>
          </a:ln>
        </p:spPr>
      </p:sp>
      <p:sp>
        <p:nvSpPr>
          <p:cNvPr id="44" name="text-188"/>
          <p:cNvSpPr txBox="1"/>
          <p:nvPr/>
        </p:nvSpPr>
        <p:spPr>
          <a:xfrm>
            <a:off x="7955280" y="4983480"/>
            <a:ext cx="3200400" cy="594360"/>
          </a:xfrm>
          <a:prstGeom prst="rect">
            <a:avLst/>
          </a:prstGeom>
          <a:noFill/>
          <a:ln/>
        </p:spPr>
        <p:txBody>
          <a:bodyPr wrap="square" lIns="0" tIns="0" rIns="0" bIns="0" rtlCol="0" anchor="t"/>
          <a:lstStyle/>
          <a:p>
            <a:pPr indent="0" marL="0">
              <a:buNone/>
            </a:pPr>
            <a:r>
              <a:rPr lang="en-US" sz="3400" b="1" dirty="0">
                <a:solidFill>
                  <a:srgbClr val="171717"/>
                </a:solidFill>
                <a:latin typeface="Aptos Display" pitchFamily="34" charset="0"/>
                <a:ea typeface="Aptos Display" pitchFamily="34" charset="-122"/>
                <a:cs typeface="Aptos Display" pitchFamily="34" charset="-120"/>
              </a:rPr>
              <a:t>5–10</a:t>
            </a:r>
            <a:endParaRPr lang="en-US" sz="3400" dirty="0"/>
          </a:p>
        </p:txBody>
      </p:sp>
      <p:sp>
        <p:nvSpPr>
          <p:cNvPr id="45" name="text-189"/>
          <p:cNvSpPr txBox="1"/>
          <p:nvPr/>
        </p:nvSpPr>
        <p:spPr>
          <a:xfrm>
            <a:off x="7955280" y="5596128"/>
            <a:ext cx="3200400" cy="274320"/>
          </a:xfrm>
          <a:prstGeom prst="rect">
            <a:avLst/>
          </a:prstGeom>
          <a:noFill/>
          <a:ln/>
        </p:spPr>
        <p:txBody>
          <a:bodyPr wrap="square" lIns="0" tIns="0" rIns="0" bIns="0" rtlCol="0" anchor="t"/>
          <a:lstStyle/>
          <a:p>
            <a:pPr indent="0" marL="0">
              <a:buNone/>
            </a:pPr>
            <a:r>
              <a:rPr lang="en-US" sz="1300" dirty="0">
                <a:solidFill>
                  <a:srgbClr val="6E665E"/>
                </a:solidFill>
              </a:rPr>
              <a:t>SKUs counted, not the whole shop</a:t>
            </a:r>
            <a:endParaRPr lang="en-US" sz="1300" dirty="0"/>
          </a:p>
        </p:txBody>
      </p:sp>
      <p:sp>
        <p:nvSpPr>
          <p:cNvPr id="25" name="Slide Number Placeholder 0"/>
          <p:cNvSpPr>
            <a:spLocks noGrp="1"/>
          </p:cNvSpPr>
          <p:nvPr>
            <p:ph type="sldNum" sz="quarter" idx="4294967295"/>
          </p:nvPr>
        </p:nvSpPr>
        <p:spPr>
          <a:xfrm>
            <a:off x="11091672"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665E"/>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body" hasCustomPrompt="1"/>
          </p:nvPr>
        </p:nvSpPr>
        <p:spPr>
          <a:xfrm>
            <a:off x="640080" y="457200"/>
            <a:ext cx="8686800" cy="237744"/>
          </a:xfrm>
          <a:prstGeom prst="rect">
            <a:avLst/>
          </a:prstGeom>
          <a:noFill/>
          <a:ln/>
        </p:spPr>
        <p:txBody>
          <a:bodyPr wrap="square" lIns="0" tIns="0" rIns="0" bIns="0" rtlCol="0" anchor="t"/>
          <a:lstStyle/>
          <a:p>
            <a:pPr indent="0" marL="0">
              <a:buNone/>
            </a:pPr>
            <a:r>
              <a:rPr lang="en-US" sz="1100" b="1" spc="200" kern="0" dirty="0">
                <a:solidFill>
                  <a:srgbClr val="65172F"/>
                </a:solidFill>
              </a:rPr>
              <a:t>EARLY DETECTION</a:t>
            </a:r>
            <a:endParaRPr lang="en-US" sz="1100" dirty="0"/>
          </a:p>
        </p:txBody>
      </p:sp>
      <p:sp>
        <p:nvSpPr>
          <p:cNvPr id="3" name="Text 0"/>
          <p:cNvSpPr/>
          <p:nvPr>
            <p:ph idx="102" type="title" hasCustomPrompt="1"/>
          </p:nvPr>
        </p:nvSpPr>
        <p:spPr>
          <a:xfrm>
            <a:off x="640080" y="749808"/>
            <a:ext cx="9418320" cy="1005840"/>
          </a:xfrm>
          <a:prstGeom prst="rect">
            <a:avLst/>
          </a:prstGeom>
          <a:noFill/>
          <a:ln/>
        </p:spPr>
        <p:txBody>
          <a:bodyPr wrap="square" lIns="0" tIns="0" rIns="0" bIns="0" rtlCol="0" anchor="t"/>
          <a:lstStyle/>
          <a:p>
            <a:pPr algn="l" indent="0" marL="0">
              <a:lnSpc>
                <a:spcPct val="95000"/>
              </a:lnSpc>
              <a:buNone/>
            </a:pPr>
            <a:r>
              <a:rPr lang="en-US" sz="3000" b="1" dirty="0">
                <a:solidFill>
                  <a:srgbClr val="171717"/>
                </a:solidFill>
                <a:latin typeface="Aptos Display" pitchFamily="34" charset="0"/>
                <a:ea typeface="Aptos Display" pitchFamily="34" charset="-122"/>
                <a:cs typeface="Aptos Display" pitchFamily="34" charset="-120"/>
              </a:rPr>
              <a:t>Twelve simple signals, routed to the person who can fix them</a:t>
            </a:r>
            <a:endParaRPr lang="en-US" sz="3000" dirty="0"/>
          </a:p>
        </p:txBody>
      </p:sp>
      <p:sp>
        <p:nvSpPr>
          <p:cNvPr id="4" name="Text 0"/>
          <p:cNvSpPr/>
          <p:nvPr>
            <p:ph idx="103" type="body" hasCustomPrompt="1"/>
          </p:nvPr>
        </p:nvSpPr>
        <p:spPr>
          <a:xfrm>
            <a:off x="640080" y="6355080"/>
            <a:ext cx="9189720" cy="347472"/>
          </a:xfrm>
          <a:prstGeom prst="rect">
            <a:avLst/>
          </a:prstGeom>
          <a:noFill/>
          <a:ln/>
        </p:spPr>
        <p:txBody>
          <a:bodyPr wrap="square" lIns="0" tIns="0" rIns="0" bIns="0" rtlCol="0" anchor="t"/>
          <a:lstStyle/>
          <a:p>
            <a:pPr indent="0" marL="0">
              <a:buNone/>
            </a:pPr>
            <a:r>
              <a:rPr lang="en-US" sz="1000" dirty="0">
                <a:solidFill>
                  <a:srgbClr val="6E665E"/>
                </a:solidFill>
              </a:rPr>
              <a:t>Case question A: "What simple signals (e.g., shelf dust, unsold cartons, retailer feedback) should be flagged, and to whom?" Signals adjust the sales estimate; only batch data can trigger near-expiry.</a:t>
            </a:r>
            <a:endParaRPr lang="en-US" sz="1000" dirty="0"/>
          </a:p>
        </p:txBody>
      </p:sp>
      <p:sp>
        <p:nvSpPr>
          <p:cNvPr id="6" name="rect-190"/>
          <p:cNvSpPr/>
          <p:nvPr/>
        </p:nvSpPr>
        <p:spPr>
          <a:xfrm>
            <a:off x="640080" y="1810512"/>
            <a:ext cx="4892040" cy="2788920"/>
          </a:xfrm>
          <a:prstGeom prst="rect">
            <a:avLst/>
          </a:prstGeom>
          <a:solidFill>
            <a:srgbClr val="F7F5F1"/>
          </a:solidFill>
          <a:ln w="12700">
            <a:solidFill>
              <a:srgbClr val="F7F5F1"/>
            </a:solidFill>
            <a:prstDash val="solid"/>
          </a:ln>
        </p:spPr>
      </p:sp>
      <p:sp>
        <p:nvSpPr>
          <p:cNvPr id="7" name="rect-191"/>
          <p:cNvSpPr/>
          <p:nvPr/>
        </p:nvSpPr>
        <p:spPr>
          <a:xfrm>
            <a:off x="640080" y="2724912"/>
            <a:ext cx="4892040" cy="45720"/>
          </a:xfrm>
          <a:prstGeom prst="rect">
            <a:avLst/>
          </a:prstGeom>
          <a:solidFill>
            <a:srgbClr val="3A3A3A"/>
          </a:solidFill>
          <a:ln w="12700">
            <a:solidFill>
              <a:srgbClr val="3A3A3A"/>
            </a:solidFill>
            <a:prstDash val="solid"/>
          </a:ln>
        </p:spPr>
      </p:sp>
      <p:sp>
        <p:nvSpPr>
          <p:cNvPr id="8" name="rect-192"/>
          <p:cNvSpPr/>
          <p:nvPr/>
        </p:nvSpPr>
        <p:spPr>
          <a:xfrm>
            <a:off x="640080" y="3639312"/>
            <a:ext cx="4892040" cy="45720"/>
          </a:xfrm>
          <a:prstGeom prst="rect">
            <a:avLst/>
          </a:prstGeom>
          <a:solidFill>
            <a:srgbClr val="3A3A3A"/>
          </a:solidFill>
          <a:ln w="12700">
            <a:solidFill>
              <a:srgbClr val="3A3A3A"/>
            </a:solidFill>
            <a:prstDash val="solid"/>
          </a:ln>
        </p:spPr>
      </p:sp>
      <p:sp>
        <p:nvSpPr>
          <p:cNvPr id="9" name="rect-193"/>
          <p:cNvSpPr/>
          <p:nvPr/>
        </p:nvSpPr>
        <p:spPr>
          <a:xfrm>
            <a:off x="640080" y="4553712"/>
            <a:ext cx="4892040" cy="45720"/>
          </a:xfrm>
          <a:prstGeom prst="rect">
            <a:avLst/>
          </a:prstGeom>
          <a:solidFill>
            <a:srgbClr val="3A3A3A"/>
          </a:solidFill>
          <a:ln w="12700">
            <a:solidFill>
              <a:srgbClr val="3A3A3A"/>
            </a:solidFill>
            <a:prstDash val="solid"/>
          </a:ln>
        </p:spPr>
      </p:sp>
      <p:sp>
        <p:nvSpPr>
          <p:cNvPr id="10" name="product-194"/>
          <p:cNvSpPr/>
          <p:nvPr/>
        </p:nvSpPr>
        <p:spPr>
          <a:xfrm>
            <a:off x="868680" y="2066544"/>
            <a:ext cx="292608" cy="658368"/>
          </a:xfrm>
          <a:prstGeom prst="roundRect">
            <a:avLst>
              <a:gd name="adj" fmla="val 9375"/>
            </a:avLst>
          </a:prstGeom>
          <a:solidFill>
            <a:srgbClr val="FFFFFF"/>
          </a:solidFill>
          <a:ln w="9525">
            <a:solidFill>
              <a:srgbClr val="E3DED7"/>
            </a:solidFill>
            <a:prstDash val="solid"/>
          </a:ln>
        </p:spPr>
      </p:sp>
      <p:sp>
        <p:nvSpPr>
          <p:cNvPr id="11" name="product-195"/>
          <p:cNvSpPr/>
          <p:nvPr/>
        </p:nvSpPr>
        <p:spPr>
          <a:xfrm>
            <a:off x="1216152" y="2066544"/>
            <a:ext cx="292608" cy="658368"/>
          </a:xfrm>
          <a:prstGeom prst="roundRect">
            <a:avLst>
              <a:gd name="adj" fmla="val 9375"/>
            </a:avLst>
          </a:prstGeom>
          <a:solidFill>
            <a:srgbClr val="FFFFFF"/>
          </a:solidFill>
          <a:ln w="9525">
            <a:solidFill>
              <a:srgbClr val="E3DED7"/>
            </a:solidFill>
            <a:prstDash val="solid"/>
          </a:ln>
        </p:spPr>
      </p:sp>
      <p:sp>
        <p:nvSpPr>
          <p:cNvPr id="12" name="product-196"/>
          <p:cNvSpPr/>
          <p:nvPr/>
        </p:nvSpPr>
        <p:spPr>
          <a:xfrm>
            <a:off x="1563624" y="2066544"/>
            <a:ext cx="292608" cy="658368"/>
          </a:xfrm>
          <a:prstGeom prst="roundRect">
            <a:avLst>
              <a:gd name="adj" fmla="val 9375"/>
            </a:avLst>
          </a:prstGeom>
          <a:solidFill>
            <a:srgbClr val="E3DED7"/>
          </a:solidFill>
          <a:ln w="9525">
            <a:solidFill>
              <a:srgbClr val="E3DED7"/>
            </a:solidFill>
            <a:prstDash val="solid"/>
          </a:ln>
        </p:spPr>
      </p:sp>
      <p:sp>
        <p:nvSpPr>
          <p:cNvPr id="13" name="product-197"/>
          <p:cNvSpPr/>
          <p:nvPr/>
        </p:nvSpPr>
        <p:spPr>
          <a:xfrm>
            <a:off x="1911096" y="2066544"/>
            <a:ext cx="292608" cy="658368"/>
          </a:xfrm>
          <a:prstGeom prst="roundRect">
            <a:avLst>
              <a:gd name="adj" fmla="val 9375"/>
            </a:avLst>
          </a:prstGeom>
          <a:solidFill>
            <a:srgbClr val="E3DED7"/>
          </a:solidFill>
          <a:ln w="9525">
            <a:solidFill>
              <a:srgbClr val="E3DED7"/>
            </a:solidFill>
            <a:prstDash val="solid"/>
          </a:ln>
        </p:spPr>
      </p:sp>
      <p:sp>
        <p:nvSpPr>
          <p:cNvPr id="14" name="product-198"/>
          <p:cNvSpPr/>
          <p:nvPr/>
        </p:nvSpPr>
        <p:spPr>
          <a:xfrm>
            <a:off x="2258568" y="2157984"/>
            <a:ext cx="292608" cy="566928"/>
          </a:xfrm>
          <a:prstGeom prst="roundRect">
            <a:avLst>
              <a:gd name="adj" fmla="val 9375"/>
            </a:avLst>
          </a:prstGeom>
          <a:solidFill>
            <a:srgbClr val="EFE3E6"/>
          </a:solidFill>
          <a:ln w="9525">
            <a:solidFill>
              <a:srgbClr val="E3DED7"/>
            </a:solidFill>
            <a:prstDash val="solid"/>
          </a:ln>
        </p:spPr>
      </p:sp>
      <p:sp>
        <p:nvSpPr>
          <p:cNvPr id="15" name="product-199"/>
          <p:cNvSpPr/>
          <p:nvPr/>
        </p:nvSpPr>
        <p:spPr>
          <a:xfrm>
            <a:off x="2606040" y="2157984"/>
            <a:ext cx="292608" cy="566928"/>
          </a:xfrm>
          <a:prstGeom prst="roundRect">
            <a:avLst>
              <a:gd name="adj" fmla="val 9375"/>
            </a:avLst>
          </a:prstGeom>
          <a:solidFill>
            <a:srgbClr val="EFE3E6"/>
          </a:solidFill>
          <a:ln w="9525">
            <a:solidFill>
              <a:srgbClr val="E3DED7"/>
            </a:solidFill>
            <a:prstDash val="solid"/>
          </a:ln>
        </p:spPr>
      </p:sp>
      <p:sp>
        <p:nvSpPr>
          <p:cNvPr id="16" name="dot-200"/>
          <p:cNvSpPr/>
          <p:nvPr/>
        </p:nvSpPr>
        <p:spPr>
          <a:xfrm>
            <a:off x="1572768" y="2194560"/>
            <a:ext cx="36576" cy="36576"/>
          </a:xfrm>
          <a:prstGeom prst="ellipse">
            <a:avLst/>
          </a:prstGeom>
          <a:solidFill>
            <a:srgbClr val="A9A096"/>
          </a:solidFill>
          <a:ln w="12700">
            <a:solidFill>
              <a:srgbClr val="A9A096"/>
            </a:solidFill>
            <a:prstDash val="solid"/>
          </a:ln>
        </p:spPr>
      </p:sp>
      <p:sp>
        <p:nvSpPr>
          <p:cNvPr id="17" name="dot-201"/>
          <p:cNvSpPr/>
          <p:nvPr/>
        </p:nvSpPr>
        <p:spPr>
          <a:xfrm>
            <a:off x="1682496" y="2194560"/>
            <a:ext cx="36576" cy="36576"/>
          </a:xfrm>
          <a:prstGeom prst="ellipse">
            <a:avLst/>
          </a:prstGeom>
          <a:solidFill>
            <a:srgbClr val="A9A096"/>
          </a:solidFill>
          <a:ln w="12700">
            <a:solidFill>
              <a:srgbClr val="A9A096"/>
            </a:solidFill>
            <a:prstDash val="solid"/>
          </a:ln>
        </p:spPr>
      </p:sp>
      <p:sp>
        <p:nvSpPr>
          <p:cNvPr id="18" name="dot-202"/>
          <p:cNvSpPr/>
          <p:nvPr/>
        </p:nvSpPr>
        <p:spPr>
          <a:xfrm>
            <a:off x="1792224" y="2194560"/>
            <a:ext cx="36576" cy="36576"/>
          </a:xfrm>
          <a:prstGeom prst="ellipse">
            <a:avLst/>
          </a:prstGeom>
          <a:solidFill>
            <a:srgbClr val="A9A096"/>
          </a:solidFill>
          <a:ln w="12700">
            <a:solidFill>
              <a:srgbClr val="A9A096"/>
            </a:solidFill>
            <a:prstDash val="solid"/>
          </a:ln>
        </p:spPr>
      </p:sp>
      <p:sp>
        <p:nvSpPr>
          <p:cNvPr id="19" name="dot-203"/>
          <p:cNvSpPr/>
          <p:nvPr/>
        </p:nvSpPr>
        <p:spPr>
          <a:xfrm>
            <a:off x="1572768" y="2304288"/>
            <a:ext cx="36576" cy="36576"/>
          </a:xfrm>
          <a:prstGeom prst="ellipse">
            <a:avLst/>
          </a:prstGeom>
          <a:solidFill>
            <a:srgbClr val="A9A096"/>
          </a:solidFill>
          <a:ln w="12700">
            <a:solidFill>
              <a:srgbClr val="A9A096"/>
            </a:solidFill>
            <a:prstDash val="solid"/>
          </a:ln>
        </p:spPr>
      </p:sp>
      <p:sp>
        <p:nvSpPr>
          <p:cNvPr id="20" name="dot-204"/>
          <p:cNvSpPr/>
          <p:nvPr/>
        </p:nvSpPr>
        <p:spPr>
          <a:xfrm>
            <a:off x="1682496" y="2304288"/>
            <a:ext cx="36576" cy="36576"/>
          </a:xfrm>
          <a:prstGeom prst="ellipse">
            <a:avLst/>
          </a:prstGeom>
          <a:solidFill>
            <a:srgbClr val="A9A096"/>
          </a:solidFill>
          <a:ln w="12700">
            <a:solidFill>
              <a:srgbClr val="A9A096"/>
            </a:solidFill>
            <a:prstDash val="solid"/>
          </a:ln>
        </p:spPr>
      </p:sp>
      <p:sp>
        <p:nvSpPr>
          <p:cNvPr id="21" name="dot-205"/>
          <p:cNvSpPr/>
          <p:nvPr/>
        </p:nvSpPr>
        <p:spPr>
          <a:xfrm>
            <a:off x="1792224" y="2304288"/>
            <a:ext cx="36576" cy="36576"/>
          </a:xfrm>
          <a:prstGeom prst="ellipse">
            <a:avLst/>
          </a:prstGeom>
          <a:solidFill>
            <a:srgbClr val="A9A096"/>
          </a:solidFill>
          <a:ln w="12700">
            <a:solidFill>
              <a:srgbClr val="A9A096"/>
            </a:solidFill>
            <a:prstDash val="solid"/>
          </a:ln>
        </p:spPr>
      </p:sp>
      <p:sp>
        <p:nvSpPr>
          <p:cNvPr id="22" name="dot-206"/>
          <p:cNvSpPr/>
          <p:nvPr/>
        </p:nvSpPr>
        <p:spPr>
          <a:xfrm>
            <a:off x="1618488" y="2414016"/>
            <a:ext cx="36576" cy="36576"/>
          </a:xfrm>
          <a:prstGeom prst="ellipse">
            <a:avLst/>
          </a:prstGeom>
          <a:solidFill>
            <a:srgbClr val="A9A096"/>
          </a:solidFill>
          <a:ln w="12700">
            <a:solidFill>
              <a:srgbClr val="A9A096"/>
            </a:solidFill>
            <a:prstDash val="solid"/>
          </a:ln>
        </p:spPr>
      </p:sp>
      <p:sp>
        <p:nvSpPr>
          <p:cNvPr id="23" name="dot-207"/>
          <p:cNvSpPr/>
          <p:nvPr/>
        </p:nvSpPr>
        <p:spPr>
          <a:xfrm>
            <a:off x="1728216" y="2414016"/>
            <a:ext cx="36576" cy="36576"/>
          </a:xfrm>
          <a:prstGeom prst="ellipse">
            <a:avLst/>
          </a:prstGeom>
          <a:solidFill>
            <a:srgbClr val="A9A096"/>
          </a:solidFill>
          <a:ln w="12700">
            <a:solidFill>
              <a:srgbClr val="A9A096"/>
            </a:solidFill>
            <a:prstDash val="solid"/>
          </a:ln>
        </p:spPr>
      </p:sp>
      <p:sp>
        <p:nvSpPr>
          <p:cNvPr id="24" name="dot-208"/>
          <p:cNvSpPr/>
          <p:nvPr/>
        </p:nvSpPr>
        <p:spPr>
          <a:xfrm>
            <a:off x="1837944" y="2414016"/>
            <a:ext cx="36576" cy="36576"/>
          </a:xfrm>
          <a:prstGeom prst="ellipse">
            <a:avLst/>
          </a:prstGeom>
          <a:solidFill>
            <a:srgbClr val="A9A096"/>
          </a:solidFill>
          <a:ln w="12700">
            <a:solidFill>
              <a:srgbClr val="A9A096"/>
            </a:solidFill>
            <a:prstDash val="solid"/>
          </a:ln>
        </p:spPr>
      </p:sp>
      <p:sp>
        <p:nvSpPr>
          <p:cNvPr id="25" name="rect-209"/>
          <p:cNvSpPr/>
          <p:nvPr/>
        </p:nvSpPr>
        <p:spPr>
          <a:xfrm>
            <a:off x="3154680" y="2542032"/>
            <a:ext cx="384048" cy="146304"/>
          </a:xfrm>
          <a:prstGeom prst="rect">
            <a:avLst/>
          </a:prstGeom>
          <a:solidFill>
            <a:srgbClr val="F2D9A6"/>
          </a:solidFill>
          <a:ln w="12700">
            <a:solidFill>
              <a:srgbClr val="F2D9A6"/>
            </a:solidFill>
            <a:prstDash val="solid"/>
          </a:ln>
        </p:spPr>
      </p:sp>
      <p:sp>
        <p:nvSpPr>
          <p:cNvPr id="26" name="rrect-210"/>
          <p:cNvSpPr/>
          <p:nvPr/>
        </p:nvSpPr>
        <p:spPr>
          <a:xfrm>
            <a:off x="3794760" y="2084832"/>
            <a:ext cx="685800" cy="640080"/>
          </a:xfrm>
          <a:prstGeom prst="roundRect">
            <a:avLst>
              <a:gd name="adj" fmla="val 4286"/>
            </a:avLst>
          </a:prstGeom>
          <a:solidFill>
            <a:srgbClr val="FFFFFF"/>
          </a:solidFill>
          <a:ln w="9525">
            <a:solidFill>
              <a:srgbClr val="A9A096"/>
            </a:solidFill>
            <a:prstDash val="dash"/>
          </a:ln>
        </p:spPr>
      </p:sp>
      <p:sp>
        <p:nvSpPr>
          <p:cNvPr id="27" name="product-211"/>
          <p:cNvSpPr/>
          <p:nvPr/>
        </p:nvSpPr>
        <p:spPr>
          <a:xfrm>
            <a:off x="868680" y="3090672"/>
            <a:ext cx="201168" cy="548640"/>
          </a:xfrm>
          <a:prstGeom prst="roundRect">
            <a:avLst>
              <a:gd name="adj" fmla="val 13636"/>
            </a:avLst>
          </a:prstGeom>
          <a:solidFill>
            <a:srgbClr val="FFFFFF"/>
          </a:solidFill>
          <a:ln w="9525">
            <a:solidFill>
              <a:srgbClr val="E3DED7"/>
            </a:solidFill>
            <a:prstDash val="solid"/>
          </a:ln>
        </p:spPr>
      </p:sp>
      <p:sp>
        <p:nvSpPr>
          <p:cNvPr id="28" name="product-212"/>
          <p:cNvSpPr/>
          <p:nvPr/>
        </p:nvSpPr>
        <p:spPr>
          <a:xfrm>
            <a:off x="1115568" y="3090672"/>
            <a:ext cx="201168" cy="548640"/>
          </a:xfrm>
          <a:prstGeom prst="roundRect">
            <a:avLst>
              <a:gd name="adj" fmla="val 13636"/>
            </a:avLst>
          </a:prstGeom>
          <a:solidFill>
            <a:srgbClr val="FFFFFF"/>
          </a:solidFill>
          <a:ln w="9525">
            <a:solidFill>
              <a:srgbClr val="E3DED7"/>
            </a:solidFill>
            <a:prstDash val="solid"/>
          </a:ln>
        </p:spPr>
      </p:sp>
      <p:sp>
        <p:nvSpPr>
          <p:cNvPr id="29" name="product-213"/>
          <p:cNvSpPr/>
          <p:nvPr/>
        </p:nvSpPr>
        <p:spPr>
          <a:xfrm>
            <a:off x="1362456" y="3090672"/>
            <a:ext cx="201168" cy="548640"/>
          </a:xfrm>
          <a:prstGeom prst="roundRect">
            <a:avLst>
              <a:gd name="adj" fmla="val 13636"/>
            </a:avLst>
          </a:prstGeom>
          <a:solidFill>
            <a:srgbClr val="FFFFFF"/>
          </a:solidFill>
          <a:ln w="9525">
            <a:solidFill>
              <a:srgbClr val="E3DED7"/>
            </a:solidFill>
            <a:prstDash val="solid"/>
          </a:ln>
        </p:spPr>
      </p:sp>
      <p:sp>
        <p:nvSpPr>
          <p:cNvPr id="30" name="product-214"/>
          <p:cNvSpPr/>
          <p:nvPr/>
        </p:nvSpPr>
        <p:spPr>
          <a:xfrm>
            <a:off x="1609344" y="3090672"/>
            <a:ext cx="201168" cy="548640"/>
          </a:xfrm>
          <a:prstGeom prst="roundRect">
            <a:avLst>
              <a:gd name="adj" fmla="val 13636"/>
            </a:avLst>
          </a:prstGeom>
          <a:solidFill>
            <a:srgbClr val="FFFFFF"/>
          </a:solidFill>
          <a:ln w="9525">
            <a:solidFill>
              <a:srgbClr val="E3DED7"/>
            </a:solidFill>
            <a:prstDash val="solid"/>
          </a:ln>
        </p:spPr>
      </p:sp>
      <p:sp>
        <p:nvSpPr>
          <p:cNvPr id="31" name="product-215"/>
          <p:cNvSpPr/>
          <p:nvPr/>
        </p:nvSpPr>
        <p:spPr>
          <a:xfrm>
            <a:off x="2057400" y="3182112"/>
            <a:ext cx="384048" cy="457200"/>
          </a:xfrm>
          <a:prstGeom prst="roundRect">
            <a:avLst>
              <a:gd name="adj" fmla="val 7143"/>
            </a:avLst>
          </a:prstGeom>
          <a:solidFill>
            <a:srgbClr val="B9808F"/>
          </a:solidFill>
          <a:ln w="9525">
            <a:solidFill>
              <a:srgbClr val="E3DED7"/>
            </a:solidFill>
            <a:prstDash val="solid"/>
          </a:ln>
        </p:spPr>
      </p:sp>
      <p:sp>
        <p:nvSpPr>
          <p:cNvPr id="32" name="product-216"/>
          <p:cNvSpPr/>
          <p:nvPr/>
        </p:nvSpPr>
        <p:spPr>
          <a:xfrm>
            <a:off x="2606040" y="3182112"/>
            <a:ext cx="384048" cy="457200"/>
          </a:xfrm>
          <a:prstGeom prst="roundRect">
            <a:avLst>
              <a:gd name="adj" fmla="val 7143"/>
            </a:avLst>
          </a:prstGeom>
          <a:solidFill>
            <a:srgbClr val="B9808F"/>
          </a:solidFill>
          <a:ln w="9525">
            <a:solidFill>
              <a:srgbClr val="E3DED7"/>
            </a:solidFill>
            <a:prstDash val="solid"/>
          </a:ln>
        </p:spPr>
      </p:sp>
      <p:sp>
        <p:nvSpPr>
          <p:cNvPr id="33" name="rrect-217"/>
          <p:cNvSpPr/>
          <p:nvPr/>
        </p:nvSpPr>
        <p:spPr>
          <a:xfrm>
            <a:off x="3246120" y="3227832"/>
            <a:ext cx="457200" cy="411480"/>
          </a:xfrm>
          <a:prstGeom prst="roundRect">
            <a:avLst>
              <a:gd name="adj" fmla="val 6667"/>
            </a:avLst>
          </a:prstGeom>
          <a:solidFill>
            <a:srgbClr val="FFFFFF"/>
          </a:solidFill>
          <a:ln w="9525">
            <a:solidFill>
              <a:srgbClr val="A9A096"/>
            </a:solidFill>
            <a:prstDash val="dash"/>
          </a:ln>
        </p:spPr>
      </p:sp>
      <p:sp>
        <p:nvSpPr>
          <p:cNvPr id="34" name="damaged-218"/>
          <p:cNvSpPr/>
          <p:nvPr/>
        </p:nvSpPr>
        <p:spPr>
          <a:xfrm rot="480000">
            <a:off x="3977640" y="3136392"/>
            <a:ext cx="347472" cy="502920"/>
          </a:xfrm>
          <a:prstGeom prst="roundRect">
            <a:avLst>
              <a:gd name="adj" fmla="val 7895"/>
            </a:avLst>
          </a:prstGeom>
          <a:solidFill>
            <a:srgbClr val="E3DED7"/>
          </a:solidFill>
          <a:ln w="9525">
            <a:solidFill>
              <a:srgbClr val="E3DED7"/>
            </a:solidFill>
            <a:prstDash val="solid"/>
          </a:ln>
        </p:spPr>
      </p:sp>
      <p:pic>
        <p:nvPicPr>
          <p:cNvPr id="35" name="qcomm-icon-219" descr="preencoded.png">    </p:cNvPr>
          <p:cNvPicPr>
            <a:picLocks noChangeAspect="1"/>
          </p:cNvPicPr>
          <p:nvPr/>
        </p:nvPicPr>
        <p:blipFill>
          <a:blip r:embed="rId1"/>
          <a:stretch>
            <a:fillRect/>
          </a:stretch>
        </p:blipFill>
        <p:spPr>
          <a:xfrm>
            <a:off x="4709160" y="3108960"/>
            <a:ext cx="438912" cy="438912"/>
          </a:xfrm>
          <a:prstGeom prst="rect">
            <a:avLst/>
          </a:prstGeom>
        </p:spPr>
      </p:pic>
      <p:sp>
        <p:nvSpPr>
          <p:cNvPr id="36" name="rect-220"/>
          <p:cNvSpPr/>
          <p:nvPr/>
        </p:nvSpPr>
        <p:spPr>
          <a:xfrm>
            <a:off x="868680" y="4023360"/>
            <a:ext cx="566928" cy="530352"/>
          </a:xfrm>
          <a:prstGeom prst="rect">
            <a:avLst/>
          </a:prstGeom>
          <a:solidFill>
            <a:srgbClr val="C9B79C"/>
          </a:solidFill>
          <a:ln w="12700">
            <a:solidFill>
              <a:srgbClr val="C9B79C"/>
            </a:solidFill>
            <a:prstDash val="solid"/>
          </a:ln>
        </p:spPr>
      </p:sp>
      <p:sp>
        <p:nvSpPr>
          <p:cNvPr id="37" name="line-221"/>
          <p:cNvSpPr/>
          <p:nvPr/>
        </p:nvSpPr>
        <p:spPr>
          <a:xfrm>
            <a:off x="868680" y="4279392"/>
            <a:ext cx="566928" cy="0"/>
          </a:xfrm>
          <a:prstGeom prst="line">
            <a:avLst/>
          </a:prstGeom>
          <a:noFill/>
          <a:ln w="12700">
            <a:solidFill>
              <a:srgbClr val="9C8A70"/>
            </a:solidFill>
            <a:prstDash val="solid"/>
          </a:ln>
        </p:spPr>
      </p:sp>
      <p:sp>
        <p:nvSpPr>
          <p:cNvPr id="38" name="rect-222"/>
          <p:cNvSpPr/>
          <p:nvPr/>
        </p:nvSpPr>
        <p:spPr>
          <a:xfrm>
            <a:off x="1490472" y="4023360"/>
            <a:ext cx="566928" cy="530352"/>
          </a:xfrm>
          <a:prstGeom prst="rect">
            <a:avLst/>
          </a:prstGeom>
          <a:solidFill>
            <a:srgbClr val="C9B79C"/>
          </a:solidFill>
          <a:ln w="12700">
            <a:solidFill>
              <a:srgbClr val="C9B79C"/>
            </a:solidFill>
            <a:prstDash val="solid"/>
          </a:ln>
        </p:spPr>
      </p:sp>
      <p:sp>
        <p:nvSpPr>
          <p:cNvPr id="39" name="line-223"/>
          <p:cNvSpPr/>
          <p:nvPr/>
        </p:nvSpPr>
        <p:spPr>
          <a:xfrm>
            <a:off x="1490472" y="4279392"/>
            <a:ext cx="566928" cy="0"/>
          </a:xfrm>
          <a:prstGeom prst="line">
            <a:avLst/>
          </a:prstGeom>
          <a:noFill/>
          <a:ln w="12700">
            <a:solidFill>
              <a:srgbClr val="9C8A70"/>
            </a:solidFill>
            <a:prstDash val="solid"/>
          </a:ln>
        </p:spPr>
      </p:sp>
      <p:sp>
        <p:nvSpPr>
          <p:cNvPr id="40" name="rect-224"/>
          <p:cNvSpPr/>
          <p:nvPr/>
        </p:nvSpPr>
        <p:spPr>
          <a:xfrm>
            <a:off x="2112264" y="4023360"/>
            <a:ext cx="566928" cy="530352"/>
          </a:xfrm>
          <a:prstGeom prst="rect">
            <a:avLst/>
          </a:prstGeom>
          <a:solidFill>
            <a:srgbClr val="C9B79C"/>
          </a:solidFill>
          <a:ln w="12700">
            <a:solidFill>
              <a:srgbClr val="C9B79C"/>
            </a:solidFill>
            <a:prstDash val="solid"/>
          </a:ln>
        </p:spPr>
      </p:sp>
      <p:sp>
        <p:nvSpPr>
          <p:cNvPr id="41" name="line-225"/>
          <p:cNvSpPr/>
          <p:nvPr/>
        </p:nvSpPr>
        <p:spPr>
          <a:xfrm>
            <a:off x="2112264" y="4279392"/>
            <a:ext cx="566928" cy="0"/>
          </a:xfrm>
          <a:prstGeom prst="line">
            <a:avLst/>
          </a:prstGeom>
          <a:noFill/>
          <a:ln w="12700">
            <a:solidFill>
              <a:srgbClr val="9C8A70"/>
            </a:solidFill>
            <a:prstDash val="solid"/>
          </a:ln>
        </p:spPr>
      </p:sp>
      <p:sp>
        <p:nvSpPr>
          <p:cNvPr id="42" name="rect-226"/>
          <p:cNvSpPr/>
          <p:nvPr/>
        </p:nvSpPr>
        <p:spPr>
          <a:xfrm>
            <a:off x="2834640" y="4096512"/>
            <a:ext cx="640080" cy="457200"/>
          </a:xfrm>
          <a:prstGeom prst="rect">
            <a:avLst/>
          </a:prstGeom>
          <a:solidFill>
            <a:srgbClr val="3A3A3A"/>
          </a:solidFill>
          <a:ln w="12700">
            <a:solidFill>
              <a:srgbClr val="3A3A3A"/>
            </a:solidFill>
            <a:prstDash val="solid"/>
          </a:ln>
        </p:spPr>
      </p:sp>
      <p:sp>
        <p:nvSpPr>
          <p:cNvPr id="43" name="text-227"/>
          <p:cNvSpPr txBox="1"/>
          <p:nvPr/>
        </p:nvSpPr>
        <p:spPr>
          <a:xfrm>
            <a:off x="2834640" y="4096512"/>
            <a:ext cx="640080" cy="457200"/>
          </a:xfrm>
          <a:prstGeom prst="rect">
            <a:avLst/>
          </a:prstGeom>
          <a:noFill/>
          <a:ln/>
        </p:spPr>
        <p:txBody>
          <a:bodyPr wrap="square" lIns="0" tIns="0" rIns="0" bIns="0" rtlCol="0" anchor="ctr"/>
          <a:lstStyle/>
          <a:p>
            <a:pPr algn="ctr" indent="0" marL="0">
              <a:buNone/>
            </a:pPr>
            <a:r>
              <a:rPr lang="en-US" sz="1000" b="1" dirty="0">
                <a:solidFill>
                  <a:srgbClr val="FFFFFF"/>
                </a:solidFill>
              </a:rPr>
              <a:t>-30%</a:t>
            </a:r>
            <a:endParaRPr lang="en-US" sz="1000" dirty="0"/>
          </a:p>
        </p:txBody>
      </p:sp>
      <p:sp>
        <p:nvSpPr>
          <p:cNvPr id="44" name="rect-228"/>
          <p:cNvSpPr/>
          <p:nvPr/>
        </p:nvSpPr>
        <p:spPr>
          <a:xfrm>
            <a:off x="3794760" y="4050792"/>
            <a:ext cx="731520" cy="502920"/>
          </a:xfrm>
          <a:prstGeom prst="rect">
            <a:avLst/>
          </a:prstGeom>
          <a:solidFill>
            <a:srgbClr val="EFE3E6"/>
          </a:solidFill>
          <a:ln w="12700">
            <a:solidFill>
              <a:srgbClr val="EFE3E6"/>
            </a:solidFill>
            <a:prstDash val="solid"/>
          </a:ln>
        </p:spPr>
      </p:sp>
      <p:sp>
        <p:nvSpPr>
          <p:cNvPr id="45" name="text-229"/>
          <p:cNvSpPr txBox="1"/>
          <p:nvPr/>
        </p:nvSpPr>
        <p:spPr>
          <a:xfrm>
            <a:off x="3794760" y="4050792"/>
            <a:ext cx="731520" cy="502920"/>
          </a:xfrm>
          <a:prstGeom prst="rect">
            <a:avLst/>
          </a:prstGeom>
          <a:noFill/>
          <a:ln/>
        </p:spPr>
        <p:txBody>
          <a:bodyPr wrap="square" lIns="0" tIns="0" rIns="0" bIns="0" rtlCol="0" anchor="ctr"/>
          <a:lstStyle/>
          <a:p>
            <a:pPr algn="ctr" indent="0" marL="0">
              <a:buNone/>
            </a:pPr>
            <a:r>
              <a:rPr lang="en-US" sz="900" b="1" dirty="0">
                <a:solidFill>
                  <a:srgbClr val="65172F"/>
                </a:solidFill>
              </a:rPr>
              <a:t>RETURN</a:t>
            </a:r>
            <a:endParaRPr lang="en-US" sz="900" dirty="0"/>
          </a:p>
        </p:txBody>
      </p:sp>
      <p:sp>
        <p:nvSpPr>
          <p:cNvPr id="46" name="dot-230"/>
          <p:cNvSpPr/>
          <p:nvPr/>
        </p:nvSpPr>
        <p:spPr>
          <a:xfrm>
            <a:off x="1600200" y="1856232"/>
            <a:ext cx="274320" cy="274320"/>
          </a:xfrm>
          <a:prstGeom prst="ellipse">
            <a:avLst/>
          </a:prstGeom>
          <a:solidFill>
            <a:srgbClr val="65172F"/>
          </a:solidFill>
          <a:ln w="12700">
            <a:solidFill>
              <a:srgbClr val="65172F"/>
            </a:solidFill>
            <a:prstDash val="solid"/>
          </a:ln>
        </p:spPr>
      </p:sp>
      <p:sp>
        <p:nvSpPr>
          <p:cNvPr id="47" name="text-231"/>
          <p:cNvSpPr txBox="1"/>
          <p:nvPr/>
        </p:nvSpPr>
        <p:spPr>
          <a:xfrm>
            <a:off x="1600200" y="185623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rPr>
              <a:t>1</a:t>
            </a:r>
            <a:endParaRPr lang="en-US" sz="1000" dirty="0"/>
          </a:p>
        </p:txBody>
      </p:sp>
      <p:sp>
        <p:nvSpPr>
          <p:cNvPr id="48" name="dot-232"/>
          <p:cNvSpPr/>
          <p:nvPr/>
        </p:nvSpPr>
        <p:spPr>
          <a:xfrm>
            <a:off x="868680" y="1856232"/>
            <a:ext cx="274320" cy="274320"/>
          </a:xfrm>
          <a:prstGeom prst="ellipse">
            <a:avLst/>
          </a:prstGeom>
          <a:solidFill>
            <a:srgbClr val="65172F"/>
          </a:solidFill>
          <a:ln w="12700">
            <a:solidFill>
              <a:srgbClr val="65172F"/>
            </a:solidFill>
            <a:prstDash val="solid"/>
          </a:ln>
        </p:spPr>
      </p:sp>
      <p:sp>
        <p:nvSpPr>
          <p:cNvPr id="49" name="text-233"/>
          <p:cNvSpPr txBox="1"/>
          <p:nvPr/>
        </p:nvSpPr>
        <p:spPr>
          <a:xfrm>
            <a:off x="868680" y="185623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50" name="dot-234"/>
          <p:cNvSpPr/>
          <p:nvPr/>
        </p:nvSpPr>
        <p:spPr>
          <a:xfrm>
            <a:off x="3200400" y="2221992"/>
            <a:ext cx="274320" cy="274320"/>
          </a:xfrm>
          <a:prstGeom prst="ellipse">
            <a:avLst/>
          </a:prstGeom>
          <a:solidFill>
            <a:srgbClr val="65172F"/>
          </a:solidFill>
          <a:ln w="12700">
            <a:solidFill>
              <a:srgbClr val="65172F"/>
            </a:solidFill>
            <a:prstDash val="solid"/>
          </a:ln>
        </p:spPr>
      </p:sp>
      <p:sp>
        <p:nvSpPr>
          <p:cNvPr id="51" name="text-235"/>
          <p:cNvSpPr txBox="1"/>
          <p:nvPr/>
        </p:nvSpPr>
        <p:spPr>
          <a:xfrm>
            <a:off x="3200400" y="222199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rPr>
              <a:t>5</a:t>
            </a:r>
            <a:endParaRPr lang="en-US" sz="1000" dirty="0"/>
          </a:p>
        </p:txBody>
      </p:sp>
      <p:sp>
        <p:nvSpPr>
          <p:cNvPr id="52" name="dot-236"/>
          <p:cNvSpPr/>
          <p:nvPr/>
        </p:nvSpPr>
        <p:spPr>
          <a:xfrm>
            <a:off x="3977640" y="1920240"/>
            <a:ext cx="274320" cy="274320"/>
          </a:xfrm>
          <a:prstGeom prst="ellipse">
            <a:avLst/>
          </a:prstGeom>
          <a:solidFill>
            <a:srgbClr val="65172F"/>
          </a:solidFill>
          <a:ln w="12700">
            <a:solidFill>
              <a:srgbClr val="65172F"/>
            </a:solidFill>
            <a:prstDash val="solid"/>
          </a:ln>
        </p:spPr>
      </p:sp>
      <p:sp>
        <p:nvSpPr>
          <p:cNvPr id="53" name="text-237"/>
          <p:cNvSpPr txBox="1"/>
          <p:nvPr/>
        </p:nvSpPr>
        <p:spPr>
          <a:xfrm>
            <a:off x="3977640" y="192024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rPr>
              <a:t>6</a:t>
            </a:r>
            <a:endParaRPr lang="en-US" sz="1000" dirty="0"/>
          </a:p>
        </p:txBody>
      </p:sp>
      <p:sp>
        <p:nvSpPr>
          <p:cNvPr id="54" name="dot-238"/>
          <p:cNvSpPr/>
          <p:nvPr/>
        </p:nvSpPr>
        <p:spPr>
          <a:xfrm>
            <a:off x="1143000" y="2816352"/>
            <a:ext cx="274320" cy="274320"/>
          </a:xfrm>
          <a:prstGeom prst="ellipse">
            <a:avLst/>
          </a:prstGeom>
          <a:solidFill>
            <a:srgbClr val="65172F"/>
          </a:solidFill>
          <a:ln w="12700">
            <a:solidFill>
              <a:srgbClr val="65172F"/>
            </a:solidFill>
            <a:prstDash val="solid"/>
          </a:ln>
        </p:spPr>
      </p:sp>
      <p:sp>
        <p:nvSpPr>
          <p:cNvPr id="55" name="text-239"/>
          <p:cNvSpPr txBox="1"/>
          <p:nvPr/>
        </p:nvSpPr>
        <p:spPr>
          <a:xfrm>
            <a:off x="1143000" y="281635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56" name="dot-240"/>
          <p:cNvSpPr/>
          <p:nvPr/>
        </p:nvSpPr>
        <p:spPr>
          <a:xfrm>
            <a:off x="2240280" y="2834640"/>
            <a:ext cx="274320" cy="274320"/>
          </a:xfrm>
          <a:prstGeom prst="ellipse">
            <a:avLst/>
          </a:prstGeom>
          <a:solidFill>
            <a:srgbClr val="65172F"/>
          </a:solidFill>
          <a:ln w="12700">
            <a:solidFill>
              <a:srgbClr val="65172F"/>
            </a:solidFill>
            <a:prstDash val="solid"/>
          </a:ln>
        </p:spPr>
      </p:sp>
      <p:sp>
        <p:nvSpPr>
          <p:cNvPr id="57" name="text-241"/>
          <p:cNvSpPr txBox="1"/>
          <p:nvPr/>
        </p:nvSpPr>
        <p:spPr>
          <a:xfrm>
            <a:off x="2240280" y="283464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rPr>
              <a:t>8</a:t>
            </a:r>
            <a:endParaRPr lang="en-US" sz="1000" dirty="0"/>
          </a:p>
        </p:txBody>
      </p:sp>
      <p:sp>
        <p:nvSpPr>
          <p:cNvPr id="58" name="dot-242"/>
          <p:cNvSpPr/>
          <p:nvPr/>
        </p:nvSpPr>
        <p:spPr>
          <a:xfrm>
            <a:off x="3337560" y="2834640"/>
            <a:ext cx="274320" cy="274320"/>
          </a:xfrm>
          <a:prstGeom prst="ellipse">
            <a:avLst/>
          </a:prstGeom>
          <a:solidFill>
            <a:srgbClr val="65172F"/>
          </a:solidFill>
          <a:ln w="12700">
            <a:solidFill>
              <a:srgbClr val="65172F"/>
            </a:solidFill>
            <a:prstDash val="solid"/>
          </a:ln>
        </p:spPr>
      </p:sp>
      <p:sp>
        <p:nvSpPr>
          <p:cNvPr id="59" name="text-243"/>
          <p:cNvSpPr txBox="1"/>
          <p:nvPr/>
        </p:nvSpPr>
        <p:spPr>
          <a:xfrm>
            <a:off x="3337560" y="283464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rPr>
              <a:t>7</a:t>
            </a:r>
            <a:endParaRPr lang="en-US" sz="1000" dirty="0"/>
          </a:p>
        </p:txBody>
      </p:sp>
      <p:sp>
        <p:nvSpPr>
          <p:cNvPr id="60" name="dot-244"/>
          <p:cNvSpPr/>
          <p:nvPr/>
        </p:nvSpPr>
        <p:spPr>
          <a:xfrm>
            <a:off x="4069080" y="2770632"/>
            <a:ext cx="274320" cy="274320"/>
          </a:xfrm>
          <a:prstGeom prst="ellipse">
            <a:avLst/>
          </a:prstGeom>
          <a:solidFill>
            <a:srgbClr val="65172F"/>
          </a:solidFill>
          <a:ln w="12700">
            <a:solidFill>
              <a:srgbClr val="65172F"/>
            </a:solidFill>
            <a:prstDash val="solid"/>
          </a:ln>
        </p:spPr>
      </p:sp>
      <p:sp>
        <p:nvSpPr>
          <p:cNvPr id="61" name="text-245"/>
          <p:cNvSpPr txBox="1"/>
          <p:nvPr/>
        </p:nvSpPr>
        <p:spPr>
          <a:xfrm>
            <a:off x="4069080" y="277063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rPr>
              <a:t>10</a:t>
            </a:r>
            <a:endParaRPr lang="en-US" sz="1000" dirty="0"/>
          </a:p>
        </p:txBody>
      </p:sp>
      <p:sp>
        <p:nvSpPr>
          <p:cNvPr id="62" name="dot-246"/>
          <p:cNvSpPr/>
          <p:nvPr/>
        </p:nvSpPr>
        <p:spPr>
          <a:xfrm>
            <a:off x="4800600" y="2770632"/>
            <a:ext cx="274320" cy="274320"/>
          </a:xfrm>
          <a:prstGeom prst="ellipse">
            <a:avLst/>
          </a:prstGeom>
          <a:solidFill>
            <a:srgbClr val="65172F"/>
          </a:solidFill>
          <a:ln w="12700">
            <a:solidFill>
              <a:srgbClr val="65172F"/>
            </a:solidFill>
            <a:prstDash val="solid"/>
          </a:ln>
        </p:spPr>
      </p:sp>
      <p:sp>
        <p:nvSpPr>
          <p:cNvPr id="63" name="text-247"/>
          <p:cNvSpPr txBox="1"/>
          <p:nvPr/>
        </p:nvSpPr>
        <p:spPr>
          <a:xfrm>
            <a:off x="4800600" y="277063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rPr>
              <a:t>12</a:t>
            </a:r>
            <a:endParaRPr lang="en-US" sz="1000" dirty="0"/>
          </a:p>
        </p:txBody>
      </p:sp>
      <p:sp>
        <p:nvSpPr>
          <p:cNvPr id="64" name="dot-248"/>
          <p:cNvSpPr/>
          <p:nvPr/>
        </p:nvSpPr>
        <p:spPr>
          <a:xfrm>
            <a:off x="1417320" y="3712464"/>
            <a:ext cx="274320" cy="274320"/>
          </a:xfrm>
          <a:prstGeom prst="ellipse">
            <a:avLst/>
          </a:prstGeom>
          <a:solidFill>
            <a:srgbClr val="65172F"/>
          </a:solidFill>
          <a:ln w="12700">
            <a:solidFill>
              <a:srgbClr val="65172F"/>
            </a:solidFill>
            <a:prstDash val="solid"/>
          </a:ln>
        </p:spPr>
      </p:sp>
      <p:sp>
        <p:nvSpPr>
          <p:cNvPr id="65" name="text-249"/>
          <p:cNvSpPr txBox="1"/>
          <p:nvPr/>
        </p:nvSpPr>
        <p:spPr>
          <a:xfrm>
            <a:off x="1417320" y="371246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66" name="dot-250"/>
          <p:cNvSpPr/>
          <p:nvPr/>
        </p:nvSpPr>
        <p:spPr>
          <a:xfrm>
            <a:off x="4069080" y="3712464"/>
            <a:ext cx="274320" cy="274320"/>
          </a:xfrm>
          <a:prstGeom prst="ellipse">
            <a:avLst/>
          </a:prstGeom>
          <a:solidFill>
            <a:srgbClr val="65172F"/>
          </a:solidFill>
          <a:ln w="12700">
            <a:solidFill>
              <a:srgbClr val="65172F"/>
            </a:solidFill>
            <a:prstDash val="solid"/>
          </a:ln>
        </p:spPr>
      </p:sp>
      <p:sp>
        <p:nvSpPr>
          <p:cNvPr id="67" name="text-251"/>
          <p:cNvSpPr txBox="1"/>
          <p:nvPr/>
        </p:nvSpPr>
        <p:spPr>
          <a:xfrm>
            <a:off x="4069080" y="371246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rPr>
              <a:t>9</a:t>
            </a:r>
            <a:endParaRPr lang="en-US" sz="1000" dirty="0"/>
          </a:p>
        </p:txBody>
      </p:sp>
      <p:sp>
        <p:nvSpPr>
          <p:cNvPr id="68" name="dot-252"/>
          <p:cNvSpPr/>
          <p:nvPr/>
        </p:nvSpPr>
        <p:spPr>
          <a:xfrm>
            <a:off x="3017520" y="3730752"/>
            <a:ext cx="274320" cy="274320"/>
          </a:xfrm>
          <a:prstGeom prst="ellipse">
            <a:avLst/>
          </a:prstGeom>
          <a:solidFill>
            <a:srgbClr val="65172F"/>
          </a:solidFill>
          <a:ln w="12700">
            <a:solidFill>
              <a:srgbClr val="65172F"/>
            </a:solidFill>
            <a:prstDash val="solid"/>
          </a:ln>
        </p:spPr>
      </p:sp>
      <p:sp>
        <p:nvSpPr>
          <p:cNvPr id="69" name="text-253"/>
          <p:cNvSpPr txBox="1"/>
          <p:nvPr/>
        </p:nvSpPr>
        <p:spPr>
          <a:xfrm>
            <a:off x="3017520" y="373075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rPr>
              <a:t>11</a:t>
            </a:r>
            <a:endParaRPr lang="en-US" sz="1000" dirty="0"/>
          </a:p>
        </p:txBody>
      </p:sp>
      <p:sp>
        <p:nvSpPr>
          <p:cNvPr id="70" name="text-254"/>
          <p:cNvSpPr txBox="1"/>
          <p:nvPr/>
        </p:nvSpPr>
        <p:spPr>
          <a:xfrm>
            <a:off x="640080" y="4709160"/>
            <a:ext cx="2487168" cy="237744"/>
          </a:xfrm>
          <a:prstGeom prst="rect">
            <a:avLst/>
          </a:prstGeom>
          <a:noFill/>
          <a:ln/>
        </p:spPr>
        <p:txBody>
          <a:bodyPr wrap="square" lIns="0" tIns="0" rIns="0" bIns="0" rtlCol="0" anchor="t"/>
          <a:lstStyle/>
          <a:p>
            <a:pPr indent="0" marL="0">
              <a:buNone/>
            </a:pPr>
            <a:r>
              <a:rPr lang="en-US" sz="1050" b="1" dirty="0">
                <a:solidFill>
                  <a:srgbClr val="65172F"/>
                </a:solidFill>
              </a:rPr>
              <a:t>1  </a:t>
            </a:r>
            <a:pPr indent="0" marL="0">
              <a:buNone/>
            </a:pPr>
            <a:r>
              <a:rPr lang="en-US" sz="1050" dirty="0">
                <a:solidFill>
                  <a:srgbClr val="171717"/>
                </a:solidFill>
              </a:rPr>
              <a:t>Dust / faded packs</a:t>
            </a:r>
            <a:endParaRPr lang="en-US" sz="1050" dirty="0"/>
          </a:p>
        </p:txBody>
      </p:sp>
      <p:sp>
        <p:nvSpPr>
          <p:cNvPr id="71" name="text-255"/>
          <p:cNvSpPr txBox="1"/>
          <p:nvPr/>
        </p:nvSpPr>
        <p:spPr>
          <a:xfrm>
            <a:off x="640080" y="4956048"/>
            <a:ext cx="2487168" cy="237744"/>
          </a:xfrm>
          <a:prstGeom prst="rect">
            <a:avLst/>
          </a:prstGeom>
          <a:noFill/>
          <a:ln/>
        </p:spPr>
        <p:txBody>
          <a:bodyPr wrap="square" lIns="0" tIns="0" rIns="0" bIns="0" rtlCol="0" anchor="t"/>
          <a:lstStyle/>
          <a:p>
            <a:pPr indent="0" marL="0">
              <a:buNone/>
            </a:pPr>
            <a:r>
              <a:rPr lang="en-US" sz="1050" b="1" dirty="0">
                <a:solidFill>
                  <a:srgbClr val="65172F"/>
                </a:solidFill>
              </a:rPr>
              <a:t>2  </a:t>
            </a:r>
            <a:pPr indent="0" marL="0">
              <a:buNone/>
            </a:pPr>
            <a:r>
              <a:rPr lang="en-US" sz="1050" dirty="0">
                <a:solidFill>
                  <a:srgbClr val="171717"/>
                </a:solidFill>
              </a:rPr>
              <a:t>Unopened outer cartons</a:t>
            </a:r>
            <a:endParaRPr lang="en-US" sz="1050" dirty="0"/>
          </a:p>
        </p:txBody>
      </p:sp>
      <p:sp>
        <p:nvSpPr>
          <p:cNvPr id="72" name="text-256"/>
          <p:cNvSpPr txBox="1"/>
          <p:nvPr/>
        </p:nvSpPr>
        <p:spPr>
          <a:xfrm>
            <a:off x="640080" y="5202936"/>
            <a:ext cx="2487168" cy="237744"/>
          </a:xfrm>
          <a:prstGeom prst="rect">
            <a:avLst/>
          </a:prstGeom>
          <a:noFill/>
          <a:ln/>
        </p:spPr>
        <p:txBody>
          <a:bodyPr wrap="square" lIns="0" tIns="0" rIns="0" bIns="0" rtlCol="0" anchor="t"/>
          <a:lstStyle/>
          <a:p>
            <a:pPr indent="0" marL="0">
              <a:buNone/>
            </a:pPr>
            <a:r>
              <a:rPr lang="en-US" sz="1050" b="1" dirty="0">
                <a:solidFill>
                  <a:srgbClr val="65172F"/>
                </a:solidFill>
              </a:rPr>
              <a:t>3  </a:t>
            </a:r>
            <a:pPr indent="0" marL="0">
              <a:buNone/>
            </a:pPr>
            <a:r>
              <a:rPr lang="en-US" sz="1050" dirty="0">
                <a:solidFill>
                  <a:srgbClr val="171717"/>
                </a:solidFill>
              </a:rPr>
              <a:t>Same count as last visit</a:t>
            </a:r>
            <a:endParaRPr lang="en-US" sz="1050" dirty="0"/>
          </a:p>
        </p:txBody>
      </p:sp>
      <p:sp>
        <p:nvSpPr>
          <p:cNvPr id="73" name="text-257"/>
          <p:cNvSpPr txBox="1"/>
          <p:nvPr/>
        </p:nvSpPr>
        <p:spPr>
          <a:xfrm>
            <a:off x="640080" y="5449824"/>
            <a:ext cx="2487168" cy="237744"/>
          </a:xfrm>
          <a:prstGeom prst="rect">
            <a:avLst/>
          </a:prstGeom>
          <a:noFill/>
          <a:ln/>
        </p:spPr>
        <p:txBody>
          <a:bodyPr wrap="square" lIns="0" tIns="0" rIns="0" bIns="0" rtlCol="0" anchor="t"/>
          <a:lstStyle/>
          <a:p>
            <a:pPr indent="0" marL="0">
              <a:buNone/>
            </a:pPr>
            <a:r>
              <a:rPr lang="en-US" sz="1050" b="1" dirty="0">
                <a:solidFill>
                  <a:srgbClr val="65172F"/>
                </a:solidFill>
              </a:rPr>
              <a:t>4  </a:t>
            </a:r>
            <a:pPr indent="0" marL="0">
              <a:buNone/>
            </a:pPr>
            <a:r>
              <a:rPr lang="en-US" sz="1050" dirty="0">
                <a:solidFill>
                  <a:srgbClr val="171717"/>
                </a:solidFill>
              </a:rPr>
              <a:t>Old batch hidden at back</a:t>
            </a:r>
            <a:endParaRPr lang="en-US" sz="1050" dirty="0"/>
          </a:p>
        </p:txBody>
      </p:sp>
      <p:sp>
        <p:nvSpPr>
          <p:cNvPr id="74" name="text-258"/>
          <p:cNvSpPr txBox="1"/>
          <p:nvPr/>
        </p:nvSpPr>
        <p:spPr>
          <a:xfrm>
            <a:off x="640080" y="5696712"/>
            <a:ext cx="2487168" cy="237744"/>
          </a:xfrm>
          <a:prstGeom prst="rect">
            <a:avLst/>
          </a:prstGeom>
          <a:noFill/>
          <a:ln/>
        </p:spPr>
        <p:txBody>
          <a:bodyPr wrap="square" lIns="0" tIns="0" rIns="0" bIns="0" rtlCol="0" anchor="t"/>
          <a:lstStyle/>
          <a:p>
            <a:pPr indent="0" marL="0">
              <a:buNone/>
            </a:pPr>
            <a:r>
              <a:rPr lang="en-US" sz="1050" b="1" dirty="0">
                <a:solidFill>
                  <a:srgbClr val="65172F"/>
                </a:solidFill>
              </a:rPr>
              <a:t>5  </a:t>
            </a:r>
            <a:pPr indent="0" marL="0">
              <a:buNone/>
            </a:pPr>
            <a:r>
              <a:rPr lang="en-US" sz="1050" dirty="0">
                <a:solidFill>
                  <a:srgbClr val="171717"/>
                </a:solidFill>
              </a:rPr>
              <a:t>Old MRP / old pack design</a:t>
            </a:r>
            <a:endParaRPr lang="en-US" sz="1050" dirty="0"/>
          </a:p>
        </p:txBody>
      </p:sp>
      <p:sp>
        <p:nvSpPr>
          <p:cNvPr id="75" name="text-259"/>
          <p:cNvSpPr txBox="1"/>
          <p:nvPr/>
        </p:nvSpPr>
        <p:spPr>
          <a:xfrm>
            <a:off x="640080" y="5943600"/>
            <a:ext cx="2487168" cy="237744"/>
          </a:xfrm>
          <a:prstGeom prst="rect">
            <a:avLst/>
          </a:prstGeom>
          <a:noFill/>
          <a:ln/>
        </p:spPr>
        <p:txBody>
          <a:bodyPr wrap="square" lIns="0" tIns="0" rIns="0" bIns="0" rtlCol="0" anchor="t"/>
          <a:lstStyle/>
          <a:p>
            <a:pPr indent="0" marL="0">
              <a:buNone/>
            </a:pPr>
            <a:r>
              <a:rPr lang="en-US" sz="1050" b="1" dirty="0">
                <a:solidFill>
                  <a:srgbClr val="65172F"/>
                </a:solidFill>
              </a:rPr>
              <a:t>6  </a:t>
            </a:r>
            <a:pPr indent="0" marL="0">
              <a:buNone/>
            </a:pPr>
            <a:r>
              <a:rPr lang="en-US" sz="1050" dirty="0">
                <a:solidFill>
                  <a:srgbClr val="171717"/>
                </a:solidFill>
              </a:rPr>
              <a:t>Behind the counter / off-shelf</a:t>
            </a:r>
            <a:endParaRPr lang="en-US" sz="1050" dirty="0"/>
          </a:p>
        </p:txBody>
      </p:sp>
      <p:sp>
        <p:nvSpPr>
          <p:cNvPr id="76" name="text-260"/>
          <p:cNvSpPr txBox="1"/>
          <p:nvPr/>
        </p:nvSpPr>
        <p:spPr>
          <a:xfrm>
            <a:off x="3127248" y="4709160"/>
            <a:ext cx="2487168" cy="237744"/>
          </a:xfrm>
          <a:prstGeom prst="rect">
            <a:avLst/>
          </a:prstGeom>
          <a:noFill/>
          <a:ln/>
        </p:spPr>
        <p:txBody>
          <a:bodyPr wrap="square" lIns="0" tIns="0" rIns="0" bIns="0" rtlCol="0" anchor="t"/>
          <a:lstStyle/>
          <a:p>
            <a:pPr indent="0" marL="0">
              <a:buNone/>
            </a:pPr>
            <a:r>
              <a:rPr lang="en-US" sz="1050" b="1" dirty="0">
                <a:solidFill>
                  <a:srgbClr val="65172F"/>
                </a:solidFill>
              </a:rPr>
              <a:t>7  </a:t>
            </a:r>
            <a:pPr indent="0" marL="0">
              <a:buNone/>
            </a:pPr>
            <a:r>
              <a:rPr lang="en-US" sz="1050" dirty="0">
                <a:solidFill>
                  <a:srgbClr val="171717"/>
                </a:solidFill>
              </a:rPr>
              <a:t>No or damaged tester</a:t>
            </a:r>
            <a:endParaRPr lang="en-US" sz="1050" dirty="0"/>
          </a:p>
        </p:txBody>
      </p:sp>
      <p:sp>
        <p:nvSpPr>
          <p:cNvPr id="77" name="text-261"/>
          <p:cNvSpPr txBox="1"/>
          <p:nvPr/>
        </p:nvSpPr>
        <p:spPr>
          <a:xfrm>
            <a:off x="3127248" y="4956048"/>
            <a:ext cx="2487168" cy="237744"/>
          </a:xfrm>
          <a:prstGeom prst="rect">
            <a:avLst/>
          </a:prstGeom>
          <a:noFill/>
          <a:ln/>
        </p:spPr>
        <p:txBody>
          <a:bodyPr wrap="square" lIns="0" tIns="0" rIns="0" bIns="0" rtlCol="0" anchor="t"/>
          <a:lstStyle/>
          <a:p>
            <a:pPr indent="0" marL="0">
              <a:buNone/>
            </a:pPr>
            <a:r>
              <a:rPr lang="en-US" sz="1050" b="1" dirty="0">
                <a:solidFill>
                  <a:srgbClr val="65172F"/>
                </a:solidFill>
              </a:rPr>
              <a:t>8  </a:t>
            </a:r>
            <a:pPr indent="0" marL="0">
              <a:buNone/>
            </a:pPr>
            <a:r>
              <a:rPr lang="en-US" sz="1050" dirty="0">
                <a:solidFill>
                  <a:srgbClr val="171717"/>
                </a:solidFill>
              </a:rPr>
              <a:t>"Customers don't ask for it"</a:t>
            </a:r>
            <a:endParaRPr lang="en-US" sz="1050" dirty="0"/>
          </a:p>
        </p:txBody>
      </p:sp>
      <p:sp>
        <p:nvSpPr>
          <p:cNvPr id="78" name="text-262"/>
          <p:cNvSpPr txBox="1"/>
          <p:nvPr/>
        </p:nvSpPr>
        <p:spPr>
          <a:xfrm>
            <a:off x="3127248" y="5202936"/>
            <a:ext cx="2487168" cy="237744"/>
          </a:xfrm>
          <a:prstGeom prst="rect">
            <a:avLst/>
          </a:prstGeom>
          <a:noFill/>
          <a:ln/>
        </p:spPr>
        <p:txBody>
          <a:bodyPr wrap="square" lIns="0" tIns="0" rIns="0" bIns="0" rtlCol="0" anchor="t"/>
          <a:lstStyle/>
          <a:p>
            <a:pPr indent="0" marL="0">
              <a:buNone/>
            </a:pPr>
            <a:r>
              <a:rPr lang="en-US" sz="1050" b="1" dirty="0">
                <a:solidFill>
                  <a:srgbClr val="65172F"/>
                </a:solidFill>
              </a:rPr>
              <a:t>9  </a:t>
            </a:r>
            <a:pPr indent="0" marL="0">
              <a:buNone/>
            </a:pPr>
            <a:r>
              <a:rPr lang="en-US" sz="1050" dirty="0">
                <a:solidFill>
                  <a:srgbClr val="171717"/>
                </a:solidFill>
              </a:rPr>
              <a:t>Retailer wants to return</a:t>
            </a:r>
            <a:endParaRPr lang="en-US" sz="1050" dirty="0"/>
          </a:p>
        </p:txBody>
      </p:sp>
      <p:sp>
        <p:nvSpPr>
          <p:cNvPr id="79" name="text-263"/>
          <p:cNvSpPr txBox="1"/>
          <p:nvPr/>
        </p:nvSpPr>
        <p:spPr>
          <a:xfrm>
            <a:off x="3127248" y="5449824"/>
            <a:ext cx="2487168" cy="237744"/>
          </a:xfrm>
          <a:prstGeom prst="rect">
            <a:avLst/>
          </a:prstGeom>
          <a:noFill/>
          <a:ln/>
        </p:spPr>
        <p:txBody>
          <a:bodyPr wrap="square" lIns="0" tIns="0" rIns="0" bIns="0" rtlCol="0" anchor="t"/>
          <a:lstStyle/>
          <a:p>
            <a:pPr indent="0" marL="0">
              <a:buNone/>
            </a:pPr>
            <a:r>
              <a:rPr lang="en-US" sz="1050" b="1" dirty="0">
                <a:solidFill>
                  <a:srgbClr val="65172F"/>
                </a:solidFill>
              </a:rPr>
              <a:t>10  </a:t>
            </a:r>
            <a:pPr indent="0" marL="0">
              <a:buNone/>
            </a:pPr>
            <a:r>
              <a:rPr lang="en-US" sz="1050" dirty="0">
                <a:solidFill>
                  <a:srgbClr val="171717"/>
                </a:solidFill>
              </a:rPr>
              <a:t>Dented, leaking, heat-damaged</a:t>
            </a:r>
            <a:endParaRPr lang="en-US" sz="1050" dirty="0"/>
          </a:p>
        </p:txBody>
      </p:sp>
      <p:sp>
        <p:nvSpPr>
          <p:cNvPr id="80" name="text-264"/>
          <p:cNvSpPr txBox="1"/>
          <p:nvPr/>
        </p:nvSpPr>
        <p:spPr>
          <a:xfrm>
            <a:off x="3127248" y="5696712"/>
            <a:ext cx="2487168" cy="237744"/>
          </a:xfrm>
          <a:prstGeom prst="rect">
            <a:avLst/>
          </a:prstGeom>
          <a:noFill/>
          <a:ln/>
        </p:spPr>
        <p:txBody>
          <a:bodyPr wrap="square" lIns="0" tIns="0" rIns="0" bIns="0" rtlCol="0" anchor="t"/>
          <a:lstStyle/>
          <a:p>
            <a:pPr indent="0" marL="0">
              <a:buNone/>
            </a:pPr>
            <a:r>
              <a:rPr lang="en-US" sz="1050" b="1" dirty="0">
                <a:solidFill>
                  <a:srgbClr val="65172F"/>
                </a:solidFill>
              </a:rPr>
              <a:t>11  </a:t>
            </a:r>
            <a:pPr indent="0" marL="0">
              <a:buNone/>
            </a:pPr>
            <a:r>
              <a:rPr lang="en-US" sz="1050" dirty="0">
                <a:solidFill>
                  <a:srgbClr val="171717"/>
                </a:solidFill>
              </a:rPr>
              <a:t>Competitor running a heavy scheme</a:t>
            </a:r>
            <a:endParaRPr lang="en-US" sz="1050" dirty="0"/>
          </a:p>
        </p:txBody>
      </p:sp>
      <p:sp>
        <p:nvSpPr>
          <p:cNvPr id="81" name="text-265"/>
          <p:cNvSpPr txBox="1"/>
          <p:nvPr/>
        </p:nvSpPr>
        <p:spPr>
          <a:xfrm>
            <a:off x="3127248" y="5943600"/>
            <a:ext cx="2487168" cy="237744"/>
          </a:xfrm>
          <a:prstGeom prst="rect">
            <a:avLst/>
          </a:prstGeom>
          <a:noFill/>
          <a:ln/>
        </p:spPr>
        <p:txBody>
          <a:bodyPr wrap="square" lIns="0" tIns="0" rIns="0" bIns="0" rtlCol="0" anchor="t"/>
          <a:lstStyle/>
          <a:p>
            <a:pPr indent="0" marL="0">
              <a:buNone/>
            </a:pPr>
            <a:r>
              <a:rPr lang="en-US" sz="1050" b="1" dirty="0">
                <a:solidFill>
                  <a:srgbClr val="65172F"/>
                </a:solidFill>
              </a:rPr>
              <a:t>12  </a:t>
            </a:r>
            <a:pPr indent="0" marL="0">
              <a:buNone/>
            </a:pPr>
            <a:r>
              <a:rPr lang="en-US" sz="1050" dirty="0">
                <a:solidFill>
                  <a:srgbClr val="171717"/>
                </a:solidFill>
              </a:rPr>
              <a:t>Shoppers buy it on quick commerce</a:t>
            </a:r>
            <a:endParaRPr lang="en-US" sz="1050" dirty="0"/>
          </a:p>
        </p:txBody>
      </p:sp>
      <p:graphicFrame>
        <p:nvGraphicFramePr>
          <p:cNvPr id="8" name="table-266"/>
          <p:cNvGraphicFramePr>
            <a:graphicFrameLocks noGrp="1"/>
          </p:cNvGraphicFramePr>
          <p:nvPr>
            <p:extLst>
              <p:ext uri="{D42A27DB-BD31-4B8C-83A1-F6EECF244321}">
                <p14:modId xmlns:p14="http://schemas.microsoft.com/office/powerpoint/2010/main" val="1579011935"/>
              </p:ext>
            </p:extLst>
          </p:nvPr>
        </p:nvGraphicFramePr>
        <p:xfrm>
          <a:off x="5760720" y="1810512"/>
          <a:ext cx="5788152" cy="914400"/>
        </p:xfrm>
        <a:graphic>
          <a:graphicData uri="http://schemas.openxmlformats.org/drawingml/2006/table">
            <a:tbl>
              <a:tblPr/>
              <a:tblGrid>
                <a:gridCol w="2286000"/>
                <a:gridCol w="502920"/>
                <a:gridCol w="896112"/>
                <a:gridCol w="530352"/>
                <a:gridCol w="612648"/>
                <a:gridCol w="960120"/>
              </a:tblGrid>
              <a:tr h="420624">
                <a:tc>
                  <a:txBody>
                    <a:bodyPr/>
                    <a:lstStyle/>
                    <a:p>
                      <a:pPr algn="l" indent="0" marL="0">
                        <a:buNone/>
                      </a:pPr>
                      <a:r>
                        <a:rPr lang="en-US" sz="1050" b="1" dirty="0">
                          <a:solidFill>
                            <a:srgbClr val="FFFFFF"/>
                          </a:solidFill>
                        </a:rPr>
                        <a:t>Flag / action</a:t>
                      </a: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171717"/>
                    </a:solidFill>
                  </a:tcPr>
                </a:tc>
                <a:tc>
                  <a:txBody>
                    <a:bodyPr/>
                    <a:lstStyle/>
                    <a:p>
                      <a:pPr algn="ctr" indent="0" marL="0">
                        <a:buNone/>
                      </a:pPr>
                      <a:r>
                        <a:rPr lang="en-US" sz="1050" b="1" dirty="0">
                          <a:solidFill>
                            <a:srgbClr val="FFFFFF"/>
                          </a:solidFill>
                        </a:rPr>
                        <a:t>Rep</a:t>
                      </a: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171717"/>
                    </a:solidFill>
                  </a:tcPr>
                </a:tc>
                <a:tc>
                  <a:txBody>
                    <a:bodyPr/>
                    <a:lstStyle/>
                    <a:p>
                      <a:pPr algn="ctr" indent="0" marL="0">
                        <a:buNone/>
                      </a:pPr>
                      <a:r>
                        <a:rPr lang="en-US" sz="1050" b="1" dirty="0">
                          <a:solidFill>
                            <a:srgbClr val="FFFFFF"/>
                          </a:solidFill>
                        </a:rPr>
                        <a:t>Distributor</a:t>
                      </a: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171717"/>
                    </a:solidFill>
                  </a:tcPr>
                </a:tc>
                <a:tc>
                  <a:txBody>
                    <a:bodyPr/>
                    <a:lstStyle/>
                    <a:p>
                      <a:pPr algn="ctr" indent="0" marL="0">
                        <a:buNone/>
                      </a:pPr>
                      <a:r>
                        <a:rPr lang="en-US" sz="1050" b="1" dirty="0">
                          <a:solidFill>
                            <a:srgbClr val="FFFFFF"/>
                          </a:solidFill>
                        </a:rPr>
                        <a:t>ASM</a:t>
                      </a: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171717"/>
                    </a:solidFill>
                  </a:tcPr>
                </a:tc>
                <a:tc>
                  <a:txBody>
                    <a:bodyPr/>
                    <a:lstStyle/>
                    <a:p>
                      <a:pPr algn="ctr" indent="0" marL="0">
                        <a:buNone/>
                      </a:pPr>
                      <a:r>
                        <a:rPr lang="en-US" sz="1050" b="1" dirty="0">
                          <a:solidFill>
                            <a:srgbClr val="FFFFFF"/>
                          </a:solidFill>
                        </a:rPr>
                        <a:t>Brand</a:t>
                      </a: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171717"/>
                    </a:solidFill>
                  </a:tcPr>
                </a:tc>
                <a:tc>
                  <a:txBody>
                    <a:bodyPr/>
                    <a:lstStyle/>
                    <a:p>
                      <a:pPr algn="ctr" indent="0" marL="0">
                        <a:buNone/>
                      </a:pPr>
                      <a:r>
                        <a:rPr lang="en-US" sz="1050" b="1" dirty="0">
                          <a:solidFill>
                            <a:srgbClr val="FFFFFF"/>
                          </a:solidFill>
                        </a:rPr>
                        <a:t>Q-comm KAM</a:t>
                      </a: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171717"/>
                    </a:solidFill>
                  </a:tcPr>
                </a:tc>
              </a:tr>
              <a:tr h="420624">
                <a:tc>
                  <a:txBody>
                    <a:bodyPr/>
                    <a:lstStyle/>
                    <a:p>
                      <a:pPr algn="l" indent="0" marL="0">
                        <a:buNone/>
                      </a:pPr>
                      <a:r>
                        <a:rPr lang="en-US" sz="1050" dirty="0">
                          <a:solidFill>
                            <a:srgbClr val="171717"/>
                          </a:solidFill>
                        </a:rPr>
                        <a:t>Rotate shelf, eye level, pause this SKU's re-order, verify count</a:t>
                      </a: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65172F"/>
                          </a:solidFill>
                        </a:rPr>
                        <a:t>●</a:t>
                      </a: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420624">
                <a:tc>
                  <a:txBody>
                    <a:bodyPr/>
                    <a:lstStyle/>
                    <a:p>
                      <a:pPr algn="l" indent="0" marL="0">
                        <a:buNone/>
                      </a:pPr>
                      <a:r>
                        <a:rPr lang="en-US" sz="1050" dirty="0">
                          <a:solidFill>
                            <a:srgbClr val="171717"/>
                          </a:solidFill>
                        </a:rPr>
                        <a:t>Transfer between outlets</a:t>
                      </a: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6E665E"/>
                          </a:solidFill>
                        </a:rPr>
                        <a:t>○</a:t>
                      </a: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65172F"/>
                          </a:solidFill>
                        </a:rPr>
                        <a:t>●</a:t>
                      </a: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65172F"/>
                          </a:solidFill>
                        </a:rPr>
                        <a:t>●</a:t>
                      </a: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420624">
                <a:tc>
                  <a:txBody>
                    <a:bodyPr/>
                    <a:lstStyle/>
                    <a:p>
                      <a:pPr algn="l" indent="0" marL="0">
                        <a:buNone/>
                      </a:pPr>
                      <a:r>
                        <a:rPr lang="en-US" sz="1050" dirty="0">
                          <a:solidFill>
                            <a:srgbClr val="171717"/>
                          </a:solidFill>
                        </a:rPr>
                        <a:t>Sampling, schemes, end-of-life (budget)</a:t>
                      </a: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6E665E"/>
                          </a:solidFill>
                        </a:rPr>
                        <a:t>○</a:t>
                      </a: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65172F"/>
                          </a:solidFill>
                        </a:rPr>
                        <a:t>●</a:t>
                      </a: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6E665E"/>
                          </a:solidFill>
                        </a:rPr>
                        <a:t>○</a:t>
                      </a: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420624">
                <a:tc>
                  <a:txBody>
                    <a:bodyPr/>
                    <a:lstStyle/>
                    <a:p>
                      <a:pPr algn="l" indent="0" marL="0">
                        <a:buNone/>
                      </a:pPr>
                      <a:r>
                        <a:rPr lang="en-US" sz="1050" dirty="0">
                          <a:solidFill>
                            <a:srgbClr val="171717"/>
                          </a:solidFill>
                        </a:rPr>
                        <a:t>Godown FEFO and monthly ageing review</a:t>
                      </a: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65172F"/>
                          </a:solidFill>
                        </a:rPr>
                        <a:t>●</a:t>
                      </a: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6E665E"/>
                          </a:solidFill>
                        </a:rPr>
                        <a:t>○</a:t>
                      </a: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420624">
                <a:tc>
                  <a:txBody>
                    <a:bodyPr/>
                    <a:lstStyle/>
                    <a:p>
                      <a:pPr algn="l" indent="0" marL="0">
                        <a:buNone/>
                      </a:pPr>
                      <a:r>
                        <a:rPr lang="en-US" sz="1050" dirty="0">
                          <a:solidFill>
                            <a:srgbClr val="171717"/>
                          </a:solidFill>
                        </a:rPr>
                        <a:t>Same SKU slow in 3+ outlets: range or shade issue</a:t>
                      </a: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6E665E"/>
                          </a:solidFill>
                        </a:rPr>
                        <a:t>○</a:t>
                      </a: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65172F"/>
                          </a:solidFill>
                        </a:rPr>
                        <a:t>●</a:t>
                      </a: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420624">
                <a:tc>
                  <a:txBody>
                    <a:bodyPr/>
                    <a:lstStyle/>
                    <a:p>
                      <a:pPr algn="l" indent="0" marL="0">
                        <a:buNone/>
                      </a:pPr>
                      <a:r>
                        <a:rPr lang="en-US" sz="1050" dirty="0">
                          <a:solidFill>
                            <a:srgbClr val="171717"/>
                          </a:solidFill>
                        </a:rPr>
                        <a:t>Demand moving to quick commerce</a:t>
                      </a: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6E665E"/>
                          </a:solidFill>
                        </a:rPr>
                        <a:t>○</a:t>
                      </a: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65172F"/>
                          </a:solidFill>
                        </a:rPr>
                        <a:t>●</a:t>
                      </a: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bl>
          </a:graphicData>
        </a:graphic>
      </p:graphicFrame>
      <p:sp>
        <p:nvSpPr>
          <p:cNvPr id="83" name="text-267"/>
          <p:cNvSpPr txBox="1"/>
          <p:nvPr/>
        </p:nvSpPr>
        <p:spPr>
          <a:xfrm>
            <a:off x="5760720" y="5230368"/>
            <a:ext cx="5760720" cy="256032"/>
          </a:xfrm>
          <a:prstGeom prst="rect">
            <a:avLst/>
          </a:prstGeom>
          <a:noFill/>
          <a:ln/>
        </p:spPr>
        <p:txBody>
          <a:bodyPr wrap="square" lIns="0" tIns="0" rIns="0" bIns="0" rtlCol="0" anchor="t"/>
          <a:lstStyle/>
          <a:p>
            <a:pPr indent="0" marL="0">
              <a:buNone/>
            </a:pPr>
            <a:r>
              <a:rPr lang="en-US" sz="1100" b="1" dirty="0">
                <a:solidFill>
                  <a:srgbClr val="65172F"/>
                </a:solidFill>
              </a:rPr>
              <a:t>●</a:t>
            </a:r>
            <a:pPr indent="0" marL="0">
              <a:buNone/>
            </a:pPr>
            <a:r>
              <a:rPr lang="en-US" sz="1100" dirty="0">
                <a:solidFill>
                  <a:srgbClr val="6E665E"/>
                </a:solidFill>
              </a:rPr>
              <a:t> owns or approves     </a:t>
            </a:r>
            <a:pPr indent="0" marL="0">
              <a:buNone/>
            </a:pPr>
            <a:r>
              <a:rPr lang="en-US" sz="1100" b="1" dirty="0">
                <a:solidFill>
                  <a:srgbClr val="6E665E"/>
                </a:solidFill>
              </a:rPr>
              <a:t>○</a:t>
            </a:r>
            <a:pPr indent="0" marL="0">
              <a:buNone/>
            </a:pPr>
            <a:r>
              <a:rPr lang="en-US" sz="1100" dirty="0">
                <a:solidFill>
                  <a:srgbClr val="6E665E"/>
                </a:solidFill>
              </a:rPr>
              <a:t> proposes or is informed</a:t>
            </a:r>
            <a:endParaRPr lang="en-US" sz="1100" dirty="0"/>
          </a:p>
        </p:txBody>
      </p:sp>
      <p:sp>
        <p:nvSpPr>
          <p:cNvPr id="84" name="text-268"/>
          <p:cNvSpPr txBox="1"/>
          <p:nvPr/>
        </p:nvSpPr>
        <p:spPr>
          <a:xfrm>
            <a:off x="5760720" y="5532120"/>
            <a:ext cx="5760720" cy="457200"/>
          </a:xfrm>
          <a:prstGeom prst="rect">
            <a:avLst/>
          </a:prstGeom>
          <a:noFill/>
          <a:ln/>
        </p:spPr>
        <p:txBody>
          <a:bodyPr wrap="square" lIns="0" tIns="0" rIns="0" bIns="0" rtlCol="0" anchor="t"/>
          <a:lstStyle/>
          <a:p>
            <a:pPr indent="0" marL="0">
              <a:buNone/>
            </a:pPr>
            <a:r>
              <a:rPr lang="en-US" sz="1200" dirty="0">
                <a:solidFill>
                  <a:srgbClr val="171717"/>
                </a:solidFill>
              </a:rPr>
              <a:t>Transfers above ₹10,000, any scheme, sampling budget and end-of-life need ASM approval.</a:t>
            </a:r>
            <a:endParaRPr lang="en-US" sz="1200" dirty="0"/>
          </a:p>
        </p:txBody>
      </p:sp>
      <p:sp>
        <p:nvSpPr>
          <p:cNvPr id="25" name="Slide Number Placeholder 0"/>
          <p:cNvSpPr>
            <a:spLocks noGrp="1"/>
          </p:cNvSpPr>
          <p:nvPr>
            <p:ph type="sldNum" sz="quarter" idx="4294967295"/>
          </p:nvPr>
        </p:nvSpPr>
        <p:spPr>
          <a:xfrm>
            <a:off x="11091672"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665E"/>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body" hasCustomPrompt="1"/>
          </p:nvPr>
        </p:nvSpPr>
        <p:spPr>
          <a:xfrm>
            <a:off x="640080" y="457200"/>
            <a:ext cx="8686800" cy="237744"/>
          </a:xfrm>
          <a:prstGeom prst="rect">
            <a:avLst/>
          </a:prstGeom>
          <a:noFill/>
          <a:ln/>
        </p:spPr>
        <p:txBody>
          <a:bodyPr wrap="square" lIns="0" tIns="0" rIns="0" bIns="0" rtlCol="0" anchor="t"/>
          <a:lstStyle/>
          <a:p>
            <a:pPr indent="0" marL="0">
              <a:buNone/>
            </a:pPr>
            <a:r>
              <a:rPr lang="en-US" sz="1100" b="1" spc="200" kern="0" dirty="0">
                <a:solidFill>
                  <a:srgbClr val="65172F"/>
                </a:solidFill>
              </a:rPr>
              <a:t>INVENTORY RISK ENGINE</a:t>
            </a:r>
            <a:endParaRPr lang="en-US" sz="1100" dirty="0"/>
          </a:p>
        </p:txBody>
      </p:sp>
      <p:sp>
        <p:nvSpPr>
          <p:cNvPr id="3" name="Text 0"/>
          <p:cNvSpPr/>
          <p:nvPr>
            <p:ph idx="102" type="title" hasCustomPrompt="1"/>
          </p:nvPr>
        </p:nvSpPr>
        <p:spPr>
          <a:xfrm>
            <a:off x="640080" y="749808"/>
            <a:ext cx="9418320" cy="1005840"/>
          </a:xfrm>
          <a:prstGeom prst="rect">
            <a:avLst/>
          </a:prstGeom>
          <a:noFill/>
          <a:ln/>
        </p:spPr>
        <p:txBody>
          <a:bodyPr wrap="square" lIns="0" tIns="0" rIns="0" bIns="0" rtlCol="0" anchor="t"/>
          <a:lstStyle/>
          <a:p>
            <a:pPr algn="l" indent="0" marL="0">
              <a:lnSpc>
                <a:spcPct val="95000"/>
              </a:lnSpc>
              <a:buNone/>
            </a:pPr>
            <a:r>
              <a:rPr lang="en-US" sz="3000" b="1" dirty="0">
                <a:solidFill>
                  <a:srgbClr val="171717"/>
                </a:solidFill>
                <a:latin typeface="Aptos Display" pitchFamily="34" charset="0"/>
                <a:ea typeface="Aptos Display" pitchFamily="34" charset="-122"/>
                <a:cs typeface="Aptos Display" pitchFamily="34" charset="-120"/>
              </a:rPr>
              <a:t>Rupees at risk and days to act, not a black-box score</a:t>
            </a:r>
            <a:endParaRPr lang="en-US" sz="3000" dirty="0"/>
          </a:p>
        </p:txBody>
      </p:sp>
      <p:sp>
        <p:nvSpPr>
          <p:cNvPr id="4" name="Text 0"/>
          <p:cNvSpPr/>
          <p:nvPr>
            <p:ph idx="103" type="body" hasCustomPrompt="1"/>
          </p:nvPr>
        </p:nvSpPr>
        <p:spPr>
          <a:xfrm>
            <a:off x="640080" y="6355080"/>
            <a:ext cx="9189720" cy="347472"/>
          </a:xfrm>
          <a:prstGeom prst="rect">
            <a:avLst/>
          </a:prstGeom>
          <a:noFill/>
          <a:ln/>
        </p:spPr>
        <p:txBody>
          <a:bodyPr wrap="square" lIns="0" tIns="0" rIns="0" bIns="0" rtlCol="0" anchor="t"/>
          <a:lstStyle/>
          <a:p>
            <a:pPr indent="0" marL="0">
              <a:buNone/>
            </a:pPr>
            <a:r>
              <a:rPr lang="en-US" sz="1000" dirty="0">
                <a:solidFill>
                  <a:srgbClr val="6E665E"/>
                </a:solidFill>
              </a:rPr>
              <a:t>Parameters are assumptions to calibrate in the pilot: 30-day sellable buffer at outlets, 120 days at distributors; 30-day cover norm; reorder at ≤14 days. Example uses synthetic data from the live prototype.</a:t>
            </a:r>
            <a:endParaRPr lang="en-US" sz="1000" dirty="0"/>
          </a:p>
        </p:txBody>
      </p:sp>
      <p:sp>
        <p:nvSpPr>
          <p:cNvPr id="6" name="text-269"/>
          <p:cNvSpPr txBox="1"/>
          <p:nvPr/>
        </p:nvSpPr>
        <p:spPr>
          <a:xfrm>
            <a:off x="640080" y="1810512"/>
            <a:ext cx="7406640" cy="274320"/>
          </a:xfrm>
          <a:prstGeom prst="rect">
            <a:avLst/>
          </a:prstGeom>
          <a:noFill/>
          <a:ln/>
        </p:spPr>
        <p:txBody>
          <a:bodyPr wrap="square" lIns="0" tIns="0" rIns="0" bIns="0" rtlCol="0" anchor="t"/>
          <a:lstStyle/>
          <a:p>
            <a:pPr indent="0" marL="0">
              <a:buNone/>
            </a:pPr>
            <a:r>
              <a:rPr lang="en-US" sz="1250" dirty="0">
                <a:solidFill>
                  <a:srgbClr val="6E665E"/>
                </a:solidFill>
              </a:rPr>
              <a:t>Shree Beauty · Lumea shampoo 340 ml · 120 units · 20 a month · expiry in 105 days</a:t>
            </a:r>
            <a:endParaRPr lang="en-US" sz="1250" dirty="0"/>
          </a:p>
        </p:txBody>
      </p:sp>
      <p:sp>
        <p:nvSpPr>
          <p:cNvPr id="7" name="text-270"/>
          <p:cNvSpPr txBox="1"/>
          <p:nvPr/>
        </p:nvSpPr>
        <p:spPr>
          <a:xfrm>
            <a:off x="640080" y="2148840"/>
            <a:ext cx="2377440" cy="731520"/>
          </a:xfrm>
          <a:prstGeom prst="rect">
            <a:avLst/>
          </a:prstGeom>
          <a:noFill/>
          <a:ln/>
        </p:spPr>
        <p:txBody>
          <a:bodyPr wrap="square" lIns="0" tIns="0" rIns="0" bIns="0" rtlCol="0" anchor="t"/>
          <a:lstStyle/>
          <a:p>
            <a:pPr indent="0" marL="0">
              <a:buNone/>
            </a:pPr>
            <a:r>
              <a:rPr lang="en-US" sz="4000" b="1" dirty="0">
                <a:solidFill>
                  <a:srgbClr val="65172F"/>
                </a:solidFill>
                <a:latin typeface="Aptos Display" pitchFamily="34" charset="0"/>
                <a:ea typeface="Aptos Display" pitchFamily="34" charset="-122"/>
                <a:cs typeface="Aptos Display" pitchFamily="34" charset="-120"/>
              </a:rPr>
              <a:t>₹14,700</a:t>
            </a:r>
            <a:endParaRPr lang="en-US" sz="4000" dirty="0"/>
          </a:p>
        </p:txBody>
      </p:sp>
      <p:sp>
        <p:nvSpPr>
          <p:cNvPr id="8" name="text-271"/>
          <p:cNvSpPr txBox="1"/>
          <p:nvPr/>
        </p:nvSpPr>
        <p:spPr>
          <a:xfrm>
            <a:off x="640080" y="2852928"/>
            <a:ext cx="2286000" cy="274320"/>
          </a:xfrm>
          <a:prstGeom prst="rect">
            <a:avLst/>
          </a:prstGeom>
          <a:noFill/>
          <a:ln/>
        </p:spPr>
        <p:txBody>
          <a:bodyPr wrap="square" lIns="0" tIns="0" rIns="0" bIns="0" rtlCol="0" anchor="t"/>
          <a:lstStyle/>
          <a:p>
            <a:pPr indent="0" marL="0">
              <a:buNone/>
            </a:pPr>
            <a:r>
              <a:rPr lang="en-US" sz="1300" dirty="0">
                <a:solidFill>
                  <a:srgbClr val="6E665E"/>
                </a:solidFill>
              </a:rPr>
              <a:t>at risk today</a:t>
            </a:r>
            <a:endParaRPr lang="en-US" sz="1300" dirty="0"/>
          </a:p>
        </p:txBody>
      </p:sp>
      <p:sp>
        <p:nvSpPr>
          <p:cNvPr id="9" name="text-272"/>
          <p:cNvSpPr txBox="1"/>
          <p:nvPr/>
        </p:nvSpPr>
        <p:spPr>
          <a:xfrm>
            <a:off x="3154680" y="2148840"/>
            <a:ext cx="2377440" cy="731520"/>
          </a:xfrm>
          <a:prstGeom prst="rect">
            <a:avLst/>
          </a:prstGeom>
          <a:noFill/>
          <a:ln/>
        </p:spPr>
        <p:txBody>
          <a:bodyPr wrap="square" lIns="0" tIns="0" rIns="0" bIns="0" rtlCol="0" anchor="t"/>
          <a:lstStyle/>
          <a:p>
            <a:pPr indent="0" marL="0">
              <a:buNone/>
            </a:pPr>
            <a:r>
              <a:rPr lang="en-US" sz="4000" b="1" dirty="0">
                <a:solidFill>
                  <a:srgbClr val="171717"/>
                </a:solidFill>
                <a:latin typeface="Aptos Display" pitchFamily="34" charset="0"/>
                <a:ea typeface="Aptos Display" pitchFamily="34" charset="-122"/>
                <a:cs typeface="Aptos Display" pitchFamily="34" charset="-120"/>
              </a:rPr>
              <a:t>75 days</a:t>
            </a:r>
            <a:endParaRPr lang="en-US" sz="4000" dirty="0"/>
          </a:p>
        </p:txBody>
      </p:sp>
      <p:sp>
        <p:nvSpPr>
          <p:cNvPr id="10" name="text-273"/>
          <p:cNvSpPr txBox="1"/>
          <p:nvPr/>
        </p:nvSpPr>
        <p:spPr>
          <a:xfrm>
            <a:off x="3154680" y="2852928"/>
            <a:ext cx="2286000" cy="274320"/>
          </a:xfrm>
          <a:prstGeom prst="rect">
            <a:avLst/>
          </a:prstGeom>
          <a:noFill/>
          <a:ln/>
        </p:spPr>
        <p:txBody>
          <a:bodyPr wrap="square" lIns="0" tIns="0" rIns="0" bIns="0" rtlCol="0" anchor="t"/>
          <a:lstStyle/>
          <a:p>
            <a:pPr indent="0" marL="0">
              <a:buNone/>
            </a:pPr>
            <a:r>
              <a:rPr lang="en-US" sz="1300" dirty="0">
                <a:solidFill>
                  <a:srgbClr val="6E665E"/>
                </a:solidFill>
              </a:rPr>
              <a:t>left to act</a:t>
            </a:r>
            <a:endParaRPr lang="en-US" sz="1300" dirty="0"/>
          </a:p>
        </p:txBody>
      </p:sp>
      <p:sp>
        <p:nvSpPr>
          <p:cNvPr id="11" name="text-274"/>
          <p:cNvSpPr txBox="1"/>
          <p:nvPr/>
        </p:nvSpPr>
        <p:spPr>
          <a:xfrm>
            <a:off x="5669280" y="2148840"/>
            <a:ext cx="2377440" cy="731520"/>
          </a:xfrm>
          <a:prstGeom prst="rect">
            <a:avLst/>
          </a:prstGeom>
          <a:noFill/>
          <a:ln/>
        </p:spPr>
        <p:txBody>
          <a:bodyPr wrap="square" lIns="0" tIns="0" rIns="0" bIns="0" rtlCol="0" anchor="t"/>
          <a:lstStyle/>
          <a:p>
            <a:pPr indent="0" marL="0">
              <a:buNone/>
            </a:pPr>
            <a:r>
              <a:rPr lang="en-US" sz="4000" b="1" dirty="0">
                <a:solidFill>
                  <a:srgbClr val="171717"/>
                </a:solidFill>
                <a:latin typeface="Aptos Display" pitchFamily="34" charset="0"/>
                <a:ea typeface="Aptos Display" pitchFamily="34" charset="-122"/>
                <a:cs typeface="Aptos Display" pitchFamily="34" charset="-120"/>
              </a:rPr>
              <a:t>70 units</a:t>
            </a:r>
            <a:endParaRPr lang="en-US" sz="4000" dirty="0"/>
          </a:p>
        </p:txBody>
      </p:sp>
      <p:sp>
        <p:nvSpPr>
          <p:cNvPr id="12" name="text-275"/>
          <p:cNvSpPr txBox="1"/>
          <p:nvPr/>
        </p:nvSpPr>
        <p:spPr>
          <a:xfrm>
            <a:off x="5669280" y="2852928"/>
            <a:ext cx="2286000" cy="274320"/>
          </a:xfrm>
          <a:prstGeom prst="rect">
            <a:avLst/>
          </a:prstGeom>
          <a:noFill/>
          <a:ln/>
        </p:spPr>
        <p:txBody>
          <a:bodyPr wrap="square" lIns="0" tIns="0" rIns="0" bIns="0" rtlCol="0" anchor="t"/>
          <a:lstStyle/>
          <a:p>
            <a:pPr indent="0" marL="0">
              <a:buNone/>
            </a:pPr>
            <a:r>
              <a:rPr lang="en-US" sz="1300" dirty="0">
                <a:solidFill>
                  <a:srgbClr val="6E665E"/>
                </a:solidFill>
              </a:rPr>
              <a:t>projected unsold</a:t>
            </a:r>
            <a:endParaRPr lang="en-US" sz="1300" dirty="0"/>
          </a:p>
        </p:txBody>
      </p:sp>
      <p:sp>
        <p:nvSpPr>
          <p:cNvPr id="13" name="text-276"/>
          <p:cNvSpPr txBox="1"/>
          <p:nvPr/>
        </p:nvSpPr>
        <p:spPr>
          <a:xfrm>
            <a:off x="640080" y="3246120"/>
            <a:ext cx="1828800" cy="237744"/>
          </a:xfrm>
          <a:prstGeom prst="rect">
            <a:avLst/>
          </a:prstGeom>
          <a:noFill/>
          <a:ln/>
        </p:spPr>
        <p:txBody>
          <a:bodyPr wrap="square" lIns="0" tIns="0" rIns="0" bIns="0" rtlCol="0" anchor="t"/>
          <a:lstStyle/>
          <a:p>
            <a:pPr indent="0" marL="0">
              <a:buNone/>
            </a:pPr>
            <a:r>
              <a:rPr lang="en-US" sz="1050" b="1" spc="150" kern="0" dirty="0">
                <a:solidFill>
                  <a:srgbClr val="171717"/>
                </a:solidFill>
              </a:rPr>
              <a:t>TODAY</a:t>
            </a:r>
            <a:endParaRPr lang="en-US" sz="1050" dirty="0"/>
          </a:p>
        </p:txBody>
      </p:sp>
      <p:sp>
        <p:nvSpPr>
          <p:cNvPr id="14" name="rect-277"/>
          <p:cNvSpPr/>
          <p:nvPr/>
        </p:nvSpPr>
        <p:spPr>
          <a:xfrm>
            <a:off x="640080" y="3520440"/>
            <a:ext cx="3009900" cy="457200"/>
          </a:xfrm>
          <a:prstGeom prst="rect">
            <a:avLst/>
          </a:prstGeom>
          <a:solidFill>
            <a:srgbClr val="327B60"/>
          </a:solidFill>
          <a:ln w="12700">
            <a:solidFill>
              <a:srgbClr val="327B60"/>
            </a:solidFill>
            <a:prstDash val="solid"/>
          </a:ln>
        </p:spPr>
      </p:sp>
      <p:sp>
        <p:nvSpPr>
          <p:cNvPr id="15" name="rect-278"/>
          <p:cNvSpPr/>
          <p:nvPr/>
        </p:nvSpPr>
        <p:spPr>
          <a:xfrm>
            <a:off x="3649980" y="3520440"/>
            <a:ext cx="4213860" cy="457200"/>
          </a:xfrm>
          <a:prstGeom prst="rect">
            <a:avLst/>
          </a:prstGeom>
          <a:solidFill>
            <a:srgbClr val="65172F"/>
          </a:solidFill>
          <a:ln w="12700">
            <a:solidFill>
              <a:srgbClr val="65172F"/>
            </a:solidFill>
            <a:prstDash val="solid"/>
          </a:ln>
        </p:spPr>
      </p:sp>
      <p:sp>
        <p:nvSpPr>
          <p:cNvPr id="16" name="text-279"/>
          <p:cNvSpPr txBox="1"/>
          <p:nvPr/>
        </p:nvSpPr>
        <p:spPr>
          <a:xfrm>
            <a:off x="749808" y="3520440"/>
            <a:ext cx="2926080" cy="457200"/>
          </a:xfrm>
          <a:prstGeom prst="rect">
            <a:avLst/>
          </a:prstGeom>
          <a:noFill/>
          <a:ln/>
        </p:spPr>
        <p:txBody>
          <a:bodyPr wrap="square" lIns="0" tIns="0" rIns="0" bIns="0" rtlCol="0" anchor="ctr"/>
          <a:lstStyle/>
          <a:p>
            <a:pPr indent="0" marL="0">
              <a:buNone/>
            </a:pPr>
            <a:r>
              <a:rPr lang="en-US" sz="1200" b="1" dirty="0">
                <a:solidFill>
                  <a:srgbClr val="FFFFFF"/>
                </a:solidFill>
              </a:rPr>
              <a:t>50 sell before the buffer date</a:t>
            </a:r>
            <a:endParaRPr lang="en-US" sz="1200" dirty="0"/>
          </a:p>
        </p:txBody>
      </p:sp>
      <p:sp>
        <p:nvSpPr>
          <p:cNvPr id="17" name="text-280"/>
          <p:cNvSpPr txBox="1"/>
          <p:nvPr/>
        </p:nvSpPr>
        <p:spPr>
          <a:xfrm>
            <a:off x="3759708" y="3520440"/>
            <a:ext cx="3931920" cy="457200"/>
          </a:xfrm>
          <a:prstGeom prst="rect">
            <a:avLst/>
          </a:prstGeom>
          <a:noFill/>
          <a:ln/>
        </p:spPr>
        <p:txBody>
          <a:bodyPr wrap="square" lIns="0" tIns="0" rIns="0" bIns="0" rtlCol="0" anchor="ctr"/>
          <a:lstStyle/>
          <a:p>
            <a:pPr indent="0" marL="0">
              <a:buNone/>
            </a:pPr>
            <a:r>
              <a:rPr lang="en-US" sz="1200" b="1" dirty="0">
                <a:solidFill>
                  <a:srgbClr val="FFFFFF"/>
                </a:solidFill>
              </a:rPr>
              <a:t>70 projected unsold → ₹14,700</a:t>
            </a:r>
            <a:endParaRPr lang="en-US" sz="1200" dirty="0"/>
          </a:p>
        </p:txBody>
      </p:sp>
      <p:sp>
        <p:nvSpPr>
          <p:cNvPr id="18" name="text-281"/>
          <p:cNvSpPr txBox="1"/>
          <p:nvPr/>
        </p:nvSpPr>
        <p:spPr>
          <a:xfrm>
            <a:off x="640080" y="4032504"/>
            <a:ext cx="7223760" cy="237744"/>
          </a:xfrm>
          <a:prstGeom prst="rect">
            <a:avLst/>
          </a:prstGeom>
          <a:noFill/>
          <a:ln/>
        </p:spPr>
        <p:txBody>
          <a:bodyPr wrap="square" lIns="0" tIns="0" rIns="0" bIns="0" rtlCol="0" anchor="t"/>
          <a:lstStyle/>
          <a:p>
            <a:pPr indent="0" marL="0">
              <a:buNone/>
            </a:pPr>
            <a:r>
              <a:rPr lang="en-US" sz="1100" dirty="0">
                <a:solidFill>
                  <a:srgbClr val="6E665E"/>
                </a:solidFill>
              </a:rPr>
              <a:t>Today 2 Nov 2026   →   sell-by buffer 16 Jan 2027 (75 days)   →   expiry 15 Feb 2027</a:t>
            </a:r>
            <a:endParaRPr lang="en-US" sz="1100" dirty="0"/>
          </a:p>
        </p:txBody>
      </p:sp>
      <p:sp>
        <p:nvSpPr>
          <p:cNvPr id="19" name="text-282"/>
          <p:cNvSpPr txBox="1"/>
          <p:nvPr/>
        </p:nvSpPr>
        <p:spPr>
          <a:xfrm>
            <a:off x="640080" y="4480560"/>
            <a:ext cx="5486400" cy="237744"/>
          </a:xfrm>
          <a:prstGeom prst="rect">
            <a:avLst/>
          </a:prstGeom>
          <a:noFill/>
          <a:ln/>
        </p:spPr>
        <p:txBody>
          <a:bodyPr wrap="square" lIns="0" tIns="0" rIns="0" bIns="0" rtlCol="0" anchor="t"/>
          <a:lstStyle/>
          <a:p>
            <a:pPr indent="0" marL="0">
              <a:buNone/>
            </a:pPr>
            <a:r>
              <a:rPr lang="en-US" sz="1050" b="1" spc="150" kern="0" dirty="0">
                <a:solidFill>
                  <a:srgbClr val="327B60"/>
                </a:solidFill>
              </a:rPr>
              <a:t>IF THE SAME SHELF HAD BEEN CAUGHT 150 DAYS EARLIER</a:t>
            </a:r>
            <a:endParaRPr lang="en-US" sz="1050" dirty="0"/>
          </a:p>
        </p:txBody>
      </p:sp>
      <p:sp>
        <p:nvSpPr>
          <p:cNvPr id="20" name="rect-283"/>
          <p:cNvSpPr/>
          <p:nvPr/>
        </p:nvSpPr>
        <p:spPr>
          <a:xfrm>
            <a:off x="640080" y="4754880"/>
            <a:ext cx="7223760" cy="457200"/>
          </a:xfrm>
          <a:prstGeom prst="rect">
            <a:avLst/>
          </a:prstGeom>
          <a:solidFill>
            <a:srgbClr val="327B60"/>
          </a:solidFill>
          <a:ln w="12700">
            <a:solidFill>
              <a:srgbClr val="327B60"/>
            </a:solidFill>
            <a:prstDash val="solid"/>
          </a:ln>
        </p:spPr>
      </p:sp>
      <p:sp>
        <p:nvSpPr>
          <p:cNvPr id="21" name="text-284"/>
          <p:cNvSpPr txBox="1"/>
          <p:nvPr/>
        </p:nvSpPr>
        <p:spPr>
          <a:xfrm>
            <a:off x="749808" y="4754880"/>
            <a:ext cx="6400800" cy="457200"/>
          </a:xfrm>
          <a:prstGeom prst="rect">
            <a:avLst/>
          </a:prstGeom>
          <a:noFill/>
          <a:ln/>
        </p:spPr>
        <p:txBody>
          <a:bodyPr wrap="square" lIns="0" tIns="0" rIns="0" bIns="0" rtlCol="0" anchor="ctr"/>
          <a:lstStyle/>
          <a:p>
            <a:pPr indent="0" marL="0">
              <a:buNone/>
            </a:pPr>
            <a:r>
              <a:rPr lang="en-US" sz="1200" b="1" dirty="0">
                <a:solidFill>
                  <a:srgbClr val="FFFFFF"/>
                </a:solidFill>
              </a:rPr>
              <a:t>All 120 sell in time  →  ₹0 at risk, every option still open</a:t>
            </a:r>
            <a:endParaRPr lang="en-US" sz="1200" dirty="0"/>
          </a:p>
        </p:txBody>
      </p:sp>
      <p:sp>
        <p:nvSpPr>
          <p:cNvPr id="22" name="shot-frame-285"/>
          <p:cNvSpPr/>
          <p:nvPr/>
        </p:nvSpPr>
        <p:spPr>
          <a:xfrm>
            <a:off x="8412480" y="4617720"/>
            <a:ext cx="3136392" cy="1329830"/>
          </a:xfrm>
          <a:prstGeom prst="rect">
            <a:avLst/>
          </a:prstGeom>
          <a:solidFill>
            <a:srgbClr val="FFFFFF"/>
          </a:solidFill>
          <a:ln w="9525">
            <a:solidFill>
              <a:srgbClr val="E3DED7"/>
            </a:solidFill>
            <a:prstDash val="solid"/>
          </a:ln>
          <a:effectLst>
            <a:outerShdw sx="100000" sy="100000" kx="0" ky="0" algn="bl" rotWithShape="0" blurRad="127000" dist="38100" dir="5400000">
              <a:srgbClr val="000000">
                <a:alpha val="14000"/>
              </a:srgbClr>
            </a:outerShdw>
          </a:effectLst>
        </p:spPr>
      </p:sp>
      <p:pic>
        <p:nvPicPr>
          <p:cNvPr id="23" name="screenshot-286" descr="What-if lab in the live prototype">    </p:cNvPr>
          <p:cNvPicPr>
            <a:picLocks noChangeAspect="1"/>
          </p:cNvPicPr>
          <p:nvPr/>
        </p:nvPicPr>
        <p:blipFill>
          <a:blip r:embed="rId1"/>
          <a:stretch>
            <a:fillRect/>
          </a:stretch>
        </p:blipFill>
        <p:spPr>
          <a:xfrm>
            <a:off x="8412480" y="4617720"/>
            <a:ext cx="3136392" cy="1329830"/>
          </a:xfrm>
          <a:prstGeom prst="rect">
            <a:avLst/>
          </a:prstGeom>
        </p:spPr>
      </p:pic>
      <p:sp>
        <p:nvSpPr>
          <p:cNvPr id="24" name="text-287"/>
          <p:cNvSpPr txBox="1"/>
          <p:nvPr/>
        </p:nvSpPr>
        <p:spPr>
          <a:xfrm>
            <a:off x="8412480" y="5943600"/>
            <a:ext cx="3136392" cy="237744"/>
          </a:xfrm>
          <a:prstGeom prst="rect">
            <a:avLst/>
          </a:prstGeom>
          <a:noFill/>
          <a:ln/>
        </p:spPr>
        <p:txBody>
          <a:bodyPr wrap="square" lIns="0" tIns="0" rIns="0" bIns="0" rtlCol="0" anchor="t"/>
          <a:lstStyle/>
          <a:p>
            <a:pPr indent="0" marL="0">
              <a:buNone/>
            </a:pPr>
            <a:r>
              <a:rPr lang="en-US" sz="1050" dirty="0">
                <a:solidFill>
                  <a:srgbClr val="6E665E"/>
                </a:solidFill>
              </a:rPr>
              <a:t>Live what-if lab: drag stock, sales and expiry</a:t>
            </a:r>
            <a:endParaRPr lang="en-US" sz="1050" dirty="0"/>
          </a:p>
        </p:txBody>
      </p:sp>
      <p:sp>
        <p:nvSpPr>
          <p:cNvPr id="25" name="line-288"/>
          <p:cNvSpPr/>
          <p:nvPr/>
        </p:nvSpPr>
        <p:spPr>
          <a:xfrm>
            <a:off x="8229600" y="1810512"/>
            <a:ext cx="0" cy="2606040"/>
          </a:xfrm>
          <a:prstGeom prst="line">
            <a:avLst/>
          </a:prstGeom>
          <a:noFill/>
          <a:ln w="12700">
            <a:solidFill>
              <a:srgbClr val="E3DED7"/>
            </a:solidFill>
            <a:prstDash val="solid"/>
          </a:ln>
        </p:spPr>
      </p:sp>
      <p:sp>
        <p:nvSpPr>
          <p:cNvPr id="26" name="text-289"/>
          <p:cNvSpPr txBox="1"/>
          <p:nvPr/>
        </p:nvSpPr>
        <p:spPr>
          <a:xfrm>
            <a:off x="8412480" y="1810512"/>
            <a:ext cx="3108960" cy="237744"/>
          </a:xfrm>
          <a:prstGeom prst="rect">
            <a:avLst/>
          </a:prstGeom>
          <a:noFill/>
          <a:ln/>
        </p:spPr>
        <p:txBody>
          <a:bodyPr wrap="square" lIns="0" tIns="0" rIns="0" bIns="0" rtlCol="0" anchor="t"/>
          <a:lstStyle/>
          <a:p>
            <a:pPr indent="0" marL="0">
              <a:buNone/>
            </a:pPr>
            <a:r>
              <a:rPr lang="en-US" sz="1050" b="1" spc="150" kern="0" dirty="0">
                <a:solidFill>
                  <a:srgbClr val="6E665E"/>
                </a:solidFill>
              </a:rPr>
              <a:t>HOW EACH SKU IS SCORED</a:t>
            </a:r>
            <a:endParaRPr lang="en-US" sz="1050" dirty="0"/>
          </a:p>
        </p:txBody>
      </p:sp>
      <p:sp>
        <p:nvSpPr>
          <p:cNvPr id="27" name="text-290"/>
          <p:cNvSpPr txBox="1"/>
          <p:nvPr/>
        </p:nvSpPr>
        <p:spPr>
          <a:xfrm>
            <a:off x="8412480" y="2121408"/>
            <a:ext cx="3108960" cy="530352"/>
          </a:xfrm>
          <a:prstGeom prst="rect">
            <a:avLst/>
          </a:prstGeom>
          <a:noFill/>
          <a:ln/>
        </p:spPr>
        <p:txBody>
          <a:bodyPr wrap="square" lIns="0" tIns="0" rIns="0" bIns="0" rtlCol="0" anchor="t"/>
          <a:lstStyle/>
          <a:p>
            <a:pPr indent="0" marL="0">
              <a:buNone/>
            </a:pPr>
            <a:r>
              <a:rPr lang="en-US" sz="1250" b="1" dirty="0">
                <a:solidFill>
                  <a:srgbClr val="171717"/>
                </a:solidFill>
              </a:rPr>
              <a:t>1  Velocity</a:t>
            </a:r>
            <a:endParaRPr lang="en-US" sz="1250" dirty="0"/>
          </a:p>
          <a:p>
            <a:pPr indent="0" marL="0">
              <a:buNone/>
            </a:pPr>
            <a:r>
              <a:rPr lang="en-US" sz="1100" dirty="0">
                <a:solidFill>
                  <a:srgbClr val="6E665E"/>
                </a:solidFill>
              </a:rPr>
              <a:t>monthly sell-out ÷ 30 (stock-flow)</a:t>
            </a:r>
            <a:endParaRPr lang="en-US" sz="1250" dirty="0"/>
          </a:p>
        </p:txBody>
      </p:sp>
      <p:sp>
        <p:nvSpPr>
          <p:cNvPr id="28" name="text-291"/>
          <p:cNvSpPr txBox="1"/>
          <p:nvPr/>
        </p:nvSpPr>
        <p:spPr>
          <a:xfrm>
            <a:off x="8412480" y="2688336"/>
            <a:ext cx="3108960" cy="530352"/>
          </a:xfrm>
          <a:prstGeom prst="rect">
            <a:avLst/>
          </a:prstGeom>
          <a:noFill/>
          <a:ln/>
        </p:spPr>
        <p:txBody>
          <a:bodyPr wrap="square" lIns="0" tIns="0" rIns="0" bIns="0" rtlCol="0" anchor="t"/>
          <a:lstStyle/>
          <a:p>
            <a:pPr indent="0" marL="0">
              <a:buNone/>
            </a:pPr>
            <a:r>
              <a:rPr lang="en-US" sz="1250" b="1" dirty="0">
                <a:solidFill>
                  <a:srgbClr val="171717"/>
                </a:solidFill>
              </a:rPr>
              <a:t>2  FEFO projection</a:t>
            </a:r>
            <a:endParaRPr lang="en-US" sz="1250" dirty="0"/>
          </a:p>
          <a:p>
            <a:pPr indent="0" marL="0">
              <a:buNone/>
            </a:pPr>
            <a:r>
              <a:rPr lang="en-US" sz="1100" dirty="0">
                <a:solidFill>
                  <a:srgbClr val="6E665E"/>
                </a:solidFill>
              </a:rPr>
              <a:t>oldest batch first, until expiry − buffer</a:t>
            </a:r>
            <a:endParaRPr lang="en-US" sz="1250" dirty="0"/>
          </a:p>
        </p:txBody>
      </p:sp>
      <p:sp>
        <p:nvSpPr>
          <p:cNvPr id="29" name="text-292"/>
          <p:cNvSpPr txBox="1"/>
          <p:nvPr/>
        </p:nvSpPr>
        <p:spPr>
          <a:xfrm>
            <a:off x="8412480" y="3255264"/>
            <a:ext cx="3108960" cy="530352"/>
          </a:xfrm>
          <a:prstGeom prst="rect">
            <a:avLst/>
          </a:prstGeom>
          <a:noFill/>
          <a:ln/>
        </p:spPr>
        <p:txBody>
          <a:bodyPr wrap="square" lIns="0" tIns="0" rIns="0" bIns="0" rtlCol="0" anchor="t"/>
          <a:lstStyle/>
          <a:p>
            <a:pPr indent="0" marL="0">
              <a:buNone/>
            </a:pPr>
            <a:r>
              <a:rPr lang="en-US" sz="1250" b="1" dirty="0">
                <a:solidFill>
                  <a:srgbClr val="171717"/>
                </a:solidFill>
              </a:rPr>
              <a:t>3  ₹ at risk</a:t>
            </a:r>
            <a:endParaRPr lang="en-US" sz="1250" dirty="0"/>
          </a:p>
          <a:p>
            <a:pPr indent="0" marL="0">
              <a:buNone/>
            </a:pPr>
            <a:r>
              <a:rPr lang="en-US" sz="1100" dirty="0">
                <a:solidFill>
                  <a:srgbClr val="6E665E"/>
                </a:solidFill>
              </a:rPr>
              <a:t>projected unsold × unit value</a:t>
            </a:r>
            <a:endParaRPr lang="en-US" sz="1250" dirty="0"/>
          </a:p>
        </p:txBody>
      </p:sp>
      <p:sp>
        <p:nvSpPr>
          <p:cNvPr id="30" name="text-293"/>
          <p:cNvSpPr txBox="1"/>
          <p:nvPr/>
        </p:nvSpPr>
        <p:spPr>
          <a:xfrm>
            <a:off x="8412480" y="3822192"/>
            <a:ext cx="3108960" cy="530352"/>
          </a:xfrm>
          <a:prstGeom prst="rect">
            <a:avLst/>
          </a:prstGeom>
          <a:noFill/>
          <a:ln/>
        </p:spPr>
        <p:txBody>
          <a:bodyPr wrap="square" lIns="0" tIns="0" rIns="0" bIns="0" rtlCol="0" anchor="t"/>
          <a:lstStyle/>
          <a:p>
            <a:pPr indent="0" marL="0">
              <a:buNone/>
            </a:pPr>
            <a:r>
              <a:rPr lang="en-US" sz="1250" b="1" dirty="0">
                <a:solidFill>
                  <a:srgbClr val="171717"/>
                </a:solidFill>
              </a:rPr>
              <a:t>4  Priority</a:t>
            </a:r>
            <a:endParaRPr lang="en-US" sz="1250" dirty="0"/>
          </a:p>
          <a:p>
            <a:pPr indent="0" marL="0">
              <a:buNone/>
            </a:pPr>
            <a:r>
              <a:rPr lang="en-US" sz="1100" dirty="0">
                <a:solidFill>
                  <a:srgbClr val="6E665E"/>
                </a:solidFill>
              </a:rPr>
              <a:t>₹ at stake × urgency × data confidence</a:t>
            </a:r>
            <a:endParaRPr lang="en-US" sz="1250" dirty="0"/>
          </a:p>
        </p:txBody>
      </p:sp>
      <p:sp>
        <p:nvSpPr>
          <p:cNvPr id="25" name="Slide Number Placeholder 0"/>
          <p:cNvSpPr>
            <a:spLocks noGrp="1"/>
          </p:cNvSpPr>
          <p:nvPr>
            <p:ph type="sldNum" sz="quarter" idx="4294967295"/>
          </p:nvPr>
        </p:nvSpPr>
        <p:spPr>
          <a:xfrm>
            <a:off x="11091672"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665E"/>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body" hasCustomPrompt="1"/>
          </p:nvPr>
        </p:nvSpPr>
        <p:spPr>
          <a:xfrm>
            <a:off x="640080" y="457200"/>
            <a:ext cx="8686800" cy="237744"/>
          </a:xfrm>
          <a:prstGeom prst="rect">
            <a:avLst/>
          </a:prstGeom>
          <a:noFill/>
          <a:ln/>
        </p:spPr>
        <p:txBody>
          <a:bodyPr wrap="square" lIns="0" tIns="0" rIns="0" bIns="0" rtlCol="0" anchor="t"/>
          <a:lstStyle/>
          <a:p>
            <a:pPr indent="0" marL="0">
              <a:buNone/>
            </a:pPr>
            <a:r>
              <a:rPr lang="en-US" sz="1100" b="1" spc="200" kern="0" dirty="0">
                <a:solidFill>
                  <a:srgbClr val="65172F"/>
                </a:solidFill>
              </a:rPr>
              <a:t>NEXT BEST ACTION ENGINE</a:t>
            </a:r>
            <a:endParaRPr lang="en-US" sz="1100" dirty="0"/>
          </a:p>
        </p:txBody>
      </p:sp>
      <p:sp>
        <p:nvSpPr>
          <p:cNvPr id="3" name="Text 0"/>
          <p:cNvSpPr/>
          <p:nvPr>
            <p:ph idx="102" type="title" hasCustomPrompt="1"/>
          </p:nvPr>
        </p:nvSpPr>
        <p:spPr>
          <a:xfrm>
            <a:off x="640080" y="749808"/>
            <a:ext cx="9418320" cy="1005840"/>
          </a:xfrm>
          <a:prstGeom prst="rect">
            <a:avLst/>
          </a:prstGeom>
          <a:noFill/>
          <a:ln/>
        </p:spPr>
        <p:txBody>
          <a:bodyPr wrap="square" lIns="0" tIns="0" rIns="0" bIns="0" rtlCol="0" anchor="t"/>
          <a:lstStyle/>
          <a:p>
            <a:pPr algn="l" indent="0" marL="0">
              <a:lnSpc>
                <a:spcPct val="95000"/>
              </a:lnSpc>
              <a:buNone/>
            </a:pPr>
            <a:r>
              <a:rPr lang="en-US" sz="3000" b="1" dirty="0">
                <a:solidFill>
                  <a:srgbClr val="171717"/>
                </a:solidFill>
                <a:latin typeface="Aptos Display" pitchFamily="34" charset="0"/>
                <a:ea typeface="Aptos Display" pitchFamily="34" charset="-122"/>
                <a:cs typeface="Aptos Display" pitchFamily="34" charset="-120"/>
              </a:rPr>
              <a:t>Cheapest fix first: near‑expiry needs speed, slow‑moving needs diagnosis</a:t>
            </a:r>
            <a:endParaRPr lang="en-US" sz="3000" dirty="0"/>
          </a:p>
        </p:txBody>
      </p:sp>
      <p:sp>
        <p:nvSpPr>
          <p:cNvPr id="4" name="Text 0"/>
          <p:cNvSpPr/>
          <p:nvPr>
            <p:ph idx="103" type="body" hasCustomPrompt="1"/>
          </p:nvPr>
        </p:nvSpPr>
        <p:spPr>
          <a:xfrm>
            <a:off x="640080" y="6355080"/>
            <a:ext cx="9189720" cy="347472"/>
          </a:xfrm>
          <a:prstGeom prst="rect">
            <a:avLst/>
          </a:prstGeom>
          <a:noFill/>
          <a:ln/>
        </p:spPr>
        <p:txBody>
          <a:bodyPr wrap="square" lIns="0" tIns="0" rIns="0" bIns="0" rtlCol="0" anchor="t"/>
          <a:lstStyle/>
          <a:p>
            <a:pPr indent="0" marL="0">
              <a:buNone/>
            </a:pPr>
            <a:r>
              <a:rPr lang="en-US" sz="1000" dirty="0">
                <a:solidFill>
                  <a:srgbClr val="6E665E"/>
                </a:solidFill>
              </a:rPr>
              <a:t>Case question B: "What specific on-ground actions would you use to move slow SKUs? What can we do differently for a near-expiry SKU versus a slow-moving one?" Costs and uplifts are assumptions to validate in the pilot.</a:t>
            </a:r>
            <a:endParaRPr lang="en-US" sz="1000" dirty="0"/>
          </a:p>
        </p:txBody>
      </p:sp>
      <p:sp>
        <p:nvSpPr>
          <p:cNvPr id="6" name="rect-294"/>
          <p:cNvSpPr/>
          <p:nvPr/>
        </p:nvSpPr>
        <p:spPr>
          <a:xfrm>
            <a:off x="640080" y="2788920"/>
            <a:ext cx="1325880" cy="685800"/>
          </a:xfrm>
          <a:prstGeom prst="rect">
            <a:avLst/>
          </a:prstGeom>
          <a:solidFill>
            <a:srgbClr val="171717"/>
          </a:solidFill>
          <a:ln w="12700">
            <a:solidFill>
              <a:srgbClr val="171717"/>
            </a:solidFill>
            <a:prstDash val="solid"/>
          </a:ln>
        </p:spPr>
      </p:sp>
      <p:sp>
        <p:nvSpPr>
          <p:cNvPr id="7" name="text-295"/>
          <p:cNvSpPr txBox="1"/>
          <p:nvPr/>
        </p:nvSpPr>
        <p:spPr>
          <a:xfrm>
            <a:off x="749808" y="2788920"/>
            <a:ext cx="1106424" cy="685800"/>
          </a:xfrm>
          <a:prstGeom prst="rect">
            <a:avLst/>
          </a:prstGeom>
          <a:noFill/>
          <a:ln/>
        </p:spPr>
        <p:txBody>
          <a:bodyPr wrap="square" lIns="0" tIns="0" rIns="0" bIns="0" rtlCol="0" anchor="ctr"/>
          <a:lstStyle/>
          <a:p>
            <a:pPr indent="0" marL="0">
              <a:buNone/>
            </a:pPr>
            <a:r>
              <a:rPr lang="en-US" sz="1250" b="1" dirty="0">
                <a:solidFill>
                  <a:srgbClr val="FFFFFF"/>
                </a:solidFill>
              </a:rPr>
              <a:t>Flagged SKU</a:t>
            </a:r>
            <a:endParaRPr lang="en-US" sz="1250" dirty="0"/>
          </a:p>
        </p:txBody>
      </p:sp>
      <p:sp>
        <p:nvSpPr>
          <p:cNvPr id="8" name="rrect-296"/>
          <p:cNvSpPr/>
          <p:nvPr/>
        </p:nvSpPr>
        <p:spPr>
          <a:xfrm>
            <a:off x="2377440" y="2697480"/>
            <a:ext cx="2057400" cy="868680"/>
          </a:xfrm>
          <a:prstGeom prst="roundRect">
            <a:avLst>
              <a:gd name="adj" fmla="val 6316"/>
            </a:avLst>
          </a:prstGeom>
          <a:solidFill>
            <a:srgbClr val="FFFFFF"/>
          </a:solidFill>
          <a:ln w="15875">
            <a:solidFill>
              <a:srgbClr val="171717"/>
            </a:solidFill>
            <a:prstDash val="solid"/>
          </a:ln>
        </p:spPr>
      </p:sp>
      <p:sp>
        <p:nvSpPr>
          <p:cNvPr id="9" name="text-297"/>
          <p:cNvSpPr txBox="1"/>
          <p:nvPr/>
        </p:nvSpPr>
        <p:spPr>
          <a:xfrm>
            <a:off x="2487168" y="2697480"/>
            <a:ext cx="1828800" cy="868680"/>
          </a:xfrm>
          <a:prstGeom prst="rect">
            <a:avLst/>
          </a:prstGeom>
          <a:noFill/>
          <a:ln/>
        </p:spPr>
        <p:txBody>
          <a:bodyPr wrap="square" lIns="0" tIns="0" rIns="0" bIns="0" rtlCol="0" anchor="ctr"/>
          <a:lstStyle/>
          <a:p>
            <a:pPr indent="0" marL="0">
              <a:buNone/>
            </a:pPr>
            <a:r>
              <a:rPr lang="en-US" sz="1250" b="1" dirty="0">
                <a:solidFill>
                  <a:srgbClr val="171717"/>
                </a:solidFill>
              </a:rPr>
              <a:t>Will all of it sell before its buffer date?</a:t>
            </a:r>
            <a:endParaRPr lang="en-US" sz="1250" dirty="0"/>
          </a:p>
        </p:txBody>
      </p:sp>
      <p:sp>
        <p:nvSpPr>
          <p:cNvPr id="10" name="line-298"/>
          <p:cNvSpPr/>
          <p:nvPr/>
        </p:nvSpPr>
        <p:spPr>
          <a:xfrm>
            <a:off x="1965960" y="3127248"/>
            <a:ext cx="411480" cy="0"/>
          </a:xfrm>
          <a:prstGeom prst="line">
            <a:avLst/>
          </a:prstGeom>
          <a:noFill/>
          <a:ln w="15875">
            <a:solidFill>
              <a:srgbClr val="171717"/>
            </a:solidFill>
            <a:prstDash val="solid"/>
            <a:tailEnd type="triangle"/>
          </a:ln>
        </p:spPr>
      </p:sp>
      <p:sp>
        <p:nvSpPr>
          <p:cNvPr id="11" name="rrect-299"/>
          <p:cNvSpPr/>
          <p:nvPr/>
        </p:nvSpPr>
        <p:spPr>
          <a:xfrm>
            <a:off x="5074920" y="1828800"/>
            <a:ext cx="1874520" cy="731520"/>
          </a:xfrm>
          <a:prstGeom prst="roundRect">
            <a:avLst>
              <a:gd name="adj" fmla="val 7500"/>
            </a:avLst>
          </a:prstGeom>
          <a:solidFill>
            <a:srgbClr val="FFFFFF"/>
          </a:solidFill>
          <a:ln w="15875">
            <a:solidFill>
              <a:srgbClr val="65172F"/>
            </a:solidFill>
            <a:prstDash val="solid"/>
          </a:ln>
        </p:spPr>
      </p:sp>
      <p:sp>
        <p:nvSpPr>
          <p:cNvPr id="12" name="text-300"/>
          <p:cNvSpPr txBox="1"/>
          <p:nvPr/>
        </p:nvSpPr>
        <p:spPr>
          <a:xfrm>
            <a:off x="5184648" y="1828800"/>
            <a:ext cx="1691640" cy="731520"/>
          </a:xfrm>
          <a:prstGeom prst="rect">
            <a:avLst/>
          </a:prstGeom>
          <a:noFill/>
          <a:ln/>
        </p:spPr>
        <p:txBody>
          <a:bodyPr wrap="square" lIns="0" tIns="0" rIns="0" bIns="0" rtlCol="0" anchor="ctr"/>
          <a:lstStyle/>
          <a:p>
            <a:pPr indent="0" marL="0">
              <a:buNone/>
            </a:pPr>
            <a:r>
              <a:rPr lang="en-US" sz="1250" b="1" dirty="0">
                <a:solidFill>
                  <a:srgbClr val="65172F"/>
                </a:solidFill>
              </a:rPr>
              <a:t>≤ 90 days left to act?</a:t>
            </a:r>
            <a:endParaRPr lang="en-US" sz="1250" dirty="0"/>
          </a:p>
        </p:txBody>
      </p:sp>
      <p:sp>
        <p:nvSpPr>
          <p:cNvPr id="13" name="rrect-301"/>
          <p:cNvSpPr/>
          <p:nvPr/>
        </p:nvSpPr>
        <p:spPr>
          <a:xfrm>
            <a:off x="5074920" y="3703320"/>
            <a:ext cx="1874520" cy="731520"/>
          </a:xfrm>
          <a:prstGeom prst="roundRect">
            <a:avLst>
              <a:gd name="adj" fmla="val 7500"/>
            </a:avLst>
          </a:prstGeom>
          <a:solidFill>
            <a:srgbClr val="FFFFFF"/>
          </a:solidFill>
          <a:ln w="15875">
            <a:solidFill>
              <a:srgbClr val="6E665E"/>
            </a:solidFill>
            <a:prstDash val="solid"/>
          </a:ln>
        </p:spPr>
      </p:sp>
      <p:sp>
        <p:nvSpPr>
          <p:cNvPr id="14" name="text-302"/>
          <p:cNvSpPr txBox="1"/>
          <p:nvPr/>
        </p:nvSpPr>
        <p:spPr>
          <a:xfrm>
            <a:off x="5184648" y="3703320"/>
            <a:ext cx="1691640" cy="731520"/>
          </a:xfrm>
          <a:prstGeom prst="rect">
            <a:avLst/>
          </a:prstGeom>
          <a:noFill/>
          <a:ln/>
        </p:spPr>
        <p:txBody>
          <a:bodyPr wrap="square" lIns="0" tIns="0" rIns="0" bIns="0" rtlCol="0" anchor="ctr"/>
          <a:lstStyle/>
          <a:p>
            <a:pPr indent="0" marL="0">
              <a:buNone/>
            </a:pPr>
            <a:r>
              <a:rPr lang="en-US" sz="1250" b="1" dirty="0">
                <a:solidFill>
                  <a:srgbClr val="6E665E"/>
                </a:solidFill>
              </a:rPr>
              <a:t>How much cover is left?</a:t>
            </a:r>
            <a:endParaRPr lang="en-US" sz="1250" dirty="0"/>
          </a:p>
        </p:txBody>
      </p:sp>
      <p:sp>
        <p:nvSpPr>
          <p:cNvPr id="15" name="line-303"/>
          <p:cNvSpPr/>
          <p:nvPr/>
        </p:nvSpPr>
        <p:spPr>
          <a:xfrm>
            <a:off x="4434840" y="2926080"/>
            <a:ext cx="640080" cy="-731520"/>
          </a:xfrm>
          <a:prstGeom prst="line">
            <a:avLst/>
          </a:prstGeom>
          <a:noFill/>
          <a:ln w="15875">
            <a:solidFill>
              <a:srgbClr val="65172F"/>
            </a:solidFill>
            <a:prstDash val="solid"/>
            <a:tailEnd type="triangle"/>
          </a:ln>
        </p:spPr>
      </p:sp>
      <p:sp>
        <p:nvSpPr>
          <p:cNvPr id="16" name="text-304"/>
          <p:cNvSpPr txBox="1"/>
          <p:nvPr/>
        </p:nvSpPr>
        <p:spPr>
          <a:xfrm>
            <a:off x="4526280" y="2331720"/>
            <a:ext cx="365760" cy="228600"/>
          </a:xfrm>
          <a:prstGeom prst="rect">
            <a:avLst/>
          </a:prstGeom>
          <a:noFill/>
          <a:ln/>
        </p:spPr>
        <p:txBody>
          <a:bodyPr wrap="square" lIns="0" tIns="0" rIns="0" bIns="0" rtlCol="0" anchor="t"/>
          <a:lstStyle/>
          <a:p>
            <a:pPr indent="0" marL="0">
              <a:buNone/>
            </a:pPr>
            <a:r>
              <a:rPr lang="en-US" sz="1100" b="1" dirty="0">
                <a:solidFill>
                  <a:srgbClr val="65172F"/>
                </a:solidFill>
              </a:rPr>
              <a:t>No</a:t>
            </a:r>
            <a:endParaRPr lang="en-US" sz="1100" dirty="0"/>
          </a:p>
        </p:txBody>
      </p:sp>
      <p:sp>
        <p:nvSpPr>
          <p:cNvPr id="17" name="line-305"/>
          <p:cNvSpPr/>
          <p:nvPr/>
        </p:nvSpPr>
        <p:spPr>
          <a:xfrm>
            <a:off x="4434840" y="3337560"/>
            <a:ext cx="640080" cy="731520"/>
          </a:xfrm>
          <a:prstGeom prst="line">
            <a:avLst/>
          </a:prstGeom>
          <a:noFill/>
          <a:ln w="15875">
            <a:solidFill>
              <a:srgbClr val="6E665E"/>
            </a:solidFill>
            <a:prstDash val="solid"/>
            <a:tailEnd type="triangle"/>
          </a:ln>
        </p:spPr>
      </p:sp>
      <p:sp>
        <p:nvSpPr>
          <p:cNvPr id="18" name="text-306"/>
          <p:cNvSpPr txBox="1"/>
          <p:nvPr/>
        </p:nvSpPr>
        <p:spPr>
          <a:xfrm>
            <a:off x="4526280" y="3703320"/>
            <a:ext cx="365760" cy="228600"/>
          </a:xfrm>
          <a:prstGeom prst="rect">
            <a:avLst/>
          </a:prstGeom>
          <a:noFill/>
          <a:ln/>
        </p:spPr>
        <p:txBody>
          <a:bodyPr wrap="square" lIns="0" tIns="0" rIns="0" bIns="0" rtlCol="0" anchor="t"/>
          <a:lstStyle/>
          <a:p>
            <a:pPr indent="0" marL="0">
              <a:buNone/>
            </a:pPr>
            <a:r>
              <a:rPr lang="en-US" sz="1100" b="1" dirty="0">
                <a:solidFill>
                  <a:srgbClr val="6E665E"/>
                </a:solidFill>
              </a:rPr>
              <a:t>Yes</a:t>
            </a:r>
            <a:endParaRPr lang="en-US" sz="1100" dirty="0"/>
          </a:p>
        </p:txBody>
      </p:sp>
      <p:sp>
        <p:nvSpPr>
          <p:cNvPr id="19" name="line-307"/>
          <p:cNvSpPr/>
          <p:nvPr/>
        </p:nvSpPr>
        <p:spPr>
          <a:xfrm>
            <a:off x="6949440" y="2057400"/>
            <a:ext cx="502920" cy="91440"/>
          </a:xfrm>
          <a:prstGeom prst="line">
            <a:avLst/>
          </a:prstGeom>
          <a:noFill/>
          <a:ln w="15875">
            <a:solidFill>
              <a:srgbClr val="65172F"/>
            </a:solidFill>
            <a:prstDash val="solid"/>
            <a:tailEnd type="triangle"/>
          </a:ln>
        </p:spPr>
      </p:sp>
      <p:sp>
        <p:nvSpPr>
          <p:cNvPr id="20" name="text-308"/>
          <p:cNvSpPr txBox="1"/>
          <p:nvPr/>
        </p:nvSpPr>
        <p:spPr>
          <a:xfrm>
            <a:off x="7543800" y="1764792"/>
            <a:ext cx="4005072" cy="822960"/>
          </a:xfrm>
          <a:prstGeom prst="rect">
            <a:avLst/>
          </a:prstGeom>
          <a:noFill/>
          <a:ln/>
        </p:spPr>
        <p:txBody>
          <a:bodyPr wrap="square" lIns="0" tIns="0" rIns="0" bIns="0" rtlCol="0" anchor="t"/>
          <a:lstStyle/>
          <a:p>
            <a:pPr indent="0" marL="0">
              <a:buNone/>
            </a:pPr>
            <a:r>
              <a:rPr lang="en-US" sz="1300" b="1" dirty="0">
                <a:solidFill>
                  <a:srgbClr val="65172F"/>
                </a:solidFill>
              </a:rPr>
              <a:t>Near-expiry (≤90 days to act)</a:t>
            </a:r>
            <a:endParaRPr lang="en-US" sz="1300" dirty="0"/>
          </a:p>
          <a:p>
            <a:pPr indent="0" marL="0">
              <a:buNone/>
            </a:pPr>
            <a:r>
              <a:rPr lang="en-US" sz="1100" i="1" dirty="0">
                <a:solidFill>
                  <a:srgbClr val="6E665E"/>
                </a:solidFill>
              </a:rPr>
              <a:t>Where can it sell before it's too late?</a:t>
            </a:r>
            <a:endParaRPr lang="en-US" sz="1300" dirty="0"/>
          </a:p>
          <a:p>
            <a:pPr indent="0" marL="0">
              <a:buNone/>
            </a:pPr>
            <a:r>
              <a:rPr lang="en-US" sz="1150" dirty="0">
                <a:solidFill>
                  <a:srgbClr val="171717"/>
                </a:solidFill>
              </a:rPr>
              <a:t>Speed: pause re-order, transfer to the fastest outlets, approved bundle, end-of-life if &lt;30 days</a:t>
            </a:r>
            <a:endParaRPr lang="en-US" sz="1300" dirty="0"/>
          </a:p>
        </p:txBody>
      </p:sp>
      <p:sp>
        <p:nvSpPr>
          <p:cNvPr id="21" name="line-309"/>
          <p:cNvSpPr/>
          <p:nvPr/>
        </p:nvSpPr>
        <p:spPr>
          <a:xfrm>
            <a:off x="6949440" y="2331720"/>
            <a:ext cx="502920" cy="667512"/>
          </a:xfrm>
          <a:prstGeom prst="line">
            <a:avLst/>
          </a:prstGeom>
          <a:noFill/>
          <a:ln w="15875">
            <a:solidFill>
              <a:srgbClr val="8C3A52"/>
            </a:solidFill>
            <a:prstDash val="solid"/>
            <a:tailEnd type="triangle"/>
          </a:ln>
        </p:spPr>
      </p:sp>
      <p:sp>
        <p:nvSpPr>
          <p:cNvPr id="22" name="text-310"/>
          <p:cNvSpPr txBox="1"/>
          <p:nvPr/>
        </p:nvSpPr>
        <p:spPr>
          <a:xfrm>
            <a:off x="7543800" y="2615184"/>
            <a:ext cx="4005072" cy="822960"/>
          </a:xfrm>
          <a:prstGeom prst="rect">
            <a:avLst/>
          </a:prstGeom>
          <a:noFill/>
          <a:ln/>
        </p:spPr>
        <p:txBody>
          <a:bodyPr wrap="square" lIns="0" tIns="0" rIns="0" bIns="0" rtlCol="0" anchor="t"/>
          <a:lstStyle/>
          <a:p>
            <a:pPr indent="0" marL="0">
              <a:buNone/>
            </a:pPr>
            <a:r>
              <a:rPr lang="en-US" sz="1300" b="1" dirty="0">
                <a:solidFill>
                  <a:srgbClr val="8C3A52"/>
                </a:solidFill>
              </a:rPr>
              <a:t>Ageing risk (&gt;90 days to act)</a:t>
            </a:r>
            <a:endParaRPr lang="en-US" sz="1300" dirty="0"/>
          </a:p>
          <a:p>
            <a:pPr indent="0" marL="0">
              <a:buNone/>
            </a:pPr>
            <a:r>
              <a:rPr lang="en-US" sz="1100" i="1" dirty="0">
                <a:solidFill>
                  <a:srgbClr val="6E665E"/>
                </a:solidFill>
              </a:rPr>
              <a:t>Fix demand while options are cheap</a:t>
            </a:r>
            <a:endParaRPr lang="en-US" sz="1300" dirty="0"/>
          </a:p>
          <a:p>
            <a:pPr indent="0" marL="0">
              <a:buNone/>
            </a:pPr>
            <a:r>
              <a:rPr lang="en-US" sz="1150" dirty="0">
                <a:solidFill>
                  <a:srgbClr val="171717"/>
                </a:solidFill>
              </a:rPr>
              <a:t>Visibility, sampling, cap re-orders, rebalance surplus</a:t>
            </a:r>
            <a:endParaRPr lang="en-US" sz="1300" dirty="0"/>
          </a:p>
        </p:txBody>
      </p:sp>
      <p:sp>
        <p:nvSpPr>
          <p:cNvPr id="23" name="line-311"/>
          <p:cNvSpPr/>
          <p:nvPr/>
        </p:nvSpPr>
        <p:spPr>
          <a:xfrm>
            <a:off x="6949440" y="3931920"/>
            <a:ext cx="502920" cy="-45720"/>
          </a:xfrm>
          <a:prstGeom prst="line">
            <a:avLst/>
          </a:prstGeom>
          <a:noFill/>
          <a:ln w="15875">
            <a:solidFill>
              <a:srgbClr val="6E665E"/>
            </a:solidFill>
            <a:prstDash val="solid"/>
            <a:tailEnd type="triangle"/>
          </a:ln>
        </p:spPr>
      </p:sp>
      <p:sp>
        <p:nvSpPr>
          <p:cNvPr id="24" name="text-312"/>
          <p:cNvSpPr txBox="1"/>
          <p:nvPr/>
        </p:nvSpPr>
        <p:spPr>
          <a:xfrm>
            <a:off x="7543800" y="3502152"/>
            <a:ext cx="4005072" cy="822960"/>
          </a:xfrm>
          <a:prstGeom prst="rect">
            <a:avLst/>
          </a:prstGeom>
          <a:noFill/>
          <a:ln/>
        </p:spPr>
        <p:txBody>
          <a:bodyPr wrap="square" lIns="0" tIns="0" rIns="0" bIns="0" rtlCol="0" anchor="t"/>
          <a:lstStyle/>
          <a:p>
            <a:pPr indent="0" marL="0">
              <a:buNone/>
            </a:pPr>
            <a:r>
              <a:rPr lang="en-US" sz="1300" b="1" dirty="0">
                <a:solidFill>
                  <a:srgbClr val="6E665E"/>
                </a:solidFill>
              </a:rPr>
              <a:t>Slow / overstock (&gt;2× norm)</a:t>
            </a:r>
            <a:endParaRPr lang="en-US" sz="1300" dirty="0"/>
          </a:p>
          <a:p>
            <a:pPr indent="0" marL="0">
              <a:buNone/>
            </a:pPr>
            <a:r>
              <a:rPr lang="en-US" sz="1100" i="1" dirty="0">
                <a:solidFill>
                  <a:srgbClr val="6E665E"/>
                </a:solidFill>
              </a:rPr>
              <a:t>Why isn't it selling here?</a:t>
            </a:r>
            <a:endParaRPr lang="en-US" sz="1300" dirty="0"/>
          </a:p>
          <a:p>
            <a:pPr indent="0" marL="0">
              <a:buNone/>
            </a:pPr>
            <a:r>
              <a:rPr lang="en-US" sz="1150" dirty="0">
                <a:solidFill>
                  <a:srgbClr val="171717"/>
                </a:solidFill>
              </a:rPr>
              <a:t>Diagnose first, no discount: placement, tester, range fix, then rebalance</a:t>
            </a:r>
            <a:endParaRPr lang="en-US" sz="1300" dirty="0"/>
          </a:p>
        </p:txBody>
      </p:sp>
      <p:sp>
        <p:nvSpPr>
          <p:cNvPr id="25" name="line-313"/>
          <p:cNvSpPr/>
          <p:nvPr/>
        </p:nvSpPr>
        <p:spPr>
          <a:xfrm>
            <a:off x="6949440" y="4206240"/>
            <a:ext cx="502920" cy="530352"/>
          </a:xfrm>
          <a:prstGeom prst="line">
            <a:avLst/>
          </a:prstGeom>
          <a:noFill/>
          <a:ln w="15875">
            <a:solidFill>
              <a:srgbClr val="327B60"/>
            </a:solidFill>
            <a:prstDash val="solid"/>
            <a:tailEnd type="triangle"/>
          </a:ln>
        </p:spPr>
      </p:sp>
      <p:sp>
        <p:nvSpPr>
          <p:cNvPr id="26" name="text-314"/>
          <p:cNvSpPr txBox="1"/>
          <p:nvPr/>
        </p:nvSpPr>
        <p:spPr>
          <a:xfrm>
            <a:off x="7543800" y="4352544"/>
            <a:ext cx="4005072" cy="822960"/>
          </a:xfrm>
          <a:prstGeom prst="rect">
            <a:avLst/>
          </a:prstGeom>
          <a:noFill/>
          <a:ln/>
        </p:spPr>
        <p:txBody>
          <a:bodyPr wrap="square" lIns="0" tIns="0" rIns="0" bIns="0" rtlCol="0" anchor="t"/>
          <a:lstStyle/>
          <a:p>
            <a:pPr indent="0" marL="0">
              <a:buNone/>
            </a:pPr>
            <a:r>
              <a:rPr lang="en-US" sz="1300" b="1" dirty="0">
                <a:solidFill>
                  <a:srgbClr val="327B60"/>
                </a:solidFill>
              </a:rPr>
              <a:t>Stock-out risk (≤14 days)</a:t>
            </a:r>
            <a:endParaRPr lang="en-US" sz="1300" dirty="0"/>
          </a:p>
          <a:p>
            <a:pPr indent="0" marL="0">
              <a:buNone/>
            </a:pPr>
            <a:r>
              <a:rPr lang="en-US" sz="1100" i="1" dirty="0">
                <a:solidFill>
                  <a:srgbClr val="6E665E"/>
                </a:solidFill>
              </a:rPr>
              <a:t>Protect the sale</a:t>
            </a:r>
            <a:endParaRPr lang="en-US" sz="1300" dirty="0"/>
          </a:p>
          <a:p>
            <a:pPr indent="0" marL="0">
              <a:buNone/>
            </a:pPr>
            <a:r>
              <a:rPr lang="en-US" sz="1150" dirty="0">
                <a:solidFill>
                  <a:srgbClr val="171717"/>
                </a:solidFill>
              </a:rPr>
              <a:t>Source from surplus outlets first, then replenish to demand</a:t>
            </a:r>
            <a:endParaRPr lang="en-US" sz="1300" dirty="0"/>
          </a:p>
        </p:txBody>
      </p:sp>
      <p:sp>
        <p:nvSpPr>
          <p:cNvPr id="27" name="text-315"/>
          <p:cNvSpPr txBox="1"/>
          <p:nvPr/>
        </p:nvSpPr>
        <p:spPr>
          <a:xfrm>
            <a:off x="640080" y="5230368"/>
            <a:ext cx="5486400" cy="237744"/>
          </a:xfrm>
          <a:prstGeom prst="rect">
            <a:avLst/>
          </a:prstGeom>
          <a:noFill/>
          <a:ln/>
        </p:spPr>
        <p:txBody>
          <a:bodyPr wrap="square" lIns="0" tIns="0" rIns="0" bIns="0" rtlCol="0" anchor="t"/>
          <a:lstStyle/>
          <a:p>
            <a:pPr indent="0" marL="0">
              <a:buNone/>
            </a:pPr>
            <a:r>
              <a:rPr lang="en-US" sz="1050" b="1" spc="150" kern="0" dirty="0">
                <a:solidFill>
                  <a:srgbClr val="171717"/>
                </a:solidFill>
              </a:rPr>
              <a:t>THE 8-STEP LADDER · CHEAPEST, LEAST BRAND-RISKY FIRST</a:t>
            </a:r>
            <a:endParaRPr lang="en-US" sz="1050" dirty="0"/>
          </a:p>
        </p:txBody>
      </p:sp>
      <p:sp>
        <p:nvSpPr>
          <p:cNvPr id="28" name="rect-316"/>
          <p:cNvSpPr/>
          <p:nvPr/>
        </p:nvSpPr>
        <p:spPr>
          <a:xfrm>
            <a:off x="640080" y="5504688"/>
            <a:ext cx="1188720" cy="457200"/>
          </a:xfrm>
          <a:prstGeom prst="rect">
            <a:avLst/>
          </a:prstGeom>
          <a:solidFill>
            <a:srgbClr val="327B60"/>
          </a:solidFill>
          <a:ln w="12700">
            <a:solidFill>
              <a:srgbClr val="327B60"/>
            </a:solidFill>
            <a:prstDash val="solid"/>
          </a:ln>
        </p:spPr>
      </p:sp>
      <p:sp>
        <p:nvSpPr>
          <p:cNvPr id="29" name="text-317"/>
          <p:cNvSpPr txBox="1"/>
          <p:nvPr/>
        </p:nvSpPr>
        <p:spPr>
          <a:xfrm>
            <a:off x="713232" y="5504688"/>
            <a:ext cx="1078992" cy="457200"/>
          </a:xfrm>
          <a:prstGeom prst="rect">
            <a:avLst/>
          </a:prstGeom>
          <a:noFill/>
          <a:ln/>
        </p:spPr>
        <p:txBody>
          <a:bodyPr wrap="square" lIns="0" tIns="0" rIns="0" bIns="0" rtlCol="0" anchor="ctr"/>
          <a:lstStyle/>
          <a:p>
            <a:pPr indent="0" marL="0">
              <a:buNone/>
            </a:pPr>
            <a:r>
              <a:rPr lang="en-US" sz="1050" b="1" dirty="0">
                <a:solidFill>
                  <a:srgbClr val="FFFFFF"/>
                </a:solidFill>
              </a:rPr>
              <a:t>L0  </a:t>
            </a:r>
            <a:pPr indent="0" marL="0">
              <a:buNone/>
            </a:pPr>
            <a:r>
              <a:rPr lang="en-US" sz="1050" dirty="0">
                <a:solidFill>
                  <a:srgbClr val="FFFFFF"/>
                </a:solidFill>
              </a:rPr>
              <a:t>Verify / diagnose</a:t>
            </a:r>
            <a:endParaRPr lang="en-US" sz="1050" dirty="0"/>
          </a:p>
        </p:txBody>
      </p:sp>
      <p:sp>
        <p:nvSpPr>
          <p:cNvPr id="30" name="text-318"/>
          <p:cNvSpPr txBox="1"/>
          <p:nvPr/>
        </p:nvSpPr>
        <p:spPr>
          <a:xfrm>
            <a:off x="640080" y="5989320"/>
            <a:ext cx="1188720" cy="201168"/>
          </a:xfrm>
          <a:prstGeom prst="rect">
            <a:avLst/>
          </a:prstGeom>
          <a:noFill/>
          <a:ln/>
        </p:spPr>
        <p:txBody>
          <a:bodyPr wrap="square" lIns="0" tIns="0" rIns="0" bIns="0" rtlCol="0" anchor="t"/>
          <a:lstStyle/>
          <a:p>
            <a:pPr indent="0" marL="0">
              <a:buNone/>
            </a:pPr>
            <a:r>
              <a:rPr lang="en-US" sz="1000" dirty="0">
                <a:solidFill>
                  <a:srgbClr val="6E665E"/>
                </a:solidFill>
              </a:rPr>
              <a:t>₹0</a:t>
            </a:r>
            <a:endParaRPr lang="en-US" sz="1000" dirty="0"/>
          </a:p>
        </p:txBody>
      </p:sp>
      <p:sp>
        <p:nvSpPr>
          <p:cNvPr id="31" name="rect-319"/>
          <p:cNvSpPr/>
          <p:nvPr/>
        </p:nvSpPr>
        <p:spPr>
          <a:xfrm>
            <a:off x="1852574" y="5504688"/>
            <a:ext cx="1188720" cy="457200"/>
          </a:xfrm>
          <a:prstGeom prst="rect">
            <a:avLst/>
          </a:prstGeom>
          <a:solidFill>
            <a:srgbClr val="327B60"/>
          </a:solidFill>
          <a:ln w="12700">
            <a:solidFill>
              <a:srgbClr val="327B60"/>
            </a:solidFill>
            <a:prstDash val="solid"/>
          </a:ln>
        </p:spPr>
      </p:sp>
      <p:sp>
        <p:nvSpPr>
          <p:cNvPr id="32" name="text-320"/>
          <p:cNvSpPr txBox="1"/>
          <p:nvPr/>
        </p:nvSpPr>
        <p:spPr>
          <a:xfrm>
            <a:off x="1925726" y="5504688"/>
            <a:ext cx="1078992" cy="457200"/>
          </a:xfrm>
          <a:prstGeom prst="rect">
            <a:avLst/>
          </a:prstGeom>
          <a:noFill/>
          <a:ln/>
        </p:spPr>
        <p:txBody>
          <a:bodyPr wrap="square" lIns="0" tIns="0" rIns="0" bIns="0" rtlCol="0" anchor="ctr"/>
          <a:lstStyle/>
          <a:p>
            <a:pPr indent="0" marL="0">
              <a:buNone/>
            </a:pPr>
            <a:r>
              <a:rPr lang="en-US" sz="1050" b="1" dirty="0">
                <a:solidFill>
                  <a:srgbClr val="FFFFFF"/>
                </a:solidFill>
              </a:rPr>
              <a:t>L1  </a:t>
            </a:r>
            <a:pPr indent="0" marL="0">
              <a:buNone/>
            </a:pPr>
            <a:r>
              <a:rPr lang="en-US" sz="1050" dirty="0">
                <a:solidFill>
                  <a:srgbClr val="FFFFFF"/>
                </a:solidFill>
              </a:rPr>
              <a:t>Rotate &amp; re-place</a:t>
            </a:r>
            <a:endParaRPr lang="en-US" sz="1050" dirty="0"/>
          </a:p>
        </p:txBody>
      </p:sp>
      <p:sp>
        <p:nvSpPr>
          <p:cNvPr id="33" name="text-321"/>
          <p:cNvSpPr txBox="1"/>
          <p:nvPr/>
        </p:nvSpPr>
        <p:spPr>
          <a:xfrm>
            <a:off x="1852574" y="5989320"/>
            <a:ext cx="1188720" cy="201168"/>
          </a:xfrm>
          <a:prstGeom prst="rect">
            <a:avLst/>
          </a:prstGeom>
          <a:noFill/>
          <a:ln/>
        </p:spPr>
        <p:txBody>
          <a:bodyPr wrap="square" lIns="0" tIns="0" rIns="0" bIns="0" rtlCol="0" anchor="t"/>
          <a:lstStyle/>
          <a:p>
            <a:pPr indent="0" marL="0">
              <a:buNone/>
            </a:pPr>
            <a:r>
              <a:rPr lang="en-US" sz="1000" dirty="0">
                <a:solidFill>
                  <a:srgbClr val="6E665E"/>
                </a:solidFill>
              </a:rPr>
              <a:t>₹0</a:t>
            </a:r>
            <a:endParaRPr lang="en-US" sz="1000" dirty="0"/>
          </a:p>
        </p:txBody>
      </p:sp>
      <p:sp>
        <p:nvSpPr>
          <p:cNvPr id="34" name="rect-322"/>
          <p:cNvSpPr/>
          <p:nvPr/>
        </p:nvSpPr>
        <p:spPr>
          <a:xfrm>
            <a:off x="3065069" y="5504688"/>
            <a:ext cx="1188720" cy="457200"/>
          </a:xfrm>
          <a:prstGeom prst="rect">
            <a:avLst/>
          </a:prstGeom>
          <a:solidFill>
            <a:srgbClr val="327B60"/>
          </a:solidFill>
          <a:ln w="12700">
            <a:solidFill>
              <a:srgbClr val="327B60"/>
            </a:solidFill>
            <a:prstDash val="solid"/>
          </a:ln>
        </p:spPr>
      </p:sp>
      <p:sp>
        <p:nvSpPr>
          <p:cNvPr id="35" name="text-323"/>
          <p:cNvSpPr txBox="1"/>
          <p:nvPr/>
        </p:nvSpPr>
        <p:spPr>
          <a:xfrm>
            <a:off x="3138221" y="5504688"/>
            <a:ext cx="1078992" cy="457200"/>
          </a:xfrm>
          <a:prstGeom prst="rect">
            <a:avLst/>
          </a:prstGeom>
          <a:noFill/>
          <a:ln/>
        </p:spPr>
        <p:txBody>
          <a:bodyPr wrap="square" lIns="0" tIns="0" rIns="0" bIns="0" rtlCol="0" anchor="ctr"/>
          <a:lstStyle/>
          <a:p>
            <a:pPr indent="0" marL="0">
              <a:buNone/>
            </a:pPr>
            <a:r>
              <a:rPr lang="en-US" sz="1050" b="1" dirty="0">
                <a:solidFill>
                  <a:srgbClr val="FFFFFF"/>
                </a:solidFill>
              </a:rPr>
              <a:t>L2  </a:t>
            </a:r>
            <a:pPr indent="0" marL="0">
              <a:buNone/>
            </a:pPr>
            <a:r>
              <a:rPr lang="en-US" sz="1050" dirty="0">
                <a:solidFill>
                  <a:srgbClr val="FFFFFF"/>
                </a:solidFill>
              </a:rPr>
              <a:t>Pause re-order</a:t>
            </a:r>
            <a:endParaRPr lang="en-US" sz="1050" dirty="0"/>
          </a:p>
        </p:txBody>
      </p:sp>
      <p:sp>
        <p:nvSpPr>
          <p:cNvPr id="36" name="text-324"/>
          <p:cNvSpPr txBox="1"/>
          <p:nvPr/>
        </p:nvSpPr>
        <p:spPr>
          <a:xfrm>
            <a:off x="3065069" y="5989320"/>
            <a:ext cx="1188720" cy="201168"/>
          </a:xfrm>
          <a:prstGeom prst="rect">
            <a:avLst/>
          </a:prstGeom>
          <a:noFill/>
          <a:ln/>
        </p:spPr>
        <p:txBody>
          <a:bodyPr wrap="square" lIns="0" tIns="0" rIns="0" bIns="0" rtlCol="0" anchor="t"/>
          <a:lstStyle/>
          <a:p>
            <a:pPr indent="0" marL="0">
              <a:buNone/>
            </a:pPr>
            <a:r>
              <a:rPr lang="en-US" sz="1000" dirty="0">
                <a:solidFill>
                  <a:srgbClr val="6E665E"/>
                </a:solidFill>
              </a:rPr>
              <a:t>₹0</a:t>
            </a:r>
            <a:endParaRPr lang="en-US" sz="1000" dirty="0"/>
          </a:p>
        </p:txBody>
      </p:sp>
      <p:sp>
        <p:nvSpPr>
          <p:cNvPr id="37" name="rect-325"/>
          <p:cNvSpPr/>
          <p:nvPr/>
        </p:nvSpPr>
        <p:spPr>
          <a:xfrm>
            <a:off x="4277563" y="5504688"/>
            <a:ext cx="1188720" cy="457200"/>
          </a:xfrm>
          <a:prstGeom prst="rect">
            <a:avLst/>
          </a:prstGeom>
          <a:solidFill>
            <a:srgbClr val="5E8F7A"/>
          </a:solidFill>
          <a:ln w="12700">
            <a:solidFill>
              <a:srgbClr val="5E8F7A"/>
            </a:solidFill>
            <a:prstDash val="solid"/>
          </a:ln>
        </p:spPr>
      </p:sp>
      <p:sp>
        <p:nvSpPr>
          <p:cNvPr id="38" name="text-326"/>
          <p:cNvSpPr txBox="1"/>
          <p:nvPr/>
        </p:nvSpPr>
        <p:spPr>
          <a:xfrm>
            <a:off x="4350715" y="5504688"/>
            <a:ext cx="1078992" cy="457200"/>
          </a:xfrm>
          <a:prstGeom prst="rect">
            <a:avLst/>
          </a:prstGeom>
          <a:noFill/>
          <a:ln/>
        </p:spPr>
        <p:txBody>
          <a:bodyPr wrap="square" lIns="0" tIns="0" rIns="0" bIns="0" rtlCol="0" anchor="ctr"/>
          <a:lstStyle/>
          <a:p>
            <a:pPr indent="0" marL="0">
              <a:buNone/>
            </a:pPr>
            <a:r>
              <a:rPr lang="en-US" sz="1050" b="1" dirty="0">
                <a:solidFill>
                  <a:srgbClr val="FFFFFF"/>
                </a:solidFill>
              </a:rPr>
              <a:t>L3  </a:t>
            </a:r>
            <a:pPr indent="0" marL="0">
              <a:buNone/>
            </a:pPr>
            <a:r>
              <a:rPr lang="en-US" sz="1050" dirty="0">
                <a:solidFill>
                  <a:srgbClr val="FFFFFF"/>
                </a:solidFill>
              </a:rPr>
              <a:t>Rebalance</a:t>
            </a:r>
            <a:endParaRPr lang="en-US" sz="1050" dirty="0"/>
          </a:p>
        </p:txBody>
      </p:sp>
      <p:sp>
        <p:nvSpPr>
          <p:cNvPr id="39" name="text-327"/>
          <p:cNvSpPr txBox="1"/>
          <p:nvPr/>
        </p:nvSpPr>
        <p:spPr>
          <a:xfrm>
            <a:off x="4277563" y="5989320"/>
            <a:ext cx="1188720" cy="201168"/>
          </a:xfrm>
          <a:prstGeom prst="rect">
            <a:avLst/>
          </a:prstGeom>
          <a:noFill/>
          <a:ln/>
        </p:spPr>
        <p:txBody>
          <a:bodyPr wrap="square" lIns="0" tIns="0" rIns="0" bIns="0" rtlCol="0" anchor="t"/>
          <a:lstStyle/>
          <a:p>
            <a:pPr indent="0" marL="0">
              <a:buNone/>
            </a:pPr>
            <a:r>
              <a:rPr lang="en-US" sz="1000" dirty="0">
                <a:solidFill>
                  <a:srgbClr val="6E665E"/>
                </a:solidFill>
              </a:rPr>
              <a:t>~3% logistics</a:t>
            </a:r>
            <a:endParaRPr lang="en-US" sz="1000" dirty="0"/>
          </a:p>
        </p:txBody>
      </p:sp>
      <p:sp>
        <p:nvSpPr>
          <p:cNvPr id="40" name="rect-328"/>
          <p:cNvSpPr/>
          <p:nvPr/>
        </p:nvSpPr>
        <p:spPr>
          <a:xfrm>
            <a:off x="5490058" y="5504688"/>
            <a:ext cx="1188720" cy="457200"/>
          </a:xfrm>
          <a:prstGeom prst="rect">
            <a:avLst/>
          </a:prstGeom>
          <a:solidFill>
            <a:srgbClr val="A9A096"/>
          </a:solidFill>
          <a:ln w="12700">
            <a:solidFill>
              <a:srgbClr val="A9A096"/>
            </a:solidFill>
            <a:prstDash val="solid"/>
          </a:ln>
        </p:spPr>
      </p:sp>
      <p:sp>
        <p:nvSpPr>
          <p:cNvPr id="41" name="text-329"/>
          <p:cNvSpPr txBox="1"/>
          <p:nvPr/>
        </p:nvSpPr>
        <p:spPr>
          <a:xfrm>
            <a:off x="5563210" y="5504688"/>
            <a:ext cx="1078992" cy="457200"/>
          </a:xfrm>
          <a:prstGeom prst="rect">
            <a:avLst/>
          </a:prstGeom>
          <a:noFill/>
          <a:ln/>
        </p:spPr>
        <p:txBody>
          <a:bodyPr wrap="square" lIns="0" tIns="0" rIns="0" bIns="0" rtlCol="0" anchor="ctr"/>
          <a:lstStyle/>
          <a:p>
            <a:pPr indent="0" marL="0">
              <a:buNone/>
            </a:pPr>
            <a:r>
              <a:rPr lang="en-US" sz="1050" b="1" dirty="0">
                <a:solidFill>
                  <a:srgbClr val="171717"/>
                </a:solidFill>
              </a:rPr>
              <a:t>L4  </a:t>
            </a:r>
            <a:pPr indent="0" marL="0">
              <a:buNone/>
            </a:pPr>
            <a:r>
              <a:rPr lang="en-US" sz="1050" dirty="0">
                <a:solidFill>
                  <a:srgbClr val="171717"/>
                </a:solidFill>
              </a:rPr>
              <a:t>Activate demand</a:t>
            </a:r>
            <a:endParaRPr lang="en-US" sz="1050" dirty="0"/>
          </a:p>
        </p:txBody>
      </p:sp>
      <p:sp>
        <p:nvSpPr>
          <p:cNvPr id="42" name="text-330"/>
          <p:cNvSpPr txBox="1"/>
          <p:nvPr/>
        </p:nvSpPr>
        <p:spPr>
          <a:xfrm>
            <a:off x="5490058" y="5989320"/>
            <a:ext cx="1188720" cy="201168"/>
          </a:xfrm>
          <a:prstGeom prst="rect">
            <a:avLst/>
          </a:prstGeom>
          <a:noFill/>
          <a:ln/>
        </p:spPr>
        <p:txBody>
          <a:bodyPr wrap="square" lIns="0" tIns="0" rIns="0" bIns="0" rtlCol="0" anchor="t"/>
          <a:lstStyle/>
          <a:p>
            <a:pPr indent="0" marL="0">
              <a:buNone/>
            </a:pPr>
            <a:r>
              <a:rPr lang="en-US" sz="1000" dirty="0">
                <a:solidFill>
                  <a:srgbClr val="6E665E"/>
                </a:solidFill>
              </a:rPr>
              <a:t>Budget</a:t>
            </a:r>
            <a:endParaRPr lang="en-US" sz="1000" dirty="0"/>
          </a:p>
        </p:txBody>
      </p:sp>
      <p:sp>
        <p:nvSpPr>
          <p:cNvPr id="43" name="rect-331"/>
          <p:cNvSpPr/>
          <p:nvPr/>
        </p:nvSpPr>
        <p:spPr>
          <a:xfrm>
            <a:off x="6702552" y="5504688"/>
            <a:ext cx="1188720" cy="457200"/>
          </a:xfrm>
          <a:prstGeom prst="rect">
            <a:avLst/>
          </a:prstGeom>
          <a:solidFill>
            <a:srgbClr val="A9A096"/>
          </a:solidFill>
          <a:ln w="12700">
            <a:solidFill>
              <a:srgbClr val="A9A096"/>
            </a:solidFill>
            <a:prstDash val="solid"/>
          </a:ln>
        </p:spPr>
      </p:sp>
      <p:sp>
        <p:nvSpPr>
          <p:cNvPr id="44" name="text-332"/>
          <p:cNvSpPr txBox="1"/>
          <p:nvPr/>
        </p:nvSpPr>
        <p:spPr>
          <a:xfrm>
            <a:off x="6775704" y="5504688"/>
            <a:ext cx="1078992" cy="457200"/>
          </a:xfrm>
          <a:prstGeom prst="rect">
            <a:avLst/>
          </a:prstGeom>
          <a:noFill/>
          <a:ln/>
        </p:spPr>
        <p:txBody>
          <a:bodyPr wrap="square" lIns="0" tIns="0" rIns="0" bIns="0" rtlCol="0" anchor="ctr"/>
          <a:lstStyle/>
          <a:p>
            <a:pPr indent="0" marL="0">
              <a:buNone/>
            </a:pPr>
            <a:r>
              <a:rPr lang="en-US" sz="1050" b="1" dirty="0">
                <a:solidFill>
                  <a:srgbClr val="171717"/>
                </a:solidFill>
              </a:rPr>
              <a:t>L5  </a:t>
            </a:r>
            <a:pPr indent="0" marL="0">
              <a:buNone/>
            </a:pPr>
            <a:r>
              <a:rPr lang="en-US" sz="1050" dirty="0">
                <a:solidFill>
                  <a:srgbClr val="171717"/>
                </a:solidFill>
              </a:rPr>
              <a:t>Approved bundle</a:t>
            </a:r>
            <a:endParaRPr lang="en-US" sz="1050" dirty="0"/>
          </a:p>
        </p:txBody>
      </p:sp>
      <p:sp>
        <p:nvSpPr>
          <p:cNvPr id="45" name="text-333"/>
          <p:cNvSpPr txBox="1"/>
          <p:nvPr/>
        </p:nvSpPr>
        <p:spPr>
          <a:xfrm>
            <a:off x="6702552" y="5989320"/>
            <a:ext cx="1188720" cy="201168"/>
          </a:xfrm>
          <a:prstGeom prst="rect">
            <a:avLst/>
          </a:prstGeom>
          <a:noFill/>
          <a:ln/>
        </p:spPr>
        <p:txBody>
          <a:bodyPr wrap="square" lIns="0" tIns="0" rIns="0" bIns="0" rtlCol="0" anchor="t"/>
          <a:lstStyle/>
          <a:p>
            <a:pPr indent="0" marL="0">
              <a:buNone/>
            </a:pPr>
            <a:r>
              <a:rPr lang="en-US" sz="1000" dirty="0">
                <a:solidFill>
                  <a:srgbClr val="6E665E"/>
                </a:solidFill>
              </a:rPr>
              <a:t>Bundle cost</a:t>
            </a:r>
            <a:endParaRPr lang="en-US" sz="1000" dirty="0"/>
          </a:p>
        </p:txBody>
      </p:sp>
      <p:sp>
        <p:nvSpPr>
          <p:cNvPr id="46" name="rect-334"/>
          <p:cNvSpPr/>
          <p:nvPr/>
        </p:nvSpPr>
        <p:spPr>
          <a:xfrm>
            <a:off x="7915046" y="5504688"/>
            <a:ext cx="1188720" cy="457200"/>
          </a:xfrm>
          <a:prstGeom prst="rect">
            <a:avLst/>
          </a:prstGeom>
          <a:solidFill>
            <a:srgbClr val="B9808F"/>
          </a:solidFill>
          <a:ln w="12700">
            <a:solidFill>
              <a:srgbClr val="B9808F"/>
            </a:solidFill>
            <a:prstDash val="solid"/>
          </a:ln>
        </p:spPr>
      </p:sp>
      <p:sp>
        <p:nvSpPr>
          <p:cNvPr id="47" name="text-335"/>
          <p:cNvSpPr txBox="1"/>
          <p:nvPr/>
        </p:nvSpPr>
        <p:spPr>
          <a:xfrm>
            <a:off x="7988198" y="5504688"/>
            <a:ext cx="1078992" cy="457200"/>
          </a:xfrm>
          <a:prstGeom prst="rect">
            <a:avLst/>
          </a:prstGeom>
          <a:noFill/>
          <a:ln/>
        </p:spPr>
        <p:txBody>
          <a:bodyPr wrap="square" lIns="0" tIns="0" rIns="0" bIns="0" rtlCol="0" anchor="ctr"/>
          <a:lstStyle/>
          <a:p>
            <a:pPr indent="0" marL="0">
              <a:buNone/>
            </a:pPr>
            <a:r>
              <a:rPr lang="en-US" sz="1050" b="1" dirty="0">
                <a:solidFill>
                  <a:srgbClr val="FFFFFF"/>
                </a:solidFill>
              </a:rPr>
              <a:t>L6  </a:t>
            </a:r>
            <a:pPr indent="0" marL="0">
              <a:buNone/>
            </a:pPr>
            <a:r>
              <a:rPr lang="en-US" sz="1050" dirty="0">
                <a:solidFill>
                  <a:srgbClr val="FFFFFF"/>
                </a:solidFill>
              </a:rPr>
              <a:t>Approved scheme</a:t>
            </a:r>
            <a:endParaRPr lang="en-US" sz="1050" dirty="0"/>
          </a:p>
        </p:txBody>
      </p:sp>
      <p:sp>
        <p:nvSpPr>
          <p:cNvPr id="48" name="text-336"/>
          <p:cNvSpPr txBox="1"/>
          <p:nvPr/>
        </p:nvSpPr>
        <p:spPr>
          <a:xfrm>
            <a:off x="7915046" y="5989320"/>
            <a:ext cx="1188720" cy="201168"/>
          </a:xfrm>
          <a:prstGeom prst="rect">
            <a:avLst/>
          </a:prstGeom>
          <a:noFill/>
          <a:ln/>
        </p:spPr>
        <p:txBody>
          <a:bodyPr wrap="square" lIns="0" tIns="0" rIns="0" bIns="0" rtlCol="0" anchor="t"/>
          <a:lstStyle/>
          <a:p>
            <a:pPr indent="0" marL="0">
              <a:buNone/>
            </a:pPr>
            <a:r>
              <a:rPr lang="en-US" sz="1000" dirty="0">
                <a:solidFill>
                  <a:srgbClr val="6E665E"/>
                </a:solidFill>
              </a:rPr>
              <a:t>Trade spend</a:t>
            </a:r>
            <a:endParaRPr lang="en-US" sz="1000" dirty="0"/>
          </a:p>
        </p:txBody>
      </p:sp>
      <p:sp>
        <p:nvSpPr>
          <p:cNvPr id="49" name="rect-337"/>
          <p:cNvSpPr/>
          <p:nvPr/>
        </p:nvSpPr>
        <p:spPr>
          <a:xfrm>
            <a:off x="9127541" y="5504688"/>
            <a:ext cx="1188720" cy="457200"/>
          </a:xfrm>
          <a:prstGeom prst="rect">
            <a:avLst/>
          </a:prstGeom>
          <a:solidFill>
            <a:srgbClr val="8C3A52"/>
          </a:solidFill>
          <a:ln w="12700">
            <a:solidFill>
              <a:srgbClr val="8C3A52"/>
            </a:solidFill>
            <a:prstDash val="solid"/>
          </a:ln>
        </p:spPr>
      </p:sp>
      <p:sp>
        <p:nvSpPr>
          <p:cNvPr id="50" name="text-338"/>
          <p:cNvSpPr txBox="1"/>
          <p:nvPr/>
        </p:nvSpPr>
        <p:spPr>
          <a:xfrm>
            <a:off x="9200693" y="5504688"/>
            <a:ext cx="1078992" cy="457200"/>
          </a:xfrm>
          <a:prstGeom prst="rect">
            <a:avLst/>
          </a:prstGeom>
          <a:noFill/>
          <a:ln/>
        </p:spPr>
        <p:txBody>
          <a:bodyPr wrap="square" lIns="0" tIns="0" rIns="0" bIns="0" rtlCol="0" anchor="ctr"/>
          <a:lstStyle/>
          <a:p>
            <a:pPr indent="0" marL="0">
              <a:buNone/>
            </a:pPr>
            <a:r>
              <a:rPr lang="en-US" sz="1050" b="1" dirty="0">
                <a:solidFill>
                  <a:srgbClr val="FFFFFF"/>
                </a:solidFill>
              </a:rPr>
              <a:t>L7  </a:t>
            </a:r>
            <a:pPr indent="0" marL="0">
              <a:buNone/>
            </a:pPr>
            <a:r>
              <a:rPr lang="en-US" sz="1050" dirty="0">
                <a:solidFill>
                  <a:srgbClr val="FFFFFF"/>
                </a:solidFill>
              </a:rPr>
              <a:t>End-of-life</a:t>
            </a:r>
            <a:endParaRPr lang="en-US" sz="1050" dirty="0"/>
          </a:p>
        </p:txBody>
      </p:sp>
      <p:sp>
        <p:nvSpPr>
          <p:cNvPr id="51" name="text-339"/>
          <p:cNvSpPr txBox="1"/>
          <p:nvPr/>
        </p:nvSpPr>
        <p:spPr>
          <a:xfrm>
            <a:off x="9127541" y="5989320"/>
            <a:ext cx="1188720" cy="201168"/>
          </a:xfrm>
          <a:prstGeom prst="rect">
            <a:avLst/>
          </a:prstGeom>
          <a:noFill/>
          <a:ln/>
        </p:spPr>
        <p:txBody>
          <a:bodyPr wrap="square" lIns="0" tIns="0" rIns="0" bIns="0" rtlCol="0" anchor="t"/>
          <a:lstStyle/>
          <a:p>
            <a:pPr indent="0" marL="0">
              <a:buNone/>
            </a:pPr>
            <a:r>
              <a:rPr lang="en-US" sz="1000" dirty="0">
                <a:solidFill>
                  <a:srgbClr val="6E665E"/>
                </a:solidFill>
              </a:rPr>
              <a:t>~50% margin</a:t>
            </a:r>
            <a:endParaRPr lang="en-US" sz="1000" dirty="0"/>
          </a:p>
        </p:txBody>
      </p:sp>
      <p:sp>
        <p:nvSpPr>
          <p:cNvPr id="52" name="rect-340"/>
          <p:cNvSpPr/>
          <p:nvPr/>
        </p:nvSpPr>
        <p:spPr>
          <a:xfrm>
            <a:off x="10340035" y="5504688"/>
            <a:ext cx="1188720" cy="457200"/>
          </a:xfrm>
          <a:prstGeom prst="rect">
            <a:avLst/>
          </a:prstGeom>
          <a:solidFill>
            <a:srgbClr val="65172F"/>
          </a:solidFill>
          <a:ln w="12700">
            <a:solidFill>
              <a:srgbClr val="65172F"/>
            </a:solidFill>
            <a:prstDash val="solid"/>
          </a:ln>
        </p:spPr>
      </p:sp>
      <p:sp>
        <p:nvSpPr>
          <p:cNvPr id="53" name="text-341"/>
          <p:cNvSpPr txBox="1"/>
          <p:nvPr/>
        </p:nvSpPr>
        <p:spPr>
          <a:xfrm>
            <a:off x="10413187" y="5504688"/>
            <a:ext cx="1078992" cy="457200"/>
          </a:xfrm>
          <a:prstGeom prst="rect">
            <a:avLst/>
          </a:prstGeom>
          <a:noFill/>
          <a:ln/>
        </p:spPr>
        <p:txBody>
          <a:bodyPr wrap="square" lIns="0" tIns="0" rIns="0" bIns="0" rtlCol="0" anchor="ctr"/>
          <a:lstStyle/>
          <a:p>
            <a:pPr indent="0" marL="0">
              <a:buNone/>
            </a:pPr>
            <a:r>
              <a:rPr lang="en-US" sz="1050" b="1" dirty="0">
                <a:solidFill>
                  <a:srgbClr val="FFFFFF"/>
                </a:solidFill>
              </a:rPr>
              <a:t>L8  </a:t>
            </a:r>
            <a:pPr indent="0" marL="0">
              <a:buNone/>
            </a:pPr>
            <a:r>
              <a:rPr lang="en-US" sz="1050" dirty="0">
                <a:solidFill>
                  <a:srgbClr val="FFFFFF"/>
                </a:solidFill>
              </a:rPr>
              <a:t>Return</a:t>
            </a:r>
            <a:endParaRPr lang="en-US" sz="1050" dirty="0"/>
          </a:p>
        </p:txBody>
      </p:sp>
      <p:sp>
        <p:nvSpPr>
          <p:cNvPr id="54" name="text-342"/>
          <p:cNvSpPr txBox="1"/>
          <p:nvPr/>
        </p:nvSpPr>
        <p:spPr>
          <a:xfrm>
            <a:off x="10340035" y="5989320"/>
            <a:ext cx="1188720" cy="201168"/>
          </a:xfrm>
          <a:prstGeom prst="rect">
            <a:avLst/>
          </a:prstGeom>
          <a:noFill/>
          <a:ln/>
        </p:spPr>
        <p:txBody>
          <a:bodyPr wrap="square" lIns="0" tIns="0" rIns="0" bIns="0" rtlCol="0" anchor="t"/>
          <a:lstStyle/>
          <a:p>
            <a:pPr indent="0" marL="0">
              <a:buNone/>
            </a:pPr>
            <a:r>
              <a:rPr lang="en-US" sz="1000" dirty="0">
                <a:solidFill>
                  <a:srgbClr val="6E665E"/>
                </a:solidFill>
              </a:rPr>
              <a:t>Full loss</a:t>
            </a:r>
            <a:endParaRPr lang="en-US" sz="1000" dirty="0"/>
          </a:p>
        </p:txBody>
      </p:sp>
      <p:sp>
        <p:nvSpPr>
          <p:cNvPr id="55" name="text-343"/>
          <p:cNvSpPr txBox="1"/>
          <p:nvPr/>
        </p:nvSpPr>
        <p:spPr>
          <a:xfrm>
            <a:off x="7366406" y="5230368"/>
            <a:ext cx="2743200" cy="228600"/>
          </a:xfrm>
          <a:prstGeom prst="rect">
            <a:avLst/>
          </a:prstGeom>
          <a:noFill/>
          <a:ln/>
        </p:spPr>
        <p:txBody>
          <a:bodyPr wrap="square" lIns="0" tIns="0" rIns="0" bIns="0" rtlCol="0" anchor="t"/>
          <a:lstStyle/>
          <a:p>
            <a:pPr algn="r" indent="0" marL="0">
              <a:buNone/>
            </a:pPr>
            <a:r>
              <a:rPr lang="en-US" sz="1050" b="1" dirty="0">
                <a:solidFill>
                  <a:srgbClr val="65172F"/>
                </a:solidFill>
              </a:rPr>
              <a:t>L6: last resort, never Luxe or Derma</a:t>
            </a:r>
            <a:endParaRPr lang="en-US" sz="1050" dirty="0"/>
          </a:p>
        </p:txBody>
      </p:sp>
      <p:sp>
        <p:nvSpPr>
          <p:cNvPr id="25" name="Slide Number Placeholder 0"/>
          <p:cNvSpPr>
            <a:spLocks noGrp="1"/>
          </p:cNvSpPr>
          <p:nvPr>
            <p:ph type="sldNum" sz="quarter" idx="4294967295"/>
          </p:nvPr>
        </p:nvSpPr>
        <p:spPr>
          <a:xfrm>
            <a:off x="11091672"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665E"/>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body" hasCustomPrompt="1"/>
          </p:nvPr>
        </p:nvSpPr>
        <p:spPr>
          <a:xfrm>
            <a:off x="640080" y="457200"/>
            <a:ext cx="8686800" cy="237744"/>
          </a:xfrm>
          <a:prstGeom prst="rect">
            <a:avLst/>
          </a:prstGeom>
          <a:noFill/>
          <a:ln/>
        </p:spPr>
        <p:txBody>
          <a:bodyPr wrap="square" lIns="0" tIns="0" rIns="0" bIns="0" rtlCol="0" anchor="t"/>
          <a:lstStyle/>
          <a:p>
            <a:pPr indent="0" marL="0">
              <a:buNone/>
            </a:pPr>
            <a:r>
              <a:rPr lang="en-US" sz="1100" b="1" spc="200" kern="0" dirty="0">
                <a:solidFill>
                  <a:srgbClr val="65172F"/>
                </a:solidFill>
              </a:rPr>
              <a:t>IN THE FIELD</a:t>
            </a:r>
            <a:endParaRPr lang="en-US" sz="1100" dirty="0"/>
          </a:p>
        </p:txBody>
      </p:sp>
      <p:sp>
        <p:nvSpPr>
          <p:cNvPr id="3" name="Text 0"/>
          <p:cNvSpPr/>
          <p:nvPr>
            <p:ph idx="102" type="title" hasCustomPrompt="1"/>
          </p:nvPr>
        </p:nvSpPr>
        <p:spPr>
          <a:xfrm>
            <a:off x="640080" y="749808"/>
            <a:ext cx="9418320" cy="1005840"/>
          </a:xfrm>
          <a:prstGeom prst="rect">
            <a:avLst/>
          </a:prstGeom>
          <a:noFill/>
          <a:ln/>
        </p:spPr>
        <p:txBody>
          <a:bodyPr wrap="square" lIns="0" tIns="0" rIns="0" bIns="0" rtlCol="0" anchor="t"/>
          <a:lstStyle/>
          <a:p>
            <a:pPr algn="l" indent="0" marL="0">
              <a:lnSpc>
                <a:spcPct val="95000"/>
              </a:lnSpc>
              <a:buNone/>
            </a:pPr>
            <a:r>
              <a:rPr lang="en-US" sz="3000" b="1" dirty="0">
                <a:solidFill>
                  <a:srgbClr val="171717"/>
                </a:solidFill>
                <a:latin typeface="Aptos Display" pitchFamily="34" charset="0"/>
                <a:ea typeface="Aptos Display" pitchFamily="34" charset="-122"/>
                <a:cs typeface="Aptos Display" pitchFamily="34" charset="-120"/>
              </a:rPr>
              <a:t>Four outlets, four different right answers</a:t>
            </a:r>
            <a:endParaRPr lang="en-US" sz="3000" dirty="0"/>
          </a:p>
        </p:txBody>
      </p:sp>
      <p:sp>
        <p:nvSpPr>
          <p:cNvPr id="4" name="Text 0"/>
          <p:cNvSpPr/>
          <p:nvPr>
            <p:ph idx="103" type="body" hasCustomPrompt="1"/>
          </p:nvPr>
        </p:nvSpPr>
        <p:spPr>
          <a:xfrm>
            <a:off x="640080" y="6355080"/>
            <a:ext cx="9189720" cy="347472"/>
          </a:xfrm>
          <a:prstGeom prst="rect">
            <a:avLst/>
          </a:prstGeom>
          <a:noFill/>
          <a:ln/>
        </p:spPr>
        <p:txBody>
          <a:bodyPr wrap="square" lIns="0" tIns="0" rIns="0" bIns="0" rtlCol="0" anchor="t"/>
          <a:lstStyle/>
          <a:p>
            <a:pPr indent="0" marL="0">
              <a:buNone/>
            </a:pPr>
            <a:r>
              <a:rPr lang="en-US" sz="1000" dirty="0">
                <a:solidFill>
                  <a:srgbClr val="6E665E"/>
                </a:solidFill>
              </a:rPr>
              <a:t>All four examples are seeded scenarios in the live prototype (synthetic data). Transfers are capped at what the recipient can sell before the batch's buffer date, so waste is never pushed downstream.</a:t>
            </a:r>
            <a:endParaRPr lang="en-US" sz="1000" dirty="0"/>
          </a:p>
        </p:txBody>
      </p:sp>
      <p:sp>
        <p:nvSpPr>
          <p:cNvPr id="6" name="text-344"/>
          <p:cNvSpPr txBox="1"/>
          <p:nvPr/>
        </p:nvSpPr>
        <p:spPr>
          <a:xfrm>
            <a:off x="640080" y="1810512"/>
            <a:ext cx="2743200" cy="237744"/>
          </a:xfrm>
          <a:prstGeom prst="rect">
            <a:avLst/>
          </a:prstGeom>
          <a:noFill/>
          <a:ln/>
        </p:spPr>
        <p:txBody>
          <a:bodyPr wrap="square" lIns="0" tIns="0" rIns="0" bIns="0" rtlCol="0" anchor="t"/>
          <a:lstStyle/>
          <a:p>
            <a:pPr indent="0" marL="0">
              <a:buNone/>
            </a:pPr>
            <a:r>
              <a:rPr lang="en-US" sz="1050" b="1" spc="150" kern="0" dirty="0">
                <a:solidFill>
                  <a:srgbClr val="6E665E"/>
                </a:solidFill>
              </a:rPr>
              <a:t>OUTLET</a:t>
            </a:r>
            <a:endParaRPr lang="en-US" sz="1050" dirty="0"/>
          </a:p>
        </p:txBody>
      </p:sp>
      <p:sp>
        <p:nvSpPr>
          <p:cNvPr id="7" name="text-345"/>
          <p:cNvSpPr txBox="1"/>
          <p:nvPr/>
        </p:nvSpPr>
        <p:spPr>
          <a:xfrm>
            <a:off x="2880360" y="1810512"/>
            <a:ext cx="2743200" cy="237744"/>
          </a:xfrm>
          <a:prstGeom prst="rect">
            <a:avLst/>
          </a:prstGeom>
          <a:noFill/>
          <a:ln/>
        </p:spPr>
        <p:txBody>
          <a:bodyPr wrap="square" lIns="0" tIns="0" rIns="0" bIns="0" rtlCol="0" anchor="t"/>
          <a:lstStyle/>
          <a:p>
            <a:pPr indent="0" marL="0">
              <a:buNone/>
            </a:pPr>
            <a:r>
              <a:rPr lang="en-US" sz="1050" b="1" spc="150" kern="0" dirty="0">
                <a:solidFill>
                  <a:srgbClr val="6E665E"/>
                </a:solidFill>
              </a:rPr>
              <a:t>BEFORE</a:t>
            </a:r>
            <a:endParaRPr lang="en-US" sz="1050" dirty="0"/>
          </a:p>
        </p:txBody>
      </p:sp>
      <p:sp>
        <p:nvSpPr>
          <p:cNvPr id="8" name="text-346"/>
          <p:cNvSpPr txBox="1"/>
          <p:nvPr/>
        </p:nvSpPr>
        <p:spPr>
          <a:xfrm>
            <a:off x="6537960" y="1810512"/>
            <a:ext cx="2743200" cy="237744"/>
          </a:xfrm>
          <a:prstGeom prst="rect">
            <a:avLst/>
          </a:prstGeom>
          <a:noFill/>
          <a:ln/>
        </p:spPr>
        <p:txBody>
          <a:bodyPr wrap="square" lIns="0" tIns="0" rIns="0" bIns="0" rtlCol="0" anchor="t"/>
          <a:lstStyle/>
          <a:p>
            <a:pPr indent="0" marL="0">
              <a:buNone/>
            </a:pPr>
            <a:r>
              <a:rPr lang="en-US" sz="1050" b="1" spc="150" kern="0" dirty="0">
                <a:solidFill>
                  <a:srgbClr val="6E665E"/>
                </a:solidFill>
              </a:rPr>
              <a:t>WHAT SMARTSELL RECOMMENDS</a:t>
            </a:r>
            <a:endParaRPr lang="en-US" sz="1050" dirty="0"/>
          </a:p>
        </p:txBody>
      </p:sp>
      <p:sp>
        <p:nvSpPr>
          <p:cNvPr id="9" name="text-347"/>
          <p:cNvSpPr txBox="1"/>
          <p:nvPr/>
        </p:nvSpPr>
        <p:spPr>
          <a:xfrm>
            <a:off x="9646920" y="1810512"/>
            <a:ext cx="2743200" cy="237744"/>
          </a:xfrm>
          <a:prstGeom prst="rect">
            <a:avLst/>
          </a:prstGeom>
          <a:noFill/>
          <a:ln/>
        </p:spPr>
        <p:txBody>
          <a:bodyPr wrap="square" lIns="0" tIns="0" rIns="0" bIns="0" rtlCol="0" anchor="t"/>
          <a:lstStyle/>
          <a:p>
            <a:pPr indent="0" marL="0">
              <a:buNone/>
            </a:pPr>
            <a:r>
              <a:rPr lang="en-US" sz="1050" b="1" spc="150" kern="0" dirty="0">
                <a:solidFill>
                  <a:srgbClr val="6E665E"/>
                </a:solidFill>
              </a:rPr>
              <a:t>AFTER</a:t>
            </a:r>
            <a:endParaRPr lang="en-US" sz="1050" dirty="0"/>
          </a:p>
        </p:txBody>
      </p:sp>
      <p:sp>
        <p:nvSpPr>
          <p:cNvPr id="10" name="rect-348"/>
          <p:cNvSpPr/>
          <p:nvPr/>
        </p:nvSpPr>
        <p:spPr>
          <a:xfrm>
            <a:off x="530352" y="2048256"/>
            <a:ext cx="11130991" cy="950976"/>
          </a:xfrm>
          <a:prstGeom prst="rect">
            <a:avLst/>
          </a:prstGeom>
          <a:solidFill>
            <a:srgbClr val="F7F5F1"/>
          </a:solidFill>
          <a:ln w="12700">
            <a:solidFill>
              <a:srgbClr val="F7F5F1"/>
            </a:solidFill>
            <a:prstDash val="solid"/>
          </a:ln>
        </p:spPr>
      </p:sp>
      <p:sp>
        <p:nvSpPr>
          <p:cNvPr id="11" name="text-349"/>
          <p:cNvSpPr txBox="1"/>
          <p:nvPr/>
        </p:nvSpPr>
        <p:spPr>
          <a:xfrm>
            <a:off x="640080" y="2148840"/>
            <a:ext cx="2148840" cy="457200"/>
          </a:xfrm>
          <a:prstGeom prst="rect">
            <a:avLst/>
          </a:prstGeom>
          <a:noFill/>
          <a:ln/>
        </p:spPr>
        <p:txBody>
          <a:bodyPr wrap="square" lIns="0" tIns="0" rIns="0" bIns="0" rtlCol="0" anchor="t"/>
          <a:lstStyle/>
          <a:p>
            <a:pPr indent="0" marL="0">
              <a:buNone/>
            </a:pPr>
            <a:r>
              <a:rPr lang="en-US" sz="1400" b="1" dirty="0">
                <a:solidFill>
                  <a:srgbClr val="171717"/>
                </a:solidFill>
              </a:rPr>
              <a:t>Shree Beauty</a:t>
            </a:r>
            <a:endParaRPr lang="en-US" sz="1400" dirty="0"/>
          </a:p>
        </p:txBody>
      </p:sp>
      <p:sp>
        <p:nvSpPr>
          <p:cNvPr id="12" name="text-350"/>
          <p:cNvSpPr txBox="1"/>
          <p:nvPr/>
        </p:nvSpPr>
        <p:spPr>
          <a:xfrm>
            <a:off x="640080" y="2670048"/>
            <a:ext cx="2148840" cy="228600"/>
          </a:xfrm>
          <a:prstGeom prst="rect">
            <a:avLst/>
          </a:prstGeom>
          <a:noFill/>
          <a:ln/>
        </p:spPr>
        <p:txBody>
          <a:bodyPr wrap="square" lIns="0" tIns="0" rIns="0" bIns="0" rtlCol="0" anchor="t"/>
          <a:lstStyle/>
          <a:p>
            <a:pPr indent="0" marL="0">
              <a:buNone/>
            </a:pPr>
            <a:r>
              <a:rPr lang="en-US" sz="950" b="1" spc="100" kern="0" dirty="0">
                <a:solidFill>
                  <a:srgbClr val="65172F"/>
                </a:solidFill>
              </a:rPr>
              <a:t>ANDHERI · NEAR-EXPIRY</a:t>
            </a:r>
            <a:endParaRPr lang="en-US" sz="950" dirty="0"/>
          </a:p>
        </p:txBody>
      </p:sp>
      <p:sp>
        <p:nvSpPr>
          <p:cNvPr id="13" name="text-351"/>
          <p:cNvSpPr txBox="1"/>
          <p:nvPr/>
        </p:nvSpPr>
        <p:spPr>
          <a:xfrm>
            <a:off x="2880360" y="2121408"/>
            <a:ext cx="2743200" cy="457200"/>
          </a:xfrm>
          <a:prstGeom prst="rect">
            <a:avLst/>
          </a:prstGeom>
          <a:noFill/>
          <a:ln/>
        </p:spPr>
        <p:txBody>
          <a:bodyPr wrap="square" lIns="0" tIns="0" rIns="0" bIns="0" rtlCol="0" anchor="t"/>
          <a:lstStyle/>
          <a:p>
            <a:pPr indent="0" marL="0">
              <a:buNone/>
            </a:pPr>
            <a:r>
              <a:rPr lang="en-US" sz="2400" b="1" dirty="0">
                <a:solidFill>
                  <a:srgbClr val="6E665E"/>
                </a:solidFill>
                <a:latin typeface="Aptos Display" pitchFamily="34" charset="0"/>
                <a:ea typeface="Aptos Display" pitchFamily="34" charset="-122"/>
                <a:cs typeface="Aptos Display" pitchFamily="34" charset="-120"/>
              </a:rPr>
              <a:t>₹14,700</a:t>
            </a:r>
            <a:endParaRPr lang="en-US" sz="2400" dirty="0"/>
          </a:p>
        </p:txBody>
      </p:sp>
      <p:sp>
        <p:nvSpPr>
          <p:cNvPr id="14" name="text-352"/>
          <p:cNvSpPr txBox="1"/>
          <p:nvPr/>
        </p:nvSpPr>
        <p:spPr>
          <a:xfrm>
            <a:off x="2880360" y="2578608"/>
            <a:ext cx="3108960" cy="384048"/>
          </a:xfrm>
          <a:prstGeom prst="rect">
            <a:avLst/>
          </a:prstGeom>
          <a:noFill/>
          <a:ln/>
        </p:spPr>
        <p:txBody>
          <a:bodyPr wrap="square" lIns="0" tIns="0" rIns="0" bIns="0" rtlCol="0" anchor="t"/>
          <a:lstStyle/>
          <a:p>
            <a:pPr indent="0" marL="0">
              <a:buNone/>
            </a:pPr>
            <a:r>
              <a:rPr lang="en-US" sz="1100" dirty="0">
                <a:solidFill>
                  <a:srgbClr val="6E665E"/>
                </a:solidFill>
              </a:rPr>
              <a:t>at risk: ≈70 of 120 shampoo units won't sell in time</a:t>
            </a:r>
            <a:endParaRPr lang="en-US" sz="1100" dirty="0"/>
          </a:p>
        </p:txBody>
      </p:sp>
      <p:sp>
        <p:nvSpPr>
          <p:cNvPr id="15" name="line-353"/>
          <p:cNvSpPr/>
          <p:nvPr/>
        </p:nvSpPr>
        <p:spPr>
          <a:xfrm>
            <a:off x="6035040" y="2505456"/>
            <a:ext cx="365760" cy="0"/>
          </a:xfrm>
          <a:prstGeom prst="line">
            <a:avLst/>
          </a:prstGeom>
          <a:noFill/>
          <a:ln w="19050">
            <a:solidFill>
              <a:srgbClr val="171717"/>
            </a:solidFill>
            <a:prstDash val="solid"/>
            <a:tailEnd type="triangle"/>
          </a:ln>
        </p:spPr>
      </p:sp>
      <p:sp>
        <p:nvSpPr>
          <p:cNvPr id="16" name="text-354"/>
          <p:cNvSpPr txBox="1"/>
          <p:nvPr/>
        </p:nvSpPr>
        <p:spPr>
          <a:xfrm>
            <a:off x="6537960" y="2139696"/>
            <a:ext cx="2880360" cy="822960"/>
          </a:xfrm>
          <a:prstGeom prst="rect">
            <a:avLst/>
          </a:prstGeom>
          <a:noFill/>
          <a:ln/>
        </p:spPr>
        <p:txBody>
          <a:bodyPr wrap="square" lIns="0" tIns="0" rIns="0" bIns="0" rtlCol="0" anchor="ctr"/>
          <a:lstStyle/>
          <a:p>
            <a:pPr indent="0" marL="0">
              <a:buNone/>
            </a:pPr>
            <a:r>
              <a:rPr lang="en-US" sz="1200" dirty="0">
                <a:solidFill>
                  <a:srgbClr val="171717"/>
                </a:solidFill>
              </a:rPr>
              <a:t>Pause re-order (retailer asked for 24 more) and transfer 66 units to Glow Chemist, 8 days from running out</a:t>
            </a:r>
            <a:endParaRPr lang="en-US" sz="1200" dirty="0"/>
          </a:p>
        </p:txBody>
      </p:sp>
      <p:sp>
        <p:nvSpPr>
          <p:cNvPr id="17" name="text-355"/>
          <p:cNvSpPr txBox="1"/>
          <p:nvPr/>
        </p:nvSpPr>
        <p:spPr>
          <a:xfrm>
            <a:off x="9646920" y="2121408"/>
            <a:ext cx="1920240" cy="457200"/>
          </a:xfrm>
          <a:prstGeom prst="rect">
            <a:avLst/>
          </a:prstGeom>
          <a:noFill/>
          <a:ln/>
        </p:spPr>
        <p:txBody>
          <a:bodyPr wrap="square" lIns="0" tIns="0" rIns="0" bIns="0" rtlCol="0" anchor="t"/>
          <a:lstStyle/>
          <a:p>
            <a:pPr indent="0" marL="0">
              <a:buNone/>
            </a:pPr>
            <a:r>
              <a:rPr lang="en-US" sz="2200" b="1" dirty="0">
                <a:solidFill>
                  <a:srgbClr val="327B60"/>
                </a:solidFill>
                <a:latin typeface="Aptos Display" pitchFamily="34" charset="0"/>
                <a:ea typeface="Aptos Display" pitchFamily="34" charset="-122"/>
                <a:cs typeface="Aptos Display" pitchFamily="34" charset="-120"/>
              </a:rPr>
              <a:t>₹840</a:t>
            </a:r>
            <a:endParaRPr lang="en-US" sz="2200" dirty="0"/>
          </a:p>
        </p:txBody>
      </p:sp>
      <p:sp>
        <p:nvSpPr>
          <p:cNvPr id="18" name="text-356"/>
          <p:cNvSpPr txBox="1"/>
          <p:nvPr/>
        </p:nvSpPr>
        <p:spPr>
          <a:xfrm>
            <a:off x="9646920" y="2578608"/>
            <a:ext cx="1901952" cy="384048"/>
          </a:xfrm>
          <a:prstGeom prst="rect">
            <a:avLst/>
          </a:prstGeom>
          <a:noFill/>
          <a:ln/>
        </p:spPr>
        <p:txBody>
          <a:bodyPr wrap="square" lIns="0" tIns="0" rIns="0" bIns="0" rtlCol="0" anchor="t"/>
          <a:lstStyle/>
          <a:p>
            <a:pPr indent="0" marL="0">
              <a:buNone/>
            </a:pPr>
            <a:r>
              <a:rPr lang="en-US" sz="1100" dirty="0">
                <a:solidFill>
                  <a:srgbClr val="6E665E"/>
                </a:solidFill>
              </a:rPr>
              <a:t>at risk; a stock-out avoided</a:t>
            </a:r>
            <a:endParaRPr lang="en-US" sz="1100" dirty="0"/>
          </a:p>
        </p:txBody>
      </p:sp>
      <p:sp>
        <p:nvSpPr>
          <p:cNvPr id="19" name="text-357"/>
          <p:cNvSpPr txBox="1"/>
          <p:nvPr/>
        </p:nvSpPr>
        <p:spPr>
          <a:xfrm>
            <a:off x="640080" y="3172968"/>
            <a:ext cx="2148840" cy="457200"/>
          </a:xfrm>
          <a:prstGeom prst="rect">
            <a:avLst/>
          </a:prstGeom>
          <a:noFill/>
          <a:ln/>
        </p:spPr>
        <p:txBody>
          <a:bodyPr wrap="square" lIns="0" tIns="0" rIns="0" bIns="0" rtlCol="0" anchor="t"/>
          <a:lstStyle/>
          <a:p>
            <a:pPr indent="0" marL="0">
              <a:buNone/>
            </a:pPr>
            <a:r>
              <a:rPr lang="en-US" sz="1400" b="1" dirty="0">
                <a:solidFill>
                  <a:srgbClr val="171717"/>
                </a:solidFill>
              </a:rPr>
              <a:t>Sai Kirana</a:t>
            </a:r>
            <a:endParaRPr lang="en-US" sz="1400" dirty="0"/>
          </a:p>
        </p:txBody>
      </p:sp>
      <p:sp>
        <p:nvSpPr>
          <p:cNvPr id="20" name="text-358"/>
          <p:cNvSpPr txBox="1"/>
          <p:nvPr/>
        </p:nvSpPr>
        <p:spPr>
          <a:xfrm>
            <a:off x="640080" y="3694176"/>
            <a:ext cx="2148840" cy="228600"/>
          </a:xfrm>
          <a:prstGeom prst="rect">
            <a:avLst/>
          </a:prstGeom>
          <a:noFill/>
          <a:ln/>
        </p:spPr>
        <p:txBody>
          <a:bodyPr wrap="square" lIns="0" tIns="0" rIns="0" bIns="0" rtlCol="0" anchor="t"/>
          <a:lstStyle/>
          <a:p>
            <a:pPr indent="0" marL="0">
              <a:buNone/>
            </a:pPr>
            <a:r>
              <a:rPr lang="en-US" sz="950" b="1" spc="100" kern="0" dirty="0">
                <a:solidFill>
                  <a:srgbClr val="6E665E"/>
                </a:solidFill>
              </a:rPr>
              <a:t>MALAD · SLOW-MOVING</a:t>
            </a:r>
            <a:endParaRPr lang="en-US" sz="950" dirty="0"/>
          </a:p>
        </p:txBody>
      </p:sp>
      <p:sp>
        <p:nvSpPr>
          <p:cNvPr id="21" name="text-359"/>
          <p:cNvSpPr txBox="1"/>
          <p:nvPr/>
        </p:nvSpPr>
        <p:spPr>
          <a:xfrm>
            <a:off x="2880360" y="3145536"/>
            <a:ext cx="2743200" cy="457200"/>
          </a:xfrm>
          <a:prstGeom prst="rect">
            <a:avLst/>
          </a:prstGeom>
          <a:noFill/>
          <a:ln/>
        </p:spPr>
        <p:txBody>
          <a:bodyPr wrap="square" lIns="0" tIns="0" rIns="0" bIns="0" rtlCol="0" anchor="t"/>
          <a:lstStyle/>
          <a:p>
            <a:pPr indent="0" marL="0">
              <a:buNone/>
            </a:pPr>
            <a:r>
              <a:rPr lang="en-US" sz="2400" b="1" dirty="0">
                <a:solidFill>
                  <a:srgbClr val="6E665E"/>
                </a:solidFill>
                <a:latin typeface="Aptos Display" pitchFamily="34" charset="0"/>
                <a:ea typeface="Aptos Display" pitchFamily="34" charset="-122"/>
                <a:cs typeface="Aptos Display" pitchFamily="34" charset="-120"/>
              </a:rPr>
              <a:t>240 days</a:t>
            </a:r>
            <a:endParaRPr lang="en-US" sz="2400" dirty="0"/>
          </a:p>
        </p:txBody>
      </p:sp>
      <p:sp>
        <p:nvSpPr>
          <p:cNvPr id="22" name="text-360"/>
          <p:cNvSpPr txBox="1"/>
          <p:nvPr/>
        </p:nvSpPr>
        <p:spPr>
          <a:xfrm>
            <a:off x="2880360" y="3602736"/>
            <a:ext cx="3108960" cy="384048"/>
          </a:xfrm>
          <a:prstGeom prst="rect">
            <a:avLst/>
          </a:prstGeom>
          <a:noFill/>
          <a:ln/>
        </p:spPr>
        <p:txBody>
          <a:bodyPr wrap="square" lIns="0" tIns="0" rIns="0" bIns="0" rtlCol="0" anchor="t"/>
          <a:lstStyle/>
          <a:p>
            <a:pPr indent="0" marL="0">
              <a:buNone/>
            </a:pPr>
            <a:r>
              <a:rPr lang="en-US" sz="1100" dirty="0">
                <a:solidFill>
                  <a:srgbClr val="6E665E"/>
                </a:solidFill>
              </a:rPr>
              <a:t>of cover: premium Vitamin C serum, healthy shelf life</a:t>
            </a:r>
            <a:endParaRPr lang="en-US" sz="1100" dirty="0"/>
          </a:p>
        </p:txBody>
      </p:sp>
      <p:sp>
        <p:nvSpPr>
          <p:cNvPr id="23" name="line-361"/>
          <p:cNvSpPr/>
          <p:nvPr/>
        </p:nvSpPr>
        <p:spPr>
          <a:xfrm>
            <a:off x="6035040" y="3529584"/>
            <a:ext cx="365760" cy="0"/>
          </a:xfrm>
          <a:prstGeom prst="line">
            <a:avLst/>
          </a:prstGeom>
          <a:noFill/>
          <a:ln w="19050">
            <a:solidFill>
              <a:srgbClr val="171717"/>
            </a:solidFill>
            <a:prstDash val="solid"/>
            <a:tailEnd type="triangle"/>
          </a:ln>
        </p:spPr>
      </p:sp>
      <p:sp>
        <p:nvSpPr>
          <p:cNvPr id="24" name="text-362"/>
          <p:cNvSpPr txBox="1"/>
          <p:nvPr/>
        </p:nvSpPr>
        <p:spPr>
          <a:xfrm>
            <a:off x="6537960" y="3163824"/>
            <a:ext cx="2880360" cy="822960"/>
          </a:xfrm>
          <a:prstGeom prst="rect">
            <a:avLst/>
          </a:prstGeom>
          <a:noFill/>
          <a:ln/>
        </p:spPr>
        <p:txBody>
          <a:bodyPr wrap="square" lIns="0" tIns="0" rIns="0" bIns="0" rtlCol="0" anchor="ctr"/>
          <a:lstStyle/>
          <a:p>
            <a:pPr indent="0" marL="0">
              <a:buNone/>
            </a:pPr>
            <a:r>
              <a:rPr lang="en-US" sz="1200" dirty="0">
                <a:solidFill>
                  <a:srgbClr val="171717"/>
                </a:solidFill>
              </a:rPr>
              <a:t>Diagnose: wrong outlet profile. Move to the counter, cap re-orders, move 18 units to CarePoint Chemist</a:t>
            </a:r>
            <a:endParaRPr lang="en-US" sz="1200" dirty="0"/>
          </a:p>
        </p:txBody>
      </p:sp>
      <p:sp>
        <p:nvSpPr>
          <p:cNvPr id="25" name="text-363"/>
          <p:cNvSpPr txBox="1"/>
          <p:nvPr/>
        </p:nvSpPr>
        <p:spPr>
          <a:xfrm>
            <a:off x="9646920" y="3145536"/>
            <a:ext cx="1920240" cy="457200"/>
          </a:xfrm>
          <a:prstGeom prst="rect">
            <a:avLst/>
          </a:prstGeom>
          <a:noFill/>
          <a:ln/>
        </p:spPr>
        <p:txBody>
          <a:bodyPr wrap="square" lIns="0" tIns="0" rIns="0" bIns="0" rtlCol="0" anchor="t"/>
          <a:lstStyle/>
          <a:p>
            <a:pPr indent="0" marL="0">
              <a:buNone/>
            </a:pPr>
            <a:r>
              <a:rPr lang="en-US" sz="2200" b="1" dirty="0">
                <a:solidFill>
                  <a:srgbClr val="327B60"/>
                </a:solidFill>
                <a:latin typeface="Aptos Display" pitchFamily="34" charset="0"/>
                <a:ea typeface="Aptos Display" pitchFamily="34" charset="-122"/>
                <a:cs typeface="Aptos Display" pitchFamily="34" charset="-120"/>
              </a:rPr>
              <a:t>₹0 discount</a:t>
            </a:r>
            <a:endParaRPr lang="en-US" sz="2200" dirty="0"/>
          </a:p>
        </p:txBody>
      </p:sp>
      <p:sp>
        <p:nvSpPr>
          <p:cNvPr id="26" name="text-364"/>
          <p:cNvSpPr txBox="1"/>
          <p:nvPr/>
        </p:nvSpPr>
        <p:spPr>
          <a:xfrm>
            <a:off x="9646920" y="3602736"/>
            <a:ext cx="1901952" cy="384048"/>
          </a:xfrm>
          <a:prstGeom prst="rect">
            <a:avLst/>
          </a:prstGeom>
          <a:noFill/>
          <a:ln/>
        </p:spPr>
        <p:txBody>
          <a:bodyPr wrap="square" lIns="0" tIns="0" rIns="0" bIns="0" rtlCol="0" anchor="t"/>
          <a:lstStyle/>
          <a:p>
            <a:pPr indent="0" marL="0">
              <a:buNone/>
            </a:pPr>
            <a:r>
              <a:rPr lang="en-US" sz="1100" dirty="0">
                <a:solidFill>
                  <a:srgbClr val="6E665E"/>
                </a:solidFill>
              </a:rPr>
              <a:t>cash freed; sells where it fits</a:t>
            </a:r>
            <a:endParaRPr lang="en-US" sz="1100" dirty="0"/>
          </a:p>
        </p:txBody>
      </p:sp>
      <p:sp>
        <p:nvSpPr>
          <p:cNvPr id="27" name="rect-365"/>
          <p:cNvSpPr/>
          <p:nvPr/>
        </p:nvSpPr>
        <p:spPr>
          <a:xfrm>
            <a:off x="530352" y="4096512"/>
            <a:ext cx="11130991" cy="950976"/>
          </a:xfrm>
          <a:prstGeom prst="rect">
            <a:avLst/>
          </a:prstGeom>
          <a:solidFill>
            <a:srgbClr val="F7F5F1"/>
          </a:solidFill>
          <a:ln w="12700">
            <a:solidFill>
              <a:srgbClr val="F7F5F1"/>
            </a:solidFill>
            <a:prstDash val="solid"/>
          </a:ln>
        </p:spPr>
      </p:sp>
      <p:sp>
        <p:nvSpPr>
          <p:cNvPr id="28" name="text-366"/>
          <p:cNvSpPr txBox="1"/>
          <p:nvPr/>
        </p:nvSpPr>
        <p:spPr>
          <a:xfrm>
            <a:off x="640080" y="4197096"/>
            <a:ext cx="2148840" cy="457200"/>
          </a:xfrm>
          <a:prstGeom prst="rect">
            <a:avLst/>
          </a:prstGeom>
          <a:noFill/>
          <a:ln/>
        </p:spPr>
        <p:txBody>
          <a:bodyPr wrap="square" lIns="0" tIns="0" rIns="0" bIns="0" rtlCol="0" anchor="t"/>
          <a:lstStyle/>
          <a:p>
            <a:pPr indent="0" marL="0">
              <a:buNone/>
            </a:pPr>
            <a:r>
              <a:rPr lang="en-US" sz="1400" b="1" dirty="0">
                <a:solidFill>
                  <a:srgbClr val="171717"/>
                </a:solidFill>
              </a:rPr>
              <a:t>Powai Wellness Chemist</a:t>
            </a:r>
            <a:endParaRPr lang="en-US" sz="1400" dirty="0"/>
          </a:p>
        </p:txBody>
      </p:sp>
      <p:sp>
        <p:nvSpPr>
          <p:cNvPr id="29" name="text-367"/>
          <p:cNvSpPr txBox="1"/>
          <p:nvPr/>
        </p:nvSpPr>
        <p:spPr>
          <a:xfrm>
            <a:off x="640080" y="4718304"/>
            <a:ext cx="2148840" cy="228600"/>
          </a:xfrm>
          <a:prstGeom prst="rect">
            <a:avLst/>
          </a:prstGeom>
          <a:noFill/>
          <a:ln/>
        </p:spPr>
        <p:txBody>
          <a:bodyPr wrap="square" lIns="0" tIns="0" rIns="0" bIns="0" rtlCol="0" anchor="t"/>
          <a:lstStyle/>
          <a:p>
            <a:pPr indent="0" marL="0">
              <a:buNone/>
            </a:pPr>
            <a:r>
              <a:rPr lang="en-US" sz="950" b="1" spc="100" kern="0" dirty="0">
                <a:solidFill>
                  <a:srgbClr val="327B60"/>
                </a:solidFill>
              </a:rPr>
              <a:t>POWAI · STOCK-OUT RISK</a:t>
            </a:r>
            <a:endParaRPr lang="en-US" sz="950" dirty="0"/>
          </a:p>
        </p:txBody>
      </p:sp>
      <p:sp>
        <p:nvSpPr>
          <p:cNvPr id="30" name="text-368"/>
          <p:cNvSpPr txBox="1"/>
          <p:nvPr/>
        </p:nvSpPr>
        <p:spPr>
          <a:xfrm>
            <a:off x="2880360" y="4169664"/>
            <a:ext cx="2743200" cy="457200"/>
          </a:xfrm>
          <a:prstGeom prst="rect">
            <a:avLst/>
          </a:prstGeom>
          <a:noFill/>
          <a:ln/>
        </p:spPr>
        <p:txBody>
          <a:bodyPr wrap="square" lIns="0" tIns="0" rIns="0" bIns="0" rtlCol="0" anchor="t"/>
          <a:lstStyle/>
          <a:p>
            <a:pPr indent="0" marL="0">
              <a:buNone/>
            </a:pPr>
            <a:r>
              <a:rPr lang="en-US" sz="2400" b="1" dirty="0">
                <a:solidFill>
                  <a:srgbClr val="6E665E"/>
                </a:solidFill>
                <a:latin typeface="Aptos Display" pitchFamily="34" charset="0"/>
                <a:ea typeface="Aptos Display" pitchFamily="34" charset="-122"/>
                <a:cs typeface="Aptos Display" pitchFamily="34" charset="-120"/>
              </a:rPr>
              <a:t>6 days</a:t>
            </a:r>
            <a:endParaRPr lang="en-US" sz="2400" dirty="0"/>
          </a:p>
        </p:txBody>
      </p:sp>
      <p:sp>
        <p:nvSpPr>
          <p:cNvPr id="31" name="text-369"/>
          <p:cNvSpPr txBox="1"/>
          <p:nvPr/>
        </p:nvSpPr>
        <p:spPr>
          <a:xfrm>
            <a:off x="2880360" y="4626864"/>
            <a:ext cx="3108960" cy="384048"/>
          </a:xfrm>
          <a:prstGeom prst="rect">
            <a:avLst/>
          </a:prstGeom>
          <a:noFill/>
          <a:ln/>
        </p:spPr>
        <p:txBody>
          <a:bodyPr wrap="square" lIns="0" tIns="0" rIns="0" bIns="0" rtlCol="0" anchor="t"/>
          <a:lstStyle/>
          <a:p>
            <a:pPr indent="0" marL="0">
              <a:buNone/>
            </a:pPr>
            <a:r>
              <a:rPr lang="en-US" sz="1100" dirty="0">
                <a:solidFill>
                  <a:srgbClr val="6E665E"/>
                </a:solidFill>
              </a:rPr>
              <a:t>of cover: face wash at 60 a month; retailer asked for only 24</a:t>
            </a:r>
            <a:endParaRPr lang="en-US" sz="1100" dirty="0"/>
          </a:p>
        </p:txBody>
      </p:sp>
      <p:sp>
        <p:nvSpPr>
          <p:cNvPr id="32" name="line-370"/>
          <p:cNvSpPr/>
          <p:nvPr/>
        </p:nvSpPr>
        <p:spPr>
          <a:xfrm>
            <a:off x="6035040" y="4553712"/>
            <a:ext cx="365760" cy="0"/>
          </a:xfrm>
          <a:prstGeom prst="line">
            <a:avLst/>
          </a:prstGeom>
          <a:noFill/>
          <a:ln w="19050">
            <a:solidFill>
              <a:srgbClr val="171717"/>
            </a:solidFill>
            <a:prstDash val="solid"/>
            <a:tailEnd type="triangle"/>
          </a:ln>
        </p:spPr>
      </p:sp>
      <p:sp>
        <p:nvSpPr>
          <p:cNvPr id="33" name="text-371"/>
          <p:cNvSpPr txBox="1"/>
          <p:nvPr/>
        </p:nvSpPr>
        <p:spPr>
          <a:xfrm>
            <a:off x="6537960" y="4187952"/>
            <a:ext cx="2880360" cy="822960"/>
          </a:xfrm>
          <a:prstGeom prst="rect">
            <a:avLst/>
          </a:prstGeom>
          <a:noFill/>
          <a:ln/>
        </p:spPr>
        <p:txBody>
          <a:bodyPr wrap="square" lIns="0" tIns="0" rIns="0" bIns="0" rtlCol="0" anchor="ctr"/>
          <a:lstStyle/>
          <a:p>
            <a:pPr indent="0" marL="0">
              <a:buNone/>
            </a:pPr>
            <a:r>
              <a:rPr lang="en-US" sz="1200" dirty="0">
                <a:solidFill>
                  <a:srgbClr val="171717"/>
                </a:solidFill>
              </a:rPr>
              <a:t>Replenish 60 units, sized to demand plus lead time (no surplus nearby to transfer)</a:t>
            </a:r>
            <a:endParaRPr lang="en-US" sz="1200" dirty="0"/>
          </a:p>
        </p:txBody>
      </p:sp>
      <p:sp>
        <p:nvSpPr>
          <p:cNvPr id="34" name="text-372"/>
          <p:cNvSpPr txBox="1"/>
          <p:nvPr/>
        </p:nvSpPr>
        <p:spPr>
          <a:xfrm>
            <a:off x="9646920" y="4169664"/>
            <a:ext cx="1920240" cy="457200"/>
          </a:xfrm>
          <a:prstGeom prst="rect">
            <a:avLst/>
          </a:prstGeom>
          <a:noFill/>
          <a:ln/>
        </p:spPr>
        <p:txBody>
          <a:bodyPr wrap="square" lIns="0" tIns="0" rIns="0" bIns="0" rtlCol="0" anchor="t"/>
          <a:lstStyle/>
          <a:p>
            <a:pPr indent="0" marL="0">
              <a:buNone/>
            </a:pPr>
            <a:r>
              <a:rPr lang="en-US" sz="2200" b="1" dirty="0">
                <a:solidFill>
                  <a:srgbClr val="327B60"/>
                </a:solidFill>
                <a:latin typeface="Aptos Display" pitchFamily="34" charset="0"/>
                <a:ea typeface="Aptos Display" pitchFamily="34" charset="-122"/>
                <a:cs typeface="Aptos Display" pitchFamily="34" charset="-120"/>
              </a:rPr>
              <a:t>Shelf full</a:t>
            </a:r>
            <a:endParaRPr lang="en-US" sz="2200" dirty="0"/>
          </a:p>
        </p:txBody>
      </p:sp>
      <p:sp>
        <p:nvSpPr>
          <p:cNvPr id="35" name="text-373"/>
          <p:cNvSpPr txBox="1"/>
          <p:nvPr/>
        </p:nvSpPr>
        <p:spPr>
          <a:xfrm>
            <a:off x="9646920" y="4626864"/>
            <a:ext cx="1901952" cy="384048"/>
          </a:xfrm>
          <a:prstGeom prst="rect">
            <a:avLst/>
          </a:prstGeom>
          <a:noFill/>
          <a:ln/>
        </p:spPr>
        <p:txBody>
          <a:bodyPr wrap="square" lIns="0" tIns="0" rIns="0" bIns="0" rtlCol="0" anchor="t"/>
          <a:lstStyle/>
          <a:p>
            <a:pPr indent="0" marL="0">
              <a:buNone/>
            </a:pPr>
            <a:r>
              <a:rPr lang="en-US" sz="1100" dirty="0">
                <a:solidFill>
                  <a:srgbClr val="6E665E"/>
                </a:solidFill>
              </a:rPr>
              <a:t>lost sales protected</a:t>
            </a:r>
            <a:endParaRPr lang="en-US" sz="1100" dirty="0"/>
          </a:p>
        </p:txBody>
      </p:sp>
      <p:sp>
        <p:nvSpPr>
          <p:cNvPr id="36" name="text-374"/>
          <p:cNvSpPr txBox="1"/>
          <p:nvPr/>
        </p:nvSpPr>
        <p:spPr>
          <a:xfrm>
            <a:off x="640080" y="5221224"/>
            <a:ext cx="2148840" cy="457200"/>
          </a:xfrm>
          <a:prstGeom prst="rect">
            <a:avLst/>
          </a:prstGeom>
          <a:noFill/>
          <a:ln/>
        </p:spPr>
        <p:txBody>
          <a:bodyPr wrap="square" lIns="0" tIns="0" rIns="0" bIns="0" rtlCol="0" anchor="t"/>
          <a:lstStyle/>
          <a:p>
            <a:pPr indent="0" marL="0">
              <a:buNone/>
            </a:pPr>
            <a:r>
              <a:rPr lang="en-US" sz="1400" b="1" dirty="0">
                <a:solidFill>
                  <a:srgbClr val="171717"/>
                </a:solidFill>
              </a:rPr>
              <a:t>Galleria counter</a:t>
            </a:r>
            <a:endParaRPr lang="en-US" sz="1400" dirty="0"/>
          </a:p>
        </p:txBody>
      </p:sp>
      <p:sp>
        <p:nvSpPr>
          <p:cNvPr id="37" name="text-375"/>
          <p:cNvSpPr txBox="1"/>
          <p:nvPr/>
        </p:nvSpPr>
        <p:spPr>
          <a:xfrm>
            <a:off x="640080" y="5742432"/>
            <a:ext cx="2148840" cy="228600"/>
          </a:xfrm>
          <a:prstGeom prst="rect">
            <a:avLst/>
          </a:prstGeom>
          <a:noFill/>
          <a:ln/>
        </p:spPr>
        <p:txBody>
          <a:bodyPr wrap="square" lIns="0" tIns="0" rIns="0" bIns="0" rtlCol="0" anchor="t"/>
          <a:lstStyle/>
          <a:p>
            <a:pPr indent="0" marL="0">
              <a:buNone/>
            </a:pPr>
            <a:r>
              <a:rPr lang="en-US" sz="950" b="1" spc="100" kern="0" dirty="0">
                <a:solidFill>
                  <a:srgbClr val="8C3A52"/>
                </a:solidFill>
              </a:rPr>
              <a:t>POWAI · LUXE GUARDRAIL</a:t>
            </a:r>
            <a:endParaRPr lang="en-US" sz="950" dirty="0"/>
          </a:p>
        </p:txBody>
      </p:sp>
      <p:sp>
        <p:nvSpPr>
          <p:cNvPr id="38" name="text-376"/>
          <p:cNvSpPr txBox="1"/>
          <p:nvPr/>
        </p:nvSpPr>
        <p:spPr>
          <a:xfrm>
            <a:off x="2880360" y="5193792"/>
            <a:ext cx="2743200" cy="457200"/>
          </a:xfrm>
          <a:prstGeom prst="rect">
            <a:avLst/>
          </a:prstGeom>
          <a:noFill/>
          <a:ln/>
        </p:spPr>
        <p:txBody>
          <a:bodyPr wrap="square" lIns="0" tIns="0" rIns="0" bIns="0" rtlCol="0" anchor="t"/>
          <a:lstStyle/>
          <a:p>
            <a:pPr indent="0" marL="0">
              <a:buNone/>
            </a:pPr>
            <a:r>
              <a:rPr lang="en-US" sz="2400" b="1" dirty="0">
                <a:solidFill>
                  <a:srgbClr val="6E665E"/>
                </a:solidFill>
                <a:latin typeface="Aptos Display" pitchFamily="34" charset="0"/>
                <a:ea typeface="Aptos Display" pitchFamily="34" charset="-122"/>
                <a:cs typeface="Aptos Display" pitchFamily="34" charset="-120"/>
              </a:rPr>
              <a:t>25% off</a:t>
            </a:r>
            <a:endParaRPr lang="en-US" sz="2400" dirty="0"/>
          </a:p>
        </p:txBody>
      </p:sp>
      <p:sp>
        <p:nvSpPr>
          <p:cNvPr id="39" name="text-377"/>
          <p:cNvSpPr txBox="1"/>
          <p:nvPr/>
        </p:nvSpPr>
        <p:spPr>
          <a:xfrm>
            <a:off x="2880360" y="5650992"/>
            <a:ext cx="3108960" cy="384048"/>
          </a:xfrm>
          <a:prstGeom prst="rect">
            <a:avLst/>
          </a:prstGeom>
          <a:noFill/>
          <a:ln/>
        </p:spPr>
        <p:txBody>
          <a:bodyPr wrap="square" lIns="0" tIns="0" rIns="0" bIns="0" rtlCol="0" anchor="t"/>
          <a:lstStyle/>
          <a:p>
            <a:pPr indent="0" marL="0">
              <a:buNone/>
            </a:pPr>
            <a:r>
              <a:rPr lang="en-US" sz="1100" dirty="0">
                <a:solidFill>
                  <a:srgbClr val="6E665E"/>
                </a:solidFill>
              </a:rPr>
              <a:t>discount requested on a slow luxury fragrance</a:t>
            </a:r>
            <a:endParaRPr lang="en-US" sz="1100" dirty="0"/>
          </a:p>
        </p:txBody>
      </p:sp>
      <p:sp>
        <p:nvSpPr>
          <p:cNvPr id="40" name="line-378"/>
          <p:cNvSpPr/>
          <p:nvPr/>
        </p:nvSpPr>
        <p:spPr>
          <a:xfrm>
            <a:off x="6035040" y="5577840"/>
            <a:ext cx="365760" cy="0"/>
          </a:xfrm>
          <a:prstGeom prst="line">
            <a:avLst/>
          </a:prstGeom>
          <a:noFill/>
          <a:ln w="19050">
            <a:solidFill>
              <a:srgbClr val="171717"/>
            </a:solidFill>
            <a:prstDash val="solid"/>
            <a:tailEnd type="triangle"/>
          </a:ln>
        </p:spPr>
      </p:sp>
      <p:sp>
        <p:nvSpPr>
          <p:cNvPr id="41" name="text-379"/>
          <p:cNvSpPr txBox="1"/>
          <p:nvPr/>
        </p:nvSpPr>
        <p:spPr>
          <a:xfrm>
            <a:off x="6537960" y="5212080"/>
            <a:ext cx="2880360" cy="822960"/>
          </a:xfrm>
          <a:prstGeom prst="rect">
            <a:avLst/>
          </a:prstGeom>
          <a:noFill/>
          <a:ln/>
        </p:spPr>
        <p:txBody>
          <a:bodyPr wrap="square" lIns="0" tIns="0" rIns="0" bIns="0" rtlCol="0" anchor="ctr"/>
          <a:lstStyle/>
          <a:p>
            <a:pPr indent="0" marL="0">
              <a:buNone/>
            </a:pPr>
            <a:r>
              <a:rPr lang="en-US" sz="1200" dirty="0">
                <a:solidFill>
                  <a:srgbClr val="171717"/>
                </a:solidFill>
              </a:rPr>
              <a:t>Blocked by the brand guardrail; manager redirects to a beauty-advisor day and sample vials</a:t>
            </a:r>
            <a:endParaRPr lang="en-US" sz="1200" dirty="0"/>
          </a:p>
        </p:txBody>
      </p:sp>
      <p:sp>
        <p:nvSpPr>
          <p:cNvPr id="42" name="text-380"/>
          <p:cNvSpPr txBox="1"/>
          <p:nvPr/>
        </p:nvSpPr>
        <p:spPr>
          <a:xfrm>
            <a:off x="9646920" y="5193792"/>
            <a:ext cx="1920240" cy="457200"/>
          </a:xfrm>
          <a:prstGeom prst="rect">
            <a:avLst/>
          </a:prstGeom>
          <a:noFill/>
          <a:ln/>
        </p:spPr>
        <p:txBody>
          <a:bodyPr wrap="square" lIns="0" tIns="0" rIns="0" bIns="0" rtlCol="0" anchor="t"/>
          <a:lstStyle/>
          <a:p>
            <a:pPr indent="0" marL="0">
              <a:buNone/>
            </a:pPr>
            <a:r>
              <a:rPr lang="en-US" sz="2200" b="1" dirty="0">
                <a:solidFill>
                  <a:srgbClr val="327B60"/>
                </a:solidFill>
                <a:latin typeface="Aptos Display" pitchFamily="34" charset="0"/>
                <a:ea typeface="Aptos Display" pitchFamily="34" charset="-122"/>
                <a:cs typeface="Aptos Display" pitchFamily="34" charset="-120"/>
              </a:rPr>
              <a:t>No price cut</a:t>
            </a:r>
            <a:endParaRPr lang="en-US" sz="2200" dirty="0"/>
          </a:p>
        </p:txBody>
      </p:sp>
      <p:sp>
        <p:nvSpPr>
          <p:cNvPr id="43" name="text-381"/>
          <p:cNvSpPr txBox="1"/>
          <p:nvPr/>
        </p:nvSpPr>
        <p:spPr>
          <a:xfrm>
            <a:off x="9646920" y="5650992"/>
            <a:ext cx="1901952" cy="384048"/>
          </a:xfrm>
          <a:prstGeom prst="rect">
            <a:avLst/>
          </a:prstGeom>
          <a:noFill/>
          <a:ln/>
        </p:spPr>
        <p:txBody>
          <a:bodyPr wrap="square" lIns="0" tIns="0" rIns="0" bIns="0" rtlCol="0" anchor="t"/>
          <a:lstStyle/>
          <a:p>
            <a:pPr indent="0" marL="0">
              <a:buNone/>
            </a:pPr>
            <a:r>
              <a:rPr lang="en-US" sz="1100" dirty="0">
                <a:solidFill>
                  <a:srgbClr val="6E665E"/>
                </a:solidFill>
              </a:rPr>
              <a:t>brand equity protected</a:t>
            </a:r>
            <a:endParaRPr lang="en-US" sz="1100" dirty="0"/>
          </a:p>
        </p:txBody>
      </p:sp>
      <p:sp>
        <p:nvSpPr>
          <p:cNvPr id="25" name="Slide Number Placeholder 0"/>
          <p:cNvSpPr>
            <a:spLocks noGrp="1"/>
          </p:cNvSpPr>
          <p:nvPr>
            <p:ph type="sldNum" sz="quarter" idx="4294967295"/>
          </p:nvPr>
        </p:nvSpPr>
        <p:spPr>
          <a:xfrm>
            <a:off x="11091672"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665E"/>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body" hasCustomPrompt="1"/>
          </p:nvPr>
        </p:nvSpPr>
        <p:spPr>
          <a:xfrm>
            <a:off x="640080" y="457200"/>
            <a:ext cx="8686800" cy="237744"/>
          </a:xfrm>
          <a:prstGeom prst="rect">
            <a:avLst/>
          </a:prstGeom>
          <a:noFill/>
          <a:ln/>
        </p:spPr>
        <p:txBody>
          <a:bodyPr wrap="square" lIns="0" tIns="0" rIns="0" bIns="0" rtlCol="0" anchor="t"/>
          <a:lstStyle/>
          <a:p>
            <a:pPr indent="0" marL="0">
              <a:buNone/>
            </a:pPr>
            <a:r>
              <a:rPr lang="en-US" sz="1100" b="1" spc="200" kern="0" dirty="0">
                <a:solidFill>
                  <a:srgbClr val="65172F"/>
                </a:solidFill>
              </a:rPr>
              <a:t>QUICK COMMERCE</a:t>
            </a:r>
            <a:endParaRPr lang="en-US" sz="1100" dirty="0"/>
          </a:p>
        </p:txBody>
      </p:sp>
      <p:sp>
        <p:nvSpPr>
          <p:cNvPr id="3" name="Text 0"/>
          <p:cNvSpPr/>
          <p:nvPr>
            <p:ph idx="102" type="title" hasCustomPrompt="1"/>
          </p:nvPr>
        </p:nvSpPr>
        <p:spPr>
          <a:xfrm>
            <a:off x="640080" y="749808"/>
            <a:ext cx="9418320" cy="1005840"/>
          </a:xfrm>
          <a:prstGeom prst="rect">
            <a:avLst/>
          </a:prstGeom>
          <a:noFill/>
          <a:ln/>
        </p:spPr>
        <p:txBody>
          <a:bodyPr wrap="square" lIns="0" tIns="0" rIns="0" bIns="0" rtlCol="0" anchor="t"/>
          <a:lstStyle/>
          <a:p>
            <a:pPr algn="l" indent="0" marL="0">
              <a:lnSpc>
                <a:spcPct val="95000"/>
              </a:lnSpc>
              <a:buNone/>
            </a:pPr>
            <a:r>
              <a:rPr lang="en-US" sz="3000" b="1" dirty="0">
                <a:solidFill>
                  <a:srgbClr val="171717"/>
                </a:solidFill>
                <a:latin typeface="Aptos Display" pitchFamily="34" charset="0"/>
                <a:ea typeface="Aptos Display" pitchFamily="34" charset="-122"/>
                <a:cs typeface="Aptos Display" pitchFamily="34" charset="-120"/>
              </a:rPr>
              <a:t>Quick commerce becomes a planning signal, not a source of waste</a:t>
            </a:r>
            <a:endParaRPr lang="en-US" sz="3000" dirty="0"/>
          </a:p>
        </p:txBody>
      </p:sp>
      <p:sp>
        <p:nvSpPr>
          <p:cNvPr id="4" name="Text 0"/>
          <p:cNvSpPr/>
          <p:nvPr>
            <p:ph idx="103" type="body" hasCustomPrompt="1"/>
          </p:nvPr>
        </p:nvSpPr>
        <p:spPr>
          <a:xfrm>
            <a:off x="640080" y="6355080"/>
            <a:ext cx="9189720" cy="347472"/>
          </a:xfrm>
          <a:prstGeom prst="rect">
            <a:avLst/>
          </a:prstGeom>
          <a:noFill/>
          <a:ln/>
        </p:spPr>
        <p:txBody>
          <a:bodyPr wrap="square" lIns="0" tIns="0" rIns="0" bIns="0" rtlCol="0" anchor="t"/>
          <a:lstStyle/>
          <a:p>
            <a:pPr indent="0" marL="0">
              <a:buNone/>
            </a:pPr>
            <a:r>
              <a:rPr lang="en-US" sz="1000" dirty="0">
                <a:solidFill>
                  <a:srgbClr val="6E665E"/>
                </a:solidFill>
              </a:rPr>
              <a:t>Sources: NielsenIQ India FMCG Snapshot Q4 2025 (Mar 2026); Business Standard, 25 Oct 2026; Dabur Q2 FY25 brokerage notes (Oct 2024); AICPDF via Storyboard18 (Nov 2024), allegation. Diagram is conceptual. Online growth figures in the prototype are synthetic.</a:t>
            </a:r>
            <a:endParaRPr lang="en-US" sz="1000" dirty="0"/>
          </a:p>
        </p:txBody>
      </p:sp>
      <p:sp>
        <p:nvSpPr>
          <p:cNvPr id="6" name="text-382"/>
          <p:cNvSpPr txBox="1"/>
          <p:nvPr/>
        </p:nvSpPr>
        <p:spPr>
          <a:xfrm>
            <a:off x="640080" y="1810512"/>
            <a:ext cx="2743200" cy="237744"/>
          </a:xfrm>
          <a:prstGeom prst="rect">
            <a:avLst/>
          </a:prstGeom>
          <a:noFill/>
          <a:ln/>
        </p:spPr>
        <p:txBody>
          <a:bodyPr wrap="square" lIns="0" tIns="0" rIns="0" bIns="0" rtlCol="0" anchor="t"/>
          <a:lstStyle/>
          <a:p>
            <a:pPr indent="0" marL="0">
              <a:buNone/>
            </a:pPr>
            <a:r>
              <a:rPr lang="en-US" sz="1050" b="1" spc="150" kern="0" dirty="0">
                <a:solidFill>
                  <a:srgbClr val="171717"/>
                </a:solidFill>
              </a:rPr>
              <a:t>WHAT CHANGES</a:t>
            </a:r>
            <a:endParaRPr lang="en-US" sz="1050" dirty="0"/>
          </a:p>
        </p:txBody>
      </p:sp>
      <p:sp>
        <p:nvSpPr>
          <p:cNvPr id="7" name="rect-383"/>
          <p:cNvSpPr/>
          <p:nvPr/>
        </p:nvSpPr>
        <p:spPr>
          <a:xfrm>
            <a:off x="640080" y="2743200"/>
            <a:ext cx="1600200" cy="822960"/>
          </a:xfrm>
          <a:prstGeom prst="rect">
            <a:avLst/>
          </a:prstGeom>
          <a:solidFill>
            <a:srgbClr val="171717"/>
          </a:solidFill>
          <a:ln w="12700">
            <a:solidFill>
              <a:srgbClr val="171717"/>
            </a:solidFill>
            <a:prstDash val="solid"/>
          </a:ln>
        </p:spPr>
      </p:sp>
      <p:sp>
        <p:nvSpPr>
          <p:cNvPr id="8" name="text-384"/>
          <p:cNvSpPr txBox="1"/>
          <p:nvPr/>
        </p:nvSpPr>
        <p:spPr>
          <a:xfrm>
            <a:off x="749808" y="2743200"/>
            <a:ext cx="1417320" cy="822960"/>
          </a:xfrm>
          <a:prstGeom prst="rect">
            <a:avLst/>
          </a:prstGeom>
          <a:noFill/>
          <a:ln/>
        </p:spPr>
        <p:txBody>
          <a:bodyPr wrap="square" lIns="0" tIns="0" rIns="0" bIns="0" rtlCol="0" anchor="ctr"/>
          <a:lstStyle/>
          <a:p>
            <a:pPr indent="0" marL="0">
              <a:buNone/>
            </a:pPr>
            <a:r>
              <a:rPr lang="en-US" sz="1300" b="1" dirty="0">
                <a:solidFill>
                  <a:srgbClr val="FFFFFF"/>
                </a:solidFill>
              </a:rPr>
              <a:t>Consumer demand</a:t>
            </a:r>
            <a:endParaRPr lang="en-US" sz="1300" dirty="0"/>
          </a:p>
        </p:txBody>
      </p:sp>
      <p:sp>
        <p:nvSpPr>
          <p:cNvPr id="9" name="rect-385"/>
          <p:cNvSpPr/>
          <p:nvPr/>
        </p:nvSpPr>
        <p:spPr>
          <a:xfrm>
            <a:off x="3429000" y="2103120"/>
            <a:ext cx="2514600" cy="822960"/>
          </a:xfrm>
          <a:prstGeom prst="rect">
            <a:avLst/>
          </a:prstGeom>
          <a:solidFill>
            <a:srgbClr val="327B60"/>
          </a:solidFill>
          <a:ln w="12700">
            <a:solidFill>
              <a:srgbClr val="327B60"/>
            </a:solidFill>
            <a:prstDash val="solid"/>
          </a:ln>
        </p:spPr>
      </p:sp>
      <p:sp>
        <p:nvSpPr>
          <p:cNvPr id="10" name="text-386"/>
          <p:cNvSpPr txBox="1"/>
          <p:nvPr/>
        </p:nvSpPr>
        <p:spPr>
          <a:xfrm>
            <a:off x="3538728" y="2103120"/>
            <a:ext cx="2331720" cy="822960"/>
          </a:xfrm>
          <a:prstGeom prst="rect">
            <a:avLst/>
          </a:prstGeom>
          <a:noFill/>
          <a:ln/>
        </p:spPr>
        <p:txBody>
          <a:bodyPr wrap="square" lIns="0" tIns="0" rIns="0" bIns="0" rtlCol="0" anchor="ctr"/>
          <a:lstStyle/>
          <a:p>
            <a:pPr indent="0" marL="0">
              <a:buNone/>
            </a:pPr>
            <a:r>
              <a:rPr lang="en-US" sz="1300" b="1" dirty="0">
                <a:solidFill>
                  <a:srgbClr val="FFFFFF"/>
                </a:solidFill>
              </a:rPr>
              <a:t>Quick commerce</a:t>
            </a:r>
            <a:endParaRPr lang="en-US" sz="1300" dirty="0"/>
          </a:p>
          <a:p>
            <a:pPr indent="0" marL="0">
              <a:buNone/>
            </a:pPr>
            <a:r>
              <a:rPr lang="en-US" sz="1100" dirty="0">
                <a:solidFill>
                  <a:srgbClr val="FFFFFF"/>
                </a:solidFill>
              </a:rPr>
              <a:t>dark stores hold days of stock</a:t>
            </a:r>
            <a:endParaRPr lang="en-US" sz="1300" dirty="0"/>
          </a:p>
        </p:txBody>
      </p:sp>
      <p:sp>
        <p:nvSpPr>
          <p:cNvPr id="11" name="rect-387"/>
          <p:cNvSpPr/>
          <p:nvPr/>
        </p:nvSpPr>
        <p:spPr>
          <a:xfrm>
            <a:off x="3429000" y="3429000"/>
            <a:ext cx="2514600" cy="822960"/>
          </a:xfrm>
          <a:prstGeom prst="rect">
            <a:avLst/>
          </a:prstGeom>
          <a:solidFill>
            <a:srgbClr val="E3DED7"/>
          </a:solidFill>
          <a:ln w="12700">
            <a:solidFill>
              <a:srgbClr val="E3DED7"/>
            </a:solidFill>
            <a:prstDash val="solid"/>
          </a:ln>
        </p:spPr>
      </p:sp>
      <p:sp>
        <p:nvSpPr>
          <p:cNvPr id="12" name="text-388"/>
          <p:cNvSpPr txBox="1"/>
          <p:nvPr/>
        </p:nvSpPr>
        <p:spPr>
          <a:xfrm>
            <a:off x="3538728" y="3429000"/>
            <a:ext cx="2331720" cy="822960"/>
          </a:xfrm>
          <a:prstGeom prst="rect">
            <a:avLst/>
          </a:prstGeom>
          <a:noFill/>
          <a:ln/>
        </p:spPr>
        <p:txBody>
          <a:bodyPr wrap="square" lIns="0" tIns="0" rIns="0" bIns="0" rtlCol="0" anchor="ctr"/>
          <a:lstStyle/>
          <a:p>
            <a:pPr indent="0" marL="0">
              <a:buNone/>
            </a:pPr>
            <a:r>
              <a:rPr lang="en-US" sz="1300" b="1" dirty="0">
                <a:solidFill>
                  <a:srgbClr val="171717"/>
                </a:solidFill>
              </a:rPr>
              <a:t>General-trade outlets</a:t>
            </a:r>
            <a:endParaRPr lang="en-US" sz="1300" dirty="0"/>
          </a:p>
          <a:p>
            <a:pPr indent="0" marL="0">
              <a:buNone/>
            </a:pPr>
            <a:r>
              <a:rPr lang="en-US" sz="1100" dirty="0">
                <a:solidFill>
                  <a:srgbClr val="6E665E"/>
                </a:solidFill>
              </a:rPr>
              <a:t>shelf sell-out falling</a:t>
            </a:r>
            <a:endParaRPr lang="en-US" sz="1300" dirty="0"/>
          </a:p>
        </p:txBody>
      </p:sp>
      <p:sp>
        <p:nvSpPr>
          <p:cNvPr id="13" name="line-389"/>
          <p:cNvSpPr/>
          <p:nvPr/>
        </p:nvSpPr>
        <p:spPr>
          <a:xfrm>
            <a:off x="2286000" y="2971800"/>
            <a:ext cx="1097280" cy="-457200"/>
          </a:xfrm>
          <a:prstGeom prst="line">
            <a:avLst/>
          </a:prstGeom>
          <a:noFill/>
          <a:ln w="88900">
            <a:solidFill>
              <a:srgbClr val="327B60"/>
            </a:solidFill>
            <a:prstDash val="solid"/>
            <a:tailEnd type="triangle"/>
          </a:ln>
        </p:spPr>
      </p:sp>
      <p:sp>
        <p:nvSpPr>
          <p:cNvPr id="14" name="text-390"/>
          <p:cNvSpPr txBox="1"/>
          <p:nvPr/>
        </p:nvSpPr>
        <p:spPr>
          <a:xfrm>
            <a:off x="2331720" y="2331720"/>
            <a:ext cx="822960" cy="219456"/>
          </a:xfrm>
          <a:prstGeom prst="rect">
            <a:avLst/>
          </a:prstGeom>
          <a:noFill/>
          <a:ln/>
        </p:spPr>
        <p:txBody>
          <a:bodyPr wrap="square" lIns="0" tIns="0" rIns="0" bIns="0" rtlCol="0" anchor="t"/>
          <a:lstStyle/>
          <a:p>
            <a:pPr indent="0" marL="0">
              <a:buNone/>
            </a:pPr>
            <a:r>
              <a:rPr lang="en-US" sz="1050" b="1" dirty="0">
                <a:solidFill>
                  <a:srgbClr val="327B60"/>
                </a:solidFill>
              </a:rPr>
              <a:t>growing</a:t>
            </a:r>
            <a:endParaRPr lang="en-US" sz="1050" dirty="0"/>
          </a:p>
        </p:txBody>
      </p:sp>
      <p:sp>
        <p:nvSpPr>
          <p:cNvPr id="15" name="line-391"/>
          <p:cNvSpPr/>
          <p:nvPr/>
        </p:nvSpPr>
        <p:spPr>
          <a:xfrm>
            <a:off x="2286000" y="3337560"/>
            <a:ext cx="1097280" cy="457200"/>
          </a:xfrm>
          <a:prstGeom prst="line">
            <a:avLst/>
          </a:prstGeom>
          <a:noFill/>
          <a:ln w="22225">
            <a:solidFill>
              <a:srgbClr val="A9A096"/>
            </a:solidFill>
            <a:prstDash val="solid"/>
            <a:tailEnd type="triangle"/>
          </a:ln>
        </p:spPr>
      </p:sp>
      <p:sp>
        <p:nvSpPr>
          <p:cNvPr id="16" name="text-392"/>
          <p:cNvSpPr txBox="1"/>
          <p:nvPr/>
        </p:nvSpPr>
        <p:spPr>
          <a:xfrm>
            <a:off x="2377440" y="3730752"/>
            <a:ext cx="822960" cy="219456"/>
          </a:xfrm>
          <a:prstGeom prst="rect">
            <a:avLst/>
          </a:prstGeom>
          <a:noFill/>
          <a:ln/>
        </p:spPr>
        <p:txBody>
          <a:bodyPr wrap="square" lIns="0" tIns="0" rIns="0" bIns="0" rtlCol="0" anchor="t"/>
          <a:lstStyle/>
          <a:p>
            <a:pPr indent="0" marL="0">
              <a:buNone/>
            </a:pPr>
            <a:r>
              <a:rPr lang="en-US" sz="1050" b="1" dirty="0">
                <a:solidFill>
                  <a:srgbClr val="6E665E"/>
                </a:solidFill>
              </a:rPr>
              <a:t>falling</a:t>
            </a:r>
            <a:endParaRPr lang="en-US" sz="1050" dirty="0"/>
          </a:p>
        </p:txBody>
      </p:sp>
      <p:sp>
        <p:nvSpPr>
          <p:cNvPr id="17" name="rect-393"/>
          <p:cNvSpPr/>
          <p:nvPr/>
        </p:nvSpPr>
        <p:spPr>
          <a:xfrm>
            <a:off x="640080" y="4526280"/>
            <a:ext cx="1600200" cy="640080"/>
          </a:xfrm>
          <a:prstGeom prst="rect">
            <a:avLst/>
          </a:prstGeom>
          <a:solidFill>
            <a:srgbClr val="FFFFFF"/>
          </a:solidFill>
          <a:ln w="15875">
            <a:solidFill>
              <a:srgbClr val="65172F"/>
            </a:solidFill>
            <a:prstDash val="solid"/>
          </a:ln>
        </p:spPr>
      </p:sp>
      <p:sp>
        <p:nvSpPr>
          <p:cNvPr id="18" name="text-394"/>
          <p:cNvSpPr txBox="1"/>
          <p:nvPr/>
        </p:nvSpPr>
        <p:spPr>
          <a:xfrm>
            <a:off x="749808" y="4526280"/>
            <a:ext cx="1417320" cy="640080"/>
          </a:xfrm>
          <a:prstGeom prst="rect">
            <a:avLst/>
          </a:prstGeom>
          <a:noFill/>
          <a:ln/>
        </p:spPr>
        <p:txBody>
          <a:bodyPr wrap="square" lIns="0" tIns="0" rIns="0" bIns="0" rtlCol="0" anchor="ctr"/>
          <a:lstStyle/>
          <a:p>
            <a:pPr indent="0" marL="0">
              <a:buNone/>
            </a:pPr>
            <a:r>
              <a:rPr lang="en-US" sz="1200" b="1" dirty="0">
                <a:solidFill>
                  <a:srgbClr val="65172F"/>
                </a:solidFill>
              </a:rPr>
              <a:t>Supply on old norms</a:t>
            </a:r>
            <a:endParaRPr lang="en-US" sz="1200" dirty="0"/>
          </a:p>
        </p:txBody>
      </p:sp>
      <p:sp>
        <p:nvSpPr>
          <p:cNvPr id="19" name="line-395"/>
          <p:cNvSpPr/>
          <p:nvPr/>
        </p:nvSpPr>
        <p:spPr>
          <a:xfrm>
            <a:off x="2286000" y="4754880"/>
            <a:ext cx="1097280" cy="-640080"/>
          </a:xfrm>
          <a:prstGeom prst="line">
            <a:avLst/>
          </a:prstGeom>
          <a:noFill/>
          <a:ln w="63500">
            <a:solidFill>
              <a:srgbClr val="65172F"/>
            </a:solidFill>
            <a:prstDash val="solid"/>
            <a:tailEnd type="triangle"/>
          </a:ln>
        </p:spPr>
      </p:sp>
      <p:sp>
        <p:nvSpPr>
          <p:cNvPr id="20" name="rect-396"/>
          <p:cNvSpPr/>
          <p:nvPr/>
        </p:nvSpPr>
        <p:spPr>
          <a:xfrm>
            <a:off x="3429000" y="4663440"/>
            <a:ext cx="2514600" cy="548640"/>
          </a:xfrm>
          <a:prstGeom prst="rect">
            <a:avLst/>
          </a:prstGeom>
          <a:solidFill>
            <a:srgbClr val="EFE3E6"/>
          </a:solidFill>
          <a:ln w="12700">
            <a:solidFill>
              <a:srgbClr val="EFE3E6"/>
            </a:solidFill>
            <a:prstDash val="solid"/>
          </a:ln>
        </p:spPr>
      </p:sp>
      <p:sp>
        <p:nvSpPr>
          <p:cNvPr id="21" name="text-397"/>
          <p:cNvSpPr txBox="1"/>
          <p:nvPr/>
        </p:nvSpPr>
        <p:spPr>
          <a:xfrm>
            <a:off x="3538728" y="4663440"/>
            <a:ext cx="2331720" cy="548640"/>
          </a:xfrm>
          <a:prstGeom prst="rect">
            <a:avLst/>
          </a:prstGeom>
          <a:noFill/>
          <a:ln/>
        </p:spPr>
        <p:txBody>
          <a:bodyPr wrap="square" lIns="0" tIns="0" rIns="0" bIns="0" rtlCol="0" anchor="ctr"/>
          <a:lstStyle/>
          <a:p>
            <a:pPr indent="0" marL="0">
              <a:buNone/>
            </a:pPr>
            <a:r>
              <a:rPr lang="en-US" sz="1250" b="1" dirty="0">
                <a:solidFill>
                  <a:srgbClr val="65172F"/>
                </a:solidFill>
              </a:rPr>
              <a:t>Stock ages → returns</a:t>
            </a:r>
            <a:endParaRPr lang="en-US" sz="1250" dirty="0"/>
          </a:p>
        </p:txBody>
      </p:sp>
      <p:sp>
        <p:nvSpPr>
          <p:cNvPr id="22" name="line-398"/>
          <p:cNvSpPr/>
          <p:nvPr/>
        </p:nvSpPr>
        <p:spPr>
          <a:xfrm>
            <a:off x="4681728" y="4251960"/>
            <a:ext cx="0" cy="411480"/>
          </a:xfrm>
          <a:prstGeom prst="line">
            <a:avLst/>
          </a:prstGeom>
          <a:noFill/>
          <a:ln w="19050">
            <a:solidFill>
              <a:srgbClr val="65172F"/>
            </a:solidFill>
            <a:prstDash val="solid"/>
            <a:tailEnd type="triangle"/>
          </a:ln>
        </p:spPr>
      </p:sp>
      <p:sp>
        <p:nvSpPr>
          <p:cNvPr id="23" name="line-399"/>
          <p:cNvSpPr/>
          <p:nvPr/>
        </p:nvSpPr>
        <p:spPr>
          <a:xfrm>
            <a:off x="6400800" y="1810512"/>
            <a:ext cx="0" cy="3429000"/>
          </a:xfrm>
          <a:prstGeom prst="line">
            <a:avLst/>
          </a:prstGeom>
          <a:noFill/>
          <a:ln w="12700">
            <a:solidFill>
              <a:srgbClr val="E3DED7"/>
            </a:solidFill>
            <a:prstDash val="solid"/>
          </a:ln>
        </p:spPr>
      </p:sp>
      <p:sp>
        <p:nvSpPr>
          <p:cNvPr id="24" name="text-400"/>
          <p:cNvSpPr txBox="1"/>
          <p:nvPr/>
        </p:nvSpPr>
        <p:spPr>
          <a:xfrm>
            <a:off x="6629400" y="1810512"/>
            <a:ext cx="2743200" cy="237744"/>
          </a:xfrm>
          <a:prstGeom prst="rect">
            <a:avLst/>
          </a:prstGeom>
          <a:noFill/>
          <a:ln/>
        </p:spPr>
        <p:txBody>
          <a:bodyPr wrap="square" lIns="0" tIns="0" rIns="0" bIns="0" rtlCol="0" anchor="t"/>
          <a:lstStyle/>
          <a:p>
            <a:pPr indent="0" marL="0">
              <a:buNone/>
            </a:pPr>
            <a:r>
              <a:rPr lang="en-US" sz="1050" b="1" spc="150" kern="0" dirty="0">
                <a:solidFill>
                  <a:srgbClr val="171717"/>
                </a:solidFill>
              </a:rPr>
              <a:t>OUR APPROACH</a:t>
            </a:r>
            <a:endParaRPr lang="en-US" sz="1050" dirty="0"/>
          </a:p>
        </p:txBody>
      </p:sp>
      <p:sp>
        <p:nvSpPr>
          <p:cNvPr id="25" name="text-401"/>
          <p:cNvSpPr txBox="1"/>
          <p:nvPr/>
        </p:nvSpPr>
        <p:spPr>
          <a:xfrm>
            <a:off x="6629400" y="2148840"/>
            <a:ext cx="502920" cy="365760"/>
          </a:xfrm>
          <a:prstGeom prst="rect">
            <a:avLst/>
          </a:prstGeom>
          <a:noFill/>
          <a:ln/>
        </p:spPr>
        <p:txBody>
          <a:bodyPr wrap="square" lIns="0" tIns="0" rIns="0" bIns="0" rtlCol="0" anchor="t"/>
          <a:lstStyle/>
          <a:p>
            <a:pPr indent="0" marL="0">
              <a:buNone/>
            </a:pPr>
            <a:r>
              <a:rPr lang="en-US" sz="2000" b="1" dirty="0">
                <a:solidFill>
                  <a:srgbClr val="327B60"/>
                </a:solidFill>
                <a:latin typeface="Aptos Display" pitchFamily="34" charset="0"/>
                <a:ea typeface="Aptos Display" pitchFamily="34" charset="-122"/>
                <a:cs typeface="Aptos Display" pitchFamily="34" charset="-120"/>
              </a:rPr>
              <a:t>01</a:t>
            </a:r>
            <a:endParaRPr lang="en-US" sz="2000" dirty="0"/>
          </a:p>
        </p:txBody>
      </p:sp>
      <p:sp>
        <p:nvSpPr>
          <p:cNvPr id="26" name="text-402"/>
          <p:cNvSpPr txBox="1"/>
          <p:nvPr/>
        </p:nvSpPr>
        <p:spPr>
          <a:xfrm>
            <a:off x="7178040" y="2148840"/>
            <a:ext cx="4343400" cy="658368"/>
          </a:xfrm>
          <a:prstGeom prst="rect">
            <a:avLst/>
          </a:prstGeom>
          <a:noFill/>
          <a:ln/>
        </p:spPr>
        <p:txBody>
          <a:bodyPr wrap="square" lIns="0" tIns="0" rIns="0" bIns="0" rtlCol="0" anchor="t"/>
          <a:lstStyle/>
          <a:p>
            <a:pPr indent="0" marL="0">
              <a:buNone/>
            </a:pPr>
            <a:r>
              <a:rPr lang="en-US" sz="1400" b="1" dirty="0">
                <a:solidFill>
                  <a:srgbClr val="171717"/>
                </a:solidFill>
              </a:rPr>
              <a:t>Detect</a:t>
            </a:r>
            <a:endParaRPr lang="en-US" sz="1400" dirty="0"/>
          </a:p>
          <a:p>
            <a:pPr indent="0" marL="0">
              <a:buNone/>
            </a:pPr>
            <a:r>
              <a:rPr lang="en-US" sz="1150" dirty="0">
                <a:solidFill>
                  <a:srgbClr val="6E665E"/>
                </a:solidFill>
              </a:rPr>
              <a:t>Outlet sell-out −20%+ in 3 months while the brand grows 20%+ online, or the rep's signal</a:t>
            </a:r>
            <a:endParaRPr lang="en-US" sz="1400" dirty="0"/>
          </a:p>
        </p:txBody>
      </p:sp>
      <p:sp>
        <p:nvSpPr>
          <p:cNvPr id="27" name="text-403"/>
          <p:cNvSpPr txBox="1"/>
          <p:nvPr/>
        </p:nvSpPr>
        <p:spPr>
          <a:xfrm>
            <a:off x="6629400" y="2862072"/>
            <a:ext cx="502920" cy="365760"/>
          </a:xfrm>
          <a:prstGeom prst="rect">
            <a:avLst/>
          </a:prstGeom>
          <a:noFill/>
          <a:ln/>
        </p:spPr>
        <p:txBody>
          <a:bodyPr wrap="square" lIns="0" tIns="0" rIns="0" bIns="0" rtlCol="0" anchor="t"/>
          <a:lstStyle/>
          <a:p>
            <a:pPr indent="0" marL="0">
              <a:buNone/>
            </a:pPr>
            <a:r>
              <a:rPr lang="en-US" sz="2000" b="1" dirty="0">
                <a:solidFill>
                  <a:srgbClr val="327B60"/>
                </a:solidFill>
                <a:latin typeface="Aptos Display" pitchFamily="34" charset="0"/>
                <a:ea typeface="Aptos Display" pitchFamily="34" charset="-122"/>
                <a:cs typeface="Aptos Display" pitchFamily="34" charset="-120"/>
              </a:rPr>
              <a:t>02</a:t>
            </a:r>
            <a:endParaRPr lang="en-US" sz="2000" dirty="0"/>
          </a:p>
        </p:txBody>
      </p:sp>
      <p:sp>
        <p:nvSpPr>
          <p:cNvPr id="28" name="text-404"/>
          <p:cNvSpPr txBox="1"/>
          <p:nvPr/>
        </p:nvSpPr>
        <p:spPr>
          <a:xfrm>
            <a:off x="7178040" y="2862072"/>
            <a:ext cx="4343400" cy="658368"/>
          </a:xfrm>
          <a:prstGeom prst="rect">
            <a:avLst/>
          </a:prstGeom>
          <a:noFill/>
          <a:ln/>
        </p:spPr>
        <p:txBody>
          <a:bodyPr wrap="square" lIns="0" tIns="0" rIns="0" bIns="0" rtlCol="0" anchor="t"/>
          <a:lstStyle/>
          <a:p>
            <a:pPr indent="0" marL="0">
              <a:buNone/>
            </a:pPr>
            <a:r>
              <a:rPr lang="en-US" sz="1400" b="1" dirty="0">
                <a:solidFill>
                  <a:srgbClr val="171717"/>
                </a:solidFill>
              </a:rPr>
              <a:t>Resize</a:t>
            </a:r>
            <a:endParaRPr lang="en-US" sz="1400" dirty="0"/>
          </a:p>
          <a:p>
            <a:pPr indent="0" marL="0">
              <a:buNone/>
            </a:pPr>
            <a:r>
              <a:rPr lang="en-US" sz="1150" dirty="0">
                <a:solidFill>
                  <a:srgbClr val="6E665E"/>
                </a:solidFill>
              </a:rPr>
              <a:t>Order guardrail uses a 21-day cover norm, not 30: stop loading general trade</a:t>
            </a:r>
            <a:endParaRPr lang="en-US" sz="1400" dirty="0"/>
          </a:p>
        </p:txBody>
      </p:sp>
      <p:sp>
        <p:nvSpPr>
          <p:cNvPr id="29" name="text-405"/>
          <p:cNvSpPr txBox="1"/>
          <p:nvPr/>
        </p:nvSpPr>
        <p:spPr>
          <a:xfrm>
            <a:off x="6629400" y="3575304"/>
            <a:ext cx="502920" cy="365760"/>
          </a:xfrm>
          <a:prstGeom prst="rect">
            <a:avLst/>
          </a:prstGeom>
          <a:noFill/>
          <a:ln/>
        </p:spPr>
        <p:txBody>
          <a:bodyPr wrap="square" lIns="0" tIns="0" rIns="0" bIns="0" rtlCol="0" anchor="t"/>
          <a:lstStyle/>
          <a:p>
            <a:pPr indent="0" marL="0">
              <a:buNone/>
            </a:pPr>
            <a:r>
              <a:rPr lang="en-US" sz="2000" b="1" dirty="0">
                <a:solidFill>
                  <a:srgbClr val="327B60"/>
                </a:solidFill>
                <a:latin typeface="Aptos Display" pitchFamily="34" charset="0"/>
                <a:ea typeface="Aptos Display" pitchFamily="34" charset="-122"/>
                <a:cs typeface="Aptos Display" pitchFamily="34" charset="-120"/>
              </a:rPr>
              <a:t>03</a:t>
            </a:r>
            <a:endParaRPr lang="en-US" sz="2000" dirty="0"/>
          </a:p>
        </p:txBody>
      </p:sp>
      <p:sp>
        <p:nvSpPr>
          <p:cNvPr id="30" name="text-406"/>
          <p:cNvSpPr txBox="1"/>
          <p:nvPr/>
        </p:nvSpPr>
        <p:spPr>
          <a:xfrm>
            <a:off x="7178040" y="3575304"/>
            <a:ext cx="4343400" cy="658368"/>
          </a:xfrm>
          <a:prstGeom prst="rect">
            <a:avLst/>
          </a:prstGeom>
          <a:noFill/>
          <a:ln/>
        </p:spPr>
        <p:txBody>
          <a:bodyPr wrap="square" lIns="0" tIns="0" rIns="0" bIns="0" rtlCol="0" anchor="t"/>
          <a:lstStyle/>
          <a:p>
            <a:pPr indent="0" marL="0">
              <a:buNone/>
            </a:pPr>
            <a:r>
              <a:rPr lang="en-US" sz="1400" b="1" dirty="0">
                <a:solidFill>
                  <a:srgbClr val="171717"/>
                </a:solidFill>
              </a:rPr>
              <a:t>Hand off</a:t>
            </a:r>
            <a:endParaRPr lang="en-US" sz="1400" dirty="0"/>
          </a:p>
          <a:p>
            <a:pPr indent="0" marL="0">
              <a:buNone/>
            </a:pPr>
            <a:r>
              <a:rPr lang="en-US" sz="1150" dirty="0">
                <a:solidFill>
                  <a:srgbClr val="6E665E"/>
                </a:solidFill>
              </a:rPr>
              <a:t>Flag to the quick-commerce KAM and demand planning: move allocation online</a:t>
            </a:r>
            <a:endParaRPr lang="en-US" sz="1400" dirty="0"/>
          </a:p>
        </p:txBody>
      </p:sp>
      <p:sp>
        <p:nvSpPr>
          <p:cNvPr id="31" name="text-407"/>
          <p:cNvSpPr txBox="1"/>
          <p:nvPr/>
        </p:nvSpPr>
        <p:spPr>
          <a:xfrm>
            <a:off x="6629400" y="4288536"/>
            <a:ext cx="502920" cy="365760"/>
          </a:xfrm>
          <a:prstGeom prst="rect">
            <a:avLst/>
          </a:prstGeom>
          <a:noFill/>
          <a:ln/>
        </p:spPr>
        <p:txBody>
          <a:bodyPr wrap="square" lIns="0" tIns="0" rIns="0" bIns="0" rtlCol="0" anchor="t"/>
          <a:lstStyle/>
          <a:p>
            <a:pPr indent="0" marL="0">
              <a:buNone/>
            </a:pPr>
            <a:r>
              <a:rPr lang="en-US" sz="2000" b="1" dirty="0">
                <a:solidFill>
                  <a:srgbClr val="327B60"/>
                </a:solidFill>
                <a:latin typeface="Aptos Display" pitchFamily="34" charset="0"/>
                <a:ea typeface="Aptos Display" pitchFamily="34" charset="-122"/>
                <a:cs typeface="Aptos Display" pitchFamily="34" charset="-120"/>
              </a:rPr>
              <a:t>04</a:t>
            </a:r>
            <a:endParaRPr lang="en-US" sz="2000" dirty="0"/>
          </a:p>
        </p:txBody>
      </p:sp>
      <p:sp>
        <p:nvSpPr>
          <p:cNvPr id="32" name="text-408"/>
          <p:cNvSpPr txBox="1"/>
          <p:nvPr/>
        </p:nvSpPr>
        <p:spPr>
          <a:xfrm>
            <a:off x="7178040" y="4288536"/>
            <a:ext cx="4343400" cy="658368"/>
          </a:xfrm>
          <a:prstGeom prst="rect">
            <a:avLst/>
          </a:prstGeom>
          <a:noFill/>
          <a:ln/>
        </p:spPr>
        <p:txBody>
          <a:bodyPr wrap="square" lIns="0" tIns="0" rIns="0" bIns="0" rtlCol="0" anchor="t"/>
          <a:lstStyle/>
          <a:p>
            <a:pPr indent="0" marL="0">
              <a:buNone/>
            </a:pPr>
            <a:r>
              <a:rPr lang="en-US" sz="1400" b="1" dirty="0">
                <a:solidFill>
                  <a:srgbClr val="171717"/>
                </a:solidFill>
              </a:rPr>
              <a:t>Route</a:t>
            </a:r>
            <a:endParaRPr lang="en-US" sz="1400" dirty="0"/>
          </a:p>
          <a:p>
            <a:pPr indent="0" marL="0">
              <a:buNone/>
            </a:pPr>
            <a:r>
              <a:rPr lang="en-US" sz="1150" dirty="0">
                <a:solidFill>
                  <a:srgbClr val="6E665E"/>
                </a:solidFill>
              </a:rPr>
              <a:t>Fresh stock follows demand online; ageing stock is rebalanced within general trade, never dumped</a:t>
            </a:r>
            <a:endParaRPr lang="en-US" sz="1400" dirty="0"/>
          </a:p>
        </p:txBody>
      </p:sp>
      <p:sp>
        <p:nvSpPr>
          <p:cNvPr id="33" name="text-409"/>
          <p:cNvSpPr txBox="1"/>
          <p:nvPr/>
        </p:nvSpPr>
        <p:spPr>
          <a:xfrm>
            <a:off x="6629400" y="4919472"/>
            <a:ext cx="4892040" cy="384048"/>
          </a:xfrm>
          <a:prstGeom prst="rect">
            <a:avLst/>
          </a:prstGeom>
          <a:noFill/>
          <a:ln/>
        </p:spPr>
        <p:txBody>
          <a:bodyPr wrap="square" lIns="0" tIns="0" rIns="0" bIns="0" rtlCol="0" anchor="t"/>
          <a:lstStyle/>
          <a:p>
            <a:pPr indent="0" marL="0">
              <a:buNone/>
            </a:pPr>
            <a:r>
              <a:rPr lang="en-US" sz="1150" i="1" dirty="0">
                <a:solidFill>
                  <a:srgbClr val="6E665E"/>
                </a:solidFill>
              </a:rPr>
              <a:t>In the app: 5 SKU-outlets flagged as shifting online; ₹23,160 of general-trade loading avoided against retailer asks (synthetic).</a:t>
            </a:r>
            <a:endParaRPr lang="en-US" sz="1150" dirty="0"/>
          </a:p>
        </p:txBody>
      </p:sp>
      <p:sp>
        <p:nvSpPr>
          <p:cNvPr id="34" name="text-410"/>
          <p:cNvSpPr txBox="1"/>
          <p:nvPr/>
        </p:nvSpPr>
        <p:spPr>
          <a:xfrm>
            <a:off x="640080" y="5376672"/>
            <a:ext cx="2606040" cy="292608"/>
          </a:xfrm>
          <a:prstGeom prst="rect">
            <a:avLst/>
          </a:prstGeom>
          <a:noFill/>
          <a:ln/>
        </p:spPr>
        <p:txBody>
          <a:bodyPr wrap="square" lIns="0" tIns="0" rIns="0" bIns="0" rtlCol="0" anchor="t"/>
          <a:lstStyle/>
          <a:p>
            <a:pPr indent="0" marL="0">
              <a:buNone/>
            </a:pPr>
            <a:r>
              <a:rPr lang="en-US" sz="1600" b="1" dirty="0">
                <a:solidFill>
                  <a:srgbClr val="327B60"/>
                </a:solidFill>
              </a:rPr>
              <a:t>≈18%</a:t>
            </a:r>
            <a:endParaRPr lang="en-US" sz="1600" dirty="0"/>
          </a:p>
        </p:txBody>
      </p:sp>
      <p:sp>
        <p:nvSpPr>
          <p:cNvPr id="35" name="text-411"/>
          <p:cNvSpPr txBox="1"/>
          <p:nvPr/>
        </p:nvSpPr>
        <p:spPr>
          <a:xfrm>
            <a:off x="640080" y="5669280"/>
            <a:ext cx="2606040" cy="603504"/>
          </a:xfrm>
          <a:prstGeom prst="rect">
            <a:avLst/>
          </a:prstGeom>
          <a:noFill/>
          <a:ln/>
        </p:spPr>
        <p:txBody>
          <a:bodyPr wrap="square" lIns="0" tIns="0" rIns="0" bIns="0" rtlCol="0" anchor="t"/>
          <a:lstStyle/>
          <a:p>
            <a:pPr indent="0" marL="0">
              <a:buNone/>
            </a:pPr>
            <a:r>
              <a:rPr lang="en-US" sz="1000" dirty="0">
                <a:solidFill>
                  <a:srgbClr val="171717"/>
                </a:solidFill>
              </a:rPr>
              <a:t>of FMCG sales in India's top-8 metros are online; &gt;¾ of that is quick commerce  </a:t>
            </a:r>
            <a:pPr indent="0" marL="0">
              <a:buNone/>
            </a:pPr>
            <a:r>
              <a:rPr lang="en-US" sz="1000" i="1" dirty="0">
                <a:solidFill>
                  <a:srgbClr val="6E665E"/>
                </a:solidFill>
              </a:rPr>
              <a:t>NielsenIQ, Q4 2025</a:t>
            </a:r>
            <a:endParaRPr lang="en-US" sz="1000" dirty="0"/>
          </a:p>
        </p:txBody>
      </p:sp>
      <p:sp>
        <p:nvSpPr>
          <p:cNvPr id="36" name="text-412"/>
          <p:cNvSpPr txBox="1"/>
          <p:nvPr/>
        </p:nvSpPr>
        <p:spPr>
          <a:xfrm>
            <a:off x="3383280" y="5376672"/>
            <a:ext cx="2606040" cy="292608"/>
          </a:xfrm>
          <a:prstGeom prst="rect">
            <a:avLst/>
          </a:prstGeom>
          <a:noFill/>
          <a:ln/>
        </p:spPr>
        <p:txBody>
          <a:bodyPr wrap="square" lIns="0" tIns="0" rIns="0" bIns="0" rtlCol="0" anchor="t"/>
          <a:lstStyle/>
          <a:p>
            <a:pPr indent="0" marL="0">
              <a:buNone/>
            </a:pPr>
            <a:r>
              <a:rPr lang="en-US" sz="1600" b="1" dirty="0">
                <a:solidFill>
                  <a:srgbClr val="327B60"/>
                </a:solidFill>
              </a:rPr>
              <a:t>Priority</a:t>
            </a:r>
            <a:endParaRPr lang="en-US" sz="1600" dirty="0"/>
          </a:p>
        </p:txBody>
      </p:sp>
      <p:sp>
        <p:nvSpPr>
          <p:cNvPr id="37" name="text-413"/>
          <p:cNvSpPr txBox="1"/>
          <p:nvPr/>
        </p:nvSpPr>
        <p:spPr>
          <a:xfrm>
            <a:off x="3383280" y="5669280"/>
            <a:ext cx="2606040" cy="603504"/>
          </a:xfrm>
          <a:prstGeom prst="rect">
            <a:avLst/>
          </a:prstGeom>
          <a:noFill/>
          <a:ln/>
        </p:spPr>
        <p:txBody>
          <a:bodyPr wrap="square" lIns="0" tIns="0" rIns="0" bIns="0" rtlCol="0" anchor="t"/>
          <a:lstStyle/>
          <a:p>
            <a:pPr indent="0" marL="0">
              <a:buNone/>
            </a:pPr>
            <a:r>
              <a:rPr lang="en-US" sz="1000" dirty="0">
                <a:solidFill>
                  <a:srgbClr val="171717"/>
                </a:solidFill>
              </a:rPr>
              <a:t>L'Oréal named quick commerce a focus for India growth  </a:t>
            </a:r>
            <a:pPr indent="0" marL="0">
              <a:buNone/>
            </a:pPr>
            <a:r>
              <a:rPr lang="en-US" sz="1000" i="1" dirty="0">
                <a:solidFill>
                  <a:srgbClr val="6E665E"/>
                </a:solidFill>
              </a:rPr>
              <a:t>Business Standard, Oct 2026</a:t>
            </a:r>
            <a:endParaRPr lang="en-US" sz="1000" dirty="0"/>
          </a:p>
        </p:txBody>
      </p:sp>
      <p:sp>
        <p:nvSpPr>
          <p:cNvPr id="38" name="text-414"/>
          <p:cNvSpPr txBox="1"/>
          <p:nvPr/>
        </p:nvSpPr>
        <p:spPr>
          <a:xfrm>
            <a:off x="6126480" y="5376672"/>
            <a:ext cx="2606040" cy="292608"/>
          </a:xfrm>
          <a:prstGeom prst="rect">
            <a:avLst/>
          </a:prstGeom>
          <a:noFill/>
          <a:ln/>
        </p:spPr>
        <p:txBody>
          <a:bodyPr wrap="square" lIns="0" tIns="0" rIns="0" bIns="0" rtlCol="0" anchor="t"/>
          <a:lstStyle/>
          <a:p>
            <a:pPr indent="0" marL="0">
              <a:buNone/>
            </a:pPr>
            <a:r>
              <a:rPr lang="en-US" sz="1600" b="1" dirty="0">
                <a:solidFill>
                  <a:srgbClr val="327B60"/>
                </a:solidFill>
              </a:rPr>
              <a:t>30 → 21 days</a:t>
            </a:r>
            <a:endParaRPr lang="en-US" sz="1600" dirty="0"/>
          </a:p>
        </p:txBody>
      </p:sp>
      <p:sp>
        <p:nvSpPr>
          <p:cNvPr id="39" name="text-415"/>
          <p:cNvSpPr txBox="1"/>
          <p:nvPr/>
        </p:nvSpPr>
        <p:spPr>
          <a:xfrm>
            <a:off x="6126480" y="5669280"/>
            <a:ext cx="2606040" cy="603504"/>
          </a:xfrm>
          <a:prstGeom prst="rect">
            <a:avLst/>
          </a:prstGeom>
          <a:noFill/>
          <a:ln/>
        </p:spPr>
        <p:txBody>
          <a:bodyPr wrap="square" lIns="0" tIns="0" rIns="0" bIns="0" rtlCol="0" anchor="t"/>
          <a:lstStyle/>
          <a:p>
            <a:pPr indent="0" marL="0">
              <a:buNone/>
            </a:pPr>
            <a:r>
              <a:rPr lang="en-US" sz="1000" dirty="0">
                <a:solidFill>
                  <a:srgbClr val="171717"/>
                </a:solidFill>
              </a:rPr>
              <a:t>distributor stock cut at Dabur after demand moved channels  </a:t>
            </a:r>
            <a:pPr indent="0" marL="0">
              <a:buNone/>
            </a:pPr>
            <a:r>
              <a:rPr lang="en-US" sz="1000" i="1" dirty="0">
                <a:solidFill>
                  <a:srgbClr val="6E665E"/>
                </a:solidFill>
              </a:rPr>
              <a:t>Brokerage notes, Oct 2024</a:t>
            </a:r>
            <a:endParaRPr lang="en-US" sz="1000" dirty="0"/>
          </a:p>
        </p:txBody>
      </p:sp>
      <p:sp>
        <p:nvSpPr>
          <p:cNvPr id="40" name="text-416"/>
          <p:cNvSpPr txBox="1"/>
          <p:nvPr/>
        </p:nvSpPr>
        <p:spPr>
          <a:xfrm>
            <a:off x="8869680" y="5376672"/>
            <a:ext cx="2606040" cy="292608"/>
          </a:xfrm>
          <a:prstGeom prst="rect">
            <a:avLst/>
          </a:prstGeom>
          <a:noFill/>
          <a:ln/>
        </p:spPr>
        <p:txBody>
          <a:bodyPr wrap="square" lIns="0" tIns="0" rIns="0" bIns="0" rtlCol="0" anchor="t"/>
          <a:lstStyle/>
          <a:p>
            <a:pPr indent="0" marL="0">
              <a:buNone/>
            </a:pPr>
            <a:r>
              <a:rPr lang="en-US" sz="1600" b="1" dirty="0">
                <a:solidFill>
                  <a:srgbClr val="327B60"/>
                </a:solidFill>
              </a:rPr>
              <a:t>Dumping</a:t>
            </a:r>
            <a:endParaRPr lang="en-US" sz="1600" dirty="0"/>
          </a:p>
        </p:txBody>
      </p:sp>
      <p:sp>
        <p:nvSpPr>
          <p:cNvPr id="41" name="text-417"/>
          <p:cNvSpPr txBox="1"/>
          <p:nvPr/>
        </p:nvSpPr>
        <p:spPr>
          <a:xfrm>
            <a:off x="8869680" y="5669280"/>
            <a:ext cx="2606040" cy="603504"/>
          </a:xfrm>
          <a:prstGeom prst="rect">
            <a:avLst/>
          </a:prstGeom>
          <a:noFill/>
          <a:ln/>
        </p:spPr>
        <p:txBody>
          <a:bodyPr wrap="square" lIns="0" tIns="0" rIns="0" bIns="0" rtlCol="0" anchor="t"/>
          <a:lstStyle/>
          <a:p>
            <a:pPr indent="0" marL="0">
              <a:buNone/>
            </a:pPr>
            <a:r>
              <a:rPr lang="en-US" sz="1000" dirty="0">
                <a:solidFill>
                  <a:srgbClr val="171717"/>
                </a:solidFill>
              </a:rPr>
              <a:t>distributors allege near-expiry stock is offloaded on quick commerce at deep discounts  </a:t>
            </a:r>
            <a:pPr indent="0" marL="0">
              <a:buNone/>
            </a:pPr>
            <a:r>
              <a:rPr lang="en-US" sz="1000" i="1" dirty="0">
                <a:solidFill>
                  <a:srgbClr val="6E665E"/>
                </a:solidFill>
              </a:rPr>
              <a:t>AICPDF, Nov 2024</a:t>
            </a:r>
            <a:endParaRPr lang="en-US" sz="1000" dirty="0"/>
          </a:p>
        </p:txBody>
      </p:sp>
      <p:sp>
        <p:nvSpPr>
          <p:cNvPr id="25" name="Slide Number Placeholder 0"/>
          <p:cNvSpPr>
            <a:spLocks noGrp="1"/>
          </p:cNvSpPr>
          <p:nvPr>
            <p:ph type="sldNum" sz="quarter" idx="4294967295"/>
          </p:nvPr>
        </p:nvSpPr>
        <p:spPr>
          <a:xfrm>
            <a:off x="11091672"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665E"/>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body" hasCustomPrompt="1"/>
          </p:nvPr>
        </p:nvSpPr>
        <p:spPr>
          <a:xfrm>
            <a:off x="640080" y="457200"/>
            <a:ext cx="8686800" cy="237744"/>
          </a:xfrm>
          <a:prstGeom prst="rect">
            <a:avLst/>
          </a:prstGeom>
          <a:noFill/>
          <a:ln/>
        </p:spPr>
        <p:txBody>
          <a:bodyPr wrap="square" lIns="0" tIns="0" rIns="0" bIns="0" rtlCol="0" anchor="t"/>
          <a:lstStyle/>
          <a:p>
            <a:pPr indent="0" marL="0">
              <a:buNone/>
            </a:pPr>
            <a:r>
              <a:rPr lang="en-US" sz="1100" b="1" spc="200" kern="0" dirty="0">
                <a:solidFill>
                  <a:srgbClr val="B9808F"/>
                </a:solidFill>
              </a:rPr>
              <a:t>THE PRODUCT EXPERIENCE</a:t>
            </a:r>
            <a:endParaRPr lang="en-US" sz="1100" dirty="0"/>
          </a:p>
        </p:txBody>
      </p:sp>
      <p:sp>
        <p:nvSpPr>
          <p:cNvPr id="3" name="Text 0"/>
          <p:cNvSpPr/>
          <p:nvPr>
            <p:ph idx="102" type="title" hasCustomPrompt="1"/>
          </p:nvPr>
        </p:nvSpPr>
        <p:spPr>
          <a:xfrm>
            <a:off x="640080" y="749808"/>
            <a:ext cx="9418320" cy="1005840"/>
          </a:xfrm>
          <a:prstGeom prst="rect">
            <a:avLst/>
          </a:prstGeom>
          <a:noFill/>
          <a:ln/>
        </p:spPr>
        <p:txBody>
          <a:bodyPr wrap="square" lIns="0" tIns="0" rIns="0" bIns="0" rtlCol="0" anchor="t"/>
          <a:lstStyle/>
          <a:p>
            <a:pPr algn="l" indent="0" marL="0">
              <a:lnSpc>
                <a:spcPct val="95000"/>
              </a:lnSpc>
              <a:buNone/>
            </a:pPr>
            <a:r>
              <a:rPr lang="en-US" sz="3000" b="1" dirty="0">
                <a:solidFill>
                  <a:srgbClr val="FFFFFF"/>
                </a:solidFill>
                <a:latin typeface="Aptos Display" pitchFamily="34" charset="0"/>
                <a:ea typeface="Aptos Display" pitchFamily="34" charset="-122"/>
                <a:cs typeface="Aptos Display" pitchFamily="34" charset="-120"/>
              </a:rPr>
              <a:t>A working product, not a concept: the rep's visit end to end</a:t>
            </a:r>
            <a:endParaRPr lang="en-US" sz="3000" dirty="0"/>
          </a:p>
        </p:txBody>
      </p:sp>
      <p:sp>
        <p:nvSpPr>
          <p:cNvPr id="4" name="Text 0"/>
          <p:cNvSpPr/>
          <p:nvPr>
            <p:ph idx="103" type="body" hasCustomPrompt="1"/>
          </p:nvPr>
        </p:nvSpPr>
        <p:spPr>
          <a:xfrm>
            <a:off x="640080" y="6355080"/>
            <a:ext cx="9189720" cy="347472"/>
          </a:xfrm>
          <a:prstGeom prst="rect">
            <a:avLst/>
          </a:prstGeom>
          <a:noFill/>
          <a:ln/>
        </p:spPr>
        <p:txBody>
          <a:bodyPr wrap="square" lIns="0" tIns="0" rIns="0" bIns="0" rtlCol="0" anchor="t"/>
          <a:lstStyle/>
          <a:p>
            <a:pPr indent="0" marL="0">
              <a:buNone/>
            </a:pPr>
            <a:r>
              <a:rPr lang="en-US" sz="1000" dirty="0">
                <a:solidFill>
                  <a:srgbClr val="A9A096"/>
                </a:solidFill>
              </a:rPr>
              <a:t>Genuine screenshots of the live prototype (synthetic data; fictional brands Lumea, Verdé, Chroma, DermaPure, Salon Pro, Maison Éclat). Not connected to any L'Oréal system.</a:t>
            </a:r>
            <a:endParaRPr lang="en-US" sz="1000" dirty="0"/>
          </a:p>
        </p:txBody>
      </p:sp>
      <p:sp>
        <p:nvSpPr>
          <p:cNvPr id="6" name="rrect-418"/>
          <p:cNvSpPr/>
          <p:nvPr/>
        </p:nvSpPr>
        <p:spPr>
          <a:xfrm>
            <a:off x="640080" y="1783080"/>
            <a:ext cx="5440680" cy="3619881"/>
          </a:xfrm>
          <a:prstGeom prst="roundRect">
            <a:avLst>
              <a:gd name="adj" fmla="val 1010"/>
            </a:avLst>
          </a:prstGeom>
          <a:solidFill>
            <a:srgbClr val="2A2A2A"/>
          </a:solidFill>
          <a:ln w="12700">
            <a:solidFill>
              <a:srgbClr val="2A2A2A"/>
            </a:solidFill>
            <a:prstDash val="solid"/>
          </a:ln>
          <a:effectLst>
            <a:outerShdw sx="100000" sy="100000" kx="0" ky="0" algn="bl" rotWithShape="0" blurRad="152400" dist="50800" dir="5400000">
              <a:srgbClr val="000000">
                <a:alpha val="35000"/>
              </a:srgbClr>
            </a:outerShdw>
          </a:effectLst>
        </p:spPr>
      </p:sp>
      <p:sp>
        <p:nvSpPr>
          <p:cNvPr id="7" name="dot-419"/>
          <p:cNvSpPr/>
          <p:nvPr/>
        </p:nvSpPr>
        <p:spPr>
          <a:xfrm>
            <a:off x="749808" y="1856232"/>
            <a:ext cx="73152" cy="73152"/>
          </a:xfrm>
          <a:prstGeom prst="ellipse">
            <a:avLst/>
          </a:prstGeom>
          <a:solidFill>
            <a:srgbClr val="E06C5A"/>
          </a:solidFill>
          <a:ln w="12700">
            <a:solidFill>
              <a:srgbClr val="E06C5A"/>
            </a:solidFill>
            <a:prstDash val="solid"/>
          </a:ln>
        </p:spPr>
      </p:sp>
      <p:sp>
        <p:nvSpPr>
          <p:cNvPr id="8" name="dot-420"/>
          <p:cNvSpPr/>
          <p:nvPr/>
        </p:nvSpPr>
        <p:spPr>
          <a:xfrm>
            <a:off x="868680" y="1856232"/>
            <a:ext cx="73152" cy="73152"/>
          </a:xfrm>
          <a:prstGeom prst="ellipse">
            <a:avLst/>
          </a:prstGeom>
          <a:solidFill>
            <a:srgbClr val="E2B04A"/>
          </a:solidFill>
          <a:ln w="12700">
            <a:solidFill>
              <a:srgbClr val="E2B04A"/>
            </a:solidFill>
            <a:prstDash val="solid"/>
          </a:ln>
        </p:spPr>
      </p:sp>
      <p:sp>
        <p:nvSpPr>
          <p:cNvPr id="9" name="dot-421"/>
          <p:cNvSpPr/>
          <p:nvPr/>
        </p:nvSpPr>
        <p:spPr>
          <a:xfrm>
            <a:off x="987552" y="1856232"/>
            <a:ext cx="73152" cy="73152"/>
          </a:xfrm>
          <a:prstGeom prst="ellipse">
            <a:avLst/>
          </a:prstGeom>
          <a:solidFill>
            <a:srgbClr val="5DAE6B"/>
          </a:solidFill>
          <a:ln w="12700">
            <a:solidFill>
              <a:srgbClr val="5DAE6B"/>
            </a:solidFill>
            <a:prstDash val="solid"/>
          </a:ln>
        </p:spPr>
      </p:sp>
      <p:sp>
        <p:nvSpPr>
          <p:cNvPr id="10" name="text-422"/>
          <p:cNvSpPr txBox="1"/>
          <p:nvPr/>
        </p:nvSpPr>
        <p:spPr>
          <a:xfrm>
            <a:off x="1188720" y="1819656"/>
            <a:ext cx="4343400" cy="146304"/>
          </a:xfrm>
          <a:prstGeom prst="rect">
            <a:avLst/>
          </a:prstGeom>
          <a:noFill/>
          <a:ln/>
        </p:spPr>
        <p:txBody>
          <a:bodyPr wrap="square" lIns="0" tIns="0" rIns="0" bIns="0" rtlCol="0" anchor="t"/>
          <a:lstStyle/>
          <a:p>
            <a:pPr algn="ctr" indent="0" marL="0">
              <a:buNone/>
            </a:pPr>
            <a:r>
              <a:rPr lang="en-US" sz="800" dirty="0">
                <a:solidFill>
                  <a:srgbClr val="A9A096"/>
                </a:solidFill>
              </a:rPr>
              <a:t>smartsell-loreal.vercel.app</a:t>
            </a:r>
            <a:endParaRPr lang="en-US" sz="800" dirty="0"/>
          </a:p>
        </p:txBody>
      </p:sp>
      <p:pic>
        <p:nvPicPr>
          <p:cNvPr id="11" name="screenshot-423" descr="Recommended actions for Shree Beauty">    </p:cNvPr>
          <p:cNvPicPr>
            <a:picLocks noChangeAspect="1"/>
          </p:cNvPicPr>
          <p:nvPr/>
        </p:nvPicPr>
        <p:blipFill>
          <a:blip r:embed="rId1"/>
          <a:stretch>
            <a:fillRect/>
          </a:stretch>
        </p:blipFill>
        <p:spPr>
          <a:xfrm>
            <a:off x="640080" y="2002536"/>
            <a:ext cx="5440680" cy="3400425"/>
          </a:xfrm>
          <a:prstGeom prst="rect">
            <a:avLst/>
          </a:prstGeom>
        </p:spPr>
      </p:pic>
      <p:sp>
        <p:nvSpPr>
          <p:cNvPr id="12" name="dot-424"/>
          <p:cNvSpPr/>
          <p:nvPr/>
        </p:nvSpPr>
        <p:spPr>
          <a:xfrm>
            <a:off x="3904488" y="2869644"/>
            <a:ext cx="292608" cy="292608"/>
          </a:xfrm>
          <a:prstGeom prst="ellipse">
            <a:avLst/>
          </a:prstGeom>
          <a:solidFill>
            <a:srgbClr val="65172F"/>
          </a:solidFill>
          <a:ln w="12700">
            <a:solidFill>
              <a:srgbClr val="65172F"/>
            </a:solidFill>
            <a:prstDash val="solid"/>
          </a:ln>
        </p:spPr>
      </p:sp>
      <p:sp>
        <p:nvSpPr>
          <p:cNvPr id="13" name="text-425"/>
          <p:cNvSpPr txBox="1"/>
          <p:nvPr/>
        </p:nvSpPr>
        <p:spPr>
          <a:xfrm>
            <a:off x="3904488" y="286964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14" name="dot-426"/>
          <p:cNvSpPr/>
          <p:nvPr/>
        </p:nvSpPr>
        <p:spPr>
          <a:xfrm>
            <a:off x="803300" y="3090672"/>
            <a:ext cx="292608" cy="292608"/>
          </a:xfrm>
          <a:prstGeom prst="ellipse">
            <a:avLst/>
          </a:prstGeom>
          <a:solidFill>
            <a:srgbClr val="65172F"/>
          </a:solidFill>
          <a:ln w="12700">
            <a:solidFill>
              <a:srgbClr val="65172F"/>
            </a:solidFill>
            <a:prstDash val="solid"/>
          </a:ln>
        </p:spPr>
      </p:sp>
      <p:sp>
        <p:nvSpPr>
          <p:cNvPr id="15" name="text-427"/>
          <p:cNvSpPr txBox="1"/>
          <p:nvPr/>
        </p:nvSpPr>
        <p:spPr>
          <a:xfrm>
            <a:off x="803300" y="309067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6" name="dot-428"/>
          <p:cNvSpPr/>
          <p:nvPr/>
        </p:nvSpPr>
        <p:spPr>
          <a:xfrm>
            <a:off x="803300" y="4246817"/>
            <a:ext cx="292608" cy="292608"/>
          </a:xfrm>
          <a:prstGeom prst="ellipse">
            <a:avLst/>
          </a:prstGeom>
          <a:solidFill>
            <a:srgbClr val="65172F"/>
          </a:solidFill>
          <a:ln w="12700">
            <a:solidFill>
              <a:srgbClr val="65172F"/>
            </a:solidFill>
            <a:prstDash val="solid"/>
          </a:ln>
        </p:spPr>
      </p:sp>
      <p:sp>
        <p:nvSpPr>
          <p:cNvPr id="17" name="text-429"/>
          <p:cNvSpPr txBox="1"/>
          <p:nvPr/>
        </p:nvSpPr>
        <p:spPr>
          <a:xfrm>
            <a:off x="803300" y="4246817"/>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8" name="dot-430"/>
          <p:cNvSpPr/>
          <p:nvPr/>
        </p:nvSpPr>
        <p:spPr>
          <a:xfrm>
            <a:off x="2598725" y="4926902"/>
            <a:ext cx="292608" cy="292608"/>
          </a:xfrm>
          <a:prstGeom prst="ellipse">
            <a:avLst/>
          </a:prstGeom>
          <a:solidFill>
            <a:srgbClr val="65172F"/>
          </a:solidFill>
          <a:ln w="12700">
            <a:solidFill>
              <a:srgbClr val="65172F"/>
            </a:solidFill>
            <a:prstDash val="solid"/>
          </a:ln>
        </p:spPr>
      </p:sp>
      <p:sp>
        <p:nvSpPr>
          <p:cNvPr id="19" name="text-431"/>
          <p:cNvSpPr txBox="1"/>
          <p:nvPr/>
        </p:nvSpPr>
        <p:spPr>
          <a:xfrm>
            <a:off x="2598725" y="492690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20" name="dot-432"/>
          <p:cNvSpPr/>
          <p:nvPr/>
        </p:nvSpPr>
        <p:spPr>
          <a:xfrm>
            <a:off x="640080" y="5549265"/>
            <a:ext cx="219456" cy="219456"/>
          </a:xfrm>
          <a:prstGeom prst="ellipse">
            <a:avLst/>
          </a:prstGeom>
          <a:solidFill>
            <a:srgbClr val="65172F"/>
          </a:solidFill>
          <a:ln w="12700">
            <a:solidFill>
              <a:srgbClr val="65172F"/>
            </a:solidFill>
            <a:prstDash val="solid"/>
          </a:ln>
        </p:spPr>
      </p:sp>
      <p:sp>
        <p:nvSpPr>
          <p:cNvPr id="21" name="text-433"/>
          <p:cNvSpPr txBox="1"/>
          <p:nvPr/>
        </p:nvSpPr>
        <p:spPr>
          <a:xfrm>
            <a:off x="640080" y="5549265"/>
            <a:ext cx="219456" cy="219456"/>
          </a:xfrm>
          <a:prstGeom prst="rect">
            <a:avLst/>
          </a:prstGeom>
          <a:noFill/>
          <a:ln/>
        </p:spPr>
        <p:txBody>
          <a:bodyPr wrap="square" lIns="0" tIns="0" rIns="0" bIns="0" rtlCol="0" anchor="ctr"/>
          <a:lstStyle/>
          <a:p>
            <a:pPr algn="ctr" indent="0" marL="0">
              <a:buNone/>
            </a:pPr>
            <a:r>
              <a:rPr lang="en-US" sz="1000" b="1" dirty="0">
                <a:solidFill>
                  <a:srgbClr val="FFFFFF"/>
                </a:solidFill>
              </a:rPr>
              <a:t>1</a:t>
            </a:r>
            <a:endParaRPr lang="en-US" sz="1000" dirty="0"/>
          </a:p>
        </p:txBody>
      </p:sp>
      <p:sp>
        <p:nvSpPr>
          <p:cNvPr id="22" name="text-434"/>
          <p:cNvSpPr txBox="1"/>
          <p:nvPr/>
        </p:nvSpPr>
        <p:spPr>
          <a:xfrm>
            <a:off x="941832" y="5530977"/>
            <a:ext cx="2468880" cy="274320"/>
          </a:xfrm>
          <a:prstGeom prst="rect">
            <a:avLst/>
          </a:prstGeom>
          <a:noFill/>
          <a:ln/>
        </p:spPr>
        <p:txBody>
          <a:bodyPr wrap="square" lIns="0" tIns="0" rIns="0" bIns="0" rtlCol="0" anchor="t"/>
          <a:lstStyle/>
          <a:p>
            <a:pPr indent="0" marL="0">
              <a:buNone/>
            </a:pPr>
            <a:r>
              <a:rPr lang="en-US" sz="1050" b="1" dirty="0">
                <a:solidFill>
                  <a:srgbClr val="FFFFFF"/>
                </a:solidFill>
              </a:rPr>
              <a:t>Plain-English risk  </a:t>
            </a:r>
            <a:pPr indent="0" marL="0">
              <a:buNone/>
            </a:pPr>
            <a:r>
              <a:rPr lang="en-US" sz="1050" dirty="0">
                <a:solidFill>
                  <a:srgbClr val="A9A096"/>
                </a:solidFill>
              </a:rPr>
              <a:t>₹14,700 at risk · 75 days to act</a:t>
            </a:r>
            <a:endParaRPr lang="en-US" sz="1050" dirty="0"/>
          </a:p>
        </p:txBody>
      </p:sp>
      <p:sp>
        <p:nvSpPr>
          <p:cNvPr id="23" name="dot-435"/>
          <p:cNvSpPr/>
          <p:nvPr/>
        </p:nvSpPr>
        <p:spPr>
          <a:xfrm>
            <a:off x="3429000" y="5549265"/>
            <a:ext cx="219456" cy="219456"/>
          </a:xfrm>
          <a:prstGeom prst="ellipse">
            <a:avLst/>
          </a:prstGeom>
          <a:solidFill>
            <a:srgbClr val="65172F"/>
          </a:solidFill>
          <a:ln w="12700">
            <a:solidFill>
              <a:srgbClr val="65172F"/>
            </a:solidFill>
            <a:prstDash val="solid"/>
          </a:ln>
        </p:spPr>
      </p:sp>
      <p:sp>
        <p:nvSpPr>
          <p:cNvPr id="24" name="text-436"/>
          <p:cNvSpPr txBox="1"/>
          <p:nvPr/>
        </p:nvSpPr>
        <p:spPr>
          <a:xfrm>
            <a:off x="3429000" y="5549265"/>
            <a:ext cx="219456" cy="219456"/>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25" name="text-437"/>
          <p:cNvSpPr txBox="1"/>
          <p:nvPr/>
        </p:nvSpPr>
        <p:spPr>
          <a:xfrm>
            <a:off x="3730752" y="5530977"/>
            <a:ext cx="2468880" cy="274320"/>
          </a:xfrm>
          <a:prstGeom prst="rect">
            <a:avLst/>
          </a:prstGeom>
          <a:noFill/>
          <a:ln/>
        </p:spPr>
        <p:txBody>
          <a:bodyPr wrap="square" lIns="0" tIns="0" rIns="0" bIns="0" rtlCol="0" anchor="t"/>
          <a:lstStyle/>
          <a:p>
            <a:pPr indent="0" marL="0">
              <a:buNone/>
            </a:pPr>
            <a:r>
              <a:rPr lang="en-US" sz="1050" b="1" dirty="0">
                <a:solidFill>
                  <a:srgbClr val="FFFFFF"/>
                </a:solidFill>
              </a:rPr>
              <a:t>Cheapest step first  </a:t>
            </a:r>
            <a:pPr indent="0" marL="0">
              <a:buNone/>
            </a:pPr>
            <a:r>
              <a:rPr lang="en-US" sz="1050" dirty="0">
                <a:solidFill>
                  <a:srgbClr val="A9A096"/>
                </a:solidFill>
              </a:rPr>
              <a:t>Pause re-order, ₹0</a:t>
            </a:r>
            <a:endParaRPr lang="en-US" sz="1050" dirty="0"/>
          </a:p>
        </p:txBody>
      </p:sp>
      <p:sp>
        <p:nvSpPr>
          <p:cNvPr id="26" name="dot-438"/>
          <p:cNvSpPr/>
          <p:nvPr/>
        </p:nvSpPr>
        <p:spPr>
          <a:xfrm>
            <a:off x="640080" y="5878449"/>
            <a:ext cx="219456" cy="219456"/>
          </a:xfrm>
          <a:prstGeom prst="ellipse">
            <a:avLst/>
          </a:prstGeom>
          <a:solidFill>
            <a:srgbClr val="65172F"/>
          </a:solidFill>
          <a:ln w="12700">
            <a:solidFill>
              <a:srgbClr val="65172F"/>
            </a:solidFill>
            <a:prstDash val="solid"/>
          </a:ln>
        </p:spPr>
      </p:sp>
      <p:sp>
        <p:nvSpPr>
          <p:cNvPr id="27" name="text-439"/>
          <p:cNvSpPr txBox="1"/>
          <p:nvPr/>
        </p:nvSpPr>
        <p:spPr>
          <a:xfrm>
            <a:off x="640080" y="5878449"/>
            <a:ext cx="219456" cy="219456"/>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28" name="text-440"/>
          <p:cNvSpPr txBox="1"/>
          <p:nvPr/>
        </p:nvSpPr>
        <p:spPr>
          <a:xfrm>
            <a:off x="941832" y="5860161"/>
            <a:ext cx="2468880" cy="274320"/>
          </a:xfrm>
          <a:prstGeom prst="rect">
            <a:avLst/>
          </a:prstGeom>
          <a:noFill/>
          <a:ln/>
        </p:spPr>
        <p:txBody>
          <a:bodyPr wrap="square" lIns="0" tIns="0" rIns="0" bIns="0" rtlCol="0" anchor="t"/>
          <a:lstStyle/>
          <a:p>
            <a:pPr indent="0" marL="0">
              <a:buNone/>
            </a:pPr>
            <a:r>
              <a:rPr lang="en-US" sz="1050" b="1" dirty="0">
                <a:solidFill>
                  <a:srgbClr val="FFFFFF"/>
                </a:solidFill>
              </a:rPr>
              <a:t>Matched transfer  </a:t>
            </a:r>
            <a:pPr indent="0" marL="0">
              <a:buNone/>
            </a:pPr>
            <a:r>
              <a:rPr lang="en-US" sz="1050" dirty="0">
                <a:solidFill>
                  <a:srgbClr val="A9A096"/>
                </a:solidFill>
              </a:rPr>
              <a:t>66 units to a store about to run out</a:t>
            </a:r>
            <a:endParaRPr lang="en-US" sz="1050" dirty="0"/>
          </a:p>
        </p:txBody>
      </p:sp>
      <p:sp>
        <p:nvSpPr>
          <p:cNvPr id="29" name="dot-441"/>
          <p:cNvSpPr/>
          <p:nvPr/>
        </p:nvSpPr>
        <p:spPr>
          <a:xfrm>
            <a:off x="3429000" y="5878449"/>
            <a:ext cx="219456" cy="219456"/>
          </a:xfrm>
          <a:prstGeom prst="ellipse">
            <a:avLst/>
          </a:prstGeom>
          <a:solidFill>
            <a:srgbClr val="65172F"/>
          </a:solidFill>
          <a:ln w="12700">
            <a:solidFill>
              <a:srgbClr val="65172F"/>
            </a:solidFill>
            <a:prstDash val="solid"/>
          </a:ln>
        </p:spPr>
      </p:sp>
      <p:sp>
        <p:nvSpPr>
          <p:cNvPr id="30" name="text-442"/>
          <p:cNvSpPr txBox="1"/>
          <p:nvPr/>
        </p:nvSpPr>
        <p:spPr>
          <a:xfrm>
            <a:off x="3429000" y="5878449"/>
            <a:ext cx="219456" cy="219456"/>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31" name="text-443"/>
          <p:cNvSpPr txBox="1"/>
          <p:nvPr/>
        </p:nvSpPr>
        <p:spPr>
          <a:xfrm>
            <a:off x="3730752" y="5860161"/>
            <a:ext cx="2468880" cy="274320"/>
          </a:xfrm>
          <a:prstGeom prst="rect">
            <a:avLst/>
          </a:prstGeom>
          <a:noFill/>
          <a:ln/>
        </p:spPr>
        <p:txBody>
          <a:bodyPr wrap="square" lIns="0" tIns="0" rIns="0" bIns="0" rtlCol="0" anchor="t"/>
          <a:lstStyle/>
          <a:p>
            <a:pPr indent="0" marL="0">
              <a:buNone/>
            </a:pPr>
            <a:r>
              <a:rPr lang="en-US" sz="1050" b="1" dirty="0">
                <a:solidFill>
                  <a:srgbClr val="FFFFFF"/>
                </a:solidFill>
              </a:rPr>
              <a:t>Human decision  </a:t>
            </a:r>
            <a:pPr indent="0" marL="0">
              <a:buNone/>
            </a:pPr>
            <a:r>
              <a:rPr lang="en-US" sz="1050" dirty="0">
                <a:solidFill>
                  <a:srgbClr val="A9A096"/>
                </a:solidFill>
              </a:rPr>
              <a:t>Accept, modify or reject with a reason</a:t>
            </a:r>
            <a:endParaRPr lang="en-US" sz="1050" dirty="0"/>
          </a:p>
        </p:txBody>
      </p:sp>
      <p:sp>
        <p:nvSpPr>
          <p:cNvPr id="32" name="rrect-444"/>
          <p:cNvSpPr/>
          <p:nvPr/>
        </p:nvSpPr>
        <p:spPr>
          <a:xfrm>
            <a:off x="6592824" y="1792224"/>
            <a:ext cx="1645920" cy="3370338"/>
          </a:xfrm>
          <a:prstGeom prst="roundRect">
            <a:avLst>
              <a:gd name="adj" fmla="val 10000"/>
            </a:avLst>
          </a:prstGeom>
          <a:solidFill>
            <a:srgbClr val="0E0E0E"/>
          </a:solidFill>
          <a:ln w="12700">
            <a:solidFill>
              <a:srgbClr val="0E0E0E"/>
            </a:solidFill>
            <a:prstDash val="solid"/>
          </a:ln>
          <a:effectLst>
            <a:outerShdw sx="100000" sy="100000" kx="0" ky="0" algn="bl" rotWithShape="0" blurRad="152400" dist="50800" dir="5400000">
              <a:srgbClr val="000000">
                <a:alpha val="35000"/>
              </a:srgbClr>
            </a:outerShdw>
          </a:effectLst>
        </p:spPr>
      </p:sp>
      <p:pic>
        <p:nvPicPr>
          <p:cNvPr id="33" name="phone-shot-445" descr="Smart Count with barcode scan on a phone">    </p:cNvPr>
          <p:cNvPicPr>
            <a:picLocks noChangeAspect="1"/>
          </p:cNvPicPr>
          <p:nvPr/>
        </p:nvPicPr>
        <p:blipFill>
          <a:blip r:embed="rId2"/>
          <a:stretch>
            <a:fillRect/>
          </a:stretch>
        </p:blipFill>
        <p:spPr>
          <a:xfrm>
            <a:off x="6675120" y="1874520"/>
            <a:ext cx="1481328" cy="3205746"/>
          </a:xfrm>
          <a:prstGeom prst="rect">
            <a:avLst/>
          </a:prstGeom>
        </p:spPr>
      </p:pic>
      <p:sp>
        <p:nvSpPr>
          <p:cNvPr id="34" name="text-446"/>
          <p:cNvSpPr txBox="1"/>
          <p:nvPr/>
        </p:nvSpPr>
        <p:spPr>
          <a:xfrm>
            <a:off x="6537960" y="5230368"/>
            <a:ext cx="1783080" cy="237744"/>
          </a:xfrm>
          <a:prstGeom prst="rect">
            <a:avLst/>
          </a:prstGeom>
          <a:noFill/>
          <a:ln/>
        </p:spPr>
        <p:txBody>
          <a:bodyPr wrap="square" lIns="0" tIns="0" rIns="0" bIns="0" rtlCol="0" anchor="t"/>
          <a:lstStyle/>
          <a:p>
            <a:pPr algn="ctr" indent="0" marL="0">
              <a:buNone/>
            </a:pPr>
            <a:r>
              <a:rPr lang="en-US" sz="1100" b="1" dirty="0">
                <a:solidFill>
                  <a:srgbClr val="FFFFFF"/>
                </a:solidFill>
              </a:rPr>
              <a:t>Smart Count on a phone</a:t>
            </a:r>
            <a:endParaRPr lang="en-US" sz="1100" dirty="0"/>
          </a:p>
        </p:txBody>
      </p:sp>
      <p:sp>
        <p:nvSpPr>
          <p:cNvPr id="35" name="shot-frame-447"/>
          <p:cNvSpPr/>
          <p:nvPr/>
        </p:nvSpPr>
        <p:spPr>
          <a:xfrm>
            <a:off x="9144000" y="1783080"/>
            <a:ext cx="2404872" cy="1503045"/>
          </a:xfrm>
          <a:prstGeom prst="rect">
            <a:avLst/>
          </a:prstGeom>
          <a:solidFill>
            <a:srgbClr val="FFFFFF"/>
          </a:solidFill>
          <a:ln w="9525">
            <a:solidFill>
              <a:srgbClr val="2E2E2E"/>
            </a:solidFill>
            <a:prstDash val="solid"/>
          </a:ln>
          <a:effectLst>
            <a:outerShdw sx="100000" sy="100000" kx="0" ky="0" algn="bl" rotWithShape="0" blurRad="127000" dist="38100" dir="5400000">
              <a:srgbClr val="000000">
                <a:alpha val="35000"/>
              </a:srgbClr>
            </a:outerShdw>
          </a:effectLst>
        </p:spPr>
      </p:sp>
      <p:pic>
        <p:nvPicPr>
          <p:cNvPr id="36" name="screenshot-448" descr="Order guardrail">    </p:cNvPr>
          <p:cNvPicPr>
            <a:picLocks noChangeAspect="1"/>
          </p:cNvPicPr>
          <p:nvPr/>
        </p:nvPicPr>
        <p:blipFill>
          <a:blip r:embed="rId3"/>
          <a:stretch>
            <a:fillRect/>
          </a:stretch>
        </p:blipFill>
        <p:spPr>
          <a:xfrm>
            <a:off x="9144000" y="1783080"/>
            <a:ext cx="2404872" cy="1503045"/>
          </a:xfrm>
          <a:prstGeom prst="rect">
            <a:avLst/>
          </a:prstGeom>
        </p:spPr>
      </p:pic>
      <p:sp>
        <p:nvSpPr>
          <p:cNvPr id="37" name="text-449"/>
          <p:cNvSpPr txBox="1"/>
          <p:nvPr/>
        </p:nvSpPr>
        <p:spPr>
          <a:xfrm>
            <a:off x="9144000" y="3319272"/>
            <a:ext cx="2404872" cy="237744"/>
          </a:xfrm>
          <a:prstGeom prst="rect">
            <a:avLst/>
          </a:prstGeom>
          <a:noFill/>
          <a:ln/>
        </p:spPr>
        <p:txBody>
          <a:bodyPr wrap="square" lIns="0" tIns="0" rIns="0" bIns="0" rtlCol="0" anchor="t"/>
          <a:lstStyle/>
          <a:p>
            <a:pPr indent="0" marL="0">
              <a:buNone/>
            </a:pPr>
            <a:r>
              <a:rPr lang="en-US" sz="1100" b="1" dirty="0">
                <a:solidFill>
                  <a:srgbClr val="FFFFFF"/>
                </a:solidFill>
              </a:rPr>
              <a:t>Order guardrail</a:t>
            </a:r>
            <a:endParaRPr lang="en-US" sz="1100" dirty="0"/>
          </a:p>
        </p:txBody>
      </p:sp>
      <p:sp>
        <p:nvSpPr>
          <p:cNvPr id="38" name="shot-frame-450"/>
          <p:cNvSpPr/>
          <p:nvPr/>
        </p:nvSpPr>
        <p:spPr>
          <a:xfrm>
            <a:off x="9144000" y="3657600"/>
            <a:ext cx="2404872" cy="1503045"/>
          </a:xfrm>
          <a:prstGeom prst="rect">
            <a:avLst/>
          </a:prstGeom>
          <a:solidFill>
            <a:srgbClr val="FFFFFF"/>
          </a:solidFill>
          <a:ln w="9525">
            <a:solidFill>
              <a:srgbClr val="2E2E2E"/>
            </a:solidFill>
            <a:prstDash val="solid"/>
          </a:ln>
          <a:effectLst>
            <a:outerShdw sx="100000" sy="100000" kx="0" ky="0" algn="bl" rotWithShape="0" blurRad="127000" dist="38100" dir="5400000">
              <a:srgbClr val="000000">
                <a:alpha val="35000"/>
              </a:srgbClr>
            </a:outerShdw>
          </a:effectLst>
        </p:spPr>
      </p:sp>
      <p:pic>
        <p:nvPicPr>
          <p:cNvPr id="39" name="screenshot-451" descr="Manager territory overview">    </p:cNvPr>
          <p:cNvPicPr>
            <a:picLocks noChangeAspect="1"/>
          </p:cNvPicPr>
          <p:nvPr/>
        </p:nvPicPr>
        <p:blipFill>
          <a:blip r:embed="rId4"/>
          <a:stretch>
            <a:fillRect/>
          </a:stretch>
        </p:blipFill>
        <p:spPr>
          <a:xfrm>
            <a:off x="9144000" y="3657600"/>
            <a:ext cx="2404872" cy="1503045"/>
          </a:xfrm>
          <a:prstGeom prst="rect">
            <a:avLst/>
          </a:prstGeom>
        </p:spPr>
      </p:pic>
      <p:sp>
        <p:nvSpPr>
          <p:cNvPr id="40" name="text-452"/>
          <p:cNvSpPr txBox="1"/>
          <p:nvPr/>
        </p:nvSpPr>
        <p:spPr>
          <a:xfrm>
            <a:off x="9144000" y="5193792"/>
            <a:ext cx="2404872" cy="237744"/>
          </a:xfrm>
          <a:prstGeom prst="rect">
            <a:avLst/>
          </a:prstGeom>
          <a:noFill/>
          <a:ln/>
        </p:spPr>
        <p:txBody>
          <a:bodyPr wrap="square" lIns="0" tIns="0" rIns="0" bIns="0" rtlCol="0" anchor="t"/>
          <a:lstStyle/>
          <a:p>
            <a:pPr indent="0" marL="0">
              <a:buNone/>
            </a:pPr>
            <a:r>
              <a:rPr lang="en-US" sz="1100" b="1" dirty="0">
                <a:solidFill>
                  <a:srgbClr val="FFFFFF"/>
                </a:solidFill>
              </a:rPr>
              <a:t>Manager view: risk, approvals, channel shift</a:t>
            </a:r>
            <a:endParaRPr lang="en-US" sz="1100" dirty="0"/>
          </a:p>
        </p:txBody>
      </p:sp>
      <p:pic>
        <p:nvPicPr>
          <p:cNvPr id="41" name="qr" descr="QR code to the live prototype">    </p:cNvPr>
          <p:cNvPicPr>
            <a:picLocks noChangeAspect="1"/>
          </p:cNvPicPr>
          <p:nvPr/>
        </p:nvPicPr>
        <p:blipFill>
          <a:blip r:embed="rId5"/>
          <a:stretch>
            <a:fillRect/>
          </a:stretch>
        </p:blipFill>
        <p:spPr>
          <a:xfrm>
            <a:off x="6675120" y="5559552"/>
            <a:ext cx="713232" cy="713232"/>
          </a:xfrm>
          <a:prstGeom prst="rect">
            <a:avLst/>
          </a:prstGeom>
        </p:spPr>
      </p:pic>
      <p:sp>
        <p:nvSpPr>
          <p:cNvPr id="42" name="text-453"/>
          <p:cNvSpPr txBox="1"/>
          <p:nvPr/>
        </p:nvSpPr>
        <p:spPr>
          <a:xfrm>
            <a:off x="7498080" y="5577840"/>
            <a:ext cx="4023360" cy="713232"/>
          </a:xfrm>
          <a:prstGeom prst="rect">
            <a:avLst/>
          </a:prstGeom>
          <a:noFill/>
          <a:ln/>
        </p:spPr>
        <p:txBody>
          <a:bodyPr wrap="square" lIns="0" tIns="0" rIns="0" bIns="0" rtlCol="0" anchor="t"/>
          <a:lstStyle/>
          <a:p>
            <a:pPr indent="0" marL="0">
              <a:buNone/>
            </a:pPr>
            <a:r>
              <a:rPr lang="en-US" sz="1150" b="1" dirty="0">
                <a:solidFill>
                  <a:srgbClr val="B9808F"/>
                </a:solidFill>
              </a:rPr>
              <a:t>Try it live</a:t>
            </a:r>
            <a:endParaRPr lang="en-US" sz="1150" dirty="0"/>
          </a:p>
          <a:p>
            <a:pPr indent="0" marL="0">
              <a:buNone/>
            </a:pPr>
            <a:r>
              <a:rPr lang="en-US" sz="1150" b="1" u="sng" dirty="0">
                <a:solidFill>
                  <a:srgbClr val="FFFFFF"/>
                </a:solidFill>
                <a:hlinkClick r:id="rId6" invalidUrl="" action="" tgtFrame="" tooltip="" history="1" highlightClick="0" endSnd="0">
                  <a:extLst>
                    <a:ext uri="{A12FA001-AC4F-418D-AE19-62706E023703}">
                      <ahyp:hlinkClr xmlns:ahyp="http://schemas.microsoft.com/office/drawing/2018/hyperlinkcolor" val="tx"/>
                    </a:ext>
                  </a:extLst>
                </a:hlinkClick>
              </a:rPr>
              <a:t>smartsell-loreal.vercel.app</a:t>
            </a:r>
            <a:endParaRPr lang="en-US" sz="1150" dirty="0"/>
          </a:p>
          <a:p>
            <a:pPr indent="0" marL="0">
              <a:buNone/>
            </a:pPr>
            <a:r>
              <a:rPr lang="en-US" sz="1000" dirty="0">
                <a:solidFill>
                  <a:srgbClr val="A9A096"/>
                </a:solidFill>
              </a:rPr>
              <a:t>5-minute judge guide built in</a:t>
            </a:r>
            <a:endParaRPr lang="en-US" sz="1150" dirty="0"/>
          </a:p>
        </p:txBody>
      </p:sp>
      <p:sp>
        <p:nvSpPr>
          <p:cNvPr id="25" name="Slide Number Placeholder 0"/>
          <p:cNvSpPr>
            <a:spLocks noGrp="1"/>
          </p:cNvSpPr>
          <p:nvPr>
            <p:ph type="sldNum" sz="quarter" idx="4294967295"/>
          </p:nvPr>
        </p:nvSpPr>
        <p:spPr>
          <a:xfrm>
            <a:off x="11091672"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A9A09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body" hasCustomPrompt="1"/>
          </p:nvPr>
        </p:nvSpPr>
        <p:spPr>
          <a:xfrm>
            <a:off x="640080" y="457200"/>
            <a:ext cx="8686800" cy="237744"/>
          </a:xfrm>
          <a:prstGeom prst="rect">
            <a:avLst/>
          </a:prstGeom>
          <a:noFill/>
          <a:ln/>
        </p:spPr>
        <p:txBody>
          <a:bodyPr wrap="square" lIns="0" tIns="0" rIns="0" bIns="0" rtlCol="0" anchor="t"/>
          <a:lstStyle/>
          <a:p>
            <a:pPr indent="0" marL="0">
              <a:buNone/>
            </a:pPr>
            <a:r>
              <a:rPr lang="en-US" sz="1100" b="1" spc="200" kern="0" dirty="0">
                <a:solidFill>
                  <a:srgbClr val="65172F"/>
                </a:solidFill>
              </a:rPr>
              <a:t>THE LOOP CLOSES</a:t>
            </a:r>
            <a:endParaRPr lang="en-US" sz="1100" dirty="0"/>
          </a:p>
        </p:txBody>
      </p:sp>
      <p:sp>
        <p:nvSpPr>
          <p:cNvPr id="3" name="Text 0"/>
          <p:cNvSpPr/>
          <p:nvPr>
            <p:ph idx="102" type="title" hasCustomPrompt="1"/>
          </p:nvPr>
        </p:nvSpPr>
        <p:spPr>
          <a:xfrm>
            <a:off x="640080" y="749808"/>
            <a:ext cx="9418320" cy="1005840"/>
          </a:xfrm>
          <a:prstGeom prst="rect">
            <a:avLst/>
          </a:prstGeom>
          <a:noFill/>
          <a:ln/>
        </p:spPr>
        <p:txBody>
          <a:bodyPr wrap="square" lIns="0" tIns="0" rIns="0" bIns="0" rtlCol="0" anchor="t"/>
          <a:lstStyle/>
          <a:p>
            <a:pPr algn="l" indent="0" marL="0">
              <a:lnSpc>
                <a:spcPct val="95000"/>
              </a:lnSpc>
              <a:buNone/>
            </a:pPr>
            <a:r>
              <a:rPr lang="en-US" sz="3000" b="1" dirty="0">
                <a:solidFill>
                  <a:srgbClr val="171717"/>
                </a:solidFill>
                <a:latin typeface="Aptos Display" pitchFamily="34" charset="0"/>
                <a:ea typeface="Aptos Display" pitchFamily="34" charset="-122"/>
                <a:cs typeface="Aptos Display" pitchFamily="34" charset="-120"/>
              </a:rPr>
              <a:t>In simulation, the same stock produces half the returns and far fewer empty shelves</a:t>
            </a:r>
            <a:endParaRPr lang="en-US" sz="3000" dirty="0"/>
          </a:p>
        </p:txBody>
      </p:sp>
      <p:sp>
        <p:nvSpPr>
          <p:cNvPr id="4" name="Text 0"/>
          <p:cNvSpPr/>
          <p:nvPr>
            <p:ph idx="103" type="body" hasCustomPrompt="1"/>
          </p:nvPr>
        </p:nvSpPr>
        <p:spPr>
          <a:xfrm>
            <a:off x="640080" y="6355080"/>
            <a:ext cx="9189720" cy="347472"/>
          </a:xfrm>
          <a:prstGeom prst="rect">
            <a:avLst/>
          </a:prstGeom>
          <a:noFill/>
          <a:ln/>
        </p:spPr>
        <p:txBody>
          <a:bodyPr wrap="square" lIns="0" tIns="0" rIns="0" bIns="0" rtlCol="0" anchor="t"/>
          <a:lstStyle/>
          <a:p>
            <a:pPr indent="0" marL="0">
              <a:buNone/>
            </a:pPr>
            <a:r>
              <a:rPr lang="en-US" sz="1000" dirty="0">
                <a:solidFill>
                  <a:srgbClr val="6E665E"/>
                </a:solidFill>
              </a:rPr>
              <a:t>Illustrative simulation in the prototype: synthetic Mumbai network (18 outlets, 3 distributors, 24 SKUs), 13 weeks, same starting stock, only the hero transfer accepted. Not a forecast of L'Oréal results.</a:t>
            </a:r>
            <a:endParaRPr lang="en-US" sz="1000" dirty="0"/>
          </a:p>
        </p:txBody>
      </p:sp>
      <p:graphicFrame>
        <p:nvGraphicFramePr>
          <p:cNvPr id="6" name="outcome-chart" descr=""/>
          <p:cNvGraphicFramePr/>
          <p:nvPr/>
        </p:nvGraphicFramePr>
        <p:xfrm>
          <a:off x="548640" y="1828800"/>
          <a:ext cx="6583680" cy="3657600"/>
        </p:xfrm>
        <a:graphic xmlns:a="http://schemas.openxmlformats.org/drawingml/2006/main">
          <a:graphicData uri="http://schemas.openxmlformats.org/drawingml/2006/chart">
            <c:chart xmlns:c="http://schemas.openxmlformats.org/drawingml/2006/chart" r:id="rId1"/>
          </a:graphicData>
        </a:graphic>
      </p:graphicFrame>
      <p:sp>
        <p:nvSpPr>
          <p:cNvPr id="7" name="text-454"/>
          <p:cNvSpPr txBox="1"/>
          <p:nvPr/>
        </p:nvSpPr>
        <p:spPr>
          <a:xfrm>
            <a:off x="640080" y="5559552"/>
            <a:ext cx="5943600" cy="237744"/>
          </a:xfrm>
          <a:prstGeom prst="rect">
            <a:avLst/>
          </a:prstGeom>
          <a:noFill/>
          <a:ln/>
        </p:spPr>
        <p:txBody>
          <a:bodyPr wrap="square" lIns="0" tIns="0" rIns="0" bIns="0" rtlCol="0" anchor="t"/>
          <a:lstStyle/>
          <a:p>
            <a:pPr indent="0" marL="0">
              <a:buNone/>
            </a:pPr>
            <a:r>
              <a:rPr lang="en-US" sz="1100" dirty="0">
                <a:solidFill>
                  <a:srgbClr val="6E665E"/>
                </a:solidFill>
              </a:rPr>
              <a:t>After one quarter, ₹, synthetic territory</a:t>
            </a:r>
            <a:endParaRPr lang="en-US" sz="1100" dirty="0"/>
          </a:p>
        </p:txBody>
      </p:sp>
      <p:sp>
        <p:nvSpPr>
          <p:cNvPr id="8" name="text-455"/>
          <p:cNvSpPr txBox="1"/>
          <p:nvPr/>
        </p:nvSpPr>
        <p:spPr>
          <a:xfrm>
            <a:off x="7452360" y="1828800"/>
            <a:ext cx="4114800" cy="530352"/>
          </a:xfrm>
          <a:prstGeom prst="rect">
            <a:avLst/>
          </a:prstGeom>
          <a:noFill/>
          <a:ln/>
        </p:spPr>
        <p:txBody>
          <a:bodyPr wrap="square" lIns="0" tIns="0" rIns="0" bIns="0" rtlCol="0" anchor="t"/>
          <a:lstStyle/>
          <a:p>
            <a:pPr indent="0" marL="0">
              <a:buNone/>
            </a:pPr>
            <a:r>
              <a:rPr lang="en-US" sz="3200" b="1" dirty="0">
                <a:solidFill>
                  <a:srgbClr val="327B60"/>
                </a:solidFill>
                <a:latin typeface="Aptos Display" pitchFamily="34" charset="0"/>
                <a:ea typeface="Aptos Display" pitchFamily="34" charset="-122"/>
                <a:cs typeface="Aptos Display" pitchFamily="34" charset="-120"/>
              </a:rPr>
              <a:t>0.9%</a:t>
            </a:r>
            <a:pPr indent="0" marL="0">
              <a:buNone/>
            </a:pPr>
            <a:r>
              <a:rPr lang="en-US" sz="1400" dirty="0">
                <a:solidFill>
                  <a:srgbClr val="6E665E"/>
                </a:solidFill>
              </a:rPr>
              <a:t>  vs 1.6%</a:t>
            </a:r>
            <a:endParaRPr lang="en-US" sz="1400" dirty="0"/>
          </a:p>
        </p:txBody>
      </p:sp>
      <p:sp>
        <p:nvSpPr>
          <p:cNvPr id="9" name="text-456"/>
          <p:cNvSpPr txBox="1"/>
          <p:nvPr/>
        </p:nvSpPr>
        <p:spPr>
          <a:xfrm>
            <a:off x="7452360" y="2359152"/>
            <a:ext cx="4069080" cy="274320"/>
          </a:xfrm>
          <a:prstGeom prst="rect">
            <a:avLst/>
          </a:prstGeom>
          <a:noFill/>
          <a:ln/>
        </p:spPr>
        <p:txBody>
          <a:bodyPr wrap="square" lIns="0" tIns="0" rIns="0" bIns="0" rtlCol="0" anchor="t"/>
          <a:lstStyle/>
          <a:p>
            <a:pPr indent="0" marL="0">
              <a:buNone/>
            </a:pPr>
            <a:r>
              <a:rPr lang="en-US" sz="1250" dirty="0">
                <a:solidFill>
                  <a:srgbClr val="6E665E"/>
                </a:solidFill>
              </a:rPr>
              <a:t>returns as % of sell-out (case cap ≈1.5%)</a:t>
            </a:r>
            <a:endParaRPr lang="en-US" sz="1250" dirty="0"/>
          </a:p>
        </p:txBody>
      </p:sp>
      <p:sp>
        <p:nvSpPr>
          <p:cNvPr id="10" name="line-457"/>
          <p:cNvSpPr/>
          <p:nvPr/>
        </p:nvSpPr>
        <p:spPr>
          <a:xfrm>
            <a:off x="7452360" y="2688336"/>
            <a:ext cx="4069080" cy="0"/>
          </a:xfrm>
          <a:prstGeom prst="line">
            <a:avLst/>
          </a:prstGeom>
          <a:noFill/>
          <a:ln w="12700">
            <a:solidFill>
              <a:srgbClr val="E3DED7"/>
            </a:solidFill>
            <a:prstDash val="solid"/>
          </a:ln>
        </p:spPr>
      </p:sp>
      <p:sp>
        <p:nvSpPr>
          <p:cNvPr id="11" name="text-458"/>
          <p:cNvSpPr txBox="1"/>
          <p:nvPr/>
        </p:nvSpPr>
        <p:spPr>
          <a:xfrm>
            <a:off x="7452360" y="2761488"/>
            <a:ext cx="4114800" cy="530352"/>
          </a:xfrm>
          <a:prstGeom prst="rect">
            <a:avLst/>
          </a:prstGeom>
          <a:noFill/>
          <a:ln/>
        </p:spPr>
        <p:txBody>
          <a:bodyPr wrap="square" lIns="0" tIns="0" rIns="0" bIns="0" rtlCol="0" anchor="t"/>
          <a:lstStyle/>
          <a:p>
            <a:pPr indent="0" marL="0">
              <a:buNone/>
            </a:pPr>
            <a:r>
              <a:rPr lang="en-US" sz="3200" b="1" dirty="0">
                <a:solidFill>
                  <a:srgbClr val="327B60"/>
                </a:solidFill>
                <a:latin typeface="Aptos Display" pitchFamily="34" charset="0"/>
                <a:ea typeface="Aptos Display" pitchFamily="34" charset="-122"/>
                <a:cs typeface="Aptos Display" pitchFamily="34" charset="-120"/>
              </a:rPr>
              <a:t>₹1,526</a:t>
            </a:r>
            <a:pPr indent="0" marL="0">
              <a:buNone/>
            </a:pPr>
            <a:r>
              <a:rPr lang="en-US" sz="1400" dirty="0">
                <a:solidFill>
                  <a:srgbClr val="6E665E"/>
                </a:solidFill>
              </a:rPr>
              <a:t>  vs ₹37,900</a:t>
            </a:r>
            <a:endParaRPr lang="en-US" sz="1400" dirty="0"/>
          </a:p>
        </p:txBody>
      </p:sp>
      <p:sp>
        <p:nvSpPr>
          <p:cNvPr id="12" name="text-459"/>
          <p:cNvSpPr txBox="1"/>
          <p:nvPr/>
        </p:nvSpPr>
        <p:spPr>
          <a:xfrm>
            <a:off x="7452360" y="3291840"/>
            <a:ext cx="4069080" cy="274320"/>
          </a:xfrm>
          <a:prstGeom prst="rect">
            <a:avLst/>
          </a:prstGeom>
          <a:noFill/>
          <a:ln/>
        </p:spPr>
        <p:txBody>
          <a:bodyPr wrap="square" lIns="0" tIns="0" rIns="0" bIns="0" rtlCol="0" anchor="t"/>
          <a:lstStyle/>
          <a:p>
            <a:pPr indent="0" marL="0">
              <a:buNone/>
            </a:pPr>
            <a:r>
              <a:rPr lang="en-US" sz="1250" dirty="0">
                <a:solidFill>
                  <a:srgbClr val="6E665E"/>
                </a:solidFill>
              </a:rPr>
              <a:t>sales lost to empty shelves</a:t>
            </a:r>
            <a:endParaRPr lang="en-US" sz="1250" dirty="0"/>
          </a:p>
        </p:txBody>
      </p:sp>
      <p:sp>
        <p:nvSpPr>
          <p:cNvPr id="13" name="line-460"/>
          <p:cNvSpPr/>
          <p:nvPr/>
        </p:nvSpPr>
        <p:spPr>
          <a:xfrm>
            <a:off x="7452360" y="3621024"/>
            <a:ext cx="4069080" cy="0"/>
          </a:xfrm>
          <a:prstGeom prst="line">
            <a:avLst/>
          </a:prstGeom>
          <a:noFill/>
          <a:ln w="12700">
            <a:solidFill>
              <a:srgbClr val="E3DED7"/>
            </a:solidFill>
            <a:prstDash val="solid"/>
          </a:ln>
        </p:spPr>
      </p:sp>
      <p:sp>
        <p:nvSpPr>
          <p:cNvPr id="14" name="text-461"/>
          <p:cNvSpPr txBox="1"/>
          <p:nvPr/>
        </p:nvSpPr>
        <p:spPr>
          <a:xfrm>
            <a:off x="7452360" y="3694176"/>
            <a:ext cx="4114800" cy="530352"/>
          </a:xfrm>
          <a:prstGeom prst="rect">
            <a:avLst/>
          </a:prstGeom>
          <a:noFill/>
          <a:ln/>
        </p:spPr>
        <p:txBody>
          <a:bodyPr wrap="square" lIns="0" tIns="0" rIns="0" bIns="0" rtlCol="0" anchor="t"/>
          <a:lstStyle/>
          <a:p>
            <a:pPr indent="0" marL="0">
              <a:buNone/>
            </a:pPr>
            <a:r>
              <a:rPr lang="en-US" sz="3200" b="1" dirty="0">
                <a:solidFill>
                  <a:srgbClr val="65172F"/>
                </a:solidFill>
                <a:latin typeface="Aptos Display" pitchFamily="34" charset="0"/>
                <a:ea typeface="Aptos Display" pitchFamily="34" charset="-122"/>
                <a:cs typeface="Aptos Display" pitchFamily="34" charset="-120"/>
              </a:rPr>
              <a:t>₹13,860</a:t>
            </a:r>
            <a:pPr indent="0" marL="0">
              <a:buNone/>
            </a:pPr>
            <a:endParaRPr lang="en-US" sz="1400" dirty="0"/>
          </a:p>
        </p:txBody>
      </p:sp>
      <p:sp>
        <p:nvSpPr>
          <p:cNvPr id="15" name="text-462"/>
          <p:cNvSpPr txBox="1"/>
          <p:nvPr/>
        </p:nvSpPr>
        <p:spPr>
          <a:xfrm>
            <a:off x="7452360" y="4224528"/>
            <a:ext cx="4069080" cy="274320"/>
          </a:xfrm>
          <a:prstGeom prst="rect">
            <a:avLst/>
          </a:prstGeom>
          <a:noFill/>
          <a:ln/>
        </p:spPr>
        <p:txBody>
          <a:bodyPr wrap="square" lIns="0" tIns="0" rIns="0" bIns="0" rtlCol="0" anchor="t"/>
          <a:lstStyle/>
          <a:p>
            <a:pPr indent="0" marL="0">
              <a:buNone/>
            </a:pPr>
            <a:r>
              <a:rPr lang="en-US" sz="1250" dirty="0">
                <a:solidFill>
                  <a:srgbClr val="6E665E"/>
                </a:solidFill>
              </a:rPr>
              <a:t>expiry risk rescued by one transfer</a:t>
            </a:r>
            <a:endParaRPr lang="en-US" sz="1250" dirty="0"/>
          </a:p>
        </p:txBody>
      </p:sp>
      <p:sp>
        <p:nvSpPr>
          <p:cNvPr id="16" name="line-463"/>
          <p:cNvSpPr/>
          <p:nvPr/>
        </p:nvSpPr>
        <p:spPr>
          <a:xfrm>
            <a:off x="7452360" y="4553712"/>
            <a:ext cx="4069080" cy="0"/>
          </a:xfrm>
          <a:prstGeom prst="line">
            <a:avLst/>
          </a:prstGeom>
          <a:noFill/>
          <a:ln w="12700">
            <a:solidFill>
              <a:srgbClr val="E3DED7"/>
            </a:solidFill>
            <a:prstDash val="solid"/>
          </a:ln>
        </p:spPr>
      </p:sp>
      <p:sp>
        <p:nvSpPr>
          <p:cNvPr id="17" name="text-464"/>
          <p:cNvSpPr txBox="1"/>
          <p:nvPr/>
        </p:nvSpPr>
        <p:spPr>
          <a:xfrm>
            <a:off x="7452360" y="4626864"/>
            <a:ext cx="4114800" cy="530352"/>
          </a:xfrm>
          <a:prstGeom prst="rect">
            <a:avLst/>
          </a:prstGeom>
          <a:noFill/>
          <a:ln/>
        </p:spPr>
        <p:txBody>
          <a:bodyPr wrap="square" lIns="0" tIns="0" rIns="0" bIns="0" rtlCol="0" anchor="t"/>
          <a:lstStyle/>
          <a:p>
            <a:pPr indent="0" marL="0">
              <a:buNone/>
            </a:pPr>
            <a:r>
              <a:rPr lang="en-US" sz="3200" b="1" dirty="0">
                <a:solidFill>
                  <a:srgbClr val="65172F"/>
                </a:solidFill>
                <a:latin typeface="Aptos Display" pitchFamily="34" charset="0"/>
                <a:ea typeface="Aptos Display" pitchFamily="34" charset="-122"/>
                <a:cs typeface="Aptos Display" pitchFamily="34" charset="-120"/>
              </a:rPr>
              <a:t>66 units</a:t>
            </a:r>
            <a:pPr indent="0" marL="0">
              <a:buNone/>
            </a:pPr>
            <a:endParaRPr lang="en-US" sz="1400" dirty="0"/>
          </a:p>
        </p:txBody>
      </p:sp>
      <p:sp>
        <p:nvSpPr>
          <p:cNvPr id="18" name="text-465"/>
          <p:cNvSpPr txBox="1"/>
          <p:nvPr/>
        </p:nvSpPr>
        <p:spPr>
          <a:xfrm>
            <a:off x="7452360" y="5157216"/>
            <a:ext cx="4069080" cy="274320"/>
          </a:xfrm>
          <a:prstGeom prst="rect">
            <a:avLst/>
          </a:prstGeom>
          <a:noFill/>
          <a:ln/>
        </p:spPr>
        <p:txBody>
          <a:bodyPr wrap="square" lIns="0" tIns="0" rIns="0" bIns="0" rtlCol="0" anchor="t"/>
          <a:lstStyle/>
          <a:p>
            <a:pPr indent="0" marL="0">
              <a:buNone/>
            </a:pPr>
            <a:r>
              <a:rPr lang="en-US" sz="1250" dirty="0">
                <a:solidFill>
                  <a:srgbClr val="6E665E"/>
                </a:solidFill>
              </a:rPr>
              <a:t>saved from reverse logistics and destruction</a:t>
            </a:r>
            <a:endParaRPr lang="en-US" sz="1250" dirty="0"/>
          </a:p>
        </p:txBody>
      </p:sp>
      <p:sp>
        <p:nvSpPr>
          <p:cNvPr id="19" name="text-466"/>
          <p:cNvSpPr txBox="1"/>
          <p:nvPr/>
        </p:nvSpPr>
        <p:spPr>
          <a:xfrm>
            <a:off x="7452360" y="5596128"/>
            <a:ext cx="4096512" cy="685800"/>
          </a:xfrm>
          <a:prstGeom prst="rect">
            <a:avLst/>
          </a:prstGeom>
          <a:noFill/>
          <a:ln/>
        </p:spPr>
        <p:txBody>
          <a:bodyPr wrap="square" lIns="0" tIns="0" rIns="0" bIns="0" rtlCol="0" anchor="t"/>
          <a:lstStyle/>
          <a:p>
            <a:pPr indent="0" marL="0">
              <a:buNone/>
            </a:pPr>
            <a:r>
              <a:rPr lang="en-US" sz="1050" dirty="0">
                <a:solidFill>
                  <a:srgbClr val="6E665E"/>
                </a:solidFill>
              </a:rPr>
              <a:t>Fast-forward runs two worlds from the same stock: SMARTSELL (guardrail orders, transfers, interventions) vs business-as-usual ("same as last time" re-orders, retailer asks, no rebalancing).</a:t>
            </a:r>
            <a:endParaRPr lang="en-US" sz="1050" dirty="0"/>
          </a:p>
        </p:txBody>
      </p:sp>
      <p:sp>
        <p:nvSpPr>
          <p:cNvPr id="25" name="Slide Number Placeholder 0"/>
          <p:cNvSpPr>
            <a:spLocks noGrp="1"/>
          </p:cNvSpPr>
          <p:nvPr>
            <p:ph type="sldNum" sz="quarter" idx="4294967295"/>
          </p:nvPr>
        </p:nvSpPr>
        <p:spPr>
          <a:xfrm>
            <a:off x="11091672"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665E"/>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body" hasCustomPrompt="1"/>
          </p:nvPr>
        </p:nvSpPr>
        <p:spPr>
          <a:xfrm>
            <a:off x="640080" y="457200"/>
            <a:ext cx="8686800" cy="237744"/>
          </a:xfrm>
          <a:prstGeom prst="rect">
            <a:avLst/>
          </a:prstGeom>
          <a:noFill/>
          <a:ln/>
        </p:spPr>
        <p:txBody>
          <a:bodyPr wrap="square" lIns="0" tIns="0" rIns="0" bIns="0" rtlCol="0" anchor="t"/>
          <a:lstStyle/>
          <a:p>
            <a:pPr indent="0" marL="0">
              <a:buNone/>
            </a:pPr>
            <a:r>
              <a:rPr lang="en-US" sz="1100" b="1" spc="200" kern="0" dirty="0">
                <a:solidFill>
                  <a:srgbClr val="65172F"/>
                </a:solidFill>
              </a:rPr>
              <a:t>BUSINESS IMPACT</a:t>
            </a:r>
            <a:endParaRPr lang="en-US" sz="1100" dirty="0"/>
          </a:p>
        </p:txBody>
      </p:sp>
      <p:sp>
        <p:nvSpPr>
          <p:cNvPr id="3" name="Text 0"/>
          <p:cNvSpPr/>
          <p:nvPr>
            <p:ph idx="102" type="title" hasCustomPrompt="1"/>
          </p:nvPr>
        </p:nvSpPr>
        <p:spPr>
          <a:xfrm>
            <a:off x="640080" y="749808"/>
            <a:ext cx="9418320" cy="1005840"/>
          </a:xfrm>
          <a:prstGeom prst="rect">
            <a:avLst/>
          </a:prstGeom>
          <a:noFill/>
          <a:ln/>
        </p:spPr>
        <p:txBody>
          <a:bodyPr wrap="square" lIns="0" tIns="0" rIns="0" bIns="0" rtlCol="0" anchor="t"/>
          <a:lstStyle/>
          <a:p>
            <a:pPr algn="l" indent="0" marL="0">
              <a:lnSpc>
                <a:spcPct val="95000"/>
              </a:lnSpc>
              <a:buNone/>
            </a:pPr>
            <a:r>
              <a:rPr lang="en-US" sz="3000" b="1" dirty="0">
                <a:solidFill>
                  <a:srgbClr val="171717"/>
                </a:solidFill>
                <a:latin typeface="Aptos Display" pitchFamily="34" charset="0"/>
                <a:ea typeface="Aptos Display" pitchFamily="34" charset="-122"/>
                <a:cs typeface="Aptos Display" pitchFamily="34" charset="-120"/>
              </a:rPr>
              <a:t>Base case: ≈₹18 cr a year net, with honest bounds</a:t>
            </a:r>
            <a:endParaRPr lang="en-US" sz="3000" dirty="0"/>
          </a:p>
        </p:txBody>
      </p:sp>
      <p:sp>
        <p:nvSpPr>
          <p:cNvPr id="4" name="Text 0"/>
          <p:cNvSpPr/>
          <p:nvPr>
            <p:ph idx="103" type="body" hasCustomPrompt="1"/>
          </p:nvPr>
        </p:nvSpPr>
        <p:spPr>
          <a:xfrm>
            <a:off x="640080" y="6355080"/>
            <a:ext cx="9189720" cy="347472"/>
          </a:xfrm>
          <a:prstGeom prst="rect">
            <a:avLst/>
          </a:prstGeom>
          <a:noFill/>
          <a:ln/>
        </p:spPr>
        <p:txBody>
          <a:bodyPr wrap="square" lIns="0" tIns="0" rIns="0" bIns="0" rtlCol="0" anchor="t"/>
          <a:lstStyle/>
          <a:p>
            <a:pPr indent="0" marL="0">
              <a:buNone/>
            </a:pPr>
            <a:r>
              <a:rPr lang="en-US" sz="1000" dirty="0">
                <a:solidFill>
                  <a:srgbClr val="6E665E"/>
                </a:solidFill>
              </a:rPr>
              <a:t>Illustrative model (model/financial_model.py). Sourced inputs: case ≈1.5% and ≈1%; L'Oréal India FY25 net sales ≈₹5,925 cr (rounded to ₹5,900 cr). All other inputs are assumptions: see Appendix C. Excludes quick-commerce loading avoided (not modelled).</a:t>
            </a:r>
            <a:endParaRPr lang="en-US" sz="1000" dirty="0"/>
          </a:p>
        </p:txBody>
      </p:sp>
      <p:sp>
        <p:nvSpPr>
          <p:cNvPr id="6" name="text-467"/>
          <p:cNvSpPr txBox="1"/>
          <p:nvPr/>
        </p:nvSpPr>
        <p:spPr>
          <a:xfrm>
            <a:off x="640080" y="1810512"/>
            <a:ext cx="6400800" cy="457200"/>
          </a:xfrm>
          <a:prstGeom prst="rect">
            <a:avLst/>
          </a:prstGeom>
          <a:noFill/>
          <a:ln/>
        </p:spPr>
        <p:txBody>
          <a:bodyPr wrap="square" lIns="0" tIns="0" rIns="0" bIns="0" rtlCol="0" anchor="t"/>
          <a:lstStyle/>
          <a:p>
            <a:pPr indent="0" marL="0">
              <a:buNone/>
            </a:pPr>
            <a:r>
              <a:rPr lang="en-US" sz="1200" dirty="0">
                <a:solidFill>
                  <a:srgbClr val="6E665E"/>
                </a:solidFill>
              </a:rPr>
              <a:t>₹ cr per year, steady state.  </a:t>
            </a:r>
            <a:pPr indent="0" marL="0">
              <a:buNone/>
            </a:pPr>
            <a:r>
              <a:rPr lang="en-US" sz="1200" b="1" dirty="0">
                <a:solidFill>
                  <a:srgbClr val="171717"/>
                </a:solidFill>
              </a:rPr>
              <a:t>Pool ₹147.5 cr (2.5% × ₹5,900 cr) → ≈36% addressable by field sales → 25% of that prevented</a:t>
            </a:r>
            <a:endParaRPr lang="en-US" sz="1200" dirty="0"/>
          </a:p>
        </p:txBody>
      </p:sp>
      <p:graphicFrame>
        <p:nvGraphicFramePr>
          <p:cNvPr id="7" name="waterfall-chart" descr=""/>
          <p:cNvGraphicFramePr/>
          <p:nvPr/>
        </p:nvGraphicFramePr>
        <p:xfrm>
          <a:off x="548640" y="2286000"/>
          <a:ext cx="6949440" cy="3977640"/>
        </p:xfrm>
        <a:graphic xmlns:a="http://schemas.openxmlformats.org/drawingml/2006/main">
          <a:graphicData uri="http://schemas.openxmlformats.org/drawingml/2006/chart">
            <c:chart xmlns:c="http://schemas.openxmlformats.org/drawingml/2006/chart" r:id="rId1"/>
          </a:graphicData>
        </a:graphic>
      </p:graphicFrame>
      <p:sp>
        <p:nvSpPr>
          <p:cNvPr id="8" name="text-468"/>
          <p:cNvSpPr txBox="1"/>
          <p:nvPr/>
        </p:nvSpPr>
        <p:spPr>
          <a:xfrm>
            <a:off x="7315200" y="1783080"/>
            <a:ext cx="3931920" cy="868680"/>
          </a:xfrm>
          <a:prstGeom prst="rect">
            <a:avLst/>
          </a:prstGeom>
          <a:noFill/>
          <a:ln/>
        </p:spPr>
        <p:txBody>
          <a:bodyPr wrap="square" lIns="0" tIns="0" rIns="0" bIns="0" rtlCol="0" anchor="t"/>
          <a:lstStyle/>
          <a:p>
            <a:pPr indent="0" marL="0">
              <a:buNone/>
            </a:pPr>
            <a:r>
              <a:rPr lang="en-US" sz="5000" b="1" dirty="0">
                <a:solidFill>
                  <a:srgbClr val="65172F"/>
                </a:solidFill>
                <a:latin typeface="Aptos Display" pitchFamily="34" charset="0"/>
                <a:ea typeface="Aptos Display" pitchFamily="34" charset="-122"/>
                <a:cs typeface="Aptos Display" pitchFamily="34" charset="-120"/>
              </a:rPr>
              <a:t>₹18.2 cr</a:t>
            </a:r>
            <a:endParaRPr lang="en-US" sz="5000" dirty="0"/>
          </a:p>
        </p:txBody>
      </p:sp>
      <p:sp>
        <p:nvSpPr>
          <p:cNvPr id="9" name="text-469"/>
          <p:cNvSpPr txBox="1"/>
          <p:nvPr/>
        </p:nvSpPr>
        <p:spPr>
          <a:xfrm>
            <a:off x="7315200" y="2633472"/>
            <a:ext cx="3931920" cy="274320"/>
          </a:xfrm>
          <a:prstGeom prst="rect">
            <a:avLst/>
          </a:prstGeom>
          <a:noFill/>
          <a:ln/>
        </p:spPr>
        <p:txBody>
          <a:bodyPr wrap="square" lIns="0" tIns="0" rIns="0" bIns="0" rtlCol="0" anchor="t"/>
          <a:lstStyle/>
          <a:p>
            <a:pPr indent="0" marL="0">
              <a:buNone/>
            </a:pPr>
            <a:r>
              <a:rPr lang="en-US" sz="1300" dirty="0">
                <a:solidFill>
                  <a:srgbClr val="6E665E"/>
                </a:solidFill>
              </a:rPr>
              <a:t>net benefit a year, base case (illustrative)</a:t>
            </a:r>
            <a:endParaRPr lang="en-US" sz="1300" dirty="0"/>
          </a:p>
        </p:txBody>
      </p:sp>
      <p:graphicFrame>
        <p:nvGraphicFramePr>
          <p:cNvPr id="15" name="table-470"/>
          <p:cNvGraphicFramePr>
            <a:graphicFrameLocks noGrp="1"/>
          </p:cNvGraphicFramePr>
          <p:nvPr>
            <p:extLst>
              <p:ext uri="{D42A27DB-BD31-4B8C-83A1-F6EECF244321}">
                <p14:modId xmlns:p14="http://schemas.microsoft.com/office/powerpoint/2010/main" val="1579011935"/>
              </p:ext>
            </p:extLst>
          </p:nvPr>
        </p:nvGraphicFramePr>
        <p:xfrm>
          <a:off x="7315200" y="3017520"/>
          <a:ext cx="4233672" cy="914400"/>
        </p:xfrm>
        <a:graphic>
          <a:graphicData uri="http://schemas.openxmlformats.org/drawingml/2006/table">
            <a:tbl>
              <a:tblPr/>
              <a:tblGrid>
                <a:gridCol w="1261872"/>
                <a:gridCol w="1115568"/>
                <a:gridCol w="896112"/>
                <a:gridCol w="960120"/>
              </a:tblGrid>
              <a:tr h="329184">
                <a:tc>
                  <a:txBody>
                    <a:bodyPr/>
                    <a:lstStyle/>
                    <a:p>
                      <a:pPr algn="l" indent="0" marL="0">
                        <a:buNone/>
                      </a:pP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171717"/>
                    </a:solidFill>
                  </a:tcPr>
                </a:tc>
                <a:tc>
                  <a:txBody>
                    <a:bodyPr/>
                    <a:lstStyle/>
                    <a:p>
                      <a:pPr algn="ctr" indent="0" marL="0">
                        <a:buNone/>
                      </a:pPr>
                      <a:r>
                        <a:rPr lang="en-US" sz="1100" b="1" dirty="0">
                          <a:solidFill>
                            <a:srgbClr val="FFFFFF"/>
                          </a:solidFill>
                        </a:rPr>
                        <a:t>Conservative</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171717"/>
                    </a:solidFill>
                  </a:tcPr>
                </a:tc>
                <a:tc>
                  <a:txBody>
                    <a:bodyPr/>
                    <a:lstStyle/>
                    <a:p>
                      <a:pPr algn="ctr" indent="0" marL="0">
                        <a:buNone/>
                      </a:pPr>
                      <a:r>
                        <a:rPr lang="en-US" sz="1100" b="1" dirty="0">
                          <a:solidFill>
                            <a:srgbClr val="FFFFFF"/>
                          </a:solidFill>
                        </a:rPr>
                        <a:t>Base</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171717"/>
                    </a:solidFill>
                  </a:tcPr>
                </a:tc>
                <a:tc>
                  <a:txBody>
                    <a:bodyPr/>
                    <a:lstStyle/>
                    <a:p>
                      <a:pPr algn="ctr" indent="0" marL="0">
                        <a:buNone/>
                      </a:pPr>
                      <a:r>
                        <a:rPr lang="en-US" sz="1100" b="1" dirty="0">
                          <a:solidFill>
                            <a:srgbClr val="FFFFFF"/>
                          </a:solidFill>
                        </a:rPr>
                        <a:t>Optimistic</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171717"/>
                    </a:solidFill>
                  </a:tcPr>
                </a:tc>
              </a:tr>
              <a:tr h="329184">
                <a:tc>
                  <a:txBody>
                    <a:bodyPr/>
                    <a:lstStyle/>
                    <a:p>
                      <a:pPr algn="l" indent="0" marL="0">
                        <a:buNone/>
                      </a:pPr>
                      <a:r>
                        <a:rPr lang="en-US" sz="1100" dirty="0">
                          <a:solidFill>
                            <a:srgbClr val="171717"/>
                          </a:solidFill>
                        </a:rPr>
                        <a:t>Addressable share</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71717"/>
                          </a:solidFill>
                        </a:rPr>
                        <a:t>25%</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71717"/>
                          </a:solidFill>
                        </a:rPr>
                        <a:t>36%</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EFE3E6"/>
                    </a:solidFill>
                  </a:tcPr>
                </a:tc>
                <a:tc>
                  <a:txBody>
                    <a:bodyPr/>
                    <a:lstStyle/>
                    <a:p>
                      <a:pPr algn="ctr" indent="0" marL="0">
                        <a:buNone/>
                      </a:pPr>
                      <a:r>
                        <a:rPr lang="en-US" sz="1100" dirty="0">
                          <a:solidFill>
                            <a:srgbClr val="171717"/>
                          </a:solidFill>
                        </a:rPr>
                        <a:t>46%</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329184">
                <a:tc>
                  <a:txBody>
                    <a:bodyPr/>
                    <a:lstStyle/>
                    <a:p>
                      <a:pPr algn="l" indent="0" marL="0">
                        <a:buNone/>
                      </a:pPr>
                      <a:r>
                        <a:rPr lang="en-US" sz="1100" dirty="0">
                          <a:solidFill>
                            <a:srgbClr val="171717"/>
                          </a:solidFill>
                        </a:rPr>
                        <a:t>Waste prevented</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71717"/>
                          </a:solidFill>
                        </a:rPr>
                        <a:t>15%</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71717"/>
                          </a:solidFill>
                        </a:rPr>
                        <a:t>25%</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EFE3E6"/>
                    </a:solidFill>
                  </a:tcPr>
                </a:tc>
                <a:tc>
                  <a:txBody>
                    <a:bodyPr/>
                    <a:lstStyle/>
                    <a:p>
                      <a:pPr algn="ctr" indent="0" marL="0">
                        <a:buNone/>
                      </a:pPr>
                      <a:r>
                        <a:rPr lang="en-US" sz="1100" dirty="0">
                          <a:solidFill>
                            <a:srgbClr val="171717"/>
                          </a:solidFill>
                        </a:rPr>
                        <a:t>35%</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329184">
                <a:tc>
                  <a:txBody>
                    <a:bodyPr/>
                    <a:lstStyle/>
                    <a:p>
                      <a:pPr algn="l" indent="0" marL="0">
                        <a:buNone/>
                      </a:pPr>
                      <a:r>
                        <a:rPr lang="en-US" sz="1100" dirty="0">
                          <a:solidFill>
                            <a:srgbClr val="171717"/>
                          </a:solidFill>
                        </a:rPr>
                        <a:t>Net benefit/yr</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71717"/>
                          </a:solidFill>
                        </a:rPr>
                        <a:t>₹7.3 cr</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71717"/>
                          </a:solidFill>
                        </a:rPr>
                        <a:t>₹18.2 cr</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EFE3E6"/>
                    </a:solidFill>
                  </a:tcPr>
                </a:tc>
                <a:tc>
                  <a:txBody>
                    <a:bodyPr/>
                    <a:lstStyle/>
                    <a:p>
                      <a:pPr algn="ctr" indent="0" marL="0">
                        <a:buNone/>
                      </a:pPr>
                      <a:r>
                        <a:rPr lang="en-US" sz="1100" dirty="0">
                          <a:solidFill>
                            <a:srgbClr val="171717"/>
                          </a:solidFill>
                        </a:rPr>
                        <a:t>₹32.8 cr</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329184">
                <a:tc>
                  <a:txBody>
                    <a:bodyPr/>
                    <a:lstStyle/>
                    <a:p>
                      <a:pPr algn="l" indent="0" marL="0">
                        <a:buNone/>
                      </a:pPr>
                      <a:r>
                        <a:rPr lang="en-US" sz="1100" dirty="0">
                          <a:solidFill>
                            <a:srgbClr val="171717"/>
                          </a:solidFill>
                        </a:rPr>
                        <a:t>3-year cost</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71717"/>
                          </a:solidFill>
                        </a:rPr>
                        <a:t>₹18.0 cr</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71717"/>
                          </a:solidFill>
                        </a:rPr>
                        <a:t>₹15.0 cr</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EFE3E6"/>
                    </a:solidFill>
                  </a:tcPr>
                </a:tc>
                <a:tc>
                  <a:txBody>
                    <a:bodyPr/>
                    <a:lstStyle/>
                    <a:p>
                      <a:pPr algn="ctr" indent="0" marL="0">
                        <a:buNone/>
                      </a:pPr>
                      <a:r>
                        <a:rPr lang="en-US" sz="1100" dirty="0">
                          <a:solidFill>
                            <a:srgbClr val="171717"/>
                          </a:solidFill>
                        </a:rPr>
                        <a:t>₹12.0 cr</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329184">
                <a:tc>
                  <a:txBody>
                    <a:bodyPr/>
                    <a:lstStyle/>
                    <a:p>
                      <a:pPr algn="l" indent="0" marL="0">
                        <a:buNone/>
                      </a:pPr>
                      <a:r>
                        <a:rPr lang="en-US" sz="1100" dirty="0">
                          <a:solidFill>
                            <a:srgbClr val="171717"/>
                          </a:solidFill>
                        </a:rPr>
                        <a:t>3-year ROI</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71717"/>
                          </a:solidFill>
                        </a:rPr>
                        <a:t>≈1%</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71717"/>
                          </a:solidFill>
                        </a:rPr>
                        <a:t>≈204%</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EFE3E6"/>
                    </a:solidFill>
                  </a:tcPr>
                </a:tc>
                <a:tc>
                  <a:txBody>
                    <a:bodyPr/>
                    <a:lstStyle/>
                    <a:p>
                      <a:pPr algn="ctr" indent="0" marL="0">
                        <a:buNone/>
                      </a:pPr>
                      <a:r>
                        <a:rPr lang="en-US" sz="1100" dirty="0">
                          <a:solidFill>
                            <a:srgbClr val="171717"/>
                          </a:solidFill>
                        </a:rPr>
                        <a:t>≈584%</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329184">
                <a:tc>
                  <a:txBody>
                    <a:bodyPr/>
                    <a:lstStyle/>
                    <a:p>
                      <a:pPr algn="l" indent="0" marL="0">
                        <a:buNone/>
                      </a:pPr>
                      <a:r>
                        <a:rPr lang="en-US" sz="1100" dirty="0">
                          <a:solidFill>
                            <a:srgbClr val="171717"/>
                          </a:solidFill>
                        </a:rPr>
                        <a:t>Units saved/yr</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71717"/>
                          </a:solidFill>
                        </a:rPr>
                        <a:t>≈1.3 lakh</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71717"/>
                          </a:solidFill>
                        </a:rPr>
                        <a:t>≈3.2 lakh</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EFE3E6"/>
                    </a:solidFill>
                  </a:tcPr>
                </a:tc>
                <a:tc>
                  <a:txBody>
                    <a:bodyPr/>
                    <a:lstStyle/>
                    <a:p>
                      <a:pPr algn="ctr" indent="0" marL="0">
                        <a:buNone/>
                      </a:pPr>
                      <a:r>
                        <a:rPr lang="en-US" sz="1100" dirty="0">
                          <a:solidFill>
                            <a:srgbClr val="171717"/>
                          </a:solidFill>
                        </a:rPr>
                        <a:t>≈5.6 lakh</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bl>
          </a:graphicData>
        </a:graphic>
      </p:graphicFrame>
      <p:sp>
        <p:nvSpPr>
          <p:cNvPr id="11" name="text-471"/>
          <p:cNvSpPr txBox="1"/>
          <p:nvPr/>
        </p:nvSpPr>
        <p:spPr>
          <a:xfrm>
            <a:off x="7315200" y="5596128"/>
            <a:ext cx="4233672" cy="685800"/>
          </a:xfrm>
          <a:prstGeom prst="rect">
            <a:avLst/>
          </a:prstGeom>
          <a:noFill/>
          <a:ln/>
        </p:spPr>
        <p:txBody>
          <a:bodyPr wrap="square" lIns="0" tIns="0" rIns="0" bIns="0" rtlCol="0" anchor="t"/>
          <a:lstStyle/>
          <a:p>
            <a:pPr indent="0" marL="0">
              <a:buNone/>
            </a:pPr>
            <a:r>
              <a:rPr lang="en-US" sz="1100" dirty="0">
                <a:solidFill>
                  <a:srgbClr val="171717"/>
                </a:solidFill>
              </a:rPr>
              <a:t>Pays back in year 2 (year-1 ROI ≈ −9%). The conservative case only breaks even, hence a pilot with stop criteria. Waste reduction alone ≈₹11.3 cr a year.</a:t>
            </a:r>
            <a:endParaRPr lang="en-US" sz="1100" dirty="0"/>
          </a:p>
        </p:txBody>
      </p:sp>
      <p:sp>
        <p:nvSpPr>
          <p:cNvPr id="25" name="Slide Number Placeholder 0"/>
          <p:cNvSpPr>
            <a:spLocks noGrp="1"/>
          </p:cNvSpPr>
          <p:nvPr>
            <p:ph type="sldNum" sz="quarter" idx="4294967295"/>
          </p:nvPr>
        </p:nvSpPr>
        <p:spPr>
          <a:xfrm>
            <a:off x="11091672"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665E"/>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body" hasCustomPrompt="1"/>
          </p:nvPr>
        </p:nvSpPr>
        <p:spPr>
          <a:xfrm>
            <a:off x="640080" y="457200"/>
            <a:ext cx="8686800" cy="237744"/>
          </a:xfrm>
          <a:prstGeom prst="rect">
            <a:avLst/>
          </a:prstGeom>
          <a:noFill/>
          <a:ln/>
        </p:spPr>
        <p:txBody>
          <a:bodyPr wrap="square" lIns="0" tIns="0" rIns="0" bIns="0" rtlCol="0" anchor="t"/>
          <a:lstStyle/>
          <a:p>
            <a:pPr indent="0" marL="0">
              <a:buNone/>
            </a:pPr>
            <a:r>
              <a:rPr lang="en-US" sz="1100" b="1" spc="200" kern="0" dirty="0">
                <a:solidFill>
                  <a:srgbClr val="65172F"/>
                </a:solidFill>
              </a:rPr>
              <a:t>IMPLEMENTATION ROADMAP</a:t>
            </a:r>
            <a:endParaRPr lang="en-US" sz="1100" dirty="0"/>
          </a:p>
        </p:txBody>
      </p:sp>
      <p:sp>
        <p:nvSpPr>
          <p:cNvPr id="3" name="Text 0"/>
          <p:cNvSpPr/>
          <p:nvPr>
            <p:ph idx="102" type="title" hasCustomPrompt="1"/>
          </p:nvPr>
        </p:nvSpPr>
        <p:spPr>
          <a:xfrm>
            <a:off x="640080" y="749808"/>
            <a:ext cx="9418320" cy="1005840"/>
          </a:xfrm>
          <a:prstGeom prst="rect">
            <a:avLst/>
          </a:prstGeom>
          <a:noFill/>
          <a:ln/>
        </p:spPr>
        <p:txBody>
          <a:bodyPr wrap="square" lIns="0" tIns="0" rIns="0" bIns="0" rtlCol="0" anchor="t"/>
          <a:lstStyle/>
          <a:p>
            <a:pPr algn="l" indent="0" marL="0">
              <a:lnSpc>
                <a:spcPct val="95000"/>
              </a:lnSpc>
              <a:buNone/>
            </a:pPr>
            <a:r>
              <a:rPr lang="en-US" sz="3000" b="1" dirty="0">
                <a:solidFill>
                  <a:srgbClr val="171717"/>
                </a:solidFill>
                <a:latin typeface="Aptos Display" pitchFamily="34" charset="0"/>
                <a:ea typeface="Aptos Display" pitchFamily="34" charset="-122"/>
                <a:cs typeface="Aptos Display" pitchFamily="34" charset="-120"/>
              </a:rPr>
              <a:t>A 16-week pilot that proves it, or stops it</a:t>
            </a:r>
            <a:endParaRPr lang="en-US" sz="3000" dirty="0"/>
          </a:p>
        </p:txBody>
      </p:sp>
      <p:sp>
        <p:nvSpPr>
          <p:cNvPr id="4" name="Text 0"/>
          <p:cNvSpPr/>
          <p:nvPr>
            <p:ph idx="103" type="body" hasCustomPrompt="1"/>
          </p:nvPr>
        </p:nvSpPr>
        <p:spPr>
          <a:xfrm>
            <a:off x="640080" y="6355080"/>
            <a:ext cx="9189720" cy="347472"/>
          </a:xfrm>
          <a:prstGeom prst="rect">
            <a:avLst/>
          </a:prstGeom>
          <a:noFill/>
          <a:ln/>
        </p:spPr>
        <p:txBody>
          <a:bodyPr wrap="square" lIns="0" tIns="0" rIns="0" bIns="0" rtlCol="0" anchor="t"/>
          <a:lstStyle/>
          <a:p>
            <a:pPr indent="0" marL="0">
              <a:buNone/>
            </a:pPr>
            <a:r>
              <a:rPr lang="en-US" sz="1000" dirty="0">
                <a:solidFill>
                  <a:srgbClr val="6E665E"/>
                </a:solidFill>
              </a:rPr>
              <a:t>Pilot design and budget are proposals to agree with L'Oréal (≈₹50 lakh: build ₹20 L, data ₹10 L, training ₹5 L, intervention budget ₹10 L, measurement ₹5 L). Returns are a lagging metric, so they are re-measured at +6 months.</a:t>
            </a:r>
            <a:endParaRPr lang="en-US" sz="1000" dirty="0"/>
          </a:p>
        </p:txBody>
      </p:sp>
      <p:sp>
        <p:nvSpPr>
          <p:cNvPr id="6" name="text-472"/>
          <p:cNvSpPr txBox="1"/>
          <p:nvPr/>
        </p:nvSpPr>
        <p:spPr>
          <a:xfrm>
            <a:off x="640080" y="1965960"/>
            <a:ext cx="1188720" cy="384048"/>
          </a:xfrm>
          <a:prstGeom prst="rect">
            <a:avLst/>
          </a:prstGeom>
          <a:noFill/>
          <a:ln/>
        </p:spPr>
        <p:txBody>
          <a:bodyPr wrap="square" lIns="0" tIns="0" rIns="0" bIns="0" rtlCol="0" anchor="ctr"/>
          <a:lstStyle/>
          <a:p>
            <a:pPr indent="0" marL="0">
              <a:buNone/>
            </a:pPr>
            <a:r>
              <a:rPr lang="en-US" sz="1500" b="1" dirty="0">
                <a:solidFill>
                  <a:srgbClr val="171717"/>
                </a:solidFill>
              </a:rPr>
              <a:t>Pilot</a:t>
            </a:r>
            <a:endParaRPr lang="en-US" sz="1500" dirty="0"/>
          </a:p>
        </p:txBody>
      </p:sp>
      <p:sp>
        <p:nvSpPr>
          <p:cNvPr id="7" name="rect-473"/>
          <p:cNvSpPr/>
          <p:nvPr/>
        </p:nvSpPr>
        <p:spPr>
          <a:xfrm>
            <a:off x="1920240" y="1965960"/>
            <a:ext cx="1973580" cy="384048"/>
          </a:xfrm>
          <a:prstGeom prst="rect">
            <a:avLst/>
          </a:prstGeom>
          <a:solidFill>
            <a:srgbClr val="65172F"/>
          </a:solidFill>
          <a:ln w="12700">
            <a:solidFill>
              <a:srgbClr val="65172F"/>
            </a:solidFill>
            <a:prstDash val="solid"/>
          </a:ln>
        </p:spPr>
      </p:sp>
      <p:sp>
        <p:nvSpPr>
          <p:cNvPr id="8" name="text-474"/>
          <p:cNvSpPr txBox="1"/>
          <p:nvPr/>
        </p:nvSpPr>
        <p:spPr>
          <a:xfrm>
            <a:off x="4003548" y="1965960"/>
            <a:ext cx="4206240" cy="384048"/>
          </a:xfrm>
          <a:prstGeom prst="rect">
            <a:avLst/>
          </a:prstGeom>
          <a:noFill/>
          <a:ln/>
        </p:spPr>
        <p:txBody>
          <a:bodyPr wrap="square" lIns="0" tIns="0" rIns="0" bIns="0" rtlCol="0" anchor="ctr"/>
          <a:lstStyle/>
          <a:p>
            <a:pPr indent="0" marL="0">
              <a:buNone/>
            </a:pPr>
            <a:r>
              <a:rPr lang="en-US" sz="1150" dirty="0">
                <a:solidFill>
                  <a:srgbClr val="6E665E"/>
                </a:solidFill>
              </a:rPr>
              <a:t>Two cities, test vs control; shadow scorecard</a:t>
            </a:r>
            <a:endParaRPr lang="en-US" sz="1150" dirty="0"/>
          </a:p>
        </p:txBody>
      </p:sp>
      <p:sp>
        <p:nvSpPr>
          <p:cNvPr id="9" name="text-475"/>
          <p:cNvSpPr txBox="1"/>
          <p:nvPr/>
        </p:nvSpPr>
        <p:spPr>
          <a:xfrm>
            <a:off x="640080" y="2514600"/>
            <a:ext cx="1188720" cy="384048"/>
          </a:xfrm>
          <a:prstGeom prst="rect">
            <a:avLst/>
          </a:prstGeom>
          <a:noFill/>
          <a:ln/>
        </p:spPr>
        <p:txBody>
          <a:bodyPr wrap="square" lIns="0" tIns="0" rIns="0" bIns="0" rtlCol="0" anchor="ctr"/>
          <a:lstStyle/>
          <a:p>
            <a:pPr indent="0" marL="0">
              <a:buNone/>
            </a:pPr>
            <a:r>
              <a:rPr lang="en-US" sz="1500" b="1" dirty="0">
                <a:solidFill>
                  <a:srgbClr val="171717"/>
                </a:solidFill>
              </a:rPr>
              <a:t>Validate</a:t>
            </a:r>
            <a:endParaRPr lang="en-US" sz="1500" dirty="0"/>
          </a:p>
        </p:txBody>
      </p:sp>
      <p:sp>
        <p:nvSpPr>
          <p:cNvPr id="10" name="rect-476"/>
          <p:cNvSpPr/>
          <p:nvPr/>
        </p:nvSpPr>
        <p:spPr>
          <a:xfrm>
            <a:off x="4053840" y="2514600"/>
            <a:ext cx="1600200" cy="384048"/>
          </a:xfrm>
          <a:prstGeom prst="rect">
            <a:avLst/>
          </a:prstGeom>
          <a:solidFill>
            <a:srgbClr val="8C3A52"/>
          </a:solidFill>
          <a:ln w="12700">
            <a:solidFill>
              <a:srgbClr val="8C3A52"/>
            </a:solidFill>
            <a:prstDash val="solid"/>
          </a:ln>
        </p:spPr>
      </p:sp>
      <p:sp>
        <p:nvSpPr>
          <p:cNvPr id="11" name="text-477"/>
          <p:cNvSpPr txBox="1"/>
          <p:nvPr/>
        </p:nvSpPr>
        <p:spPr>
          <a:xfrm>
            <a:off x="5763768" y="2514600"/>
            <a:ext cx="4206240" cy="384048"/>
          </a:xfrm>
          <a:prstGeom prst="rect">
            <a:avLst/>
          </a:prstGeom>
          <a:noFill/>
          <a:ln/>
        </p:spPr>
        <p:txBody>
          <a:bodyPr wrap="square" lIns="0" tIns="0" rIns="0" bIns="0" rtlCol="0" anchor="ctr"/>
          <a:lstStyle/>
          <a:p>
            <a:pPr indent="0" marL="0">
              <a:buNone/>
            </a:pPr>
            <a:r>
              <a:rPr lang="en-US" sz="1150" dirty="0">
                <a:solidFill>
                  <a:srgbClr val="6E665E"/>
                </a:solidFill>
              </a:rPr>
              <a:t>Returns at +6 months; calibrate parameters</a:t>
            </a:r>
            <a:endParaRPr lang="en-US" sz="1150" dirty="0"/>
          </a:p>
        </p:txBody>
      </p:sp>
      <p:sp>
        <p:nvSpPr>
          <p:cNvPr id="12" name="text-478"/>
          <p:cNvSpPr txBox="1"/>
          <p:nvPr/>
        </p:nvSpPr>
        <p:spPr>
          <a:xfrm>
            <a:off x="640080" y="3063240"/>
            <a:ext cx="1188720" cy="384048"/>
          </a:xfrm>
          <a:prstGeom prst="rect">
            <a:avLst/>
          </a:prstGeom>
          <a:noFill/>
          <a:ln/>
        </p:spPr>
        <p:txBody>
          <a:bodyPr wrap="square" lIns="0" tIns="0" rIns="0" bIns="0" rtlCol="0" anchor="ctr"/>
          <a:lstStyle/>
          <a:p>
            <a:pPr indent="0" marL="0">
              <a:buNone/>
            </a:pPr>
            <a:r>
              <a:rPr lang="en-US" sz="1500" b="1" dirty="0">
                <a:solidFill>
                  <a:srgbClr val="171717"/>
                </a:solidFill>
              </a:rPr>
              <a:t>Optimise</a:t>
            </a:r>
            <a:endParaRPr lang="en-US" sz="1500" dirty="0"/>
          </a:p>
        </p:txBody>
      </p:sp>
      <p:sp>
        <p:nvSpPr>
          <p:cNvPr id="13" name="rect-479"/>
          <p:cNvSpPr/>
          <p:nvPr/>
        </p:nvSpPr>
        <p:spPr>
          <a:xfrm>
            <a:off x="4587240" y="3063240"/>
            <a:ext cx="2133600" cy="384048"/>
          </a:xfrm>
          <a:prstGeom prst="rect">
            <a:avLst/>
          </a:prstGeom>
          <a:solidFill>
            <a:srgbClr val="B9808F"/>
          </a:solidFill>
          <a:ln w="12700">
            <a:solidFill>
              <a:srgbClr val="B9808F"/>
            </a:solidFill>
            <a:prstDash val="solid"/>
          </a:ln>
        </p:spPr>
      </p:sp>
      <p:sp>
        <p:nvSpPr>
          <p:cNvPr id="14" name="text-480"/>
          <p:cNvSpPr txBox="1"/>
          <p:nvPr/>
        </p:nvSpPr>
        <p:spPr>
          <a:xfrm>
            <a:off x="6830568" y="3063240"/>
            <a:ext cx="4206240" cy="384048"/>
          </a:xfrm>
          <a:prstGeom prst="rect">
            <a:avLst/>
          </a:prstGeom>
          <a:noFill/>
          <a:ln/>
        </p:spPr>
        <p:txBody>
          <a:bodyPr wrap="square" lIns="0" tIns="0" rIns="0" bIns="0" rtlCol="0" anchor="ctr"/>
          <a:lstStyle/>
          <a:p>
            <a:pPr indent="0" marL="0">
              <a:buNone/>
            </a:pPr>
            <a:r>
              <a:rPr lang="en-US" sz="1150" dirty="0">
                <a:solidFill>
                  <a:srgbClr val="6E665E"/>
                </a:solidFill>
              </a:rPr>
              <a:t>Integrate into existing SFA; paid scorecard; top-10 metros</a:t>
            </a:r>
            <a:endParaRPr lang="en-US" sz="1150" dirty="0"/>
          </a:p>
        </p:txBody>
      </p:sp>
      <p:sp>
        <p:nvSpPr>
          <p:cNvPr id="15" name="text-481"/>
          <p:cNvSpPr txBox="1"/>
          <p:nvPr/>
        </p:nvSpPr>
        <p:spPr>
          <a:xfrm>
            <a:off x="640080" y="3611880"/>
            <a:ext cx="1188720" cy="384048"/>
          </a:xfrm>
          <a:prstGeom prst="rect">
            <a:avLst/>
          </a:prstGeom>
          <a:noFill/>
          <a:ln/>
        </p:spPr>
        <p:txBody>
          <a:bodyPr wrap="square" lIns="0" tIns="0" rIns="0" bIns="0" rtlCol="0" anchor="ctr"/>
          <a:lstStyle/>
          <a:p>
            <a:pPr indent="0" marL="0">
              <a:buNone/>
            </a:pPr>
            <a:r>
              <a:rPr lang="en-US" sz="1500" b="1" dirty="0">
                <a:solidFill>
                  <a:srgbClr val="171717"/>
                </a:solidFill>
              </a:rPr>
              <a:t>Scale</a:t>
            </a:r>
            <a:endParaRPr lang="en-US" sz="1500" dirty="0"/>
          </a:p>
        </p:txBody>
      </p:sp>
      <p:sp>
        <p:nvSpPr>
          <p:cNvPr id="16" name="rect-482"/>
          <p:cNvSpPr/>
          <p:nvPr/>
        </p:nvSpPr>
        <p:spPr>
          <a:xfrm>
            <a:off x="7254240" y="3611880"/>
            <a:ext cx="4267200" cy="384048"/>
          </a:xfrm>
          <a:prstGeom prst="rect">
            <a:avLst/>
          </a:prstGeom>
          <a:solidFill>
            <a:srgbClr val="171717"/>
          </a:solidFill>
          <a:ln w="12700">
            <a:solidFill>
              <a:srgbClr val="171717"/>
            </a:solidFill>
            <a:prstDash val="solid"/>
          </a:ln>
        </p:spPr>
      </p:sp>
      <p:sp>
        <p:nvSpPr>
          <p:cNvPr id="17" name="text-483"/>
          <p:cNvSpPr txBox="1"/>
          <p:nvPr/>
        </p:nvSpPr>
        <p:spPr>
          <a:xfrm>
            <a:off x="7363968" y="3611880"/>
            <a:ext cx="4084320" cy="384048"/>
          </a:xfrm>
          <a:prstGeom prst="rect">
            <a:avLst/>
          </a:prstGeom>
          <a:noFill/>
          <a:ln/>
        </p:spPr>
        <p:txBody>
          <a:bodyPr wrap="square" lIns="0" tIns="0" rIns="0" bIns="0" rtlCol="0" anchor="ctr"/>
          <a:lstStyle/>
          <a:p>
            <a:pPr indent="0" marL="0">
              <a:buNone/>
            </a:pPr>
            <a:r>
              <a:rPr lang="en-US" sz="1150" dirty="0">
                <a:solidFill>
                  <a:srgbClr val="FFFFFF"/>
                </a:solidFill>
              </a:rPr>
              <a:t>All territories; salon and derma variants; ML where proven</a:t>
            </a:r>
            <a:endParaRPr lang="en-US" sz="1150" dirty="0"/>
          </a:p>
        </p:txBody>
      </p:sp>
      <p:sp>
        <p:nvSpPr>
          <p:cNvPr id="18" name="line-484"/>
          <p:cNvSpPr/>
          <p:nvPr/>
        </p:nvSpPr>
        <p:spPr>
          <a:xfrm>
            <a:off x="1920240" y="4224528"/>
            <a:ext cx="9601200" cy="0"/>
          </a:xfrm>
          <a:prstGeom prst="line">
            <a:avLst/>
          </a:prstGeom>
          <a:noFill/>
          <a:ln w="12700">
            <a:solidFill>
              <a:srgbClr val="A9A096"/>
            </a:solidFill>
            <a:prstDash val="solid"/>
          </a:ln>
        </p:spPr>
      </p:sp>
      <p:sp>
        <p:nvSpPr>
          <p:cNvPr id="19" name="line-485"/>
          <p:cNvSpPr/>
          <p:nvPr/>
        </p:nvSpPr>
        <p:spPr>
          <a:xfrm>
            <a:off x="1920240" y="4187952"/>
            <a:ext cx="0" cy="73152"/>
          </a:xfrm>
          <a:prstGeom prst="line">
            <a:avLst/>
          </a:prstGeom>
          <a:noFill/>
          <a:ln w="12700">
            <a:solidFill>
              <a:srgbClr val="A9A096"/>
            </a:solidFill>
            <a:prstDash val="solid"/>
          </a:ln>
        </p:spPr>
      </p:sp>
      <p:sp>
        <p:nvSpPr>
          <p:cNvPr id="20" name="text-486"/>
          <p:cNvSpPr txBox="1"/>
          <p:nvPr/>
        </p:nvSpPr>
        <p:spPr>
          <a:xfrm>
            <a:off x="1645920" y="4279392"/>
            <a:ext cx="548640" cy="201168"/>
          </a:xfrm>
          <a:prstGeom prst="rect">
            <a:avLst/>
          </a:prstGeom>
          <a:noFill/>
          <a:ln/>
        </p:spPr>
        <p:txBody>
          <a:bodyPr wrap="square" lIns="0" tIns="0" rIns="0" bIns="0" rtlCol="0" anchor="t"/>
          <a:lstStyle/>
          <a:p>
            <a:pPr algn="ctr" indent="0" marL="0">
              <a:buNone/>
            </a:pPr>
            <a:r>
              <a:rPr lang="en-US" sz="1000" dirty="0">
                <a:solidFill>
                  <a:srgbClr val="6E665E"/>
                </a:solidFill>
              </a:rPr>
              <a:t>M0</a:t>
            </a:r>
            <a:endParaRPr lang="en-US" sz="1000" dirty="0"/>
          </a:p>
        </p:txBody>
      </p:sp>
      <p:sp>
        <p:nvSpPr>
          <p:cNvPr id="21" name="line-487"/>
          <p:cNvSpPr/>
          <p:nvPr/>
        </p:nvSpPr>
        <p:spPr>
          <a:xfrm>
            <a:off x="3520440" y="4187952"/>
            <a:ext cx="0" cy="73152"/>
          </a:xfrm>
          <a:prstGeom prst="line">
            <a:avLst/>
          </a:prstGeom>
          <a:noFill/>
          <a:ln w="12700">
            <a:solidFill>
              <a:srgbClr val="A9A096"/>
            </a:solidFill>
            <a:prstDash val="solid"/>
          </a:ln>
        </p:spPr>
      </p:sp>
      <p:sp>
        <p:nvSpPr>
          <p:cNvPr id="22" name="text-488"/>
          <p:cNvSpPr txBox="1"/>
          <p:nvPr/>
        </p:nvSpPr>
        <p:spPr>
          <a:xfrm>
            <a:off x="3246120" y="4279392"/>
            <a:ext cx="548640" cy="201168"/>
          </a:xfrm>
          <a:prstGeom prst="rect">
            <a:avLst/>
          </a:prstGeom>
          <a:noFill/>
          <a:ln/>
        </p:spPr>
        <p:txBody>
          <a:bodyPr wrap="square" lIns="0" tIns="0" rIns="0" bIns="0" rtlCol="0" anchor="t"/>
          <a:lstStyle/>
          <a:p>
            <a:pPr algn="ctr" indent="0" marL="0">
              <a:buNone/>
            </a:pPr>
            <a:r>
              <a:rPr lang="en-US" sz="1000" dirty="0">
                <a:solidFill>
                  <a:srgbClr val="6E665E"/>
                </a:solidFill>
              </a:rPr>
              <a:t>M3</a:t>
            </a:r>
            <a:endParaRPr lang="en-US" sz="1000" dirty="0"/>
          </a:p>
        </p:txBody>
      </p:sp>
      <p:sp>
        <p:nvSpPr>
          <p:cNvPr id="23" name="line-489"/>
          <p:cNvSpPr/>
          <p:nvPr/>
        </p:nvSpPr>
        <p:spPr>
          <a:xfrm>
            <a:off x="5120640" y="4187952"/>
            <a:ext cx="0" cy="73152"/>
          </a:xfrm>
          <a:prstGeom prst="line">
            <a:avLst/>
          </a:prstGeom>
          <a:noFill/>
          <a:ln w="12700">
            <a:solidFill>
              <a:srgbClr val="A9A096"/>
            </a:solidFill>
            <a:prstDash val="solid"/>
          </a:ln>
        </p:spPr>
      </p:sp>
      <p:sp>
        <p:nvSpPr>
          <p:cNvPr id="24" name="text-490"/>
          <p:cNvSpPr txBox="1"/>
          <p:nvPr/>
        </p:nvSpPr>
        <p:spPr>
          <a:xfrm>
            <a:off x="4846320" y="4279392"/>
            <a:ext cx="548640" cy="201168"/>
          </a:xfrm>
          <a:prstGeom prst="rect">
            <a:avLst/>
          </a:prstGeom>
          <a:noFill/>
          <a:ln/>
        </p:spPr>
        <p:txBody>
          <a:bodyPr wrap="square" lIns="0" tIns="0" rIns="0" bIns="0" rtlCol="0" anchor="t"/>
          <a:lstStyle/>
          <a:p>
            <a:pPr algn="ctr" indent="0" marL="0">
              <a:buNone/>
            </a:pPr>
            <a:r>
              <a:rPr lang="en-US" sz="1000" dirty="0">
                <a:solidFill>
                  <a:srgbClr val="6E665E"/>
                </a:solidFill>
              </a:rPr>
              <a:t>M6</a:t>
            </a:r>
            <a:endParaRPr lang="en-US" sz="1000" dirty="0"/>
          </a:p>
        </p:txBody>
      </p:sp>
      <p:sp>
        <p:nvSpPr>
          <p:cNvPr id="25" name="line-491"/>
          <p:cNvSpPr/>
          <p:nvPr/>
        </p:nvSpPr>
        <p:spPr>
          <a:xfrm>
            <a:off x="6720840" y="4187952"/>
            <a:ext cx="0" cy="73152"/>
          </a:xfrm>
          <a:prstGeom prst="line">
            <a:avLst/>
          </a:prstGeom>
          <a:noFill/>
          <a:ln w="12700">
            <a:solidFill>
              <a:srgbClr val="A9A096"/>
            </a:solidFill>
            <a:prstDash val="solid"/>
          </a:ln>
        </p:spPr>
      </p:sp>
      <p:sp>
        <p:nvSpPr>
          <p:cNvPr id="26" name="text-492"/>
          <p:cNvSpPr txBox="1"/>
          <p:nvPr/>
        </p:nvSpPr>
        <p:spPr>
          <a:xfrm>
            <a:off x="6446520" y="4279392"/>
            <a:ext cx="548640" cy="201168"/>
          </a:xfrm>
          <a:prstGeom prst="rect">
            <a:avLst/>
          </a:prstGeom>
          <a:noFill/>
          <a:ln/>
        </p:spPr>
        <p:txBody>
          <a:bodyPr wrap="square" lIns="0" tIns="0" rIns="0" bIns="0" rtlCol="0" anchor="t"/>
          <a:lstStyle/>
          <a:p>
            <a:pPr algn="ctr" indent="0" marL="0">
              <a:buNone/>
            </a:pPr>
            <a:r>
              <a:rPr lang="en-US" sz="1000" dirty="0">
                <a:solidFill>
                  <a:srgbClr val="6E665E"/>
                </a:solidFill>
              </a:rPr>
              <a:t>M9</a:t>
            </a:r>
            <a:endParaRPr lang="en-US" sz="1000" dirty="0"/>
          </a:p>
        </p:txBody>
      </p:sp>
      <p:sp>
        <p:nvSpPr>
          <p:cNvPr id="27" name="line-493"/>
          <p:cNvSpPr/>
          <p:nvPr/>
        </p:nvSpPr>
        <p:spPr>
          <a:xfrm>
            <a:off x="8321040" y="4187952"/>
            <a:ext cx="0" cy="73152"/>
          </a:xfrm>
          <a:prstGeom prst="line">
            <a:avLst/>
          </a:prstGeom>
          <a:noFill/>
          <a:ln w="12700">
            <a:solidFill>
              <a:srgbClr val="A9A096"/>
            </a:solidFill>
            <a:prstDash val="solid"/>
          </a:ln>
        </p:spPr>
      </p:sp>
      <p:sp>
        <p:nvSpPr>
          <p:cNvPr id="28" name="text-494"/>
          <p:cNvSpPr txBox="1"/>
          <p:nvPr/>
        </p:nvSpPr>
        <p:spPr>
          <a:xfrm>
            <a:off x="8046720" y="4279392"/>
            <a:ext cx="548640" cy="201168"/>
          </a:xfrm>
          <a:prstGeom prst="rect">
            <a:avLst/>
          </a:prstGeom>
          <a:noFill/>
          <a:ln/>
        </p:spPr>
        <p:txBody>
          <a:bodyPr wrap="square" lIns="0" tIns="0" rIns="0" bIns="0" rtlCol="0" anchor="t"/>
          <a:lstStyle/>
          <a:p>
            <a:pPr algn="ctr" indent="0" marL="0">
              <a:buNone/>
            </a:pPr>
            <a:r>
              <a:rPr lang="en-US" sz="1000" dirty="0">
                <a:solidFill>
                  <a:srgbClr val="6E665E"/>
                </a:solidFill>
              </a:rPr>
              <a:t>M12</a:t>
            </a:r>
            <a:endParaRPr lang="en-US" sz="1000" dirty="0"/>
          </a:p>
        </p:txBody>
      </p:sp>
      <p:sp>
        <p:nvSpPr>
          <p:cNvPr id="29" name="line-495"/>
          <p:cNvSpPr/>
          <p:nvPr/>
        </p:nvSpPr>
        <p:spPr>
          <a:xfrm>
            <a:off x="9921240" y="4187952"/>
            <a:ext cx="0" cy="73152"/>
          </a:xfrm>
          <a:prstGeom prst="line">
            <a:avLst/>
          </a:prstGeom>
          <a:noFill/>
          <a:ln w="12700">
            <a:solidFill>
              <a:srgbClr val="A9A096"/>
            </a:solidFill>
            <a:prstDash val="solid"/>
          </a:ln>
        </p:spPr>
      </p:sp>
      <p:sp>
        <p:nvSpPr>
          <p:cNvPr id="30" name="text-496"/>
          <p:cNvSpPr txBox="1"/>
          <p:nvPr/>
        </p:nvSpPr>
        <p:spPr>
          <a:xfrm>
            <a:off x="9646920" y="4279392"/>
            <a:ext cx="548640" cy="201168"/>
          </a:xfrm>
          <a:prstGeom prst="rect">
            <a:avLst/>
          </a:prstGeom>
          <a:noFill/>
          <a:ln/>
        </p:spPr>
        <p:txBody>
          <a:bodyPr wrap="square" lIns="0" tIns="0" rIns="0" bIns="0" rtlCol="0" anchor="t"/>
          <a:lstStyle/>
          <a:p>
            <a:pPr algn="ctr" indent="0" marL="0">
              <a:buNone/>
            </a:pPr>
            <a:r>
              <a:rPr lang="en-US" sz="1000" dirty="0">
                <a:solidFill>
                  <a:srgbClr val="6E665E"/>
                </a:solidFill>
              </a:rPr>
              <a:t>M15</a:t>
            </a:r>
            <a:endParaRPr lang="en-US" sz="1000" dirty="0"/>
          </a:p>
        </p:txBody>
      </p:sp>
      <p:sp>
        <p:nvSpPr>
          <p:cNvPr id="31" name="line-497"/>
          <p:cNvSpPr/>
          <p:nvPr/>
        </p:nvSpPr>
        <p:spPr>
          <a:xfrm>
            <a:off x="11521440" y="4187952"/>
            <a:ext cx="0" cy="73152"/>
          </a:xfrm>
          <a:prstGeom prst="line">
            <a:avLst/>
          </a:prstGeom>
          <a:noFill/>
          <a:ln w="12700">
            <a:solidFill>
              <a:srgbClr val="A9A096"/>
            </a:solidFill>
            <a:prstDash val="solid"/>
          </a:ln>
        </p:spPr>
      </p:sp>
      <p:sp>
        <p:nvSpPr>
          <p:cNvPr id="32" name="text-498"/>
          <p:cNvSpPr txBox="1"/>
          <p:nvPr/>
        </p:nvSpPr>
        <p:spPr>
          <a:xfrm>
            <a:off x="11247120" y="4279392"/>
            <a:ext cx="548640" cy="201168"/>
          </a:xfrm>
          <a:prstGeom prst="rect">
            <a:avLst/>
          </a:prstGeom>
          <a:noFill/>
          <a:ln/>
        </p:spPr>
        <p:txBody>
          <a:bodyPr wrap="square" lIns="0" tIns="0" rIns="0" bIns="0" rtlCol="0" anchor="t"/>
          <a:lstStyle/>
          <a:p>
            <a:pPr algn="ctr" indent="0" marL="0">
              <a:buNone/>
            </a:pPr>
            <a:r>
              <a:rPr lang="en-US" sz="1000" dirty="0">
                <a:solidFill>
                  <a:srgbClr val="6E665E"/>
                </a:solidFill>
              </a:rPr>
              <a:t>M18+</a:t>
            </a:r>
            <a:endParaRPr lang="en-US" sz="1000" dirty="0"/>
          </a:p>
        </p:txBody>
      </p:sp>
      <p:sp>
        <p:nvSpPr>
          <p:cNvPr id="33" name="line-499"/>
          <p:cNvSpPr/>
          <p:nvPr/>
        </p:nvSpPr>
        <p:spPr>
          <a:xfrm>
            <a:off x="3893820" y="1810512"/>
            <a:ext cx="0" cy="2395728"/>
          </a:xfrm>
          <a:prstGeom prst="line">
            <a:avLst/>
          </a:prstGeom>
          <a:noFill/>
          <a:ln w="19050">
            <a:solidFill>
              <a:srgbClr val="327B60"/>
            </a:solidFill>
            <a:prstDash val="dash"/>
          </a:ln>
        </p:spPr>
      </p:sp>
      <p:sp>
        <p:nvSpPr>
          <p:cNvPr id="34" name="gate"/>
          <p:cNvSpPr/>
          <p:nvPr/>
        </p:nvSpPr>
        <p:spPr>
          <a:xfrm>
            <a:off x="3738372" y="1700784"/>
            <a:ext cx="310896" cy="310896"/>
          </a:xfrm>
          <a:prstGeom prst="diamond">
            <a:avLst/>
          </a:prstGeom>
          <a:solidFill>
            <a:srgbClr val="327B60"/>
          </a:solidFill>
          <a:ln w="12700">
            <a:solidFill>
              <a:srgbClr val="327B60"/>
            </a:solidFill>
            <a:prstDash val="solid"/>
          </a:ln>
        </p:spPr>
      </p:sp>
      <p:sp>
        <p:nvSpPr>
          <p:cNvPr id="35" name="text-500"/>
          <p:cNvSpPr txBox="1"/>
          <p:nvPr/>
        </p:nvSpPr>
        <p:spPr>
          <a:xfrm>
            <a:off x="4122420" y="1719072"/>
            <a:ext cx="2194560" cy="256032"/>
          </a:xfrm>
          <a:prstGeom prst="rect">
            <a:avLst/>
          </a:prstGeom>
          <a:noFill/>
          <a:ln/>
        </p:spPr>
        <p:txBody>
          <a:bodyPr wrap="square" lIns="0" tIns="0" rIns="0" bIns="0" rtlCol="0" anchor="t"/>
          <a:lstStyle/>
          <a:p>
            <a:pPr indent="0" marL="0">
              <a:buNone/>
            </a:pPr>
            <a:r>
              <a:rPr lang="en-US" sz="1100" b="1" dirty="0">
                <a:solidFill>
                  <a:srgbClr val="327B60"/>
                </a:solidFill>
              </a:rPr>
              <a:t>Decision gate · week 16</a:t>
            </a:r>
            <a:endParaRPr lang="en-US" sz="1100" dirty="0"/>
          </a:p>
        </p:txBody>
      </p:sp>
      <p:sp>
        <p:nvSpPr>
          <p:cNvPr id="36" name="rect-501"/>
          <p:cNvSpPr/>
          <p:nvPr/>
        </p:nvSpPr>
        <p:spPr>
          <a:xfrm>
            <a:off x="640080" y="4663440"/>
            <a:ext cx="4572000" cy="1572768"/>
          </a:xfrm>
          <a:prstGeom prst="rect">
            <a:avLst/>
          </a:prstGeom>
          <a:solidFill>
            <a:srgbClr val="F7F5F1"/>
          </a:solidFill>
          <a:ln w="12700">
            <a:solidFill>
              <a:srgbClr val="F7F5F1"/>
            </a:solidFill>
            <a:prstDash val="solid"/>
          </a:ln>
        </p:spPr>
      </p:sp>
      <p:sp>
        <p:nvSpPr>
          <p:cNvPr id="37" name="text-502"/>
          <p:cNvSpPr txBox="1"/>
          <p:nvPr/>
        </p:nvSpPr>
        <p:spPr>
          <a:xfrm>
            <a:off x="822960" y="4736592"/>
            <a:ext cx="4206240" cy="1444752"/>
          </a:xfrm>
          <a:prstGeom prst="rect">
            <a:avLst/>
          </a:prstGeom>
          <a:noFill/>
          <a:ln/>
        </p:spPr>
        <p:txBody>
          <a:bodyPr wrap="square" lIns="0" tIns="0" rIns="0" bIns="0" rtlCol="0" anchor="ctr"/>
          <a:lstStyle/>
          <a:p>
            <a:pPr indent="0" marL="0">
              <a:spcAft>
                <a:spcPts val="600"/>
              </a:spcAft>
              <a:buNone/>
            </a:pPr>
            <a:r>
              <a:rPr lang="en-US" sz="1150" b="1" dirty="0">
                <a:solidFill>
                  <a:srgbClr val="327B60"/>
                </a:solidFill>
              </a:rPr>
              <a:t>Scale if  </a:t>
            </a:r>
            <a:pPr indent="0" marL="0">
              <a:spcAft>
                <a:spcPts val="600"/>
              </a:spcAft>
              <a:buNone/>
            </a:pPr>
            <a:r>
              <a:rPr lang="en-US" sz="1150" dirty="0">
                <a:solidFill>
                  <a:srgbClr val="171717"/>
                </a:solidFill>
              </a:rPr>
              <a:t>at-risk ₹ down ≥20% vs control, stock-outs down ≥15%, secondary growth ≥ control, ≥70% of actions completed, ≤4 extra minutes per visit</a:t>
            </a:r>
            <a:endParaRPr lang="en-US" sz="1150" dirty="0"/>
          </a:p>
          <a:p>
            <a:pPr indent="0" marL="0">
              <a:spcAft>
                <a:spcPts val="600"/>
              </a:spcAft>
              <a:buNone/>
            </a:pPr>
            <a:r>
              <a:rPr lang="en-US" sz="1150" b="1" dirty="0">
                <a:solidFill>
                  <a:srgbClr val="65172F"/>
                </a:solidFill>
              </a:rPr>
              <a:t>Stop if  </a:t>
            </a:r>
            <a:pPr indent="0" marL="0">
              <a:spcAft>
                <a:spcPts val="600"/>
              </a:spcAft>
              <a:buNone/>
            </a:pPr>
            <a:r>
              <a:rPr lang="en-US" sz="1150" dirty="0">
                <a:solidFill>
                  <a:srgbClr val="171717"/>
                </a:solidFill>
              </a:rPr>
              <a:t>at-risk ₹ improves &lt;10%, or growth falls more than 2 points below control</a:t>
            </a:r>
            <a:endParaRPr lang="en-US" sz="1150" dirty="0"/>
          </a:p>
        </p:txBody>
      </p:sp>
      <p:sp>
        <p:nvSpPr>
          <p:cNvPr id="38" name="text-503"/>
          <p:cNvSpPr txBox="1"/>
          <p:nvPr/>
        </p:nvSpPr>
        <p:spPr>
          <a:xfrm>
            <a:off x="5486400" y="4617720"/>
            <a:ext cx="2971800" cy="530352"/>
          </a:xfrm>
          <a:prstGeom prst="rect">
            <a:avLst/>
          </a:prstGeom>
          <a:noFill/>
          <a:ln/>
        </p:spPr>
        <p:txBody>
          <a:bodyPr wrap="square" lIns="0" tIns="0" rIns="0" bIns="0" rtlCol="0" anchor="t"/>
          <a:lstStyle/>
          <a:p>
            <a:pPr indent="0" marL="0">
              <a:buNone/>
            </a:pPr>
            <a:r>
              <a:rPr lang="en-US" sz="1150" b="1" dirty="0">
                <a:solidFill>
                  <a:srgbClr val="171717"/>
                </a:solidFill>
              </a:rPr>
              <a:t>Geography</a:t>
            </a:r>
            <a:endParaRPr lang="en-US" sz="1150" dirty="0"/>
          </a:p>
          <a:p>
            <a:pPr indent="0" marL="0">
              <a:buNone/>
            </a:pPr>
            <a:r>
              <a:rPr lang="en-US" sz="1050" dirty="0">
                <a:solidFill>
                  <a:srgbClr val="6E665E"/>
                </a:solidFill>
              </a:rPr>
              <a:t>Mumbai (quick-commerce heavy) + one tier-2 city, e.g. Nagpur or Indore</a:t>
            </a:r>
            <a:endParaRPr lang="en-US" sz="1150" dirty="0"/>
          </a:p>
        </p:txBody>
      </p:sp>
      <p:sp>
        <p:nvSpPr>
          <p:cNvPr id="39" name="text-504"/>
          <p:cNvSpPr txBox="1"/>
          <p:nvPr/>
        </p:nvSpPr>
        <p:spPr>
          <a:xfrm>
            <a:off x="8531352" y="4617720"/>
            <a:ext cx="2971800" cy="530352"/>
          </a:xfrm>
          <a:prstGeom prst="rect">
            <a:avLst/>
          </a:prstGeom>
          <a:noFill/>
          <a:ln/>
        </p:spPr>
        <p:txBody>
          <a:bodyPr wrap="square" lIns="0" tIns="0" rIns="0" bIns="0" rtlCol="0" anchor="t"/>
          <a:lstStyle/>
          <a:p>
            <a:pPr indent="0" marL="0">
              <a:buNone/>
            </a:pPr>
            <a:r>
              <a:rPr lang="en-US" sz="1150" b="1" dirty="0">
                <a:solidFill>
                  <a:srgbClr val="171717"/>
                </a:solidFill>
              </a:rPr>
              <a:t>Coverage</a:t>
            </a:r>
            <a:endParaRPr lang="en-US" sz="1150" dirty="0"/>
          </a:p>
          <a:p>
            <a:pPr indent="0" marL="0">
              <a:buNone/>
            </a:pPr>
            <a:r>
              <a:rPr lang="en-US" sz="1050" dirty="0">
                <a:solidFill>
                  <a:srgbClr val="6E665E"/>
                </a:solidFill>
              </a:rPr>
              <a:t>4 test + 4 control distributors; ~600 outlets; ~12 reps</a:t>
            </a:r>
            <a:endParaRPr lang="en-US" sz="1150" dirty="0"/>
          </a:p>
        </p:txBody>
      </p:sp>
      <p:sp>
        <p:nvSpPr>
          <p:cNvPr id="40" name="text-505"/>
          <p:cNvSpPr txBox="1"/>
          <p:nvPr/>
        </p:nvSpPr>
        <p:spPr>
          <a:xfrm>
            <a:off x="5486400" y="5166360"/>
            <a:ext cx="2971800" cy="530352"/>
          </a:xfrm>
          <a:prstGeom prst="rect">
            <a:avLst/>
          </a:prstGeom>
          <a:noFill/>
          <a:ln/>
        </p:spPr>
        <p:txBody>
          <a:bodyPr wrap="square" lIns="0" tIns="0" rIns="0" bIns="0" rtlCol="0" anchor="t"/>
          <a:lstStyle/>
          <a:p>
            <a:pPr indent="0" marL="0">
              <a:buNone/>
            </a:pPr>
            <a:r>
              <a:rPr lang="en-US" sz="1150" b="1" dirty="0">
                <a:solidFill>
                  <a:srgbClr val="171717"/>
                </a:solidFill>
              </a:rPr>
              <a:t>SKUs</a:t>
            </a:r>
            <a:endParaRPr lang="en-US" sz="1150" dirty="0"/>
          </a:p>
          <a:p>
            <a:pPr indent="0" marL="0">
              <a:buNone/>
            </a:pPr>
            <a:r>
              <a:rPr lang="en-US" sz="1050" dirty="0">
                <a:solidFill>
                  <a:srgbClr val="6E665E"/>
                </a:solidFill>
              </a:rPr>
              <a:t>40 focus SKUs: top 20 by past returns + top 20 by velocity</a:t>
            </a:r>
            <a:endParaRPr lang="en-US" sz="1150" dirty="0"/>
          </a:p>
        </p:txBody>
      </p:sp>
      <p:sp>
        <p:nvSpPr>
          <p:cNvPr id="41" name="text-506"/>
          <p:cNvSpPr txBox="1"/>
          <p:nvPr/>
        </p:nvSpPr>
        <p:spPr>
          <a:xfrm>
            <a:off x="8531352" y="5166360"/>
            <a:ext cx="2971800" cy="530352"/>
          </a:xfrm>
          <a:prstGeom prst="rect">
            <a:avLst/>
          </a:prstGeom>
          <a:noFill/>
          <a:ln/>
        </p:spPr>
        <p:txBody>
          <a:bodyPr wrap="square" lIns="0" tIns="0" rIns="0" bIns="0" rtlCol="0" anchor="t"/>
          <a:lstStyle/>
          <a:p>
            <a:pPr indent="0" marL="0">
              <a:buNone/>
            </a:pPr>
            <a:r>
              <a:rPr lang="en-US" sz="1150" b="1" dirty="0">
                <a:solidFill>
                  <a:srgbClr val="171717"/>
                </a:solidFill>
              </a:rPr>
              <a:t>Training</a:t>
            </a:r>
            <a:endParaRPr lang="en-US" sz="1150" dirty="0"/>
          </a:p>
          <a:p>
            <a:pPr indent="0" marL="0">
              <a:buNone/>
            </a:pPr>
            <a:r>
              <a:rPr lang="en-US" sz="1050" dirty="0">
                <a:solidFill>
                  <a:srgbClr val="6E665E"/>
                </a:solidFill>
              </a:rPr>
              <a:t>1-day workshop, 2 ride-along days per rep, weekly ASM huddle</a:t>
            </a:r>
            <a:endParaRPr lang="en-US" sz="1150" dirty="0"/>
          </a:p>
        </p:txBody>
      </p:sp>
      <p:sp>
        <p:nvSpPr>
          <p:cNvPr id="42" name="text-507"/>
          <p:cNvSpPr txBox="1"/>
          <p:nvPr/>
        </p:nvSpPr>
        <p:spPr>
          <a:xfrm>
            <a:off x="5486400" y="5715000"/>
            <a:ext cx="2971800" cy="530352"/>
          </a:xfrm>
          <a:prstGeom prst="rect">
            <a:avLst/>
          </a:prstGeom>
          <a:noFill/>
          <a:ln/>
        </p:spPr>
        <p:txBody>
          <a:bodyPr wrap="square" lIns="0" tIns="0" rIns="0" bIns="0" rtlCol="0" anchor="t"/>
          <a:lstStyle/>
          <a:p>
            <a:pPr indent="0" marL="0">
              <a:buNone/>
            </a:pPr>
            <a:r>
              <a:rPr lang="en-US" sz="1150" b="1" dirty="0">
                <a:solidFill>
                  <a:srgbClr val="171717"/>
                </a:solidFill>
              </a:rPr>
              <a:t>Technology</a:t>
            </a:r>
            <a:endParaRPr lang="en-US" sz="1150" dirty="0"/>
          </a:p>
          <a:p>
            <a:pPr indent="0" marL="0">
              <a:buNone/>
            </a:pPr>
            <a:r>
              <a:rPr lang="en-US" sz="1050" dirty="0">
                <a:solidFill>
                  <a:srgbClr val="6E665E"/>
                </a:solidFill>
              </a:rPr>
              <a:t>Prototype hardened into a PWA on a weekly DMS extract, or configured in the existing SFA</a:t>
            </a:r>
            <a:endParaRPr lang="en-US" sz="1150" dirty="0"/>
          </a:p>
        </p:txBody>
      </p:sp>
      <p:sp>
        <p:nvSpPr>
          <p:cNvPr id="43" name="text-508"/>
          <p:cNvSpPr txBox="1"/>
          <p:nvPr/>
        </p:nvSpPr>
        <p:spPr>
          <a:xfrm>
            <a:off x="8531352" y="5715000"/>
            <a:ext cx="2971800" cy="530352"/>
          </a:xfrm>
          <a:prstGeom prst="rect">
            <a:avLst/>
          </a:prstGeom>
          <a:noFill/>
          <a:ln/>
        </p:spPr>
        <p:txBody>
          <a:bodyPr wrap="square" lIns="0" tIns="0" rIns="0" bIns="0" rtlCol="0" anchor="t"/>
          <a:lstStyle/>
          <a:p>
            <a:pPr indent="0" marL="0">
              <a:buNone/>
            </a:pPr>
            <a:r>
              <a:rPr lang="en-US" sz="1150" b="1" dirty="0">
                <a:solidFill>
                  <a:srgbClr val="171717"/>
                </a:solidFill>
              </a:rPr>
              <a:t>Measurement</a:t>
            </a:r>
            <a:endParaRPr lang="en-US" sz="1150" dirty="0"/>
          </a:p>
          <a:p>
            <a:pPr indent="0" marL="0">
              <a:buNone/>
            </a:pPr>
            <a:r>
              <a:rPr lang="en-US" sz="1050" dirty="0">
                <a:solidFill>
                  <a:srgbClr val="6E665E"/>
                </a:solidFill>
              </a:rPr>
              <a:t>Test vs control; weekly leading KPIs; returns at +6 months</a:t>
            </a:r>
            <a:endParaRPr lang="en-US" sz="1150" dirty="0"/>
          </a:p>
        </p:txBody>
      </p:sp>
      <p:sp>
        <p:nvSpPr>
          <p:cNvPr id="25" name="Slide Number Placeholder 0"/>
          <p:cNvSpPr>
            <a:spLocks noGrp="1"/>
          </p:cNvSpPr>
          <p:nvPr>
            <p:ph type="sldNum" sz="quarter" idx="4294967295"/>
          </p:nvPr>
        </p:nvSpPr>
        <p:spPr>
          <a:xfrm>
            <a:off x="11091672"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665E"/>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body" hasCustomPrompt="1"/>
          </p:nvPr>
        </p:nvSpPr>
        <p:spPr>
          <a:xfrm>
            <a:off x="640080" y="457200"/>
            <a:ext cx="8686800" cy="237744"/>
          </a:xfrm>
          <a:prstGeom prst="rect">
            <a:avLst/>
          </a:prstGeom>
          <a:noFill/>
          <a:ln/>
        </p:spPr>
        <p:txBody>
          <a:bodyPr wrap="square" lIns="0" tIns="0" rIns="0" bIns="0" rtlCol="0" anchor="t"/>
          <a:lstStyle/>
          <a:p>
            <a:pPr indent="0" marL="0">
              <a:buNone/>
            </a:pPr>
            <a:r>
              <a:rPr lang="en-US" sz="1100" b="1" spc="200" kern="0" dirty="0">
                <a:solidFill>
                  <a:srgbClr val="65172F"/>
                </a:solidFill>
              </a:rPr>
              <a:t>KPI AND GOVERNANCE FRAMEWORK</a:t>
            </a:r>
            <a:endParaRPr lang="en-US" sz="1100" dirty="0"/>
          </a:p>
        </p:txBody>
      </p:sp>
      <p:sp>
        <p:nvSpPr>
          <p:cNvPr id="3" name="Text 0"/>
          <p:cNvSpPr/>
          <p:nvPr>
            <p:ph idx="102" type="title" hasCustomPrompt="1"/>
          </p:nvPr>
        </p:nvSpPr>
        <p:spPr>
          <a:xfrm>
            <a:off x="640080" y="749808"/>
            <a:ext cx="9418320" cy="1005840"/>
          </a:xfrm>
          <a:prstGeom prst="rect">
            <a:avLst/>
          </a:prstGeom>
          <a:noFill/>
          <a:ln/>
        </p:spPr>
        <p:txBody>
          <a:bodyPr wrap="square" lIns="0" tIns="0" rIns="0" bIns="0" rtlCol="0" anchor="t"/>
          <a:lstStyle/>
          <a:p>
            <a:pPr algn="l" indent="0" marL="0">
              <a:lnSpc>
                <a:spcPct val="95000"/>
              </a:lnSpc>
              <a:buNone/>
            </a:pPr>
            <a:r>
              <a:rPr lang="en-US" sz="3000" b="1" dirty="0">
                <a:solidFill>
                  <a:srgbClr val="171717"/>
                </a:solidFill>
                <a:latin typeface="Aptos Display" pitchFamily="34" charset="0"/>
                <a:ea typeface="Aptos Display" pitchFamily="34" charset="-122"/>
                <a:cs typeface="Aptos Display" pitchFamily="34" charset="-120"/>
              </a:rPr>
              <a:t>One scorecard for growth and waste, owned by the sales line</a:t>
            </a:r>
            <a:endParaRPr lang="en-US" sz="3000" dirty="0"/>
          </a:p>
        </p:txBody>
      </p:sp>
      <p:sp>
        <p:nvSpPr>
          <p:cNvPr id="4" name="Text 0"/>
          <p:cNvSpPr/>
          <p:nvPr>
            <p:ph idx="103" type="body" hasCustomPrompt="1"/>
          </p:nvPr>
        </p:nvSpPr>
        <p:spPr>
          <a:xfrm>
            <a:off x="640080" y="6355080"/>
            <a:ext cx="9189720" cy="347472"/>
          </a:xfrm>
          <a:prstGeom prst="rect">
            <a:avLst/>
          </a:prstGeom>
          <a:noFill/>
          <a:ln/>
        </p:spPr>
        <p:txBody>
          <a:bodyPr wrap="square" lIns="0" tIns="0" rIns="0" bIns="0" rtlCol="0" anchor="t"/>
          <a:lstStyle/>
          <a:p>
            <a:pPr indent="0" marL="0">
              <a:buNone/>
            </a:pPr>
            <a:r>
              <a:rPr lang="en-US" sz="1000" dirty="0">
                <a:solidFill>
                  <a:srgbClr val="6E665E"/>
                </a:solidFill>
              </a:rPr>
              <a:t>Targets are pilot proposals measured against control territories. Scorecard weights are assumptions to agree with L'Oréal sales leadership.</a:t>
            </a:r>
            <a:endParaRPr lang="en-US" sz="1000" dirty="0"/>
          </a:p>
        </p:txBody>
      </p:sp>
      <p:sp>
        <p:nvSpPr>
          <p:cNvPr id="6" name="rect-509"/>
          <p:cNvSpPr/>
          <p:nvPr/>
        </p:nvSpPr>
        <p:spPr>
          <a:xfrm>
            <a:off x="640080" y="1810512"/>
            <a:ext cx="5367528" cy="1691640"/>
          </a:xfrm>
          <a:prstGeom prst="rect">
            <a:avLst/>
          </a:prstGeom>
          <a:solidFill>
            <a:srgbClr val="FFFFFF"/>
          </a:solidFill>
          <a:ln w="12700">
            <a:solidFill>
              <a:srgbClr val="FFFFFF"/>
            </a:solidFill>
            <a:prstDash val="solid"/>
          </a:ln>
        </p:spPr>
      </p:sp>
      <p:sp>
        <p:nvSpPr>
          <p:cNvPr id="7" name="text-510"/>
          <p:cNvSpPr txBox="1"/>
          <p:nvPr/>
        </p:nvSpPr>
        <p:spPr>
          <a:xfrm>
            <a:off x="868680" y="1993392"/>
            <a:ext cx="1828800" cy="237744"/>
          </a:xfrm>
          <a:prstGeom prst="rect">
            <a:avLst/>
          </a:prstGeom>
          <a:noFill/>
          <a:ln/>
        </p:spPr>
        <p:txBody>
          <a:bodyPr wrap="square" lIns="0" tIns="0" rIns="0" bIns="0" rtlCol="0" anchor="t"/>
          <a:lstStyle/>
          <a:p>
            <a:pPr indent="0" marL="0">
              <a:buNone/>
            </a:pPr>
            <a:r>
              <a:rPr lang="en-US" sz="1050" b="1" spc="150" kern="0" dirty="0">
                <a:solidFill>
                  <a:srgbClr val="171717"/>
                </a:solidFill>
              </a:rPr>
              <a:t>GROWTH</a:t>
            </a:r>
            <a:endParaRPr lang="en-US" sz="1050" dirty="0"/>
          </a:p>
        </p:txBody>
      </p:sp>
      <p:sp>
        <p:nvSpPr>
          <p:cNvPr id="8" name="text-511"/>
          <p:cNvSpPr txBox="1"/>
          <p:nvPr/>
        </p:nvSpPr>
        <p:spPr>
          <a:xfrm>
            <a:off x="868680" y="2286000"/>
            <a:ext cx="3657600" cy="365760"/>
          </a:xfrm>
          <a:prstGeom prst="rect">
            <a:avLst/>
          </a:prstGeom>
          <a:noFill/>
          <a:ln/>
        </p:spPr>
        <p:txBody>
          <a:bodyPr wrap="square" lIns="0" tIns="0" rIns="0" bIns="0" rtlCol="0" anchor="ctr"/>
          <a:lstStyle/>
          <a:p>
            <a:pPr indent="0" marL="0">
              <a:buNone/>
            </a:pPr>
            <a:r>
              <a:rPr lang="en-US" sz="1250" b="1" dirty="0">
                <a:solidFill>
                  <a:srgbClr val="171717"/>
                </a:solidFill>
              </a:rPr>
              <a:t>Incremental contribution &amp; ROI</a:t>
            </a:r>
            <a:pPr indent="0" marL="0">
              <a:buNone/>
            </a:pPr>
            <a:r>
              <a:rPr lang="en-US" sz="1050" dirty="0">
                <a:solidFill>
                  <a:srgbClr val="6E665E"/>
                </a:solidFill>
              </a:rPr>
              <a:t>   (Test − control growth) × margin − costs</a:t>
            </a:r>
            <a:endParaRPr lang="en-US" sz="1250" dirty="0"/>
          </a:p>
        </p:txBody>
      </p:sp>
      <p:sp>
        <p:nvSpPr>
          <p:cNvPr id="9" name="text-512"/>
          <p:cNvSpPr txBox="1"/>
          <p:nvPr/>
        </p:nvSpPr>
        <p:spPr>
          <a:xfrm>
            <a:off x="4434840" y="2286000"/>
            <a:ext cx="1371600" cy="365760"/>
          </a:xfrm>
          <a:prstGeom prst="rect">
            <a:avLst/>
          </a:prstGeom>
          <a:noFill/>
          <a:ln/>
        </p:spPr>
        <p:txBody>
          <a:bodyPr wrap="square" lIns="0" tIns="0" rIns="0" bIns="0" rtlCol="0" anchor="ctr"/>
          <a:lstStyle/>
          <a:p>
            <a:pPr algn="r" indent="0" marL="0">
              <a:buNone/>
            </a:pPr>
            <a:r>
              <a:rPr lang="en-US" sz="1300" b="1" dirty="0">
                <a:solidFill>
                  <a:srgbClr val="171717"/>
                </a:solidFill>
              </a:rPr>
              <a:t>≥ control</a:t>
            </a:r>
            <a:endParaRPr lang="en-US" sz="1300" dirty="0"/>
          </a:p>
        </p:txBody>
      </p:sp>
      <p:sp>
        <p:nvSpPr>
          <p:cNvPr id="10" name="text-513"/>
          <p:cNvSpPr txBox="1"/>
          <p:nvPr/>
        </p:nvSpPr>
        <p:spPr>
          <a:xfrm>
            <a:off x="868680" y="2679192"/>
            <a:ext cx="3657600" cy="365760"/>
          </a:xfrm>
          <a:prstGeom prst="rect">
            <a:avLst/>
          </a:prstGeom>
          <a:noFill/>
          <a:ln/>
        </p:spPr>
        <p:txBody>
          <a:bodyPr wrap="square" lIns="0" tIns="0" rIns="0" bIns="0" rtlCol="0" anchor="ctr"/>
          <a:lstStyle/>
          <a:p>
            <a:pPr indent="0" marL="0">
              <a:buNone/>
            </a:pPr>
            <a:r>
              <a:rPr lang="en-US" sz="1250" b="1" dirty="0">
                <a:solidFill>
                  <a:srgbClr val="171717"/>
                </a:solidFill>
              </a:rPr>
              <a:t>Sell-through</a:t>
            </a:r>
            <a:pPr indent="0" marL="0">
              <a:buNone/>
            </a:pPr>
            <a:r>
              <a:rPr lang="en-US" sz="1050" dirty="0">
                <a:solidFill>
                  <a:srgbClr val="6E665E"/>
                </a:solidFill>
              </a:rPr>
              <a:t>   Units sold ÷ (opening + receipts)</a:t>
            </a:r>
            <a:endParaRPr lang="en-US" sz="1250" dirty="0"/>
          </a:p>
        </p:txBody>
      </p:sp>
      <p:sp>
        <p:nvSpPr>
          <p:cNvPr id="11" name="text-514"/>
          <p:cNvSpPr txBox="1"/>
          <p:nvPr/>
        </p:nvSpPr>
        <p:spPr>
          <a:xfrm>
            <a:off x="4434840" y="2679192"/>
            <a:ext cx="1371600" cy="365760"/>
          </a:xfrm>
          <a:prstGeom prst="rect">
            <a:avLst/>
          </a:prstGeom>
          <a:noFill/>
          <a:ln/>
        </p:spPr>
        <p:txBody>
          <a:bodyPr wrap="square" lIns="0" tIns="0" rIns="0" bIns="0" rtlCol="0" anchor="ctr"/>
          <a:lstStyle/>
          <a:p>
            <a:pPr algn="r" indent="0" marL="0">
              <a:buNone/>
            </a:pPr>
            <a:r>
              <a:rPr lang="en-US" sz="1300" b="1" dirty="0">
                <a:solidFill>
                  <a:srgbClr val="171717"/>
                </a:solidFill>
              </a:rPr>
              <a:t>+10% on flagged SKUs</a:t>
            </a:r>
            <a:endParaRPr lang="en-US" sz="1300" dirty="0"/>
          </a:p>
        </p:txBody>
      </p:sp>
      <p:sp>
        <p:nvSpPr>
          <p:cNvPr id="12" name="rect-515"/>
          <p:cNvSpPr/>
          <p:nvPr/>
        </p:nvSpPr>
        <p:spPr>
          <a:xfrm>
            <a:off x="6190488" y="1810512"/>
            <a:ext cx="5367528" cy="1691640"/>
          </a:xfrm>
          <a:prstGeom prst="rect">
            <a:avLst/>
          </a:prstGeom>
          <a:solidFill>
            <a:srgbClr val="FFFFFF"/>
          </a:solidFill>
          <a:ln w="12700">
            <a:solidFill>
              <a:srgbClr val="FFFFFF"/>
            </a:solidFill>
            <a:prstDash val="solid"/>
          </a:ln>
        </p:spPr>
      </p:sp>
      <p:sp>
        <p:nvSpPr>
          <p:cNvPr id="13" name="text-516"/>
          <p:cNvSpPr txBox="1"/>
          <p:nvPr/>
        </p:nvSpPr>
        <p:spPr>
          <a:xfrm>
            <a:off x="6419088" y="1993392"/>
            <a:ext cx="1828800" cy="237744"/>
          </a:xfrm>
          <a:prstGeom prst="rect">
            <a:avLst/>
          </a:prstGeom>
          <a:noFill/>
          <a:ln/>
        </p:spPr>
        <p:txBody>
          <a:bodyPr wrap="square" lIns="0" tIns="0" rIns="0" bIns="0" rtlCol="0" anchor="t"/>
          <a:lstStyle/>
          <a:p>
            <a:pPr indent="0" marL="0">
              <a:buNone/>
            </a:pPr>
            <a:r>
              <a:rPr lang="en-US" sz="1050" b="1" spc="150" kern="0" dirty="0">
                <a:solidFill>
                  <a:srgbClr val="65172F"/>
                </a:solidFill>
              </a:rPr>
              <a:t>WASTE</a:t>
            </a:r>
            <a:endParaRPr lang="en-US" sz="1050" dirty="0"/>
          </a:p>
        </p:txBody>
      </p:sp>
      <p:sp>
        <p:nvSpPr>
          <p:cNvPr id="14" name="text-517"/>
          <p:cNvSpPr txBox="1"/>
          <p:nvPr/>
        </p:nvSpPr>
        <p:spPr>
          <a:xfrm>
            <a:off x="6419088" y="2286000"/>
            <a:ext cx="3657600" cy="365760"/>
          </a:xfrm>
          <a:prstGeom prst="rect">
            <a:avLst/>
          </a:prstGeom>
          <a:noFill/>
          <a:ln/>
        </p:spPr>
        <p:txBody>
          <a:bodyPr wrap="square" lIns="0" tIns="0" rIns="0" bIns="0" rtlCol="0" anchor="ctr"/>
          <a:lstStyle/>
          <a:p>
            <a:pPr indent="0" marL="0">
              <a:buNone/>
            </a:pPr>
            <a:r>
              <a:rPr lang="en-US" sz="1250" b="1" dirty="0">
                <a:solidFill>
                  <a:srgbClr val="171717"/>
                </a:solidFill>
              </a:rPr>
              <a:t>Expiry &amp; return rate</a:t>
            </a:r>
            <a:pPr indent="0" marL="0">
              <a:buNone/>
            </a:pPr>
            <a:r>
              <a:rPr lang="en-US" sz="1050" dirty="0">
                <a:solidFill>
                  <a:srgbClr val="6E665E"/>
                </a:solidFill>
              </a:rPr>
              <a:t>   ₹ returned ÷ ₹ secondary sales</a:t>
            </a:r>
            <a:endParaRPr lang="en-US" sz="1250" dirty="0"/>
          </a:p>
        </p:txBody>
      </p:sp>
      <p:sp>
        <p:nvSpPr>
          <p:cNvPr id="15" name="text-518"/>
          <p:cNvSpPr txBox="1"/>
          <p:nvPr/>
        </p:nvSpPr>
        <p:spPr>
          <a:xfrm>
            <a:off x="9985248" y="2286000"/>
            <a:ext cx="1371600" cy="365760"/>
          </a:xfrm>
          <a:prstGeom prst="rect">
            <a:avLst/>
          </a:prstGeom>
          <a:noFill/>
          <a:ln/>
        </p:spPr>
        <p:txBody>
          <a:bodyPr wrap="square" lIns="0" tIns="0" rIns="0" bIns="0" rtlCol="0" anchor="ctr"/>
          <a:lstStyle/>
          <a:p>
            <a:pPr algn="r" indent="0" marL="0">
              <a:buNone/>
            </a:pPr>
            <a:r>
              <a:rPr lang="en-US" sz="1300" b="1" dirty="0">
                <a:solidFill>
                  <a:srgbClr val="65172F"/>
                </a:solidFill>
              </a:rPr>
              <a:t>−15% at +6 mo</a:t>
            </a:r>
            <a:endParaRPr lang="en-US" sz="1300" dirty="0"/>
          </a:p>
        </p:txBody>
      </p:sp>
      <p:sp>
        <p:nvSpPr>
          <p:cNvPr id="16" name="text-519"/>
          <p:cNvSpPr txBox="1"/>
          <p:nvPr/>
        </p:nvSpPr>
        <p:spPr>
          <a:xfrm>
            <a:off x="6419088" y="2679192"/>
            <a:ext cx="3657600" cy="365760"/>
          </a:xfrm>
          <a:prstGeom prst="rect">
            <a:avLst/>
          </a:prstGeom>
          <a:noFill/>
          <a:ln/>
        </p:spPr>
        <p:txBody>
          <a:bodyPr wrap="square" lIns="0" tIns="0" rIns="0" bIns="0" rtlCol="0" anchor="ctr"/>
          <a:lstStyle/>
          <a:p>
            <a:pPr indent="0" marL="0">
              <a:buNone/>
            </a:pPr>
            <a:r>
              <a:rPr lang="en-US" sz="1250" b="1" dirty="0">
                <a:solidFill>
                  <a:srgbClr val="171717"/>
                </a:solidFill>
              </a:rPr>
              <a:t>At-risk inventory value</a:t>
            </a:r>
            <a:pPr indent="0" marL="0">
              <a:buNone/>
            </a:pPr>
            <a:r>
              <a:rPr lang="en-US" sz="1050" dirty="0">
                <a:solidFill>
                  <a:srgbClr val="6E665E"/>
                </a:solidFill>
              </a:rPr>
              <a:t>   Σ projected unsold × unit value</a:t>
            </a:r>
            <a:endParaRPr lang="en-US" sz="1250" dirty="0"/>
          </a:p>
        </p:txBody>
      </p:sp>
      <p:sp>
        <p:nvSpPr>
          <p:cNvPr id="17" name="text-520"/>
          <p:cNvSpPr txBox="1"/>
          <p:nvPr/>
        </p:nvSpPr>
        <p:spPr>
          <a:xfrm>
            <a:off x="9985248" y="2679192"/>
            <a:ext cx="1371600" cy="365760"/>
          </a:xfrm>
          <a:prstGeom prst="rect">
            <a:avLst/>
          </a:prstGeom>
          <a:noFill/>
          <a:ln/>
        </p:spPr>
        <p:txBody>
          <a:bodyPr wrap="square" lIns="0" tIns="0" rIns="0" bIns="0" rtlCol="0" anchor="ctr"/>
          <a:lstStyle/>
          <a:p>
            <a:pPr algn="r" indent="0" marL="0">
              <a:buNone/>
            </a:pPr>
            <a:r>
              <a:rPr lang="en-US" sz="1300" b="1" dirty="0">
                <a:solidFill>
                  <a:srgbClr val="65172F"/>
                </a:solidFill>
              </a:rPr>
              <a:t>−25%</a:t>
            </a:r>
            <a:endParaRPr lang="en-US" sz="1300" dirty="0"/>
          </a:p>
        </p:txBody>
      </p:sp>
      <p:sp>
        <p:nvSpPr>
          <p:cNvPr id="18" name="text-521"/>
          <p:cNvSpPr txBox="1"/>
          <p:nvPr/>
        </p:nvSpPr>
        <p:spPr>
          <a:xfrm>
            <a:off x="6419088" y="3072384"/>
            <a:ext cx="3657600" cy="365760"/>
          </a:xfrm>
          <a:prstGeom prst="rect">
            <a:avLst/>
          </a:prstGeom>
          <a:noFill/>
          <a:ln/>
        </p:spPr>
        <p:txBody>
          <a:bodyPr wrap="square" lIns="0" tIns="0" rIns="0" bIns="0" rtlCol="0" anchor="ctr"/>
          <a:lstStyle/>
          <a:p>
            <a:pPr indent="0" marL="0">
              <a:buNone/>
            </a:pPr>
            <a:r>
              <a:rPr lang="en-US" sz="1250" b="1" dirty="0">
                <a:solidFill>
                  <a:srgbClr val="171717"/>
                </a:solidFill>
              </a:rPr>
              <a:t>Inventory recovered</a:t>
            </a:r>
            <a:pPr indent="0" marL="0">
              <a:buNone/>
            </a:pPr>
            <a:r>
              <a:rPr lang="en-US" sz="1050" dirty="0">
                <a:solidFill>
                  <a:srgbClr val="6E665E"/>
                </a:solidFill>
              </a:rPr>
              <a:t>   ₹ of at-risk stock sold via transfer, bundle or activation</a:t>
            </a:r>
            <a:endParaRPr lang="en-US" sz="1250" dirty="0"/>
          </a:p>
        </p:txBody>
      </p:sp>
      <p:sp>
        <p:nvSpPr>
          <p:cNvPr id="19" name="text-522"/>
          <p:cNvSpPr txBox="1"/>
          <p:nvPr/>
        </p:nvSpPr>
        <p:spPr>
          <a:xfrm>
            <a:off x="9985248" y="3072384"/>
            <a:ext cx="1371600" cy="365760"/>
          </a:xfrm>
          <a:prstGeom prst="rect">
            <a:avLst/>
          </a:prstGeom>
          <a:noFill/>
          <a:ln/>
        </p:spPr>
        <p:txBody>
          <a:bodyPr wrap="square" lIns="0" tIns="0" rIns="0" bIns="0" rtlCol="0" anchor="ctr"/>
          <a:lstStyle/>
          <a:p>
            <a:pPr algn="r" indent="0" marL="0">
              <a:buNone/>
            </a:pPr>
            <a:r>
              <a:rPr lang="en-US" sz="1300" b="1" dirty="0">
                <a:solidFill>
                  <a:srgbClr val="65172F"/>
                </a:solidFill>
              </a:rPr>
              <a:t>Tracked</a:t>
            </a:r>
            <a:endParaRPr lang="en-US" sz="1300" dirty="0"/>
          </a:p>
        </p:txBody>
      </p:sp>
      <p:sp>
        <p:nvSpPr>
          <p:cNvPr id="20" name="rect-523"/>
          <p:cNvSpPr/>
          <p:nvPr/>
        </p:nvSpPr>
        <p:spPr>
          <a:xfrm>
            <a:off x="640080" y="3621024"/>
            <a:ext cx="5367528" cy="1691640"/>
          </a:xfrm>
          <a:prstGeom prst="rect">
            <a:avLst/>
          </a:prstGeom>
          <a:solidFill>
            <a:srgbClr val="FFFFFF"/>
          </a:solidFill>
          <a:ln w="12700">
            <a:solidFill>
              <a:srgbClr val="FFFFFF"/>
            </a:solidFill>
            <a:prstDash val="solid"/>
          </a:ln>
        </p:spPr>
      </p:sp>
      <p:sp>
        <p:nvSpPr>
          <p:cNvPr id="21" name="text-524"/>
          <p:cNvSpPr txBox="1"/>
          <p:nvPr/>
        </p:nvSpPr>
        <p:spPr>
          <a:xfrm>
            <a:off x="868680" y="3803904"/>
            <a:ext cx="1828800" cy="237744"/>
          </a:xfrm>
          <a:prstGeom prst="rect">
            <a:avLst/>
          </a:prstGeom>
          <a:noFill/>
          <a:ln/>
        </p:spPr>
        <p:txBody>
          <a:bodyPr wrap="square" lIns="0" tIns="0" rIns="0" bIns="0" rtlCol="0" anchor="t"/>
          <a:lstStyle/>
          <a:p>
            <a:pPr indent="0" marL="0">
              <a:buNone/>
            </a:pPr>
            <a:r>
              <a:rPr lang="en-US" sz="1050" b="1" spc="150" kern="0" dirty="0">
                <a:solidFill>
                  <a:srgbClr val="6E665E"/>
                </a:solidFill>
              </a:rPr>
              <a:t>AVAILABILITY</a:t>
            </a:r>
            <a:endParaRPr lang="en-US" sz="1050" dirty="0"/>
          </a:p>
        </p:txBody>
      </p:sp>
      <p:sp>
        <p:nvSpPr>
          <p:cNvPr id="22" name="text-525"/>
          <p:cNvSpPr txBox="1"/>
          <p:nvPr/>
        </p:nvSpPr>
        <p:spPr>
          <a:xfrm>
            <a:off x="868680" y="4096512"/>
            <a:ext cx="3657600" cy="365760"/>
          </a:xfrm>
          <a:prstGeom prst="rect">
            <a:avLst/>
          </a:prstGeom>
          <a:noFill/>
          <a:ln/>
        </p:spPr>
        <p:txBody>
          <a:bodyPr wrap="square" lIns="0" tIns="0" rIns="0" bIns="0" rtlCol="0" anchor="ctr"/>
          <a:lstStyle/>
          <a:p>
            <a:pPr indent="0" marL="0">
              <a:buNone/>
            </a:pPr>
            <a:r>
              <a:rPr lang="en-US" sz="1250" b="1" dirty="0">
                <a:solidFill>
                  <a:srgbClr val="171717"/>
                </a:solidFill>
              </a:rPr>
              <a:t>Stock-out rate</a:t>
            </a:r>
            <a:pPr indent="0" marL="0">
              <a:buNone/>
            </a:pPr>
            <a:r>
              <a:rPr lang="en-US" sz="1050" dirty="0">
                <a:solidFill>
                  <a:srgbClr val="6E665E"/>
                </a:solidFill>
              </a:rPr>
              <a:t>   Must-stock SKUs at zero ÷ checked</a:t>
            </a:r>
            <a:endParaRPr lang="en-US" sz="1250" dirty="0"/>
          </a:p>
        </p:txBody>
      </p:sp>
      <p:sp>
        <p:nvSpPr>
          <p:cNvPr id="23" name="text-526"/>
          <p:cNvSpPr txBox="1"/>
          <p:nvPr/>
        </p:nvSpPr>
        <p:spPr>
          <a:xfrm>
            <a:off x="4434840" y="4096512"/>
            <a:ext cx="1371600" cy="365760"/>
          </a:xfrm>
          <a:prstGeom prst="rect">
            <a:avLst/>
          </a:prstGeom>
          <a:noFill/>
          <a:ln/>
        </p:spPr>
        <p:txBody>
          <a:bodyPr wrap="square" lIns="0" tIns="0" rIns="0" bIns="0" rtlCol="0" anchor="ctr"/>
          <a:lstStyle/>
          <a:p>
            <a:pPr algn="r" indent="0" marL="0">
              <a:buNone/>
            </a:pPr>
            <a:r>
              <a:rPr lang="en-US" sz="1300" b="1" dirty="0">
                <a:solidFill>
                  <a:srgbClr val="6E665E"/>
                </a:solidFill>
              </a:rPr>
              <a:t>−20%</a:t>
            </a:r>
            <a:endParaRPr lang="en-US" sz="1300" dirty="0"/>
          </a:p>
        </p:txBody>
      </p:sp>
      <p:sp>
        <p:nvSpPr>
          <p:cNvPr id="24" name="text-527"/>
          <p:cNvSpPr txBox="1"/>
          <p:nvPr/>
        </p:nvSpPr>
        <p:spPr>
          <a:xfrm>
            <a:off x="868680" y="4489704"/>
            <a:ext cx="3657600" cy="365760"/>
          </a:xfrm>
          <a:prstGeom prst="rect">
            <a:avLst/>
          </a:prstGeom>
          <a:noFill/>
          <a:ln/>
        </p:spPr>
        <p:txBody>
          <a:bodyPr wrap="square" lIns="0" tIns="0" rIns="0" bIns="0" rtlCol="0" anchor="ctr"/>
          <a:lstStyle/>
          <a:p>
            <a:pPr indent="0" marL="0">
              <a:buNone/>
            </a:pPr>
            <a:r>
              <a:rPr lang="en-US" sz="1250" b="1" dirty="0">
                <a:solidFill>
                  <a:srgbClr val="171717"/>
                </a:solidFill>
              </a:rPr>
              <a:t>Days of inventory</a:t>
            </a:r>
            <a:pPr indent="0" marL="0">
              <a:buNone/>
            </a:pPr>
            <a:r>
              <a:rPr lang="en-US" sz="1050" dirty="0">
                <a:solidFill>
                  <a:srgbClr val="6E665E"/>
                </a:solidFill>
              </a:rPr>
              <a:t>   Stock ÷ daily sell-out</a:t>
            </a:r>
            <a:endParaRPr lang="en-US" sz="1250" dirty="0"/>
          </a:p>
        </p:txBody>
      </p:sp>
      <p:sp>
        <p:nvSpPr>
          <p:cNvPr id="25" name="text-528"/>
          <p:cNvSpPr txBox="1"/>
          <p:nvPr/>
        </p:nvSpPr>
        <p:spPr>
          <a:xfrm>
            <a:off x="4434840" y="4489704"/>
            <a:ext cx="1371600" cy="365760"/>
          </a:xfrm>
          <a:prstGeom prst="rect">
            <a:avLst/>
          </a:prstGeom>
          <a:noFill/>
          <a:ln/>
        </p:spPr>
        <p:txBody>
          <a:bodyPr wrap="square" lIns="0" tIns="0" rIns="0" bIns="0" rtlCol="0" anchor="ctr"/>
          <a:lstStyle/>
          <a:p>
            <a:pPr algn="r" indent="0" marL="0">
              <a:buNone/>
            </a:pPr>
            <a:r>
              <a:rPr lang="en-US" sz="1300" b="1" dirty="0">
                <a:solidFill>
                  <a:srgbClr val="6E665E"/>
                </a:solidFill>
              </a:rPr>
              <a:t>Within norm ±20%</a:t>
            </a:r>
            <a:endParaRPr lang="en-US" sz="1300" dirty="0"/>
          </a:p>
        </p:txBody>
      </p:sp>
      <p:sp>
        <p:nvSpPr>
          <p:cNvPr id="26" name="rect-529"/>
          <p:cNvSpPr/>
          <p:nvPr/>
        </p:nvSpPr>
        <p:spPr>
          <a:xfrm>
            <a:off x="6190488" y="3621024"/>
            <a:ext cx="5367528" cy="1691640"/>
          </a:xfrm>
          <a:prstGeom prst="rect">
            <a:avLst/>
          </a:prstGeom>
          <a:solidFill>
            <a:srgbClr val="FFFFFF"/>
          </a:solidFill>
          <a:ln w="12700">
            <a:solidFill>
              <a:srgbClr val="FFFFFF"/>
            </a:solidFill>
            <a:prstDash val="solid"/>
          </a:ln>
        </p:spPr>
      </p:sp>
      <p:sp>
        <p:nvSpPr>
          <p:cNvPr id="27" name="text-530"/>
          <p:cNvSpPr txBox="1"/>
          <p:nvPr/>
        </p:nvSpPr>
        <p:spPr>
          <a:xfrm>
            <a:off x="6419088" y="3803904"/>
            <a:ext cx="1828800" cy="237744"/>
          </a:xfrm>
          <a:prstGeom prst="rect">
            <a:avLst/>
          </a:prstGeom>
          <a:noFill/>
          <a:ln/>
        </p:spPr>
        <p:txBody>
          <a:bodyPr wrap="square" lIns="0" tIns="0" rIns="0" bIns="0" rtlCol="0" anchor="t"/>
          <a:lstStyle/>
          <a:p>
            <a:pPr indent="0" marL="0">
              <a:buNone/>
            </a:pPr>
            <a:r>
              <a:rPr lang="en-US" sz="1050" b="1" spc="150" kern="0" dirty="0">
                <a:solidFill>
                  <a:srgbClr val="327B60"/>
                </a:solidFill>
              </a:rPr>
              <a:t>EXECUTION</a:t>
            </a:r>
            <a:endParaRPr lang="en-US" sz="1050" dirty="0"/>
          </a:p>
        </p:txBody>
      </p:sp>
      <p:sp>
        <p:nvSpPr>
          <p:cNvPr id="28" name="text-531"/>
          <p:cNvSpPr txBox="1"/>
          <p:nvPr/>
        </p:nvSpPr>
        <p:spPr>
          <a:xfrm>
            <a:off x="6419088" y="4096512"/>
            <a:ext cx="3657600" cy="365760"/>
          </a:xfrm>
          <a:prstGeom prst="rect">
            <a:avLst/>
          </a:prstGeom>
          <a:noFill/>
          <a:ln/>
        </p:spPr>
        <p:txBody>
          <a:bodyPr wrap="square" lIns="0" tIns="0" rIns="0" bIns="0" rtlCol="0" anchor="ctr"/>
          <a:lstStyle/>
          <a:p>
            <a:pPr indent="0" marL="0">
              <a:buNone/>
            </a:pPr>
            <a:r>
              <a:rPr lang="en-US" sz="1250" b="1" dirty="0">
                <a:solidFill>
                  <a:srgbClr val="171717"/>
                </a:solidFill>
              </a:rPr>
              <a:t>Intervention completion</a:t>
            </a:r>
            <a:pPr indent="0" marL="0">
              <a:buNone/>
            </a:pPr>
            <a:r>
              <a:rPr lang="en-US" sz="1050" dirty="0">
                <a:solidFill>
                  <a:srgbClr val="6E665E"/>
                </a:solidFill>
              </a:rPr>
              <a:t>   Actions done ÷ accepted</a:t>
            </a:r>
            <a:endParaRPr lang="en-US" sz="1250" dirty="0"/>
          </a:p>
        </p:txBody>
      </p:sp>
      <p:sp>
        <p:nvSpPr>
          <p:cNvPr id="29" name="text-532"/>
          <p:cNvSpPr txBox="1"/>
          <p:nvPr/>
        </p:nvSpPr>
        <p:spPr>
          <a:xfrm>
            <a:off x="9985248" y="4096512"/>
            <a:ext cx="1371600" cy="365760"/>
          </a:xfrm>
          <a:prstGeom prst="rect">
            <a:avLst/>
          </a:prstGeom>
          <a:noFill/>
          <a:ln/>
        </p:spPr>
        <p:txBody>
          <a:bodyPr wrap="square" lIns="0" tIns="0" rIns="0" bIns="0" rtlCol="0" anchor="ctr"/>
          <a:lstStyle/>
          <a:p>
            <a:pPr algn="r" indent="0" marL="0">
              <a:buNone/>
            </a:pPr>
            <a:r>
              <a:rPr lang="en-US" sz="1300" b="1" dirty="0">
                <a:solidFill>
                  <a:srgbClr val="327B60"/>
                </a:solidFill>
              </a:rPr>
              <a:t>≥70%</a:t>
            </a:r>
            <a:endParaRPr lang="en-US" sz="1300" dirty="0"/>
          </a:p>
        </p:txBody>
      </p:sp>
      <p:sp>
        <p:nvSpPr>
          <p:cNvPr id="30" name="text-533"/>
          <p:cNvSpPr txBox="1"/>
          <p:nvPr/>
        </p:nvSpPr>
        <p:spPr>
          <a:xfrm>
            <a:off x="6419088" y="4489704"/>
            <a:ext cx="3657600" cy="365760"/>
          </a:xfrm>
          <a:prstGeom prst="rect">
            <a:avLst/>
          </a:prstGeom>
          <a:noFill/>
          <a:ln/>
        </p:spPr>
        <p:txBody>
          <a:bodyPr wrap="square" lIns="0" tIns="0" rIns="0" bIns="0" rtlCol="0" anchor="ctr"/>
          <a:lstStyle/>
          <a:p>
            <a:pPr indent="0" marL="0">
              <a:buNone/>
            </a:pPr>
            <a:r>
              <a:rPr lang="en-US" sz="1250" b="1" dirty="0">
                <a:solidFill>
                  <a:srgbClr val="171717"/>
                </a:solidFill>
              </a:rPr>
              <a:t>Visit time added</a:t>
            </a:r>
            <a:pPr indent="0" marL="0">
              <a:buNone/>
            </a:pPr>
            <a:r>
              <a:rPr lang="en-US" sz="1050" dirty="0">
                <a:solidFill>
                  <a:srgbClr val="6E665E"/>
                </a:solidFill>
              </a:rPr>
              <a:t>   Extra minutes at flagged outlets</a:t>
            </a:r>
            <a:endParaRPr lang="en-US" sz="1250" dirty="0"/>
          </a:p>
        </p:txBody>
      </p:sp>
      <p:sp>
        <p:nvSpPr>
          <p:cNvPr id="31" name="text-534"/>
          <p:cNvSpPr txBox="1"/>
          <p:nvPr/>
        </p:nvSpPr>
        <p:spPr>
          <a:xfrm>
            <a:off x="9985248" y="4489704"/>
            <a:ext cx="1371600" cy="365760"/>
          </a:xfrm>
          <a:prstGeom prst="rect">
            <a:avLst/>
          </a:prstGeom>
          <a:noFill/>
          <a:ln/>
        </p:spPr>
        <p:txBody>
          <a:bodyPr wrap="square" lIns="0" tIns="0" rIns="0" bIns="0" rtlCol="0" anchor="ctr"/>
          <a:lstStyle/>
          <a:p>
            <a:pPr algn="r" indent="0" marL="0">
              <a:buNone/>
            </a:pPr>
            <a:r>
              <a:rPr lang="en-US" sz="1300" b="1" dirty="0">
                <a:solidFill>
                  <a:srgbClr val="327B60"/>
                </a:solidFill>
              </a:rPr>
              <a:t>≤4 min</a:t>
            </a:r>
            <a:endParaRPr lang="en-US" sz="1300" dirty="0"/>
          </a:p>
        </p:txBody>
      </p:sp>
      <p:sp>
        <p:nvSpPr>
          <p:cNvPr id="32" name="text-535"/>
          <p:cNvSpPr txBox="1"/>
          <p:nvPr/>
        </p:nvSpPr>
        <p:spPr>
          <a:xfrm>
            <a:off x="640080" y="5504688"/>
            <a:ext cx="4572000" cy="237744"/>
          </a:xfrm>
          <a:prstGeom prst="rect">
            <a:avLst/>
          </a:prstGeom>
          <a:noFill/>
          <a:ln/>
        </p:spPr>
        <p:txBody>
          <a:bodyPr wrap="square" lIns="0" tIns="0" rIns="0" bIns="0" rtlCol="0" anchor="t"/>
          <a:lstStyle/>
          <a:p>
            <a:pPr indent="0" marL="0">
              <a:buNone/>
            </a:pPr>
            <a:r>
              <a:rPr lang="en-US" sz="1050" b="1" spc="150" kern="0" dirty="0">
                <a:solidFill>
                  <a:srgbClr val="171717"/>
                </a:solidFill>
              </a:rPr>
              <a:t>HEALTHY SALES SCORECARD · REP INCENTIVE</a:t>
            </a:r>
            <a:endParaRPr lang="en-US" sz="1050" dirty="0"/>
          </a:p>
        </p:txBody>
      </p:sp>
      <p:sp>
        <p:nvSpPr>
          <p:cNvPr id="33" name="rect-536"/>
          <p:cNvSpPr/>
          <p:nvPr/>
        </p:nvSpPr>
        <p:spPr>
          <a:xfrm>
            <a:off x="640080" y="5779008"/>
            <a:ext cx="2852928" cy="384048"/>
          </a:xfrm>
          <a:prstGeom prst="rect">
            <a:avLst/>
          </a:prstGeom>
          <a:solidFill>
            <a:srgbClr val="171717"/>
          </a:solidFill>
          <a:ln w="12700">
            <a:solidFill>
              <a:srgbClr val="171717"/>
            </a:solidFill>
            <a:prstDash val="solid"/>
          </a:ln>
        </p:spPr>
      </p:sp>
      <p:sp>
        <p:nvSpPr>
          <p:cNvPr id="34" name="text-537"/>
          <p:cNvSpPr txBox="1"/>
          <p:nvPr/>
        </p:nvSpPr>
        <p:spPr>
          <a:xfrm>
            <a:off x="713232" y="5779008"/>
            <a:ext cx="2770632" cy="384048"/>
          </a:xfrm>
          <a:prstGeom prst="rect">
            <a:avLst/>
          </a:prstGeom>
          <a:noFill/>
          <a:ln/>
        </p:spPr>
        <p:txBody>
          <a:bodyPr wrap="square" lIns="0" tIns="0" rIns="0" bIns="0" rtlCol="0" anchor="ctr"/>
          <a:lstStyle/>
          <a:p>
            <a:pPr indent="0" marL="0">
              <a:buNone/>
            </a:pPr>
            <a:r>
              <a:rPr lang="en-US" sz="1100" b="1" dirty="0">
                <a:solidFill>
                  <a:srgbClr val="FFFFFF"/>
                </a:solidFill>
              </a:rPr>
              <a:t>50%  Secondary sales vs target</a:t>
            </a:r>
            <a:endParaRPr lang="en-US" sz="1100" dirty="0"/>
          </a:p>
        </p:txBody>
      </p:sp>
      <p:sp>
        <p:nvSpPr>
          <p:cNvPr id="35" name="rect-538"/>
          <p:cNvSpPr/>
          <p:nvPr/>
        </p:nvSpPr>
        <p:spPr>
          <a:xfrm>
            <a:off x="3520440" y="5779008"/>
            <a:ext cx="1124712" cy="384048"/>
          </a:xfrm>
          <a:prstGeom prst="rect">
            <a:avLst/>
          </a:prstGeom>
          <a:solidFill>
            <a:srgbClr val="65172F"/>
          </a:solidFill>
          <a:ln w="12700">
            <a:solidFill>
              <a:srgbClr val="65172F"/>
            </a:solidFill>
            <a:prstDash val="solid"/>
          </a:ln>
        </p:spPr>
      </p:sp>
      <p:sp>
        <p:nvSpPr>
          <p:cNvPr id="36" name="text-539"/>
          <p:cNvSpPr txBox="1"/>
          <p:nvPr/>
        </p:nvSpPr>
        <p:spPr>
          <a:xfrm>
            <a:off x="3593592" y="5779008"/>
            <a:ext cx="1042416" cy="384048"/>
          </a:xfrm>
          <a:prstGeom prst="rect">
            <a:avLst/>
          </a:prstGeom>
          <a:noFill/>
          <a:ln/>
        </p:spPr>
        <p:txBody>
          <a:bodyPr wrap="square" lIns="0" tIns="0" rIns="0" bIns="0" rtlCol="0" anchor="ctr"/>
          <a:lstStyle/>
          <a:p>
            <a:pPr indent="0" marL="0">
              <a:buNone/>
            </a:pPr>
            <a:r>
              <a:rPr lang="en-US" sz="1100" b="1" dirty="0">
                <a:solidFill>
                  <a:srgbClr val="FFFFFF"/>
                </a:solidFill>
              </a:rPr>
              <a:t>20%  Sell-through health</a:t>
            </a:r>
            <a:endParaRPr lang="en-US" sz="1100" dirty="0"/>
          </a:p>
        </p:txBody>
      </p:sp>
      <p:sp>
        <p:nvSpPr>
          <p:cNvPr id="37" name="rect-540"/>
          <p:cNvSpPr/>
          <p:nvPr/>
        </p:nvSpPr>
        <p:spPr>
          <a:xfrm>
            <a:off x="4672584" y="5779008"/>
            <a:ext cx="836676" cy="384048"/>
          </a:xfrm>
          <a:prstGeom prst="rect">
            <a:avLst/>
          </a:prstGeom>
          <a:solidFill>
            <a:srgbClr val="6E665E"/>
          </a:solidFill>
          <a:ln w="12700">
            <a:solidFill>
              <a:srgbClr val="6E665E"/>
            </a:solidFill>
            <a:prstDash val="solid"/>
          </a:ln>
        </p:spPr>
      </p:sp>
      <p:sp>
        <p:nvSpPr>
          <p:cNvPr id="38" name="text-541"/>
          <p:cNvSpPr txBox="1"/>
          <p:nvPr/>
        </p:nvSpPr>
        <p:spPr>
          <a:xfrm>
            <a:off x="4745736" y="5779008"/>
            <a:ext cx="754380" cy="384048"/>
          </a:xfrm>
          <a:prstGeom prst="rect">
            <a:avLst/>
          </a:prstGeom>
          <a:noFill/>
          <a:ln/>
        </p:spPr>
        <p:txBody>
          <a:bodyPr wrap="square" lIns="0" tIns="0" rIns="0" bIns="0" rtlCol="0" anchor="ctr"/>
          <a:lstStyle/>
          <a:p>
            <a:pPr indent="0" marL="0">
              <a:buNone/>
            </a:pPr>
            <a:r>
              <a:rPr lang="en-US" sz="1100" b="1" dirty="0">
                <a:solidFill>
                  <a:srgbClr val="FFFFFF"/>
                </a:solidFill>
              </a:rPr>
              <a:t>15%  </a:t>
            </a:r>
            <a:endParaRPr lang="en-US" sz="1100" dirty="0"/>
          </a:p>
        </p:txBody>
      </p:sp>
      <p:sp>
        <p:nvSpPr>
          <p:cNvPr id="39" name="rect-542"/>
          <p:cNvSpPr/>
          <p:nvPr/>
        </p:nvSpPr>
        <p:spPr>
          <a:xfrm>
            <a:off x="5536692" y="5779008"/>
            <a:ext cx="836676" cy="384048"/>
          </a:xfrm>
          <a:prstGeom prst="rect">
            <a:avLst/>
          </a:prstGeom>
          <a:solidFill>
            <a:srgbClr val="327B60"/>
          </a:solidFill>
          <a:ln w="12700">
            <a:solidFill>
              <a:srgbClr val="327B60"/>
            </a:solidFill>
            <a:prstDash val="solid"/>
          </a:ln>
        </p:spPr>
      </p:sp>
      <p:sp>
        <p:nvSpPr>
          <p:cNvPr id="40" name="text-543"/>
          <p:cNvSpPr txBox="1"/>
          <p:nvPr/>
        </p:nvSpPr>
        <p:spPr>
          <a:xfrm>
            <a:off x="5609844" y="5779008"/>
            <a:ext cx="754380" cy="384048"/>
          </a:xfrm>
          <a:prstGeom prst="rect">
            <a:avLst/>
          </a:prstGeom>
          <a:noFill/>
          <a:ln/>
        </p:spPr>
        <p:txBody>
          <a:bodyPr wrap="square" lIns="0" tIns="0" rIns="0" bIns="0" rtlCol="0" anchor="ctr"/>
          <a:lstStyle/>
          <a:p>
            <a:pPr indent="0" marL="0">
              <a:buNone/>
            </a:pPr>
            <a:r>
              <a:rPr lang="en-US" sz="1100" b="1" dirty="0">
                <a:solidFill>
                  <a:srgbClr val="FFFFFF"/>
                </a:solidFill>
              </a:rPr>
              <a:t>15%  </a:t>
            </a:r>
            <a:endParaRPr lang="en-US" sz="1100" dirty="0"/>
          </a:p>
        </p:txBody>
      </p:sp>
      <p:sp>
        <p:nvSpPr>
          <p:cNvPr id="41" name="text-544"/>
          <p:cNvSpPr txBox="1"/>
          <p:nvPr/>
        </p:nvSpPr>
        <p:spPr>
          <a:xfrm>
            <a:off x="3383280" y="6181344"/>
            <a:ext cx="3017520" cy="182880"/>
          </a:xfrm>
          <a:prstGeom prst="rect">
            <a:avLst/>
          </a:prstGeom>
          <a:noFill/>
          <a:ln/>
        </p:spPr>
        <p:txBody>
          <a:bodyPr wrap="square" lIns="0" tIns="0" rIns="0" bIns="0" rtlCol="0" anchor="t"/>
          <a:lstStyle/>
          <a:p>
            <a:pPr algn="r" indent="0" marL="0">
              <a:buNone/>
            </a:pPr>
            <a:r>
              <a:rPr lang="en-US" sz="950" dirty="0">
                <a:solidFill>
                  <a:srgbClr val="6E665E"/>
                </a:solidFill>
              </a:rPr>
              <a:t>Availability 15% · Execution 15%</a:t>
            </a:r>
            <a:endParaRPr lang="en-US" sz="950" dirty="0"/>
          </a:p>
        </p:txBody>
      </p:sp>
      <p:sp>
        <p:nvSpPr>
          <p:cNvPr id="42" name="text-545"/>
          <p:cNvSpPr txBox="1"/>
          <p:nvPr/>
        </p:nvSpPr>
        <p:spPr>
          <a:xfrm>
            <a:off x="6720840" y="5504688"/>
            <a:ext cx="2743200" cy="237744"/>
          </a:xfrm>
          <a:prstGeom prst="rect">
            <a:avLst/>
          </a:prstGeom>
          <a:noFill/>
          <a:ln/>
        </p:spPr>
        <p:txBody>
          <a:bodyPr wrap="square" lIns="0" tIns="0" rIns="0" bIns="0" rtlCol="0" anchor="t"/>
          <a:lstStyle/>
          <a:p>
            <a:pPr indent="0" marL="0">
              <a:buNone/>
            </a:pPr>
            <a:r>
              <a:rPr lang="en-US" sz="1050" b="1" spc="150" kern="0" dirty="0">
                <a:solidFill>
                  <a:srgbClr val="171717"/>
                </a:solidFill>
              </a:rPr>
              <a:t>GOVERNANCE CADENCE</a:t>
            </a:r>
            <a:endParaRPr lang="en-US" sz="1050" dirty="0"/>
          </a:p>
        </p:txBody>
      </p:sp>
      <p:sp>
        <p:nvSpPr>
          <p:cNvPr id="43" name="text-546"/>
          <p:cNvSpPr txBox="1"/>
          <p:nvPr/>
        </p:nvSpPr>
        <p:spPr>
          <a:xfrm>
            <a:off x="6720840" y="5760720"/>
            <a:ext cx="4828032" cy="566928"/>
          </a:xfrm>
          <a:prstGeom prst="rect">
            <a:avLst/>
          </a:prstGeom>
          <a:noFill/>
          <a:ln/>
        </p:spPr>
        <p:txBody>
          <a:bodyPr wrap="square" lIns="0" tIns="0" rIns="0" bIns="0" rtlCol="0" anchor="t"/>
          <a:lstStyle/>
          <a:p>
            <a:pPr indent="0" marL="0">
              <a:buNone/>
            </a:pPr>
            <a:r>
              <a:rPr lang="en-US" sz="1100" b="1" dirty="0">
                <a:solidFill>
                  <a:srgbClr val="65172F"/>
                </a:solidFill>
              </a:rPr>
              <a:t>Daily </a:t>
            </a:r>
            <a:pPr indent="0" marL="0">
              <a:buNone/>
            </a:pPr>
            <a:r>
              <a:rPr lang="en-US" sz="1100" dirty="0">
                <a:solidFill>
                  <a:srgbClr val="171717"/>
                </a:solidFill>
              </a:rPr>
              <a:t>rep actions · </a:t>
            </a:r>
            <a:pPr indent="0" marL="0">
              <a:buNone/>
            </a:pPr>
            <a:r>
              <a:rPr lang="en-US" sz="1100" b="1" dirty="0">
                <a:solidFill>
                  <a:srgbClr val="65172F"/>
                </a:solidFill>
              </a:rPr>
              <a:t>Weekly </a:t>
            </a:r>
            <a:pPr indent="0" marL="0">
              <a:buNone/>
            </a:pPr>
            <a:r>
              <a:rPr lang="en-US" sz="1100" dirty="0">
                <a:solidFill>
                  <a:srgbClr val="171717"/>
                </a:solidFill>
              </a:rPr>
              <a:t>ASM approvals, coaching · </a:t>
            </a:r>
            <a:pPr indent="0" marL="0">
              <a:buNone/>
            </a:pPr>
            <a:r>
              <a:rPr lang="en-US" sz="1100" b="1" dirty="0">
                <a:solidFill>
                  <a:srgbClr val="65172F"/>
                </a:solidFill>
              </a:rPr>
              <a:t>Monthly </a:t>
            </a:r>
            <a:pPr indent="0" marL="0">
              <a:buNone/>
            </a:pPr>
            <a:r>
              <a:rPr lang="en-US" sz="1100" dirty="0">
                <a:solidFill>
                  <a:srgbClr val="171717"/>
                </a:solidFill>
              </a:rPr>
              <a:t>distributor ageing, brand readout · </a:t>
            </a:r>
            <a:pPr indent="0" marL="0">
              <a:buNone/>
            </a:pPr>
            <a:r>
              <a:rPr lang="en-US" sz="1100" b="1" dirty="0">
                <a:solidFill>
                  <a:srgbClr val="65172F"/>
                </a:solidFill>
              </a:rPr>
              <a:t>Quarterly </a:t>
            </a:r>
            <a:pPr indent="0" marL="0">
              <a:buNone/>
            </a:pPr>
            <a:r>
              <a:rPr lang="en-US" sz="1100" dirty="0">
                <a:solidFill>
                  <a:srgbClr val="171717"/>
                </a:solidFill>
              </a:rPr>
              <a:t>leadership scorecard, returns and scheme policy</a:t>
            </a:r>
            <a:endParaRPr lang="en-US" sz="1100" dirty="0"/>
          </a:p>
        </p:txBody>
      </p:sp>
      <p:sp>
        <p:nvSpPr>
          <p:cNvPr id="25" name="Slide Number Placeholder 0"/>
          <p:cNvSpPr>
            <a:spLocks noGrp="1"/>
          </p:cNvSpPr>
          <p:nvPr>
            <p:ph type="sldNum" sz="quarter" idx="4294967295"/>
          </p:nvPr>
        </p:nvSpPr>
        <p:spPr>
          <a:xfrm>
            <a:off x="11091672"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665E"/>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logo" descr="/home/user/Combating-Loneliness/loreal-sales-track/deck/brand/loreal-logo-white.png">    </p:cNvPr>
          <p:cNvPicPr>
            <a:picLocks noChangeAspect="1"/>
          </p:cNvPicPr>
          <p:nvPr/>
        </p:nvPicPr>
        <p:blipFill>
          <a:blip r:embed="rId1"/>
          <a:stretch>
            <a:fillRect/>
          </a:stretch>
        </p:blipFill>
        <p:spPr>
          <a:xfrm>
            <a:off x="640080" y="566928"/>
            <a:ext cx="1417320" cy="255118"/>
          </a:xfrm>
          <a:prstGeom prst="rect">
            <a:avLst/>
          </a:prstGeom>
        </p:spPr>
      </p:pic>
      <p:sp>
        <p:nvSpPr>
          <p:cNvPr id="3" name="line-547"/>
          <p:cNvSpPr/>
          <p:nvPr/>
        </p:nvSpPr>
        <p:spPr>
          <a:xfrm>
            <a:off x="2267712" y="521208"/>
            <a:ext cx="0" cy="347472"/>
          </a:xfrm>
          <a:prstGeom prst="line">
            <a:avLst/>
          </a:prstGeom>
          <a:noFill/>
          <a:ln w="9525">
            <a:solidFill>
              <a:srgbClr val="B9808F"/>
            </a:solidFill>
            <a:prstDash val="solid"/>
          </a:ln>
        </p:spPr>
      </p:sp>
      <p:sp>
        <p:nvSpPr>
          <p:cNvPr id="4" name="text-548"/>
          <p:cNvSpPr txBox="1"/>
          <p:nvPr/>
        </p:nvSpPr>
        <p:spPr>
          <a:xfrm>
            <a:off x="2423160" y="585216"/>
            <a:ext cx="5029200" cy="237744"/>
          </a:xfrm>
          <a:prstGeom prst="rect">
            <a:avLst/>
          </a:prstGeom>
          <a:noFill/>
          <a:ln/>
        </p:spPr>
        <p:txBody>
          <a:bodyPr wrap="square" lIns="0" tIns="0" rIns="0" bIns="0" rtlCol="0" anchor="t"/>
          <a:lstStyle/>
          <a:p>
            <a:pPr indent="0" marL="0">
              <a:buNone/>
            </a:pPr>
            <a:r>
              <a:rPr lang="en-US" sz="1100" b="1" spc="200" kern="0" dirty="0">
                <a:solidFill>
                  <a:srgbClr val="EFE3E6"/>
                </a:solidFill>
              </a:rPr>
              <a:t>SUSTAINABILITY CHALLENGE 2026 · SALES TRACK</a:t>
            </a:r>
            <a:endParaRPr lang="en-US" sz="1100" dirty="0"/>
          </a:p>
        </p:txBody>
      </p:sp>
      <p:sp>
        <p:nvSpPr>
          <p:cNvPr id="5" name="text-549"/>
          <p:cNvSpPr txBox="1"/>
          <p:nvPr/>
        </p:nvSpPr>
        <p:spPr>
          <a:xfrm>
            <a:off x="640080" y="1325880"/>
            <a:ext cx="9601200" cy="1554480"/>
          </a:xfrm>
          <a:prstGeom prst="rect">
            <a:avLst/>
          </a:prstGeom>
          <a:noFill/>
          <a:ln/>
        </p:spPr>
        <p:txBody>
          <a:bodyPr wrap="square" lIns="0" tIns="0" rIns="0" bIns="0" rtlCol="0" anchor="t"/>
          <a:lstStyle/>
          <a:p>
            <a:pPr indent="0" marL="0">
              <a:lnSpc>
                <a:spcPct val="95000"/>
              </a:lnSpc>
              <a:buNone/>
            </a:pPr>
            <a:r>
              <a:rPr lang="en-US" sz="4000" b="1" dirty="0">
                <a:solidFill>
                  <a:srgbClr val="FFFFFF"/>
                </a:solidFill>
                <a:latin typeface="Aptos Display" pitchFamily="34" charset="0"/>
                <a:ea typeface="Aptos Display" pitchFamily="34" charset="-122"/>
                <a:cs typeface="Aptos Display" pitchFamily="34" charset="-120"/>
              </a:rPr>
              <a:t>From order collection to intelligent demand and inventory management</a:t>
            </a:r>
            <a:endParaRPr lang="en-US" sz="4000" dirty="0"/>
          </a:p>
        </p:txBody>
      </p:sp>
      <p:sp>
        <p:nvSpPr>
          <p:cNvPr id="6" name="text-550"/>
          <p:cNvSpPr txBox="1"/>
          <p:nvPr/>
        </p:nvSpPr>
        <p:spPr>
          <a:xfrm>
            <a:off x="640080" y="3108960"/>
            <a:ext cx="4023360" cy="384048"/>
          </a:xfrm>
          <a:prstGeom prst="rect">
            <a:avLst/>
          </a:prstGeom>
          <a:noFill/>
          <a:ln/>
        </p:spPr>
        <p:txBody>
          <a:bodyPr wrap="square" lIns="0" tIns="0" rIns="0" bIns="0" rtlCol="0" anchor="ctr"/>
          <a:lstStyle/>
          <a:p>
            <a:pPr indent="0" marL="0">
              <a:buNone/>
            </a:pPr>
            <a:r>
              <a:rPr lang="en-US" sz="1500" dirty="0">
                <a:solidFill>
                  <a:srgbClr val="B9808F"/>
                </a:solidFill>
              </a:rPr>
              <a:t>Selling more into the channel</a:t>
            </a:r>
            <a:endParaRPr lang="en-US" sz="1500" dirty="0"/>
          </a:p>
        </p:txBody>
      </p:sp>
      <p:sp>
        <p:nvSpPr>
          <p:cNvPr id="7" name="line-551"/>
          <p:cNvSpPr/>
          <p:nvPr/>
        </p:nvSpPr>
        <p:spPr>
          <a:xfrm>
            <a:off x="4754880" y="3300984"/>
            <a:ext cx="502920" cy="0"/>
          </a:xfrm>
          <a:prstGeom prst="line">
            <a:avLst/>
          </a:prstGeom>
          <a:noFill/>
          <a:ln w="15875">
            <a:solidFill>
              <a:srgbClr val="EFE3E6"/>
            </a:solidFill>
            <a:prstDash val="solid"/>
            <a:tailEnd type="triangle"/>
          </a:ln>
        </p:spPr>
      </p:sp>
      <p:sp>
        <p:nvSpPr>
          <p:cNvPr id="8" name="text-552"/>
          <p:cNvSpPr txBox="1"/>
          <p:nvPr/>
        </p:nvSpPr>
        <p:spPr>
          <a:xfrm>
            <a:off x="5486400" y="3108960"/>
            <a:ext cx="5486400" cy="384048"/>
          </a:xfrm>
          <a:prstGeom prst="rect">
            <a:avLst/>
          </a:prstGeom>
          <a:noFill/>
          <a:ln/>
        </p:spPr>
        <p:txBody>
          <a:bodyPr wrap="square" lIns="0" tIns="0" rIns="0" bIns="0" rtlCol="0" anchor="ctr"/>
          <a:lstStyle/>
          <a:p>
            <a:pPr indent="0" marL="0">
              <a:buNone/>
            </a:pPr>
            <a:r>
              <a:rPr lang="en-US" sz="1700" b="1" dirty="0">
                <a:solidFill>
                  <a:srgbClr val="FFFFFF"/>
                </a:solidFill>
              </a:rPr>
              <a:t>Moving the right stock to the right shelf</a:t>
            </a:r>
            <a:endParaRPr lang="en-US" sz="1700" dirty="0"/>
          </a:p>
        </p:txBody>
      </p:sp>
      <p:sp>
        <p:nvSpPr>
          <p:cNvPr id="9" name="text-553"/>
          <p:cNvSpPr txBox="1"/>
          <p:nvPr/>
        </p:nvSpPr>
        <p:spPr>
          <a:xfrm>
            <a:off x="640080" y="3584448"/>
            <a:ext cx="4023360" cy="384048"/>
          </a:xfrm>
          <a:prstGeom prst="rect">
            <a:avLst/>
          </a:prstGeom>
          <a:noFill/>
          <a:ln/>
        </p:spPr>
        <p:txBody>
          <a:bodyPr wrap="square" lIns="0" tIns="0" rIns="0" bIns="0" rtlCol="0" anchor="ctr"/>
          <a:lstStyle/>
          <a:p>
            <a:pPr indent="0" marL="0">
              <a:buNone/>
            </a:pPr>
            <a:r>
              <a:rPr lang="en-US" sz="1500" dirty="0">
                <a:solidFill>
                  <a:srgbClr val="B9808F"/>
                </a:solidFill>
              </a:rPr>
              <a:t>Finding waste at the return</a:t>
            </a:r>
            <a:endParaRPr lang="en-US" sz="1500" dirty="0"/>
          </a:p>
        </p:txBody>
      </p:sp>
      <p:sp>
        <p:nvSpPr>
          <p:cNvPr id="10" name="line-554"/>
          <p:cNvSpPr/>
          <p:nvPr/>
        </p:nvSpPr>
        <p:spPr>
          <a:xfrm>
            <a:off x="4754880" y="3776472"/>
            <a:ext cx="502920" cy="0"/>
          </a:xfrm>
          <a:prstGeom prst="line">
            <a:avLst/>
          </a:prstGeom>
          <a:noFill/>
          <a:ln w="15875">
            <a:solidFill>
              <a:srgbClr val="EFE3E6"/>
            </a:solidFill>
            <a:prstDash val="solid"/>
            <a:tailEnd type="triangle"/>
          </a:ln>
        </p:spPr>
      </p:sp>
      <p:sp>
        <p:nvSpPr>
          <p:cNvPr id="11" name="text-555"/>
          <p:cNvSpPr txBox="1"/>
          <p:nvPr/>
        </p:nvSpPr>
        <p:spPr>
          <a:xfrm>
            <a:off x="5486400" y="3584448"/>
            <a:ext cx="5486400" cy="384048"/>
          </a:xfrm>
          <a:prstGeom prst="rect">
            <a:avLst/>
          </a:prstGeom>
          <a:noFill/>
          <a:ln/>
        </p:spPr>
        <p:txBody>
          <a:bodyPr wrap="square" lIns="0" tIns="0" rIns="0" bIns="0" rtlCol="0" anchor="ctr"/>
          <a:lstStyle/>
          <a:p>
            <a:pPr indent="0" marL="0">
              <a:buNone/>
            </a:pPr>
            <a:r>
              <a:rPr lang="en-US" sz="1700" b="1" dirty="0">
                <a:solidFill>
                  <a:srgbClr val="FFFFFF"/>
                </a:solidFill>
              </a:rPr>
              <a:t>Catching it while the fix is cheap</a:t>
            </a:r>
            <a:endParaRPr lang="en-US" sz="1700" dirty="0"/>
          </a:p>
        </p:txBody>
      </p:sp>
      <p:sp>
        <p:nvSpPr>
          <p:cNvPr id="12" name="text-556"/>
          <p:cNvSpPr txBox="1"/>
          <p:nvPr/>
        </p:nvSpPr>
        <p:spPr>
          <a:xfrm>
            <a:off x="640080" y="4059936"/>
            <a:ext cx="4023360" cy="384048"/>
          </a:xfrm>
          <a:prstGeom prst="rect">
            <a:avLst/>
          </a:prstGeom>
          <a:noFill/>
          <a:ln/>
        </p:spPr>
        <p:txBody>
          <a:bodyPr wrap="square" lIns="0" tIns="0" rIns="0" bIns="0" rtlCol="0" anchor="ctr"/>
          <a:lstStyle/>
          <a:p>
            <a:pPr indent="0" marL="0">
              <a:buNone/>
            </a:pPr>
            <a:r>
              <a:rPr lang="en-US" sz="1500" dirty="0">
                <a:solidFill>
                  <a:srgbClr val="B9808F"/>
                </a:solidFill>
              </a:rPr>
              <a:t>Discount as the default</a:t>
            </a:r>
            <a:endParaRPr lang="en-US" sz="1500" dirty="0"/>
          </a:p>
        </p:txBody>
      </p:sp>
      <p:sp>
        <p:nvSpPr>
          <p:cNvPr id="13" name="line-557"/>
          <p:cNvSpPr/>
          <p:nvPr/>
        </p:nvSpPr>
        <p:spPr>
          <a:xfrm>
            <a:off x="4754880" y="4251960"/>
            <a:ext cx="502920" cy="0"/>
          </a:xfrm>
          <a:prstGeom prst="line">
            <a:avLst/>
          </a:prstGeom>
          <a:noFill/>
          <a:ln w="15875">
            <a:solidFill>
              <a:srgbClr val="EFE3E6"/>
            </a:solidFill>
            <a:prstDash val="solid"/>
            <a:tailEnd type="triangle"/>
          </a:ln>
        </p:spPr>
      </p:sp>
      <p:sp>
        <p:nvSpPr>
          <p:cNvPr id="14" name="text-558"/>
          <p:cNvSpPr txBox="1"/>
          <p:nvPr/>
        </p:nvSpPr>
        <p:spPr>
          <a:xfrm>
            <a:off x="5486400" y="4059936"/>
            <a:ext cx="5486400" cy="384048"/>
          </a:xfrm>
          <a:prstGeom prst="rect">
            <a:avLst/>
          </a:prstGeom>
          <a:noFill/>
          <a:ln/>
        </p:spPr>
        <p:txBody>
          <a:bodyPr wrap="square" lIns="0" tIns="0" rIns="0" bIns="0" rtlCol="0" anchor="ctr"/>
          <a:lstStyle/>
          <a:p>
            <a:pPr indent="0" marL="0">
              <a:buNone/>
            </a:pPr>
            <a:r>
              <a:rPr lang="en-US" sz="1700" b="1" dirty="0">
                <a:solidFill>
                  <a:srgbClr val="FFFFFF"/>
                </a:solidFill>
              </a:rPr>
              <a:t>Discount as the guarded last resort</a:t>
            </a:r>
            <a:endParaRPr lang="en-US" sz="1700" dirty="0"/>
          </a:p>
        </p:txBody>
      </p:sp>
      <p:sp>
        <p:nvSpPr>
          <p:cNvPr id="15" name="text-559"/>
          <p:cNvSpPr txBox="1"/>
          <p:nvPr/>
        </p:nvSpPr>
        <p:spPr>
          <a:xfrm>
            <a:off x="640080" y="4535424"/>
            <a:ext cx="4023360" cy="384048"/>
          </a:xfrm>
          <a:prstGeom prst="rect">
            <a:avLst/>
          </a:prstGeom>
          <a:noFill/>
          <a:ln/>
        </p:spPr>
        <p:txBody>
          <a:bodyPr wrap="square" lIns="0" tIns="0" rIns="0" bIns="0" rtlCol="0" anchor="ctr"/>
          <a:lstStyle/>
          <a:p>
            <a:pPr indent="0" marL="0">
              <a:buNone/>
            </a:pPr>
            <a:r>
              <a:rPr lang="en-US" sz="1500" dirty="0">
                <a:solidFill>
                  <a:srgbClr val="B9808F"/>
                </a:solidFill>
              </a:rPr>
              <a:t>Quick commerce as a threat</a:t>
            </a:r>
            <a:endParaRPr lang="en-US" sz="1500" dirty="0"/>
          </a:p>
        </p:txBody>
      </p:sp>
      <p:sp>
        <p:nvSpPr>
          <p:cNvPr id="16" name="line-560"/>
          <p:cNvSpPr/>
          <p:nvPr/>
        </p:nvSpPr>
        <p:spPr>
          <a:xfrm>
            <a:off x="4754880" y="4727448"/>
            <a:ext cx="502920" cy="0"/>
          </a:xfrm>
          <a:prstGeom prst="line">
            <a:avLst/>
          </a:prstGeom>
          <a:noFill/>
          <a:ln w="15875">
            <a:solidFill>
              <a:srgbClr val="EFE3E6"/>
            </a:solidFill>
            <a:prstDash val="solid"/>
            <a:tailEnd type="triangle"/>
          </a:ln>
        </p:spPr>
      </p:sp>
      <p:sp>
        <p:nvSpPr>
          <p:cNvPr id="17" name="text-561"/>
          <p:cNvSpPr txBox="1"/>
          <p:nvPr/>
        </p:nvSpPr>
        <p:spPr>
          <a:xfrm>
            <a:off x="5486400" y="4535424"/>
            <a:ext cx="5486400" cy="384048"/>
          </a:xfrm>
          <a:prstGeom prst="rect">
            <a:avLst/>
          </a:prstGeom>
          <a:noFill/>
          <a:ln/>
        </p:spPr>
        <p:txBody>
          <a:bodyPr wrap="square" lIns="0" tIns="0" rIns="0" bIns="0" rtlCol="0" anchor="ctr"/>
          <a:lstStyle/>
          <a:p>
            <a:pPr indent="0" marL="0">
              <a:buNone/>
            </a:pPr>
            <a:r>
              <a:rPr lang="en-US" sz="1700" b="1" dirty="0">
                <a:solidFill>
                  <a:srgbClr val="FFFFFF"/>
                </a:solidFill>
              </a:rPr>
              <a:t>Quick commerce as a planning signal</a:t>
            </a:r>
            <a:endParaRPr lang="en-US" sz="1700" dirty="0"/>
          </a:p>
        </p:txBody>
      </p:sp>
      <p:sp>
        <p:nvSpPr>
          <p:cNvPr id="18" name="text-562"/>
          <p:cNvSpPr txBox="1"/>
          <p:nvPr/>
        </p:nvSpPr>
        <p:spPr>
          <a:xfrm>
            <a:off x="640080" y="5120640"/>
            <a:ext cx="8778240" cy="502920"/>
          </a:xfrm>
          <a:prstGeom prst="rect">
            <a:avLst/>
          </a:prstGeom>
          <a:noFill/>
          <a:ln/>
        </p:spPr>
        <p:txBody>
          <a:bodyPr wrap="square" lIns="0" tIns="0" rIns="0" bIns="0" rtlCol="0" anchor="t"/>
          <a:lstStyle/>
          <a:p>
            <a:pPr indent="0" marL="0">
              <a:buNone/>
            </a:pPr>
            <a:r>
              <a:rPr lang="en-US" sz="1350" i="1" dirty="0">
                <a:solidFill>
                  <a:srgbClr val="EFE3E6"/>
                </a:solidFill>
              </a:rPr>
              <a:t>Every unit that sells instead of expiring is waste avoided at the top of the hierarchy, before any recycling, in line with L'Oréal for the Future.</a:t>
            </a:r>
            <a:endParaRPr lang="en-US" sz="1350" dirty="0"/>
          </a:p>
        </p:txBody>
      </p:sp>
      <p:sp>
        <p:nvSpPr>
          <p:cNvPr id="19" name="text-563"/>
          <p:cNvSpPr txBox="1"/>
          <p:nvPr/>
        </p:nvSpPr>
        <p:spPr>
          <a:xfrm>
            <a:off x="640080" y="5715000"/>
            <a:ext cx="8686800" cy="594360"/>
          </a:xfrm>
          <a:prstGeom prst="rect">
            <a:avLst/>
          </a:prstGeom>
          <a:noFill/>
          <a:ln/>
        </p:spPr>
        <p:txBody>
          <a:bodyPr wrap="square" lIns="0" tIns="0" rIns="0" bIns="0" rtlCol="0" anchor="t"/>
          <a:lstStyle/>
          <a:p>
            <a:pPr indent="0" marL="0">
              <a:buNone/>
            </a:pPr>
            <a:r>
              <a:rPr lang="en-US" sz="1600" b="1" dirty="0">
                <a:solidFill>
                  <a:srgbClr val="FFFFFF"/>
                </a:solidFill>
              </a:rPr>
              <a:t>Our ask: one distributor-data extract, two territories, 16 weeks.</a:t>
            </a:r>
            <a:endParaRPr lang="en-US" sz="1600" dirty="0"/>
          </a:p>
          <a:p>
            <a:pPr indent="0" marL="0">
              <a:buNone/>
            </a:pPr>
            <a:r>
              <a:rPr lang="en-US" sz="1600" u="sng" dirty="0">
                <a:solidFill>
                  <a:srgbClr val="EFE3E6"/>
                </a:solidFill>
                <a:hlinkClick r:id="rId2" invalidUrl="" action="" tgtFrame="" tooltip="" history="1" highlightClick="0" endSnd="0">
                  <a:extLst>
                    <a:ext uri="{A12FA001-AC4F-418D-AE19-62706E023703}">
                      <ahyp:hlinkClr xmlns:ahyp="http://schemas.microsoft.com/office/drawing/2018/hyperlinkcolor" val="tx"/>
                    </a:ext>
                  </a:extLst>
                </a:hlinkClick>
              </a:rPr>
              <a:t>Try it: smartsell-loreal.vercel.app</a:t>
            </a:r>
            <a:endParaRPr lang="en-US" sz="1600" dirty="0"/>
          </a:p>
        </p:txBody>
      </p:sp>
      <p:pic>
        <p:nvPicPr>
          <p:cNvPr id="20" name="qr" descr="QR code to the live prototype">    </p:cNvPr>
          <p:cNvPicPr>
            <a:picLocks noChangeAspect="1"/>
          </p:cNvPicPr>
          <p:nvPr/>
        </p:nvPicPr>
        <p:blipFill>
          <a:blip r:embed="rId3"/>
          <a:stretch>
            <a:fillRect/>
          </a:stretch>
        </p:blipFill>
        <p:spPr>
          <a:xfrm>
            <a:off x="10607040" y="5166360"/>
            <a:ext cx="941832" cy="941832"/>
          </a:xfrm>
          <a:prstGeom prst="rect">
            <a:avLst/>
          </a:prstGeom>
        </p:spPr>
      </p:pic>
      <p:sp>
        <p:nvSpPr>
          <p:cNvPr id="25" name="Slide Number Placeholder 0"/>
          <p:cNvSpPr>
            <a:spLocks noGrp="1"/>
          </p:cNvSpPr>
          <p:nvPr>
            <p:ph type="sldNum" sz="quarter" idx="4294967295"/>
          </p:nvPr>
        </p:nvSpPr>
        <p:spPr>
          <a:xfrm>
            <a:off x="11091672"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EFE3E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body" hasCustomPrompt="1"/>
          </p:nvPr>
        </p:nvSpPr>
        <p:spPr>
          <a:xfrm>
            <a:off x="640080" y="457200"/>
            <a:ext cx="8686800" cy="237744"/>
          </a:xfrm>
          <a:prstGeom prst="rect">
            <a:avLst/>
          </a:prstGeom>
          <a:noFill/>
          <a:ln/>
        </p:spPr>
        <p:txBody>
          <a:bodyPr wrap="square" lIns="0" tIns="0" rIns="0" bIns="0" rtlCol="0" anchor="t"/>
          <a:lstStyle/>
          <a:p>
            <a:pPr indent="0" marL="0">
              <a:buNone/>
            </a:pPr>
            <a:r>
              <a:rPr lang="en-US" sz="1100" b="1" spc="200" kern="0" dirty="0">
                <a:solidFill>
                  <a:srgbClr val="B9808F"/>
                </a:solidFill>
              </a:rPr>
              <a:t>APPENDIX</a:t>
            </a:r>
            <a:endParaRPr lang="en-US" sz="1100" dirty="0"/>
          </a:p>
        </p:txBody>
      </p:sp>
      <p:sp>
        <p:nvSpPr>
          <p:cNvPr id="3" name="Text 0"/>
          <p:cNvSpPr/>
          <p:nvPr>
            <p:ph idx="102" type="title" hasCustomPrompt="1"/>
          </p:nvPr>
        </p:nvSpPr>
        <p:spPr>
          <a:xfrm>
            <a:off x="640080" y="749808"/>
            <a:ext cx="9418320" cy="1005840"/>
          </a:xfrm>
          <a:prstGeom prst="rect">
            <a:avLst/>
          </a:prstGeom>
          <a:noFill/>
          <a:ln/>
        </p:spPr>
        <p:txBody>
          <a:bodyPr wrap="square" lIns="0" tIns="0" rIns="0" bIns="0" rtlCol="0" anchor="t"/>
          <a:lstStyle/>
          <a:p>
            <a:pPr algn="l" indent="0" marL="0">
              <a:lnSpc>
                <a:spcPct val="95000"/>
              </a:lnSpc>
              <a:buNone/>
            </a:pPr>
            <a:r>
              <a:rPr lang="en-US" sz="3000" b="1" dirty="0">
                <a:solidFill>
                  <a:srgbClr val="FFFFFF"/>
                </a:solidFill>
                <a:latin typeface="Aptos Display" pitchFamily="34" charset="0"/>
                <a:ea typeface="Aptos Display" pitchFamily="34" charset="-122"/>
                <a:cs typeface="Aptos Display" pitchFamily="34" charset="-120"/>
              </a:rPr>
              <a:t>Evidence, methodology and Q&amp;A</a:t>
            </a:r>
            <a:endParaRPr lang="en-US" sz="3000" dirty="0"/>
          </a:p>
        </p:txBody>
      </p:sp>
      <p:sp>
        <p:nvSpPr>
          <p:cNvPr id="5" name="text-564"/>
          <p:cNvSpPr txBox="1"/>
          <p:nvPr/>
        </p:nvSpPr>
        <p:spPr>
          <a:xfrm>
            <a:off x="640080" y="2240280"/>
            <a:ext cx="457200" cy="411480"/>
          </a:xfrm>
          <a:prstGeom prst="rect">
            <a:avLst/>
          </a:prstGeom>
          <a:noFill/>
          <a:ln/>
        </p:spPr>
        <p:txBody>
          <a:bodyPr wrap="square" lIns="0" tIns="0" rIns="0" bIns="0" rtlCol="0" anchor="t"/>
          <a:lstStyle/>
          <a:p>
            <a:pPr indent="0" marL="0">
              <a:buNone/>
            </a:pPr>
            <a:r>
              <a:rPr lang="en-US" sz="2200" b="1" dirty="0">
                <a:solidFill>
                  <a:srgbClr val="B9808F"/>
                </a:solidFill>
                <a:latin typeface="Aptos Display" pitchFamily="34" charset="0"/>
                <a:ea typeface="Aptos Display" pitchFamily="34" charset="-122"/>
                <a:cs typeface="Aptos Display" pitchFamily="34" charset="-120"/>
              </a:rPr>
              <a:t>A</a:t>
            </a:r>
            <a:endParaRPr lang="en-US" sz="2200" dirty="0"/>
          </a:p>
        </p:txBody>
      </p:sp>
      <p:sp>
        <p:nvSpPr>
          <p:cNvPr id="6" name="text-565"/>
          <p:cNvSpPr txBox="1"/>
          <p:nvPr/>
        </p:nvSpPr>
        <p:spPr>
          <a:xfrm>
            <a:off x="1188720" y="2276856"/>
            <a:ext cx="7315200" cy="365760"/>
          </a:xfrm>
          <a:prstGeom prst="rect">
            <a:avLst/>
          </a:prstGeom>
          <a:noFill/>
          <a:ln/>
        </p:spPr>
        <p:txBody>
          <a:bodyPr wrap="square" lIns="0" tIns="0" rIns="0" bIns="0" rtlCol="0" anchor="t"/>
          <a:lstStyle/>
          <a:p>
            <a:pPr indent="0" marL="0">
              <a:buNone/>
            </a:pPr>
            <a:r>
              <a:rPr lang="en-US" sz="1800" dirty="0">
                <a:solidFill>
                  <a:srgbClr val="FFFFFF"/>
                </a:solidFill>
              </a:rPr>
              <a:t>Sources and data integrity</a:t>
            </a:r>
            <a:endParaRPr lang="en-US" sz="1800" dirty="0"/>
          </a:p>
        </p:txBody>
      </p:sp>
      <p:sp>
        <p:nvSpPr>
          <p:cNvPr id="7" name="text-566"/>
          <p:cNvSpPr txBox="1"/>
          <p:nvPr/>
        </p:nvSpPr>
        <p:spPr>
          <a:xfrm>
            <a:off x="640080" y="2743200"/>
            <a:ext cx="457200" cy="411480"/>
          </a:xfrm>
          <a:prstGeom prst="rect">
            <a:avLst/>
          </a:prstGeom>
          <a:noFill/>
          <a:ln/>
        </p:spPr>
        <p:txBody>
          <a:bodyPr wrap="square" lIns="0" tIns="0" rIns="0" bIns="0" rtlCol="0" anchor="t"/>
          <a:lstStyle/>
          <a:p>
            <a:pPr indent="0" marL="0">
              <a:buNone/>
            </a:pPr>
            <a:r>
              <a:rPr lang="en-US" sz="2200" b="1" dirty="0">
                <a:solidFill>
                  <a:srgbClr val="B9808F"/>
                </a:solidFill>
                <a:latin typeface="Aptos Display" pitchFamily="34" charset="0"/>
                <a:ea typeface="Aptos Display" pitchFamily="34" charset="-122"/>
                <a:cs typeface="Aptos Display" pitchFamily="34" charset="-120"/>
              </a:rPr>
              <a:t>B</a:t>
            </a:r>
            <a:endParaRPr lang="en-US" sz="2200" dirty="0"/>
          </a:p>
        </p:txBody>
      </p:sp>
      <p:sp>
        <p:nvSpPr>
          <p:cNvPr id="8" name="text-567"/>
          <p:cNvSpPr txBox="1"/>
          <p:nvPr/>
        </p:nvSpPr>
        <p:spPr>
          <a:xfrm>
            <a:off x="1188720" y="2779776"/>
            <a:ext cx="7315200" cy="365760"/>
          </a:xfrm>
          <a:prstGeom prst="rect">
            <a:avLst/>
          </a:prstGeom>
          <a:noFill/>
          <a:ln/>
        </p:spPr>
        <p:txBody>
          <a:bodyPr wrap="square" lIns="0" tIns="0" rIns="0" bIns="0" rtlCol="0" anchor="t"/>
          <a:lstStyle/>
          <a:p>
            <a:pPr indent="0" marL="0">
              <a:buNone/>
            </a:pPr>
            <a:r>
              <a:rPr lang="en-US" sz="1800" dirty="0">
                <a:solidFill>
                  <a:srgbClr val="FFFFFF"/>
                </a:solidFill>
              </a:rPr>
              <a:t>Risk methodology and parameters</a:t>
            </a:r>
            <a:endParaRPr lang="en-US" sz="1800" dirty="0"/>
          </a:p>
        </p:txBody>
      </p:sp>
      <p:sp>
        <p:nvSpPr>
          <p:cNvPr id="9" name="text-568"/>
          <p:cNvSpPr txBox="1"/>
          <p:nvPr/>
        </p:nvSpPr>
        <p:spPr>
          <a:xfrm>
            <a:off x="640080" y="3246120"/>
            <a:ext cx="457200" cy="411480"/>
          </a:xfrm>
          <a:prstGeom prst="rect">
            <a:avLst/>
          </a:prstGeom>
          <a:noFill/>
          <a:ln/>
        </p:spPr>
        <p:txBody>
          <a:bodyPr wrap="square" lIns="0" tIns="0" rIns="0" bIns="0" rtlCol="0" anchor="t"/>
          <a:lstStyle/>
          <a:p>
            <a:pPr indent="0" marL="0">
              <a:buNone/>
            </a:pPr>
            <a:r>
              <a:rPr lang="en-US" sz="2200" b="1" dirty="0">
                <a:solidFill>
                  <a:srgbClr val="B9808F"/>
                </a:solidFill>
                <a:latin typeface="Aptos Display" pitchFamily="34" charset="0"/>
                <a:ea typeface="Aptos Display" pitchFamily="34" charset="-122"/>
                <a:cs typeface="Aptos Display" pitchFamily="34" charset="-120"/>
              </a:rPr>
              <a:t>C</a:t>
            </a:r>
            <a:endParaRPr lang="en-US" sz="2200" dirty="0"/>
          </a:p>
        </p:txBody>
      </p:sp>
      <p:sp>
        <p:nvSpPr>
          <p:cNvPr id="10" name="text-569"/>
          <p:cNvSpPr txBox="1"/>
          <p:nvPr/>
        </p:nvSpPr>
        <p:spPr>
          <a:xfrm>
            <a:off x="1188720" y="3282696"/>
            <a:ext cx="7315200" cy="365760"/>
          </a:xfrm>
          <a:prstGeom prst="rect">
            <a:avLst/>
          </a:prstGeom>
          <a:noFill/>
          <a:ln/>
        </p:spPr>
        <p:txBody>
          <a:bodyPr wrap="square" lIns="0" tIns="0" rIns="0" bIns="0" rtlCol="0" anchor="t"/>
          <a:lstStyle/>
          <a:p>
            <a:pPr indent="0" marL="0">
              <a:buNone/>
            </a:pPr>
            <a:r>
              <a:rPr lang="en-US" sz="1800" dirty="0">
                <a:solidFill>
                  <a:srgbClr val="FFFFFF"/>
                </a:solidFill>
              </a:rPr>
              <a:t>Financial model assumptions and sensitivity</a:t>
            </a:r>
            <a:endParaRPr lang="en-US" sz="1800" dirty="0"/>
          </a:p>
        </p:txBody>
      </p:sp>
      <p:sp>
        <p:nvSpPr>
          <p:cNvPr id="11" name="text-570"/>
          <p:cNvSpPr txBox="1"/>
          <p:nvPr/>
        </p:nvSpPr>
        <p:spPr>
          <a:xfrm>
            <a:off x="640080" y="3749040"/>
            <a:ext cx="457200" cy="411480"/>
          </a:xfrm>
          <a:prstGeom prst="rect">
            <a:avLst/>
          </a:prstGeom>
          <a:noFill/>
          <a:ln/>
        </p:spPr>
        <p:txBody>
          <a:bodyPr wrap="square" lIns="0" tIns="0" rIns="0" bIns="0" rtlCol="0" anchor="t"/>
          <a:lstStyle/>
          <a:p>
            <a:pPr indent="0" marL="0">
              <a:buNone/>
            </a:pPr>
            <a:r>
              <a:rPr lang="en-US" sz="2200" b="1" dirty="0">
                <a:solidFill>
                  <a:srgbClr val="B9808F"/>
                </a:solidFill>
                <a:latin typeface="Aptos Display" pitchFamily="34" charset="0"/>
                <a:ea typeface="Aptos Display" pitchFamily="34" charset="-122"/>
                <a:cs typeface="Aptos Display" pitchFamily="34" charset="-120"/>
              </a:rPr>
              <a:t>D</a:t>
            </a:r>
            <a:endParaRPr lang="en-US" sz="2200" dirty="0"/>
          </a:p>
        </p:txBody>
      </p:sp>
      <p:sp>
        <p:nvSpPr>
          <p:cNvPr id="12" name="text-571"/>
          <p:cNvSpPr txBox="1"/>
          <p:nvPr/>
        </p:nvSpPr>
        <p:spPr>
          <a:xfrm>
            <a:off x="1188720" y="3785616"/>
            <a:ext cx="7315200" cy="365760"/>
          </a:xfrm>
          <a:prstGeom prst="rect">
            <a:avLst/>
          </a:prstGeom>
          <a:noFill/>
          <a:ln/>
        </p:spPr>
        <p:txBody>
          <a:bodyPr wrap="square" lIns="0" tIns="0" rIns="0" bIns="0" rtlCol="0" anchor="t"/>
          <a:lstStyle/>
          <a:p>
            <a:pPr indent="0" marL="0">
              <a:buNone/>
            </a:pPr>
            <a:r>
              <a:rPr lang="en-US" sz="1800" dirty="0">
                <a:solidFill>
                  <a:srgbClr val="FFFFFF"/>
                </a:solidFill>
              </a:rPr>
              <a:t>The five playbooks</a:t>
            </a:r>
            <a:endParaRPr lang="en-US" sz="1800" dirty="0"/>
          </a:p>
        </p:txBody>
      </p:sp>
      <p:sp>
        <p:nvSpPr>
          <p:cNvPr id="13" name="text-572"/>
          <p:cNvSpPr txBox="1"/>
          <p:nvPr/>
        </p:nvSpPr>
        <p:spPr>
          <a:xfrm>
            <a:off x="640080" y="4251960"/>
            <a:ext cx="457200" cy="411480"/>
          </a:xfrm>
          <a:prstGeom prst="rect">
            <a:avLst/>
          </a:prstGeom>
          <a:noFill/>
          <a:ln/>
        </p:spPr>
        <p:txBody>
          <a:bodyPr wrap="square" lIns="0" tIns="0" rIns="0" bIns="0" rtlCol="0" anchor="t"/>
          <a:lstStyle/>
          <a:p>
            <a:pPr indent="0" marL="0">
              <a:buNone/>
            </a:pPr>
            <a:r>
              <a:rPr lang="en-US" sz="2200" b="1" dirty="0">
                <a:solidFill>
                  <a:srgbClr val="B9808F"/>
                </a:solidFill>
                <a:latin typeface="Aptos Display" pitchFamily="34" charset="0"/>
                <a:ea typeface="Aptos Display" pitchFamily="34" charset="-122"/>
                <a:cs typeface="Aptos Display" pitchFamily="34" charset="-120"/>
              </a:rPr>
              <a:t>E</a:t>
            </a:r>
            <a:endParaRPr lang="en-US" sz="2200" dirty="0"/>
          </a:p>
        </p:txBody>
      </p:sp>
      <p:sp>
        <p:nvSpPr>
          <p:cNvPr id="14" name="text-573"/>
          <p:cNvSpPr txBox="1"/>
          <p:nvPr/>
        </p:nvSpPr>
        <p:spPr>
          <a:xfrm>
            <a:off x="1188720" y="4288536"/>
            <a:ext cx="7315200" cy="365760"/>
          </a:xfrm>
          <a:prstGeom prst="rect">
            <a:avLst/>
          </a:prstGeom>
          <a:noFill/>
          <a:ln/>
        </p:spPr>
        <p:txBody>
          <a:bodyPr wrap="square" lIns="0" tIns="0" rIns="0" bIns="0" rtlCol="0" anchor="t"/>
          <a:lstStyle/>
          <a:p>
            <a:pPr indent="0" marL="0">
              <a:buNone/>
            </a:pPr>
            <a:r>
              <a:rPr lang="en-US" sz="1800" dirty="0">
                <a:solidFill>
                  <a:srgbClr val="FFFFFF"/>
                </a:solidFill>
              </a:rPr>
              <a:t>Five biggest risks and how we address them</a:t>
            </a:r>
            <a:endParaRPr lang="en-US" sz="1800" dirty="0"/>
          </a:p>
        </p:txBody>
      </p:sp>
      <p:sp>
        <p:nvSpPr>
          <p:cNvPr id="15" name="text-574"/>
          <p:cNvSpPr txBox="1"/>
          <p:nvPr/>
        </p:nvSpPr>
        <p:spPr>
          <a:xfrm>
            <a:off x="640080" y="4754880"/>
            <a:ext cx="457200" cy="411480"/>
          </a:xfrm>
          <a:prstGeom prst="rect">
            <a:avLst/>
          </a:prstGeom>
          <a:noFill/>
          <a:ln/>
        </p:spPr>
        <p:txBody>
          <a:bodyPr wrap="square" lIns="0" tIns="0" rIns="0" bIns="0" rtlCol="0" anchor="t"/>
          <a:lstStyle/>
          <a:p>
            <a:pPr indent="0" marL="0">
              <a:buNone/>
            </a:pPr>
            <a:r>
              <a:rPr lang="en-US" sz="2200" b="1" dirty="0">
                <a:solidFill>
                  <a:srgbClr val="B9808F"/>
                </a:solidFill>
                <a:latin typeface="Aptos Display" pitchFamily="34" charset="0"/>
                <a:ea typeface="Aptos Display" pitchFamily="34" charset="-122"/>
                <a:cs typeface="Aptos Display" pitchFamily="34" charset="-120"/>
              </a:rPr>
              <a:t>F</a:t>
            </a:r>
            <a:endParaRPr lang="en-US" sz="2200" dirty="0"/>
          </a:p>
        </p:txBody>
      </p:sp>
      <p:sp>
        <p:nvSpPr>
          <p:cNvPr id="16" name="text-575"/>
          <p:cNvSpPr txBox="1"/>
          <p:nvPr/>
        </p:nvSpPr>
        <p:spPr>
          <a:xfrm>
            <a:off x="1188720" y="4791456"/>
            <a:ext cx="7315200" cy="365760"/>
          </a:xfrm>
          <a:prstGeom prst="rect">
            <a:avLst/>
          </a:prstGeom>
          <a:noFill/>
          <a:ln/>
        </p:spPr>
        <p:txBody>
          <a:bodyPr wrap="square" lIns="0" tIns="0" rIns="0" bIns="0" rtlCol="0" anchor="t"/>
          <a:lstStyle/>
          <a:p>
            <a:pPr indent="0" marL="0">
              <a:buNone/>
            </a:pPr>
            <a:r>
              <a:rPr lang="en-US" sz="1800" dirty="0">
                <a:solidFill>
                  <a:srgbClr val="FFFFFF"/>
                </a:solidFill>
              </a:rPr>
              <a:t>Likely judge questions</a:t>
            </a:r>
            <a:endParaRPr lang="en-US" sz="1800" dirty="0"/>
          </a:p>
        </p:txBody>
      </p:sp>
      <p:sp>
        <p:nvSpPr>
          <p:cNvPr id="17" name="text-576"/>
          <p:cNvSpPr txBox="1"/>
          <p:nvPr/>
        </p:nvSpPr>
        <p:spPr>
          <a:xfrm>
            <a:off x="640080" y="5257800"/>
            <a:ext cx="457200" cy="411480"/>
          </a:xfrm>
          <a:prstGeom prst="rect">
            <a:avLst/>
          </a:prstGeom>
          <a:noFill/>
          <a:ln/>
        </p:spPr>
        <p:txBody>
          <a:bodyPr wrap="square" lIns="0" tIns="0" rIns="0" bIns="0" rtlCol="0" anchor="t"/>
          <a:lstStyle/>
          <a:p>
            <a:pPr indent="0" marL="0">
              <a:buNone/>
            </a:pPr>
            <a:r>
              <a:rPr lang="en-US" sz="2200" b="1" dirty="0">
                <a:solidFill>
                  <a:srgbClr val="B9808F"/>
                </a:solidFill>
                <a:latin typeface="Aptos Display" pitchFamily="34" charset="0"/>
                <a:ea typeface="Aptos Display" pitchFamily="34" charset="-122"/>
                <a:cs typeface="Aptos Display" pitchFamily="34" charset="-120"/>
              </a:rPr>
              <a:t>G</a:t>
            </a:r>
            <a:endParaRPr lang="en-US" sz="2200" dirty="0"/>
          </a:p>
        </p:txBody>
      </p:sp>
      <p:sp>
        <p:nvSpPr>
          <p:cNvPr id="18" name="text-577"/>
          <p:cNvSpPr txBox="1"/>
          <p:nvPr/>
        </p:nvSpPr>
        <p:spPr>
          <a:xfrm>
            <a:off x="1188720" y="5294376"/>
            <a:ext cx="7315200" cy="365760"/>
          </a:xfrm>
          <a:prstGeom prst="rect">
            <a:avLst/>
          </a:prstGeom>
          <a:noFill/>
          <a:ln/>
        </p:spPr>
        <p:txBody>
          <a:bodyPr wrap="square" lIns="0" tIns="0" rIns="0" bIns="0" rtlCol="0" anchor="t"/>
          <a:lstStyle/>
          <a:p>
            <a:pPr indent="0" marL="0">
              <a:buNone/>
            </a:pPr>
            <a:r>
              <a:rPr lang="en-US" sz="1800" dirty="0">
                <a:solidFill>
                  <a:srgbClr val="FFFFFF"/>
                </a:solidFill>
              </a:rPr>
              <a:t>Solution options we considered</a:t>
            </a:r>
            <a:endParaRPr lang="en-US" sz="1800" dirty="0"/>
          </a:p>
        </p:txBody>
      </p:sp>
      <p:sp>
        <p:nvSpPr>
          <p:cNvPr id="19" name="Text 0"/>
          <p:cNvSpPr/>
          <p:nvPr>
            <p:ph idx="103" type="body" hasCustomPrompt="1"/>
          </p:nvPr>
        </p:nvSpPr>
        <p:spPr>
          <a:xfrm>
            <a:off x="640080" y="6355080"/>
            <a:ext cx="9189720" cy="347472"/>
          </a:xfrm>
          <a:prstGeom prst="rect">
            <a:avLst/>
          </a:prstGeom>
          <a:noFill/>
          <a:ln/>
        </p:spPr>
        <p:txBody>
          <a:bodyPr wrap="square" lIns="0" tIns="0" rIns="0" bIns="0" rtlCol="0" anchor="t"/>
          <a:lstStyle/>
          <a:p>
            <a:pPr indent="0" marL="0">
              <a:buNone/>
            </a:pPr>
            <a:endParaRPr lang="en-US" sz="1000" dirty="0"/>
          </a:p>
        </p:txBody>
      </p:sp>
      <p:sp>
        <p:nvSpPr>
          <p:cNvPr id="25" name="Slide Number Placeholder 0"/>
          <p:cNvSpPr>
            <a:spLocks noGrp="1"/>
          </p:cNvSpPr>
          <p:nvPr>
            <p:ph type="sldNum" sz="quarter" idx="4294967295"/>
          </p:nvPr>
        </p:nvSpPr>
        <p:spPr>
          <a:xfrm>
            <a:off x="11091672"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A9A09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body" hasCustomPrompt="1"/>
          </p:nvPr>
        </p:nvSpPr>
        <p:spPr>
          <a:xfrm>
            <a:off x="640080" y="457200"/>
            <a:ext cx="8686800" cy="237744"/>
          </a:xfrm>
          <a:prstGeom prst="rect">
            <a:avLst/>
          </a:prstGeom>
          <a:noFill/>
          <a:ln/>
        </p:spPr>
        <p:txBody>
          <a:bodyPr wrap="square" lIns="0" tIns="0" rIns="0" bIns="0" rtlCol="0" anchor="t"/>
          <a:lstStyle/>
          <a:p>
            <a:pPr indent="0" marL="0">
              <a:buNone/>
            </a:pPr>
            <a:r>
              <a:rPr lang="en-US" sz="1100" b="1" spc="200" kern="0" dirty="0">
                <a:solidFill>
                  <a:srgbClr val="65172F"/>
                </a:solidFill>
              </a:rPr>
              <a:t>APPENDIX A · SOURCES AND DATA INTEGRITY</a:t>
            </a:r>
            <a:endParaRPr lang="en-US" sz="1100" dirty="0"/>
          </a:p>
        </p:txBody>
      </p:sp>
      <p:sp>
        <p:nvSpPr>
          <p:cNvPr id="3" name="Text 0"/>
          <p:cNvSpPr/>
          <p:nvPr>
            <p:ph idx="102" type="title" hasCustomPrompt="1"/>
          </p:nvPr>
        </p:nvSpPr>
        <p:spPr>
          <a:xfrm>
            <a:off x="640080" y="749808"/>
            <a:ext cx="9418320" cy="1005840"/>
          </a:xfrm>
          <a:prstGeom prst="rect">
            <a:avLst/>
          </a:prstGeom>
          <a:noFill/>
          <a:ln/>
        </p:spPr>
        <p:txBody>
          <a:bodyPr wrap="square" lIns="0" tIns="0" rIns="0" bIns="0" rtlCol="0" anchor="t"/>
          <a:lstStyle/>
          <a:p>
            <a:pPr algn="l" indent="0" marL="0">
              <a:lnSpc>
                <a:spcPct val="95000"/>
              </a:lnSpc>
              <a:buNone/>
            </a:pPr>
            <a:r>
              <a:rPr lang="en-US" sz="3000" b="1" dirty="0">
                <a:solidFill>
                  <a:srgbClr val="171717"/>
                </a:solidFill>
                <a:latin typeface="Aptos Display" pitchFamily="34" charset="0"/>
                <a:ea typeface="Aptos Display" pitchFamily="34" charset="-122"/>
                <a:cs typeface="Aptos Display" pitchFamily="34" charset="-120"/>
              </a:rPr>
              <a:t>What is fact, what is research, what is our estimate</a:t>
            </a:r>
            <a:endParaRPr lang="en-US" sz="3000" dirty="0"/>
          </a:p>
        </p:txBody>
      </p:sp>
      <p:sp>
        <p:nvSpPr>
          <p:cNvPr id="4" name="Text 0"/>
          <p:cNvSpPr/>
          <p:nvPr>
            <p:ph idx="103" type="body" hasCustomPrompt="1"/>
          </p:nvPr>
        </p:nvSpPr>
        <p:spPr>
          <a:xfrm>
            <a:off x="640080" y="6355080"/>
            <a:ext cx="9189720" cy="347472"/>
          </a:xfrm>
          <a:prstGeom prst="rect">
            <a:avLst/>
          </a:prstGeom>
          <a:noFill/>
          <a:ln/>
        </p:spPr>
        <p:txBody>
          <a:bodyPr wrap="square" lIns="0" tIns="0" rIns="0" bIns="0" rtlCol="0" anchor="t"/>
          <a:lstStyle/>
          <a:p>
            <a:pPr indent="0" marL="0">
              <a:buNone/>
            </a:pPr>
            <a:r>
              <a:rPr lang="en-US" sz="1000" dirty="0">
                <a:solidFill>
                  <a:srgbClr val="6E665E"/>
                </a:solidFill>
              </a:rPr>
              <a:t>Full source register with URLs: research folder, sources.md. Some claims were verified from search summaries of the named pages; re-open before external use. Global data is labelled as such.</a:t>
            </a:r>
            <a:endParaRPr lang="en-US" sz="1000" dirty="0"/>
          </a:p>
        </p:txBody>
      </p:sp>
      <p:sp>
        <p:nvSpPr>
          <p:cNvPr id="6" name="dot-578"/>
          <p:cNvSpPr/>
          <p:nvPr/>
        </p:nvSpPr>
        <p:spPr>
          <a:xfrm>
            <a:off x="640080" y="1883664"/>
            <a:ext cx="146304" cy="146304"/>
          </a:xfrm>
          <a:prstGeom prst="ellipse">
            <a:avLst/>
          </a:prstGeom>
          <a:solidFill>
            <a:srgbClr val="65172F"/>
          </a:solidFill>
          <a:ln w="12700">
            <a:solidFill>
              <a:srgbClr val="65172F"/>
            </a:solidFill>
            <a:prstDash val="solid"/>
          </a:ln>
        </p:spPr>
      </p:sp>
      <p:sp>
        <p:nvSpPr>
          <p:cNvPr id="7" name="text-579"/>
          <p:cNvSpPr txBox="1"/>
          <p:nvPr/>
        </p:nvSpPr>
        <p:spPr>
          <a:xfrm>
            <a:off x="914400" y="1828800"/>
            <a:ext cx="4343400" cy="603504"/>
          </a:xfrm>
          <a:prstGeom prst="rect">
            <a:avLst/>
          </a:prstGeom>
          <a:noFill/>
          <a:ln/>
        </p:spPr>
        <p:txBody>
          <a:bodyPr wrap="square" lIns="0" tIns="0" rIns="0" bIns="0" rtlCol="0" anchor="t"/>
          <a:lstStyle/>
          <a:p>
            <a:pPr indent="0" marL="0">
              <a:buNone/>
            </a:pPr>
            <a:r>
              <a:rPr lang="en-US" sz="1300" b="1" dirty="0">
                <a:solidFill>
                  <a:srgbClr val="65172F"/>
                </a:solidFill>
              </a:rPr>
              <a:t>Case fact</a:t>
            </a:r>
            <a:endParaRPr lang="en-US" sz="1300" dirty="0"/>
          </a:p>
          <a:p>
            <a:pPr indent="0" marL="0">
              <a:buNone/>
            </a:pPr>
            <a:r>
              <a:rPr lang="en-US" sz="1100" dirty="0">
                <a:solidFill>
                  <a:srgbClr val="6E665E"/>
                </a:solidFill>
              </a:rPr>
              <a:t>From the L'Oréal brief: ≈1.5% returns/expired/damaged; ≈1% handling; field teams see distributor and retailer inventory</a:t>
            </a:r>
            <a:endParaRPr lang="en-US" sz="1300" dirty="0"/>
          </a:p>
        </p:txBody>
      </p:sp>
      <p:sp>
        <p:nvSpPr>
          <p:cNvPr id="8" name="dot-580"/>
          <p:cNvSpPr/>
          <p:nvPr/>
        </p:nvSpPr>
        <p:spPr>
          <a:xfrm>
            <a:off x="640080" y="2523744"/>
            <a:ext cx="146304" cy="146304"/>
          </a:xfrm>
          <a:prstGeom prst="ellipse">
            <a:avLst/>
          </a:prstGeom>
          <a:solidFill>
            <a:srgbClr val="171717"/>
          </a:solidFill>
          <a:ln w="12700">
            <a:solidFill>
              <a:srgbClr val="171717"/>
            </a:solidFill>
            <a:prstDash val="solid"/>
          </a:ln>
        </p:spPr>
      </p:sp>
      <p:sp>
        <p:nvSpPr>
          <p:cNvPr id="9" name="text-581"/>
          <p:cNvSpPr txBox="1"/>
          <p:nvPr/>
        </p:nvSpPr>
        <p:spPr>
          <a:xfrm>
            <a:off x="914400" y="2468880"/>
            <a:ext cx="4343400" cy="603504"/>
          </a:xfrm>
          <a:prstGeom prst="rect">
            <a:avLst/>
          </a:prstGeom>
          <a:noFill/>
          <a:ln/>
        </p:spPr>
        <p:txBody>
          <a:bodyPr wrap="square" lIns="0" tIns="0" rIns="0" bIns="0" rtlCol="0" anchor="t"/>
          <a:lstStyle/>
          <a:p>
            <a:pPr indent="0" marL="0">
              <a:buNone/>
            </a:pPr>
            <a:r>
              <a:rPr lang="en-US" sz="1300" b="1" dirty="0">
                <a:solidFill>
                  <a:srgbClr val="171717"/>
                </a:solidFill>
              </a:rPr>
              <a:t>Research finding</a:t>
            </a:r>
            <a:endParaRPr lang="en-US" sz="1300" dirty="0"/>
          </a:p>
          <a:p>
            <a:pPr indent="0" marL="0">
              <a:buNone/>
            </a:pPr>
            <a:r>
              <a:rPr lang="en-US" sz="1100" dirty="0">
                <a:solidFill>
                  <a:srgbClr val="6E665E"/>
                </a:solidFill>
              </a:rPr>
              <a:t>Public, dated sources (right). India unless marked global</a:t>
            </a:r>
            <a:endParaRPr lang="en-US" sz="1300" dirty="0"/>
          </a:p>
        </p:txBody>
      </p:sp>
      <p:sp>
        <p:nvSpPr>
          <p:cNvPr id="10" name="dot-582"/>
          <p:cNvSpPr/>
          <p:nvPr/>
        </p:nvSpPr>
        <p:spPr>
          <a:xfrm>
            <a:off x="640080" y="3163824"/>
            <a:ext cx="146304" cy="146304"/>
          </a:xfrm>
          <a:prstGeom prst="ellipse">
            <a:avLst/>
          </a:prstGeom>
          <a:solidFill>
            <a:srgbClr val="6E665E"/>
          </a:solidFill>
          <a:ln w="12700">
            <a:solidFill>
              <a:srgbClr val="6E665E"/>
            </a:solidFill>
            <a:prstDash val="solid"/>
          </a:ln>
        </p:spPr>
      </p:sp>
      <p:sp>
        <p:nvSpPr>
          <p:cNvPr id="11" name="text-583"/>
          <p:cNvSpPr txBox="1"/>
          <p:nvPr/>
        </p:nvSpPr>
        <p:spPr>
          <a:xfrm>
            <a:off x="914400" y="3108960"/>
            <a:ext cx="4343400" cy="603504"/>
          </a:xfrm>
          <a:prstGeom prst="rect">
            <a:avLst/>
          </a:prstGeom>
          <a:noFill/>
          <a:ln/>
        </p:spPr>
        <p:txBody>
          <a:bodyPr wrap="square" lIns="0" tIns="0" rIns="0" bIns="0" rtlCol="0" anchor="t"/>
          <a:lstStyle/>
          <a:p>
            <a:pPr indent="0" marL="0">
              <a:buNone/>
            </a:pPr>
            <a:r>
              <a:rPr lang="en-US" sz="1300" b="1" dirty="0">
                <a:solidFill>
                  <a:srgbClr val="6E665E"/>
                </a:solidFill>
              </a:rPr>
              <a:t>Estimate</a:t>
            </a:r>
            <a:endParaRPr lang="en-US" sz="1300" dirty="0"/>
          </a:p>
          <a:p>
            <a:pPr indent="0" marL="0">
              <a:buNone/>
            </a:pPr>
            <a:r>
              <a:rPr lang="en-US" sz="1100" dirty="0">
                <a:solidFill>
                  <a:srgbClr val="6E665E"/>
                </a:solidFill>
              </a:rPr>
              <a:t>Our modelled numbers: financial scenarios, addressable shares, uplifts</a:t>
            </a:r>
            <a:endParaRPr lang="en-US" sz="1300" dirty="0"/>
          </a:p>
        </p:txBody>
      </p:sp>
      <p:sp>
        <p:nvSpPr>
          <p:cNvPr id="12" name="dot-584"/>
          <p:cNvSpPr/>
          <p:nvPr/>
        </p:nvSpPr>
        <p:spPr>
          <a:xfrm>
            <a:off x="640080" y="3803904"/>
            <a:ext cx="146304" cy="146304"/>
          </a:xfrm>
          <a:prstGeom prst="ellipse">
            <a:avLst/>
          </a:prstGeom>
          <a:solidFill>
            <a:srgbClr val="327B60"/>
          </a:solidFill>
          <a:ln w="12700">
            <a:solidFill>
              <a:srgbClr val="327B60"/>
            </a:solidFill>
            <a:prstDash val="solid"/>
          </a:ln>
        </p:spPr>
      </p:sp>
      <p:sp>
        <p:nvSpPr>
          <p:cNvPr id="13" name="text-585"/>
          <p:cNvSpPr txBox="1"/>
          <p:nvPr/>
        </p:nvSpPr>
        <p:spPr>
          <a:xfrm>
            <a:off x="914400" y="3749040"/>
            <a:ext cx="4343400" cy="603504"/>
          </a:xfrm>
          <a:prstGeom prst="rect">
            <a:avLst/>
          </a:prstGeom>
          <a:noFill/>
          <a:ln/>
        </p:spPr>
        <p:txBody>
          <a:bodyPr wrap="square" lIns="0" tIns="0" rIns="0" bIns="0" rtlCol="0" anchor="t"/>
          <a:lstStyle/>
          <a:p>
            <a:pPr indent="0" marL="0">
              <a:buNone/>
            </a:pPr>
            <a:r>
              <a:rPr lang="en-US" sz="1300" b="1" dirty="0">
                <a:solidFill>
                  <a:srgbClr val="327B60"/>
                </a:solidFill>
              </a:rPr>
              <a:t>Synthetic</a:t>
            </a:r>
            <a:endParaRPr lang="en-US" sz="1300" dirty="0"/>
          </a:p>
          <a:p>
            <a:pPr indent="0" marL="0">
              <a:buNone/>
            </a:pPr>
            <a:r>
              <a:rPr lang="en-US" sz="1100" dirty="0">
                <a:solidFill>
                  <a:srgbClr val="6E665E"/>
                </a:solidFill>
              </a:rPr>
              <a:t>All prototype data: fictional brands, outlets, people, online growth rates</a:t>
            </a:r>
            <a:endParaRPr lang="en-US" sz="1300" dirty="0"/>
          </a:p>
        </p:txBody>
      </p:sp>
      <p:sp>
        <p:nvSpPr>
          <p:cNvPr id="14" name="text-586"/>
          <p:cNvSpPr txBox="1"/>
          <p:nvPr/>
        </p:nvSpPr>
        <p:spPr>
          <a:xfrm>
            <a:off x="640080" y="4526280"/>
            <a:ext cx="4572000" cy="1097280"/>
          </a:xfrm>
          <a:prstGeom prst="rect">
            <a:avLst/>
          </a:prstGeom>
          <a:noFill/>
          <a:ln/>
        </p:spPr>
        <p:txBody>
          <a:bodyPr wrap="square" lIns="0" tIns="0" rIns="0" bIns="0" rtlCol="0" anchor="t"/>
          <a:lstStyle/>
          <a:p>
            <a:pPr indent="0" marL="0">
              <a:buNone/>
            </a:pPr>
            <a:r>
              <a:rPr lang="en-US" sz="1200" b="1" dirty="0">
                <a:solidFill>
                  <a:srgbClr val="171717"/>
                </a:solidFill>
              </a:rPr>
              <a:t>Not publicly available (we did not invent these): </a:t>
            </a:r>
            <a:pPr indent="0" marL="0">
              <a:buNone/>
            </a:pPr>
            <a:r>
              <a:rPr lang="en-US" sz="1200" dirty="0">
                <a:solidFill>
                  <a:srgbClr val="171717"/>
                </a:solidFill>
              </a:rPr>
              <a:t>L'Oréal India channel mix, distributor and outlet counts, field-force size, SFA/DMS stack, return-policy terms, or what "capped at ≈1.5%" means. These are pilot set-up questions.</a:t>
            </a:r>
            <a:endParaRPr lang="en-US" sz="1200" dirty="0"/>
          </a:p>
        </p:txBody>
      </p:sp>
      <p:graphicFrame>
        <p:nvGraphicFramePr>
          <p:cNvPr id="20" name="table-587"/>
          <p:cNvGraphicFramePr>
            <a:graphicFrameLocks noGrp="1"/>
          </p:cNvGraphicFramePr>
          <p:nvPr>
            <p:extLst>
              <p:ext uri="{D42A27DB-BD31-4B8C-83A1-F6EECF244321}">
                <p14:modId xmlns:p14="http://schemas.microsoft.com/office/powerpoint/2010/main" val="1579011935"/>
              </p:ext>
            </p:extLst>
          </p:nvPr>
        </p:nvGraphicFramePr>
        <p:xfrm>
          <a:off x="5486400" y="1810512"/>
          <a:ext cx="6062472" cy="914400"/>
        </p:xfrm>
        <a:graphic>
          <a:graphicData uri="http://schemas.openxmlformats.org/drawingml/2006/table">
            <a:tbl>
              <a:tblPr/>
              <a:tblGrid>
                <a:gridCol w="3566160"/>
                <a:gridCol w="2496312"/>
              </a:tblGrid>
              <a:tr h="393192">
                <a:tc>
                  <a:txBody>
                    <a:bodyPr/>
                    <a:lstStyle/>
                    <a:p>
                      <a:pPr algn="l" indent="0" marL="0">
                        <a:buNone/>
                      </a:pPr>
                      <a:r>
                        <a:rPr lang="en-US" sz="1050" b="1" dirty="0">
                          <a:solidFill>
                            <a:srgbClr val="FFFFFF"/>
                          </a:solidFill>
                        </a:rPr>
                        <a:t>Claim</a:t>
                      </a: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171717"/>
                    </a:solidFill>
                  </a:tcPr>
                </a:tc>
                <a:tc>
                  <a:txBody>
                    <a:bodyPr/>
                    <a:lstStyle/>
                    <a:p>
                      <a:pPr algn="l" indent="0" marL="0">
                        <a:buNone/>
                      </a:pPr>
                      <a:r>
                        <a:rPr lang="en-US" sz="1050" b="1" dirty="0">
                          <a:solidFill>
                            <a:srgbClr val="FFFFFF"/>
                          </a:solidFill>
                        </a:rPr>
                        <a:t>Source, date</a:t>
                      </a: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171717"/>
                    </a:solidFill>
                  </a:tcPr>
                </a:tc>
              </a:tr>
              <a:tr h="393192">
                <a:tc>
                  <a:txBody>
                    <a:bodyPr/>
                    <a:lstStyle/>
                    <a:p>
                      <a:pPr algn="l" indent="0" marL="0">
                        <a:buNone/>
                      </a:pPr>
                      <a:r>
                        <a:rPr lang="en-US" sz="1050" dirty="0">
                          <a:solidFill>
                            <a:srgbClr val="171717"/>
                          </a:solidFill>
                        </a:rPr>
                        <a:t>L'Oréal India FY24 revenue ₹5,576 cr; FY25 net sales ₹5,925 cr, profit ₹597.5 cr</a:t>
                      </a: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71717"/>
                          </a:solidFill>
                        </a:rPr>
                        <a:t>Indiaretailing, 27 Nov 2024; PTI/The Week, 3 Oct 2025</a:t>
                      </a: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393192">
                <a:tc>
                  <a:txBody>
                    <a:bodyPr/>
                    <a:lstStyle/>
                    <a:p>
                      <a:pPr algn="l" indent="0" marL="0">
                        <a:buNone/>
                      </a:pPr>
                      <a:r>
                        <a:rPr lang="en-US" sz="1050" dirty="0">
                          <a:solidFill>
                            <a:srgbClr val="171717"/>
                          </a:solidFill>
                        </a:rPr>
                        <a:t>India +14% LFL (H1 2025), +17% (H1 2026); SAPMENA-SSA +10.9% (2025)</a:t>
                      </a: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1"/>
                    </a:solidFill>
                  </a:tcPr>
                </a:tc>
                <a:tc>
                  <a:txBody>
                    <a:bodyPr/>
                    <a:lstStyle/>
                    <a:p>
                      <a:pPr algn="l" indent="0" marL="0">
                        <a:buNone/>
                      </a:pPr>
                      <a:r>
                        <a:rPr lang="en-US" sz="1050" dirty="0">
                          <a:solidFill>
                            <a:srgbClr val="171717"/>
                          </a:solidFill>
                        </a:rPr>
                        <a:t>L'Oréal half-year results; 2025 URD</a:t>
                      </a: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1"/>
                    </a:solidFill>
                  </a:tcPr>
                </a:tc>
              </a:tr>
              <a:tr h="393192">
                <a:tc>
                  <a:txBody>
                    <a:bodyPr/>
                    <a:lstStyle/>
                    <a:p>
                      <a:pPr algn="l" indent="0" marL="0">
                        <a:buNone/>
                      </a:pPr>
                      <a:r>
                        <a:rPr lang="en-US" sz="1050" dirty="0">
                          <a:solidFill>
                            <a:srgbClr val="171717"/>
                          </a:solidFill>
                        </a:rPr>
                        <a:t>Quick commerce a focus; CeraVe and La Roche-Posay expanding</a:t>
                      </a: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71717"/>
                          </a:solidFill>
                        </a:rPr>
                        <a:t>Business Standard, 25 Oct 2026</a:t>
                      </a: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393192">
                <a:tc>
                  <a:txBody>
                    <a:bodyPr/>
                    <a:lstStyle/>
                    <a:p>
                      <a:pPr algn="l" indent="0" marL="0">
                        <a:buNone/>
                      </a:pPr>
                      <a:r>
                        <a:rPr lang="en-US" sz="1050" dirty="0">
                          <a:solidFill>
                            <a:srgbClr val="171717"/>
                          </a:solidFill>
                        </a:rPr>
                        <a:t>E-com 18% of FMCG in top-8 metros; q-comm &gt;¾ of e-com; kirana volume +1.1%</a:t>
                      </a: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1"/>
                    </a:solidFill>
                  </a:tcPr>
                </a:tc>
                <a:tc>
                  <a:txBody>
                    <a:bodyPr/>
                    <a:lstStyle/>
                    <a:p>
                      <a:pPr algn="l" indent="0" marL="0">
                        <a:buNone/>
                      </a:pPr>
                      <a:r>
                        <a:rPr lang="en-US" sz="1050" dirty="0">
                          <a:solidFill>
                            <a:srgbClr val="171717"/>
                          </a:solidFill>
                        </a:rPr>
                        <a:t>NielsenIQ Q4 2025 snapshot, Mar 2026</a:t>
                      </a: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1"/>
                    </a:solidFill>
                  </a:tcPr>
                </a:tc>
              </a:tr>
              <a:tr h="393192">
                <a:tc>
                  <a:txBody>
                    <a:bodyPr/>
                    <a:lstStyle/>
                    <a:p>
                      <a:pPr algn="l" indent="0" marL="0">
                        <a:buNone/>
                      </a:pPr>
                      <a:r>
                        <a:rPr lang="en-US" sz="1050" dirty="0">
                          <a:solidFill>
                            <a:srgbClr val="171717"/>
                          </a:solidFill>
                        </a:rPr>
                        <a:t>Dabur cut distributor stock 30 → 21 days; halted primary 7–8 days</a:t>
                      </a: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71717"/>
                          </a:solidFill>
                        </a:rPr>
                        <a:t>Sharekhan 30 Oct 2024; Baroda Securities 31 Oct 2024</a:t>
                      </a: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393192">
                <a:tc>
                  <a:txBody>
                    <a:bodyPr/>
                    <a:lstStyle/>
                    <a:p>
                      <a:pPr algn="l" indent="0" marL="0">
                        <a:buNone/>
                      </a:pPr>
                      <a:r>
                        <a:rPr lang="en-US" sz="1050" dirty="0">
                          <a:solidFill>
                            <a:srgbClr val="171717"/>
                          </a:solidFill>
                        </a:rPr>
                        <a:t>AICPDF alleges near-expiry dumping via quick commerce</a:t>
                      </a: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1"/>
                    </a:solidFill>
                  </a:tcPr>
                </a:tc>
                <a:tc>
                  <a:txBody>
                    <a:bodyPr/>
                    <a:lstStyle/>
                    <a:p>
                      <a:pPr algn="l" indent="0" marL="0">
                        <a:buNone/>
                      </a:pPr>
                      <a:r>
                        <a:rPr lang="en-US" sz="1050" dirty="0">
                          <a:solidFill>
                            <a:srgbClr val="171717"/>
                          </a:solidFill>
                        </a:rPr>
                        <a:t>Storyboard18, Nov 2024 (allegation)</a:t>
                      </a: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1"/>
                    </a:solidFill>
                  </a:tcPr>
                </a:tc>
              </a:tr>
              <a:tr h="393192">
                <a:tc>
                  <a:txBody>
                    <a:bodyPr/>
                    <a:lstStyle/>
                    <a:p>
                      <a:pPr algn="l" indent="0" marL="0">
                        <a:buNone/>
                      </a:pPr>
                      <a:r>
                        <a:rPr lang="en-US" sz="1050" dirty="0">
                          <a:solidFill>
                            <a:srgbClr val="171717"/>
                          </a:solidFill>
                        </a:rPr>
                        <a:t>HUL Shikhar: 1.4 m retailers; dormancy challenges</a:t>
                      </a: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71717"/>
                          </a:solidFill>
                        </a:rPr>
                        <a:t>Unilever 2023; WARC</a:t>
                      </a: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393192">
                <a:tc>
                  <a:txBody>
                    <a:bodyPr/>
                    <a:lstStyle/>
                    <a:p>
                      <a:pPr algn="l" indent="0" marL="0">
                        <a:buNone/>
                      </a:pPr>
                      <a:r>
                        <a:rPr lang="en-US" sz="1050" dirty="0">
                          <a:solidFill>
                            <a:srgbClr val="171717"/>
                          </a:solidFill>
                        </a:rPr>
                        <a:t>Cosmetics labels must carry use-before / expiry date</a:t>
                      </a: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1"/>
                    </a:solidFill>
                  </a:tcPr>
                </a:tc>
                <a:tc>
                  <a:txBody>
                    <a:bodyPr/>
                    <a:lstStyle/>
                    <a:p>
                      <a:pPr algn="l" indent="0" marL="0">
                        <a:buNone/>
                      </a:pPr>
                      <a:r>
                        <a:rPr lang="en-US" sz="1050" dirty="0">
                          <a:solidFill>
                            <a:srgbClr val="171717"/>
                          </a:solidFill>
                        </a:rPr>
                        <a:t>CDSCO Cosmetics Rules 2020 (amended 2025)</a:t>
                      </a: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1"/>
                    </a:solidFill>
                  </a:tcPr>
                </a:tc>
              </a:tr>
              <a:tr h="393192">
                <a:tc>
                  <a:txBody>
                    <a:bodyPr/>
                    <a:lstStyle/>
                    <a:p>
                      <a:pPr algn="l" indent="0" marL="0">
                        <a:buNone/>
                      </a:pPr>
                      <a:r>
                        <a:rPr lang="en-US" sz="1050" dirty="0">
                          <a:solidFill>
                            <a:srgbClr val="171717"/>
                          </a:solidFill>
                        </a:rPr>
                        <a:t>Packaging 33% recycled, 44% recycled or bio-based (2025)</a:t>
                      </a: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71717"/>
                          </a:solidFill>
                        </a:rPr>
                        <a:t>L'Oréal 2025 URD</a:t>
                      </a: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393192">
                <a:tc>
                  <a:txBody>
                    <a:bodyPr/>
                    <a:lstStyle/>
                    <a:p>
                      <a:pPr algn="l" indent="0" marL="0">
                        <a:buNone/>
                      </a:pPr>
                      <a:r>
                        <a:rPr lang="en-US" sz="1050" dirty="0">
                          <a:solidFill>
                            <a:srgbClr val="171717"/>
                          </a:solidFill>
                        </a:rPr>
                        <a:t>Out-of-stock: ≈8% average; ≈1 in 3 shoppers switch or don't buy</a:t>
                      </a: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1"/>
                    </a:solidFill>
                  </a:tcPr>
                </a:tc>
                <a:tc>
                  <a:txBody>
                    <a:bodyPr/>
                    <a:lstStyle/>
                    <a:p>
                      <a:pPr algn="l" indent="0" marL="0">
                        <a:buNone/>
                      </a:pPr>
                      <a:r>
                        <a:rPr lang="en-US" sz="1050" dirty="0">
                          <a:solidFill>
                            <a:srgbClr val="171717"/>
                          </a:solidFill>
                        </a:rPr>
                        <a:t>Gruen, Corsten &amp; Bharadwaj 2002 (global)</a:t>
                      </a:r>
                      <a:endParaRPr lang="en-US" sz="10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1"/>
                    </a:solidFill>
                  </a:tcPr>
                </a:tc>
              </a:tr>
            </a:tbl>
          </a:graphicData>
        </a:graphic>
      </p:graphicFrame>
      <p:sp>
        <p:nvSpPr>
          <p:cNvPr id="25" name="Slide Number Placeholder 0"/>
          <p:cNvSpPr>
            <a:spLocks noGrp="1"/>
          </p:cNvSpPr>
          <p:nvPr>
            <p:ph type="sldNum" sz="quarter" idx="4294967295"/>
          </p:nvPr>
        </p:nvSpPr>
        <p:spPr>
          <a:xfrm>
            <a:off x="11091672"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665E"/>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body" hasCustomPrompt="1"/>
          </p:nvPr>
        </p:nvSpPr>
        <p:spPr>
          <a:xfrm>
            <a:off x="640080" y="457200"/>
            <a:ext cx="8686800" cy="237744"/>
          </a:xfrm>
          <a:prstGeom prst="rect">
            <a:avLst/>
          </a:prstGeom>
          <a:noFill/>
          <a:ln/>
        </p:spPr>
        <p:txBody>
          <a:bodyPr wrap="square" lIns="0" tIns="0" rIns="0" bIns="0" rtlCol="0" anchor="t"/>
          <a:lstStyle/>
          <a:p>
            <a:pPr indent="0" marL="0">
              <a:buNone/>
            </a:pPr>
            <a:r>
              <a:rPr lang="en-US" sz="1100" b="1" spc="200" kern="0" dirty="0">
                <a:solidFill>
                  <a:srgbClr val="65172F"/>
                </a:solidFill>
              </a:rPr>
              <a:t>APPENDIX B · RISK METHODOLOGY</a:t>
            </a:r>
            <a:endParaRPr lang="en-US" sz="1100" dirty="0"/>
          </a:p>
        </p:txBody>
      </p:sp>
      <p:sp>
        <p:nvSpPr>
          <p:cNvPr id="3" name="Text 0"/>
          <p:cNvSpPr/>
          <p:nvPr>
            <p:ph idx="102" type="title" hasCustomPrompt="1"/>
          </p:nvPr>
        </p:nvSpPr>
        <p:spPr>
          <a:xfrm>
            <a:off x="640080" y="749808"/>
            <a:ext cx="9418320" cy="1005840"/>
          </a:xfrm>
          <a:prstGeom prst="rect">
            <a:avLst/>
          </a:prstGeom>
          <a:noFill/>
          <a:ln/>
        </p:spPr>
        <p:txBody>
          <a:bodyPr wrap="square" lIns="0" tIns="0" rIns="0" bIns="0" rtlCol="0" anchor="t"/>
          <a:lstStyle/>
          <a:p>
            <a:pPr algn="l" indent="0" marL="0">
              <a:lnSpc>
                <a:spcPct val="95000"/>
              </a:lnSpc>
              <a:buNone/>
            </a:pPr>
            <a:r>
              <a:rPr lang="en-US" sz="3000" b="1" dirty="0">
                <a:solidFill>
                  <a:srgbClr val="171717"/>
                </a:solidFill>
                <a:latin typeface="Aptos Display" pitchFamily="34" charset="0"/>
                <a:ea typeface="Aptos Display" pitchFamily="34" charset="-122"/>
                <a:cs typeface="Aptos Display" pitchFamily="34" charset="-120"/>
              </a:rPr>
              <a:t>Every flag can be traced to five inputs and four parameters</a:t>
            </a:r>
            <a:endParaRPr lang="en-US" sz="3000" dirty="0"/>
          </a:p>
        </p:txBody>
      </p:sp>
      <p:sp>
        <p:nvSpPr>
          <p:cNvPr id="4" name="Text 0"/>
          <p:cNvSpPr/>
          <p:nvPr>
            <p:ph idx="103" type="body" hasCustomPrompt="1"/>
          </p:nvPr>
        </p:nvSpPr>
        <p:spPr>
          <a:xfrm>
            <a:off x="640080" y="6355080"/>
            <a:ext cx="9189720" cy="347472"/>
          </a:xfrm>
          <a:prstGeom prst="rect">
            <a:avLst/>
          </a:prstGeom>
          <a:noFill/>
          <a:ln/>
        </p:spPr>
        <p:txBody>
          <a:bodyPr wrap="square" lIns="0" tIns="0" rIns="0" bIns="0" rtlCol="0" anchor="t"/>
          <a:lstStyle/>
          <a:p>
            <a:pPr indent="0" marL="0">
              <a:buNone/>
            </a:pPr>
            <a:r>
              <a:rPr lang="en-US" sz="1000" dirty="0">
                <a:solidFill>
                  <a:srgbClr val="6E665E"/>
                </a:solidFill>
              </a:rPr>
              <a:t>Reference implementation: model/risk_engine_reference.py (Python) and lib/engine.ts (prototype). Unit tests check the worked examples.</a:t>
            </a:r>
            <a:endParaRPr lang="en-US" sz="1000" dirty="0"/>
          </a:p>
        </p:txBody>
      </p:sp>
      <p:graphicFrame>
        <p:nvGraphicFramePr>
          <p:cNvPr id="21" name="table-588"/>
          <p:cNvGraphicFramePr>
            <a:graphicFrameLocks noGrp="1"/>
          </p:cNvGraphicFramePr>
          <p:nvPr>
            <p:extLst>
              <p:ext uri="{D42A27DB-BD31-4B8C-83A1-F6EECF244321}">
                <p14:modId xmlns:p14="http://schemas.microsoft.com/office/powerpoint/2010/main" val="1579011935"/>
              </p:ext>
            </p:extLst>
          </p:nvPr>
        </p:nvGraphicFramePr>
        <p:xfrm>
          <a:off x="640080" y="1810512"/>
          <a:ext cx="10911535" cy="914400"/>
        </p:xfrm>
        <a:graphic>
          <a:graphicData uri="http://schemas.openxmlformats.org/drawingml/2006/table">
            <a:tbl>
              <a:tblPr/>
              <a:tblGrid>
                <a:gridCol w="2377440"/>
                <a:gridCol w="2286000"/>
                <a:gridCol w="1280160"/>
                <a:gridCol w="4967935"/>
              </a:tblGrid>
              <a:tr h="457200">
                <a:tc>
                  <a:txBody>
                    <a:bodyPr/>
                    <a:lstStyle/>
                    <a:p>
                      <a:pPr algn="l" indent="0" marL="0">
                        <a:buNone/>
                      </a:pPr>
                      <a:r>
                        <a:rPr lang="en-US" sz="1200" b="1" dirty="0">
                          <a:solidFill>
                            <a:srgbClr val="FFFFFF"/>
                          </a:solidFill>
                        </a:rPr>
                        <a:t>Parameter</a:t>
                      </a:r>
                      <a:endParaRPr lang="en-US" sz="12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171717"/>
                    </a:solidFill>
                  </a:tcPr>
                </a:tc>
                <a:tc>
                  <a:txBody>
                    <a:bodyPr/>
                    <a:lstStyle/>
                    <a:p>
                      <a:pPr algn="l" indent="0" marL="0">
                        <a:buNone/>
                      </a:pPr>
                      <a:r>
                        <a:rPr lang="en-US" sz="1200" b="1" dirty="0">
                          <a:solidFill>
                            <a:srgbClr val="FFFFFF"/>
                          </a:solidFill>
                        </a:rPr>
                        <a:t>Outlet</a:t>
                      </a:r>
                      <a:endParaRPr lang="en-US" sz="12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171717"/>
                    </a:solidFill>
                  </a:tcPr>
                </a:tc>
                <a:tc>
                  <a:txBody>
                    <a:bodyPr/>
                    <a:lstStyle/>
                    <a:p>
                      <a:pPr algn="l" indent="0" marL="0">
                        <a:buNone/>
                      </a:pPr>
                      <a:r>
                        <a:rPr lang="en-US" sz="1200" b="1" dirty="0">
                          <a:solidFill>
                            <a:srgbClr val="FFFFFF"/>
                          </a:solidFill>
                        </a:rPr>
                        <a:t>Distributor</a:t>
                      </a:r>
                      <a:endParaRPr lang="en-US" sz="12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171717"/>
                    </a:solidFill>
                  </a:tcPr>
                </a:tc>
                <a:tc>
                  <a:txBody>
                    <a:bodyPr/>
                    <a:lstStyle/>
                    <a:p>
                      <a:pPr algn="l" indent="0" marL="0">
                        <a:buNone/>
                      </a:pPr>
                      <a:r>
                        <a:rPr lang="en-US" sz="1200" b="1" dirty="0">
                          <a:solidFill>
                            <a:srgbClr val="FFFFFF"/>
                          </a:solidFill>
                        </a:rPr>
                        <a:t>Why</a:t>
                      </a:r>
                      <a:endParaRPr lang="en-US" sz="12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171717"/>
                    </a:solidFill>
                  </a:tcPr>
                </a:tc>
              </a:tr>
              <a:tr h="457200">
                <a:tc>
                  <a:txBody>
                    <a:bodyPr/>
                    <a:lstStyle/>
                    <a:p>
                      <a:pPr algn="l" indent="0" marL="0">
                        <a:buNone/>
                      </a:pPr>
                      <a:r>
                        <a:rPr lang="en-US" sz="1200" b="1" dirty="0">
                          <a:solidFill>
                            <a:srgbClr val="65172F"/>
                          </a:solidFill>
                        </a:rPr>
                        <a:t>Minimum sellable buffer</a:t>
                      </a:r>
                      <a:endParaRPr lang="en-US" sz="12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71717"/>
                          </a:solidFill>
                        </a:rPr>
                        <a:t>30 days</a:t>
                      </a:r>
                      <a:endParaRPr lang="en-US" sz="12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71717"/>
                          </a:solidFill>
                        </a:rPr>
                        <a:t>120 days</a:t>
                      </a:r>
                      <a:endParaRPr lang="en-US" sz="12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71717"/>
                          </a:solidFill>
                        </a:rPr>
                        <a:t>Shoppers and retailers avoid packs close to expiry; distributor stock still has to reach a shelf</a:t>
                      </a:r>
                      <a:endParaRPr lang="en-US" sz="12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457200">
                <a:tc>
                  <a:txBody>
                    <a:bodyPr/>
                    <a:lstStyle/>
                    <a:p>
                      <a:pPr algn="l" indent="0" marL="0">
                        <a:buNone/>
                      </a:pPr>
                      <a:r>
                        <a:rPr lang="en-US" sz="1200" b="1" dirty="0">
                          <a:solidFill>
                            <a:srgbClr val="65172F"/>
                          </a:solidFill>
                        </a:rPr>
                        <a:t>Target days of cover</a:t>
                      </a:r>
                      <a:endParaRPr lang="en-US" sz="12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1"/>
                    </a:solidFill>
                  </a:tcPr>
                </a:tc>
                <a:tc>
                  <a:txBody>
                    <a:bodyPr/>
                    <a:lstStyle/>
                    <a:p>
                      <a:pPr algn="l" indent="0" marL="0">
                        <a:buNone/>
                      </a:pPr>
                      <a:r>
                        <a:rPr lang="en-US" sz="1200" dirty="0">
                          <a:solidFill>
                            <a:srgbClr val="171717"/>
                          </a:solidFill>
                        </a:rPr>
                        <a:t>30</a:t>
                      </a:r>
                      <a:endParaRPr lang="en-US" sz="12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1"/>
                    </a:solidFill>
                  </a:tcPr>
                </a:tc>
                <a:tc>
                  <a:txBody>
                    <a:bodyPr/>
                    <a:lstStyle/>
                    <a:p>
                      <a:pPr algn="l" indent="0" marL="0">
                        <a:buNone/>
                      </a:pPr>
                      <a:r>
                        <a:rPr lang="en-US" sz="1200" dirty="0">
                          <a:solidFill>
                            <a:srgbClr val="171717"/>
                          </a:solidFill>
                        </a:rPr>
                        <a:t>21</a:t>
                      </a:r>
                      <a:endParaRPr lang="en-US" sz="12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1"/>
                    </a:solidFill>
                  </a:tcPr>
                </a:tc>
                <a:tc>
                  <a:txBody>
                    <a:bodyPr/>
                    <a:lstStyle/>
                    <a:p>
                      <a:pPr algn="l" indent="0" marL="0">
                        <a:buNone/>
                      </a:pPr>
                      <a:r>
                        <a:rPr lang="en-US" sz="1200" dirty="0">
                          <a:solidFill>
                            <a:srgbClr val="171717"/>
                          </a:solidFill>
                        </a:rPr>
                        <a:t>Distributor norm in line with publicly corrected FMCG levels</a:t>
                      </a:r>
                      <a:endParaRPr lang="en-US" sz="12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1"/>
                    </a:solidFill>
                  </a:tcPr>
                </a:tc>
              </a:tr>
              <a:tr h="457200">
                <a:tc>
                  <a:txBody>
                    <a:bodyPr/>
                    <a:lstStyle/>
                    <a:p>
                      <a:pPr algn="l" indent="0" marL="0">
                        <a:buNone/>
                      </a:pPr>
                      <a:r>
                        <a:rPr lang="en-US" sz="1200" b="1" dirty="0">
                          <a:solidFill>
                            <a:srgbClr val="65172F"/>
                          </a:solidFill>
                        </a:rPr>
                        <a:t>Reorder point</a:t>
                      </a:r>
                      <a:endParaRPr lang="en-US" sz="12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71717"/>
                          </a:solidFill>
                        </a:rPr>
                        <a:t>≤14 days</a:t>
                      </a:r>
                      <a:endParaRPr lang="en-US" sz="12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71717"/>
                          </a:solidFill>
                        </a:rPr>
                        <a:t>≤12 days</a:t>
                      </a:r>
                      <a:endParaRPr lang="en-US" sz="12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71717"/>
                          </a:solidFill>
                        </a:rPr>
                        <a:t>Lead time 7 days + safety stock</a:t>
                      </a:r>
                      <a:endParaRPr lang="en-US" sz="12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457200">
                <a:tc>
                  <a:txBody>
                    <a:bodyPr/>
                    <a:lstStyle/>
                    <a:p>
                      <a:pPr algn="l" indent="0" marL="0">
                        <a:buNone/>
                      </a:pPr>
                      <a:r>
                        <a:rPr lang="en-US" sz="1200" b="1" dirty="0">
                          <a:solidFill>
                            <a:srgbClr val="65172F"/>
                          </a:solidFill>
                        </a:rPr>
                        <a:t>Overstock</a:t>
                      </a:r>
                      <a:endParaRPr lang="en-US" sz="12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1"/>
                    </a:solidFill>
                  </a:tcPr>
                </a:tc>
                <a:tc>
                  <a:txBody>
                    <a:bodyPr/>
                    <a:lstStyle/>
                    <a:p>
                      <a:pPr algn="l" indent="0" marL="0">
                        <a:buNone/>
                      </a:pPr>
                      <a:r>
                        <a:rPr lang="en-US" sz="1200" dirty="0">
                          <a:solidFill>
                            <a:srgbClr val="171717"/>
                          </a:solidFill>
                        </a:rPr>
                        <a:t>&gt;2× norm</a:t>
                      </a:r>
                      <a:endParaRPr lang="en-US" sz="12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1"/>
                    </a:solidFill>
                  </a:tcPr>
                </a:tc>
                <a:tc>
                  <a:txBody>
                    <a:bodyPr/>
                    <a:lstStyle/>
                    <a:p>
                      <a:pPr algn="l" indent="0" marL="0">
                        <a:buNone/>
                      </a:pPr>
                      <a:r>
                        <a:rPr lang="en-US" sz="1200" dirty="0">
                          <a:solidFill>
                            <a:srgbClr val="171717"/>
                          </a:solidFill>
                        </a:rPr>
                        <a:t>&gt;2× norm</a:t>
                      </a:r>
                      <a:endParaRPr lang="en-US" sz="12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1"/>
                    </a:solidFill>
                  </a:tcPr>
                </a:tc>
                <a:tc>
                  <a:txBody>
                    <a:bodyPr/>
                    <a:lstStyle/>
                    <a:p>
                      <a:pPr algn="l" indent="0" marL="0">
                        <a:buNone/>
                      </a:pPr>
                      <a:r>
                        <a:rPr lang="en-US" sz="1200" dirty="0">
                          <a:solidFill>
                            <a:srgbClr val="171717"/>
                          </a:solidFill>
                        </a:rPr>
                        <a:t>Cash tied up even when it sells in time</a:t>
                      </a:r>
                      <a:endParaRPr lang="en-US" sz="12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1"/>
                    </a:solidFill>
                  </a:tcPr>
                </a:tc>
              </a:tr>
              <a:tr h="457200">
                <a:tc>
                  <a:txBody>
                    <a:bodyPr/>
                    <a:lstStyle/>
                    <a:p>
                      <a:pPr algn="l" indent="0" marL="0">
                        <a:buNone/>
                      </a:pPr>
                      <a:r>
                        <a:rPr lang="en-US" sz="1200" b="1" dirty="0">
                          <a:solidFill>
                            <a:srgbClr val="65172F"/>
                          </a:solidFill>
                        </a:rPr>
                        <a:t>Channel-shift cover norm</a:t>
                      </a:r>
                      <a:endParaRPr lang="en-US" sz="12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71717"/>
                          </a:solidFill>
                        </a:rPr>
                        <a:t>21 days</a:t>
                      </a:r>
                      <a:endParaRPr lang="en-US" sz="12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71717"/>
                          </a:solidFill>
                        </a:rPr>
                        <a:t>—</a:t>
                      </a:r>
                      <a:endParaRPr lang="en-US" sz="12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71717"/>
                          </a:solidFill>
                        </a:rPr>
                        <a:t>Outlet −20% in 3 months while online grows +20%</a:t>
                      </a:r>
                      <a:endParaRPr lang="en-US" sz="12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457200">
                <a:tc>
                  <a:txBody>
                    <a:bodyPr/>
                    <a:lstStyle/>
                    <a:p>
                      <a:pPr algn="l" indent="0" marL="0">
                        <a:buNone/>
                      </a:pPr>
                      <a:r>
                        <a:rPr lang="en-US" sz="1200" b="1" dirty="0">
                          <a:solidFill>
                            <a:srgbClr val="65172F"/>
                          </a:solidFill>
                        </a:rPr>
                        <a:t>Confidence</a:t>
                      </a:r>
                      <a:endParaRPr lang="en-US" sz="12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1"/>
                    </a:solidFill>
                  </a:tcPr>
                </a:tc>
                <a:tc>
                  <a:txBody>
                    <a:bodyPr/>
                    <a:lstStyle/>
                    <a:p>
                      <a:pPr algn="l" indent="0" marL="0">
                        <a:buNone/>
                      </a:pPr>
                      <a:r>
                        <a:rPr lang="en-US" sz="1200" dirty="0">
                          <a:solidFill>
                            <a:srgbClr val="171717"/>
                          </a:solidFill>
                        </a:rPr>
                        <a:t>Scan/DMS 1.0 · count 0.85 · verbal 0.5</a:t>
                      </a:r>
                      <a:endParaRPr lang="en-US" sz="12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1"/>
                    </a:solidFill>
                  </a:tcPr>
                </a:tc>
                <a:tc>
                  <a:txBody>
                    <a:bodyPr/>
                    <a:lstStyle/>
                    <a:p>
                      <a:pPr algn="l" indent="0" marL="0">
                        <a:buNone/>
                      </a:pPr>
                      <a:endParaRPr lang="en-US" sz="12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1"/>
                    </a:solidFill>
                  </a:tcPr>
                </a:tc>
                <a:tc>
                  <a:txBody>
                    <a:bodyPr/>
                    <a:lstStyle/>
                    <a:p>
                      <a:pPr algn="l" indent="0" marL="0">
                        <a:buNone/>
                      </a:pPr>
                      <a:r>
                        <a:rPr lang="en-US" sz="1200" dirty="0">
                          <a:solidFill>
                            <a:srgbClr val="171717"/>
                          </a:solidFill>
                        </a:rPr>
                        <a:t>Recency: ≤7 d ×1.0, ≤30 d ×0.8, older ×0.5; Low locks costly actions</a:t>
                      </a:r>
                      <a:endParaRPr lang="en-US" sz="12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1"/>
                    </a:solidFill>
                  </a:tcPr>
                </a:tc>
              </a:tr>
            </a:tbl>
          </a:graphicData>
        </a:graphic>
      </p:graphicFrame>
      <p:sp>
        <p:nvSpPr>
          <p:cNvPr id="7" name="text-589"/>
          <p:cNvSpPr txBox="1"/>
          <p:nvPr/>
        </p:nvSpPr>
        <p:spPr>
          <a:xfrm>
            <a:off x="640080" y="5257800"/>
            <a:ext cx="3657600" cy="237744"/>
          </a:xfrm>
          <a:prstGeom prst="rect">
            <a:avLst/>
          </a:prstGeom>
          <a:noFill/>
          <a:ln/>
        </p:spPr>
        <p:txBody>
          <a:bodyPr wrap="square" lIns="0" tIns="0" rIns="0" bIns="0" rtlCol="0" anchor="t"/>
          <a:lstStyle/>
          <a:p>
            <a:pPr indent="0" marL="0">
              <a:buNone/>
            </a:pPr>
            <a:r>
              <a:rPr lang="en-US" sz="1050" b="1" spc="150" kern="0" dirty="0">
                <a:solidFill>
                  <a:srgbClr val="65172F"/>
                </a:solidFill>
              </a:rPr>
              <a:t>LIMITATIONS WE STATE OPENLY</a:t>
            </a:r>
            <a:endParaRPr lang="en-US" sz="1050" dirty="0"/>
          </a:p>
        </p:txBody>
      </p:sp>
      <p:sp>
        <p:nvSpPr>
          <p:cNvPr id="8" name="text-590"/>
          <p:cNvSpPr txBox="1"/>
          <p:nvPr/>
        </p:nvSpPr>
        <p:spPr>
          <a:xfrm>
            <a:off x="640080" y="5532120"/>
            <a:ext cx="10911535" cy="731520"/>
          </a:xfrm>
          <a:prstGeom prst="rect">
            <a:avLst/>
          </a:prstGeom>
          <a:noFill/>
          <a:ln/>
        </p:spPr>
        <p:txBody>
          <a:bodyPr wrap="square" lIns="0" tIns="0" rIns="0" bIns="0" rtlCol="0" anchor="t"/>
          <a:lstStyle/>
          <a:p>
            <a:pPr indent="0" marL="0">
              <a:buNone/>
            </a:pPr>
            <a:r>
              <a:rPr lang="en-US" sz="1300" dirty="0">
                <a:solidFill>
                  <a:srgbClr val="171717"/>
                </a:solidFill>
              </a:rPr>
              <a:t>Velocity is assumed constant over the window (a trend factor and ML forecasts come later); stock-flow sell-out is noisy, so anomalies are flagged and confidence-weighted; buffers and norms are assumptions to calibrate against L'Oréal's return terms; the engine recommends and people decide.</a:t>
            </a:r>
            <a:endParaRPr lang="en-US" sz="1300" dirty="0"/>
          </a:p>
        </p:txBody>
      </p:sp>
      <p:sp>
        <p:nvSpPr>
          <p:cNvPr id="25" name="Slide Number Placeholder 0"/>
          <p:cNvSpPr>
            <a:spLocks noGrp="1"/>
          </p:cNvSpPr>
          <p:nvPr>
            <p:ph type="sldNum" sz="quarter" idx="4294967295"/>
          </p:nvPr>
        </p:nvSpPr>
        <p:spPr>
          <a:xfrm>
            <a:off x="11091672"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665E"/>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body" hasCustomPrompt="1"/>
          </p:nvPr>
        </p:nvSpPr>
        <p:spPr>
          <a:xfrm>
            <a:off x="640080" y="457200"/>
            <a:ext cx="8686800" cy="237744"/>
          </a:xfrm>
          <a:prstGeom prst="rect">
            <a:avLst/>
          </a:prstGeom>
          <a:noFill/>
          <a:ln/>
        </p:spPr>
        <p:txBody>
          <a:bodyPr wrap="square" lIns="0" tIns="0" rIns="0" bIns="0" rtlCol="0" anchor="t"/>
          <a:lstStyle/>
          <a:p>
            <a:pPr indent="0" marL="0">
              <a:buNone/>
            </a:pPr>
            <a:r>
              <a:rPr lang="en-US" sz="1100" b="1" spc="200" kern="0" dirty="0">
                <a:solidFill>
                  <a:srgbClr val="65172F"/>
                </a:solidFill>
              </a:rPr>
              <a:t>APPENDIX C · FINANCIAL MODEL</a:t>
            </a:r>
            <a:endParaRPr lang="en-US" sz="1100" dirty="0"/>
          </a:p>
        </p:txBody>
      </p:sp>
      <p:sp>
        <p:nvSpPr>
          <p:cNvPr id="3" name="Text 0"/>
          <p:cNvSpPr/>
          <p:nvPr>
            <p:ph idx="102" type="title" hasCustomPrompt="1"/>
          </p:nvPr>
        </p:nvSpPr>
        <p:spPr>
          <a:xfrm>
            <a:off x="640080" y="749808"/>
            <a:ext cx="9418320" cy="1005840"/>
          </a:xfrm>
          <a:prstGeom prst="rect">
            <a:avLst/>
          </a:prstGeom>
          <a:noFill/>
          <a:ln/>
        </p:spPr>
        <p:txBody>
          <a:bodyPr wrap="square" lIns="0" tIns="0" rIns="0" bIns="0" rtlCol="0" anchor="t"/>
          <a:lstStyle/>
          <a:p>
            <a:pPr algn="l" indent="0" marL="0">
              <a:lnSpc>
                <a:spcPct val="95000"/>
              </a:lnSpc>
              <a:buNone/>
            </a:pPr>
            <a:r>
              <a:rPr lang="en-US" sz="3000" b="1" dirty="0">
                <a:solidFill>
                  <a:srgbClr val="171717"/>
                </a:solidFill>
                <a:latin typeface="Aptos Display" pitchFamily="34" charset="0"/>
                <a:ea typeface="Aptos Display" pitchFamily="34" charset="-122"/>
                <a:cs typeface="Aptos Display" pitchFamily="34" charset="-120"/>
              </a:rPr>
              <a:t>Assumptions behind the ₹18 cr base case, and what moves it most</a:t>
            </a:r>
            <a:endParaRPr lang="en-US" sz="3000" dirty="0"/>
          </a:p>
        </p:txBody>
      </p:sp>
      <p:sp>
        <p:nvSpPr>
          <p:cNvPr id="4" name="Text 0"/>
          <p:cNvSpPr/>
          <p:nvPr>
            <p:ph idx="103" type="body" hasCustomPrompt="1"/>
          </p:nvPr>
        </p:nvSpPr>
        <p:spPr>
          <a:xfrm>
            <a:off x="640080" y="6355080"/>
            <a:ext cx="9189720" cy="347472"/>
          </a:xfrm>
          <a:prstGeom prst="rect">
            <a:avLst/>
          </a:prstGeom>
          <a:noFill/>
          <a:ln/>
        </p:spPr>
        <p:txBody>
          <a:bodyPr wrap="square" lIns="0" tIns="0" rIns="0" bIns="0" rtlCol="0" anchor="t"/>
          <a:lstStyle/>
          <a:p>
            <a:pPr indent="0" marL="0">
              <a:buNone/>
            </a:pPr>
            <a:r>
              <a:rPr lang="en-US" sz="1000" dirty="0">
                <a:solidFill>
                  <a:srgbClr val="6E665E"/>
                </a:solidFill>
              </a:rPr>
              <a:t>Model: model/financial_model.py; outputs in model/scenarios.csv. Double-counting rules: transferred units counted once (as avoided credit notes, never also as extra sales); stock-out benefit at contribution margin; distributor working capital excluded.</a:t>
            </a:r>
            <a:endParaRPr lang="en-US" sz="1000" dirty="0"/>
          </a:p>
        </p:txBody>
      </p:sp>
      <p:graphicFrame>
        <p:nvGraphicFramePr>
          <p:cNvPr id="22" name="table-591"/>
          <p:cNvGraphicFramePr>
            <a:graphicFrameLocks noGrp="1"/>
          </p:cNvGraphicFramePr>
          <p:nvPr>
            <p:extLst>
              <p:ext uri="{D42A27DB-BD31-4B8C-83A1-F6EECF244321}">
                <p14:modId xmlns:p14="http://schemas.microsoft.com/office/powerpoint/2010/main" val="1579011935"/>
              </p:ext>
            </p:extLst>
          </p:nvPr>
        </p:nvGraphicFramePr>
        <p:xfrm>
          <a:off x="640080" y="1810512"/>
          <a:ext cx="7086600" cy="914400"/>
        </p:xfrm>
        <a:graphic>
          <a:graphicData uri="http://schemas.openxmlformats.org/drawingml/2006/table">
            <a:tbl>
              <a:tblPr/>
              <a:tblGrid>
                <a:gridCol w="1645920"/>
                <a:gridCol w="1161288"/>
                <a:gridCol w="868680"/>
                <a:gridCol w="987552"/>
                <a:gridCol w="2423160"/>
              </a:tblGrid>
              <a:tr h="384048">
                <a:tc>
                  <a:txBody>
                    <a:bodyPr/>
                    <a:lstStyle/>
                    <a:p>
                      <a:pPr algn="l" indent="0" marL="0">
                        <a:buNone/>
                      </a:pPr>
                      <a:r>
                        <a:rPr lang="en-US" sz="1100" b="1" dirty="0">
                          <a:solidFill>
                            <a:srgbClr val="FFFFFF"/>
                          </a:solidFill>
                        </a:rPr>
                        <a:t>Input</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171717"/>
                    </a:solidFill>
                  </a:tcPr>
                </a:tc>
                <a:tc>
                  <a:txBody>
                    <a:bodyPr/>
                    <a:lstStyle/>
                    <a:p>
                      <a:pPr algn="l" indent="0" marL="0">
                        <a:buNone/>
                      </a:pPr>
                      <a:r>
                        <a:rPr lang="en-US" sz="1100" b="1" dirty="0">
                          <a:solidFill>
                            <a:srgbClr val="FFFFFF"/>
                          </a:solidFill>
                        </a:rPr>
                        <a:t>Conservative</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171717"/>
                    </a:solidFill>
                  </a:tcPr>
                </a:tc>
                <a:tc>
                  <a:txBody>
                    <a:bodyPr/>
                    <a:lstStyle/>
                    <a:p>
                      <a:pPr algn="l" indent="0" marL="0">
                        <a:buNone/>
                      </a:pPr>
                      <a:r>
                        <a:rPr lang="en-US" sz="1100" b="1" dirty="0">
                          <a:solidFill>
                            <a:srgbClr val="FFFFFF"/>
                          </a:solidFill>
                        </a:rPr>
                        <a:t>Base</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171717"/>
                    </a:solidFill>
                  </a:tcPr>
                </a:tc>
                <a:tc>
                  <a:txBody>
                    <a:bodyPr/>
                    <a:lstStyle/>
                    <a:p>
                      <a:pPr algn="l" indent="0" marL="0">
                        <a:buNone/>
                      </a:pPr>
                      <a:r>
                        <a:rPr lang="en-US" sz="1100" b="1" dirty="0">
                          <a:solidFill>
                            <a:srgbClr val="FFFFFF"/>
                          </a:solidFill>
                        </a:rPr>
                        <a:t>Optimistic</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171717"/>
                    </a:solidFill>
                  </a:tcPr>
                </a:tc>
                <a:tc>
                  <a:txBody>
                    <a:bodyPr/>
                    <a:lstStyle/>
                    <a:p>
                      <a:pPr algn="l" indent="0" marL="0">
                        <a:buNone/>
                      </a:pPr>
                      <a:r>
                        <a:rPr lang="en-US" sz="1100" b="1" dirty="0">
                          <a:solidFill>
                            <a:srgbClr val="FFFFFF"/>
                          </a:solidFill>
                        </a:rPr>
                        <a:t>Basis</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171717"/>
                    </a:solidFill>
                  </a:tcPr>
                </a:tc>
              </a:tr>
              <a:tr h="384048">
                <a:tc>
                  <a:txBody>
                    <a:bodyPr/>
                    <a:lstStyle/>
                    <a:p>
                      <a:pPr algn="l" indent="0" marL="0">
                        <a:buNone/>
                      </a:pPr>
                      <a:r>
                        <a:rPr lang="en-US" sz="1100" dirty="0">
                          <a:solidFill>
                            <a:srgbClr val="171717"/>
                          </a:solidFill>
                        </a:rPr>
                        <a:t>Revenue base</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71717"/>
                          </a:solidFill>
                        </a:rPr>
                        <a:t>₹5,900 cr</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71717"/>
                          </a:solidFill>
                        </a:rPr>
                        <a:t>₹5,900 cr</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EFE3E6"/>
                    </a:solidFill>
                  </a:tcPr>
                </a:tc>
                <a:tc>
                  <a:txBody>
                    <a:bodyPr/>
                    <a:lstStyle/>
                    <a:p>
                      <a:pPr algn="ctr" indent="0" marL="0">
                        <a:buNone/>
                      </a:pPr>
                      <a:r>
                        <a:rPr lang="en-US" sz="1100" dirty="0">
                          <a:solidFill>
                            <a:srgbClr val="171717"/>
                          </a:solidFill>
                        </a:rPr>
                        <a:t>₹5,900 cr</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l" indent="0" marL="0">
                        <a:buNone/>
                      </a:pPr>
                      <a:r>
                        <a:rPr lang="en-US" sz="1100" dirty="0">
                          <a:solidFill>
                            <a:srgbClr val="6E665E"/>
                          </a:solidFill>
                        </a:rPr>
                        <a:t>L'Oréal India FY25 net sales, rounded (sourced)</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171717"/>
                          </a:solidFill>
                        </a:rPr>
                        <a:t>Waste pool</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71717"/>
                          </a:solidFill>
                        </a:rPr>
                        <a:t>1.5% + 1%</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71717"/>
                          </a:solidFill>
                        </a:rPr>
                        <a:t>1.5% + 1%</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EFE3E6"/>
                    </a:solidFill>
                  </a:tcPr>
                </a:tc>
                <a:tc>
                  <a:txBody>
                    <a:bodyPr/>
                    <a:lstStyle/>
                    <a:p>
                      <a:pPr algn="ctr" indent="0" marL="0">
                        <a:buNone/>
                      </a:pPr>
                      <a:r>
                        <a:rPr lang="en-US" sz="1100" dirty="0">
                          <a:solidFill>
                            <a:srgbClr val="171717"/>
                          </a:solidFill>
                        </a:rPr>
                        <a:t>1.5% + 1%</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l" indent="0" marL="0">
                        <a:buNone/>
                      </a:pPr>
                      <a:r>
                        <a:rPr lang="en-US" sz="1100" dirty="0">
                          <a:solidFill>
                            <a:srgbClr val="6E665E"/>
                          </a:solidFill>
                        </a:rPr>
                        <a:t>Case (sourced)</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171717"/>
                          </a:solidFill>
                        </a:rPr>
                        <a:t>Field-covered share</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71717"/>
                          </a:solidFill>
                        </a:rPr>
                        <a:t>50%</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71717"/>
                          </a:solidFill>
                        </a:rPr>
                        <a:t>60%</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EFE3E6"/>
                    </a:solidFill>
                  </a:tcPr>
                </a:tc>
                <a:tc>
                  <a:txBody>
                    <a:bodyPr/>
                    <a:lstStyle/>
                    <a:p>
                      <a:pPr algn="ctr" indent="0" marL="0">
                        <a:buNone/>
                      </a:pPr>
                      <a:r>
                        <a:rPr lang="en-US" sz="1100" dirty="0">
                          <a:solidFill>
                            <a:srgbClr val="171717"/>
                          </a:solidFill>
                        </a:rPr>
                        <a:t>70%</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l" indent="0" marL="0">
                        <a:buNone/>
                      </a:pPr>
                      <a:r>
                        <a:rPr lang="en-US" sz="1100" dirty="0">
                          <a:solidFill>
                            <a:srgbClr val="6E665E"/>
                          </a:solidFill>
                        </a:rPr>
                        <a:t>Assumption</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171717"/>
                          </a:solidFill>
                        </a:rPr>
                        <a:t>Sales-influenceable share</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71717"/>
                          </a:solidFill>
                        </a:rPr>
                        <a:t>50%</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71717"/>
                          </a:solidFill>
                        </a:rPr>
                        <a:t>60%</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EFE3E6"/>
                    </a:solidFill>
                  </a:tcPr>
                </a:tc>
                <a:tc>
                  <a:txBody>
                    <a:bodyPr/>
                    <a:lstStyle/>
                    <a:p>
                      <a:pPr algn="ctr" indent="0" marL="0">
                        <a:buNone/>
                      </a:pPr>
                      <a:r>
                        <a:rPr lang="en-US" sz="1100" dirty="0">
                          <a:solidFill>
                            <a:srgbClr val="171717"/>
                          </a:solidFill>
                        </a:rPr>
                        <a:t>65%</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l" indent="0" marL="0">
                        <a:buNone/>
                      </a:pPr>
                      <a:r>
                        <a:rPr lang="en-US" sz="1100" dirty="0">
                          <a:solidFill>
                            <a:srgbClr val="6E665E"/>
                          </a:solidFill>
                        </a:rPr>
                        <a:t>Assumption; validate with return reason codes</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171717"/>
                          </a:solidFill>
                        </a:rPr>
                        <a:t>Waste prevented</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71717"/>
                          </a:solidFill>
                        </a:rPr>
                        <a:t>15%</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71717"/>
                          </a:solidFill>
                        </a:rPr>
                        <a:t>25%</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EFE3E6"/>
                    </a:solidFill>
                  </a:tcPr>
                </a:tc>
                <a:tc>
                  <a:txBody>
                    <a:bodyPr/>
                    <a:lstStyle/>
                    <a:p>
                      <a:pPr algn="ctr" indent="0" marL="0">
                        <a:buNone/>
                      </a:pPr>
                      <a:r>
                        <a:rPr lang="en-US" sz="1100" dirty="0">
                          <a:solidFill>
                            <a:srgbClr val="171717"/>
                          </a:solidFill>
                        </a:rPr>
                        <a:t>35%</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l" indent="0" marL="0">
                        <a:buNone/>
                      </a:pPr>
                      <a:r>
                        <a:rPr lang="en-US" sz="1100" dirty="0">
                          <a:solidFill>
                            <a:srgbClr val="6E665E"/>
                          </a:solidFill>
                        </a:rPr>
                        <a:t>Assumption; pilot measures it</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171717"/>
                          </a:solidFill>
                        </a:rPr>
                        <a:t>Cost to recover stock</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71717"/>
                          </a:solidFill>
                        </a:rPr>
                        <a:t>35%</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71717"/>
                          </a:solidFill>
                        </a:rPr>
                        <a:t>25%</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EFE3E6"/>
                    </a:solidFill>
                  </a:tcPr>
                </a:tc>
                <a:tc>
                  <a:txBody>
                    <a:bodyPr/>
                    <a:lstStyle/>
                    <a:p>
                      <a:pPr algn="ctr" indent="0" marL="0">
                        <a:buNone/>
                      </a:pPr>
                      <a:r>
                        <a:rPr lang="en-US" sz="1100" dirty="0">
                          <a:solidFill>
                            <a:srgbClr val="171717"/>
                          </a:solidFill>
                        </a:rPr>
                        <a:t>20%</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l" indent="0" marL="0">
                        <a:buNone/>
                      </a:pPr>
                      <a:r>
                        <a:rPr lang="en-US" sz="1100" dirty="0">
                          <a:solidFill>
                            <a:srgbClr val="6E665E"/>
                          </a:solidFill>
                        </a:rPr>
                        <a:t>Of loss avoided</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171717"/>
                          </a:solidFill>
                        </a:rPr>
                        <a:t>Stock-out reduction</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71717"/>
                          </a:solidFill>
                        </a:rPr>
                        <a:t>10%</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71717"/>
                          </a:solidFill>
                        </a:rPr>
                        <a:t>20%</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EFE3E6"/>
                    </a:solidFill>
                  </a:tcPr>
                </a:tc>
                <a:tc>
                  <a:txBody>
                    <a:bodyPr/>
                    <a:lstStyle/>
                    <a:p>
                      <a:pPr algn="ctr" indent="0" marL="0">
                        <a:buNone/>
                      </a:pPr>
                      <a:r>
                        <a:rPr lang="en-US" sz="1100" dirty="0">
                          <a:solidFill>
                            <a:srgbClr val="171717"/>
                          </a:solidFill>
                        </a:rPr>
                        <a:t>30%</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l" indent="0" marL="0">
                        <a:buNone/>
                      </a:pPr>
                      <a:r>
                        <a:rPr lang="en-US" sz="1100" dirty="0">
                          <a:solidFill>
                            <a:srgbClr val="6E665E"/>
                          </a:solidFill>
                        </a:rPr>
                        <a:t>On an 8% OOS base, 35% brand loss (global study)</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171717"/>
                          </a:solidFill>
                        </a:rPr>
                        <a:t>Contribution margin</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71717"/>
                          </a:solidFill>
                        </a:rPr>
                        <a:t>35%</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71717"/>
                          </a:solidFill>
                        </a:rPr>
                        <a:t>35%</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EFE3E6"/>
                    </a:solidFill>
                  </a:tcPr>
                </a:tc>
                <a:tc>
                  <a:txBody>
                    <a:bodyPr/>
                    <a:lstStyle/>
                    <a:p>
                      <a:pPr algn="ctr" indent="0" marL="0">
                        <a:buNone/>
                      </a:pPr>
                      <a:r>
                        <a:rPr lang="en-US" sz="1100" dirty="0">
                          <a:solidFill>
                            <a:srgbClr val="171717"/>
                          </a:solidFill>
                        </a:rPr>
                        <a:t>35%</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l" indent="0" marL="0">
                        <a:buNone/>
                      </a:pPr>
                      <a:r>
                        <a:rPr lang="en-US" sz="1100" dirty="0">
                          <a:solidFill>
                            <a:srgbClr val="6E665E"/>
                          </a:solidFill>
                        </a:rPr>
                        <a:t>Assumption</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171717"/>
                          </a:solidFill>
                        </a:rPr>
                        <a:t>Build + year-1 run</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71717"/>
                          </a:solidFill>
                        </a:rPr>
                        <a:t>₹12.0 cr</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71717"/>
                          </a:solidFill>
                        </a:rPr>
                        <a:t>₹10.0 cr</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EFE3E6"/>
                    </a:solidFill>
                  </a:tcPr>
                </a:tc>
                <a:tc>
                  <a:txBody>
                    <a:bodyPr/>
                    <a:lstStyle/>
                    <a:p>
                      <a:pPr algn="ctr" indent="0" marL="0">
                        <a:buNone/>
                      </a:pPr>
                      <a:r>
                        <a:rPr lang="en-US" sz="1100" dirty="0">
                          <a:solidFill>
                            <a:srgbClr val="171717"/>
                          </a:solidFill>
                        </a:rPr>
                        <a:t>₹8.0 cr</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l" indent="0" marL="0">
                        <a:buNone/>
                      </a:pPr>
                      <a:r>
                        <a:rPr lang="en-US" sz="1100" dirty="0">
                          <a:solidFill>
                            <a:srgbClr val="6E665E"/>
                          </a:solidFill>
                        </a:rPr>
                        <a:t>Assumption; lower if configured in existing SFA</a:t>
                      </a:r>
                      <a:endParaRPr lang="en-US" sz="11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bl>
          </a:graphicData>
        </a:graphic>
      </p:graphicFrame>
      <p:graphicFrame>
        <p:nvGraphicFramePr>
          <p:cNvPr id="7" name="sensitivity-chart" descr=""/>
          <p:cNvGraphicFramePr/>
          <p:nvPr/>
        </p:nvGraphicFramePr>
        <p:xfrm>
          <a:off x="7863840" y="1783080"/>
          <a:ext cx="3749040" cy="44348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91672"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665E"/>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body" hasCustomPrompt="1"/>
          </p:nvPr>
        </p:nvSpPr>
        <p:spPr>
          <a:xfrm>
            <a:off x="640080" y="457200"/>
            <a:ext cx="8686800" cy="237744"/>
          </a:xfrm>
          <a:prstGeom prst="rect">
            <a:avLst/>
          </a:prstGeom>
          <a:noFill/>
          <a:ln/>
        </p:spPr>
        <p:txBody>
          <a:bodyPr wrap="square" lIns="0" tIns="0" rIns="0" bIns="0" rtlCol="0" anchor="t"/>
          <a:lstStyle/>
          <a:p>
            <a:pPr indent="0" marL="0">
              <a:buNone/>
            </a:pPr>
            <a:r>
              <a:rPr lang="en-US" sz="1100" b="1" spc="200" kern="0" dirty="0">
                <a:solidFill>
                  <a:srgbClr val="65172F"/>
                </a:solidFill>
              </a:rPr>
              <a:t>APPENDIX D · THE FIVE PLAYBOOKS</a:t>
            </a:r>
            <a:endParaRPr lang="en-US" sz="1100" dirty="0"/>
          </a:p>
        </p:txBody>
      </p:sp>
      <p:sp>
        <p:nvSpPr>
          <p:cNvPr id="3" name="Text 0"/>
          <p:cNvSpPr/>
          <p:nvPr>
            <p:ph idx="102" type="title" hasCustomPrompt="1"/>
          </p:nvPr>
        </p:nvSpPr>
        <p:spPr>
          <a:xfrm>
            <a:off x="640080" y="749808"/>
            <a:ext cx="9418320" cy="1005840"/>
          </a:xfrm>
          <a:prstGeom prst="rect">
            <a:avLst/>
          </a:prstGeom>
          <a:noFill/>
          <a:ln/>
        </p:spPr>
        <p:txBody>
          <a:bodyPr wrap="square" lIns="0" tIns="0" rIns="0" bIns="0" rtlCol="0" anchor="t"/>
          <a:lstStyle/>
          <a:p>
            <a:pPr algn="l" indent="0" marL="0">
              <a:lnSpc>
                <a:spcPct val="95000"/>
              </a:lnSpc>
              <a:buNone/>
            </a:pPr>
            <a:r>
              <a:rPr lang="en-US" sz="3000" b="1" dirty="0">
                <a:solidFill>
                  <a:srgbClr val="171717"/>
                </a:solidFill>
                <a:latin typeface="Aptos Display" pitchFamily="34" charset="0"/>
                <a:ea typeface="Aptos Display" pitchFamily="34" charset="-122"/>
                <a:cs typeface="Aptos Display" pitchFamily="34" charset="-120"/>
              </a:rPr>
              <a:t>Each risk state gets its own sequence, cost and guardrail</a:t>
            </a:r>
            <a:endParaRPr lang="en-US" sz="3000" dirty="0"/>
          </a:p>
        </p:txBody>
      </p:sp>
      <p:sp>
        <p:nvSpPr>
          <p:cNvPr id="4" name="Text 0"/>
          <p:cNvSpPr/>
          <p:nvPr>
            <p:ph idx="103" type="body" hasCustomPrompt="1"/>
          </p:nvPr>
        </p:nvSpPr>
        <p:spPr>
          <a:xfrm>
            <a:off x="640080" y="6355080"/>
            <a:ext cx="9189720" cy="347472"/>
          </a:xfrm>
          <a:prstGeom prst="rect">
            <a:avLst/>
          </a:prstGeom>
          <a:noFill/>
          <a:ln/>
        </p:spPr>
        <p:txBody>
          <a:bodyPr wrap="square" lIns="0" tIns="0" rIns="0" bIns="0" rtlCol="0" anchor="t"/>
          <a:lstStyle/>
          <a:p>
            <a:pPr indent="0" marL="0">
              <a:buNone/>
            </a:pPr>
            <a:r>
              <a:rPr lang="en-US" sz="1000" dirty="0">
                <a:solidFill>
                  <a:srgbClr val="6E665E"/>
                </a:solidFill>
              </a:rPr>
              <a:t>Approval thresholds: transfers above ₹10,000 or across distributors, any scheme, sampling budget and end-of-life need ASM approval. Luxe and Derma: no price schemes; Luxe: no bundles.</a:t>
            </a:r>
            <a:endParaRPr lang="en-US" sz="1000" dirty="0"/>
          </a:p>
        </p:txBody>
      </p:sp>
      <p:graphicFrame>
        <p:nvGraphicFramePr>
          <p:cNvPr id="23" name="table-592"/>
          <p:cNvGraphicFramePr>
            <a:graphicFrameLocks noGrp="1"/>
          </p:cNvGraphicFramePr>
          <p:nvPr>
            <p:extLst>
              <p:ext uri="{D42A27DB-BD31-4B8C-83A1-F6EECF244321}">
                <p14:modId xmlns:p14="http://schemas.microsoft.com/office/powerpoint/2010/main" val="1579011935"/>
              </p:ext>
            </p:extLst>
          </p:nvPr>
        </p:nvGraphicFramePr>
        <p:xfrm>
          <a:off x="640080" y="1810512"/>
          <a:ext cx="10911535" cy="914400"/>
        </p:xfrm>
        <a:graphic>
          <a:graphicData uri="http://schemas.openxmlformats.org/drawingml/2006/table">
            <a:tbl>
              <a:tblPr/>
              <a:tblGrid>
                <a:gridCol w="1920240"/>
                <a:gridCol w="4754880"/>
                <a:gridCol w="2194560"/>
                <a:gridCol w="2041855"/>
              </a:tblGrid>
              <a:tr h="365760">
                <a:tc>
                  <a:txBody>
                    <a:bodyPr/>
                    <a:lstStyle/>
                    <a:p>
                      <a:pPr algn="l" indent="0" marL="0">
                        <a:buNone/>
                      </a:pPr>
                      <a:r>
                        <a:rPr lang="en-US" sz="1150" b="1" dirty="0">
                          <a:solidFill>
                            <a:srgbClr val="FFFFFF"/>
                          </a:solidFill>
                        </a:rPr>
                        <a:t>Playbook</a:t>
                      </a:r>
                      <a:endParaRPr lang="en-US" sz="11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171717"/>
                    </a:solidFill>
                  </a:tcPr>
                </a:tc>
                <a:tc>
                  <a:txBody>
                    <a:bodyPr/>
                    <a:lstStyle/>
                    <a:p>
                      <a:pPr algn="l" indent="0" marL="0">
                        <a:buNone/>
                      </a:pPr>
                      <a:r>
                        <a:rPr lang="en-US" sz="1150" b="1" dirty="0">
                          <a:solidFill>
                            <a:srgbClr val="FFFFFF"/>
                          </a:solidFill>
                        </a:rPr>
                        <a:t>Sequence</a:t>
                      </a:r>
                      <a:endParaRPr lang="en-US" sz="11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171717"/>
                    </a:solidFill>
                  </a:tcPr>
                </a:tc>
                <a:tc>
                  <a:txBody>
                    <a:bodyPr/>
                    <a:lstStyle/>
                    <a:p>
                      <a:pPr algn="l" indent="0" marL="0">
                        <a:buNone/>
                      </a:pPr>
                      <a:r>
                        <a:rPr lang="en-US" sz="1150" b="1" dirty="0">
                          <a:solidFill>
                            <a:srgbClr val="FFFFFF"/>
                          </a:solidFill>
                        </a:rPr>
                        <a:t>Main risk</a:t>
                      </a:r>
                      <a:endParaRPr lang="en-US" sz="11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171717"/>
                    </a:solidFill>
                  </a:tcPr>
                </a:tc>
                <a:tc>
                  <a:txBody>
                    <a:bodyPr/>
                    <a:lstStyle/>
                    <a:p>
                      <a:pPr algn="l" indent="0" marL="0">
                        <a:buNone/>
                      </a:pPr>
                      <a:r>
                        <a:rPr lang="en-US" sz="1150" b="1" dirty="0">
                          <a:solidFill>
                            <a:srgbClr val="FFFFFF"/>
                          </a:solidFill>
                        </a:rPr>
                        <a:t>Guardrail</a:t>
                      </a:r>
                      <a:endParaRPr lang="en-US" sz="11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171717"/>
                    </a:solidFill>
                  </a:tcPr>
                </a:tc>
              </a:tr>
              <a:tr h="749808">
                <a:tc>
                  <a:txBody>
                    <a:bodyPr/>
                    <a:lstStyle/>
                    <a:p>
                      <a:pPr algn="l" indent="0" marL="0">
                        <a:buNone/>
                      </a:pPr>
                      <a:r>
                        <a:rPr lang="en-US" sz="1150" b="1" dirty="0">
                          <a:solidFill>
                            <a:srgbClr val="65172F"/>
                          </a:solidFill>
                        </a:rPr>
                        <a:t>Near-expiry</a:t>
                      </a:r>
                      <a:endParaRPr lang="en-US" sz="11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71717"/>
                          </a:solidFill>
                        </a:rPr>
                        <a:t>Verify batch → pause re-order → transfer projected-unsold units to the fastest outlets → approved bundle → controlled end-of-life if &lt;30 days</a:t>
                      </a:r>
                      <a:endParaRPr lang="en-US" sz="11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71717"/>
                          </a:solidFill>
                        </a:rPr>
                        <a:t>Pushing short-dated stock onto retailers who return it</a:t>
                      </a:r>
                      <a:endParaRPr lang="en-US" sz="11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71717"/>
                          </a:solidFill>
                        </a:rPr>
                        <a:t>Transfer capped at recipient's sell-through capacity</a:t>
                      </a:r>
                      <a:endParaRPr lang="en-US" sz="11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749808">
                <a:tc>
                  <a:txBody>
                    <a:bodyPr/>
                    <a:lstStyle/>
                    <a:p>
                      <a:pPr algn="l" indent="0" marL="0">
                        <a:buNone/>
                      </a:pPr>
                      <a:r>
                        <a:rPr lang="en-US" sz="1150" b="1" dirty="0">
                          <a:solidFill>
                            <a:srgbClr val="65172F"/>
                          </a:solidFill>
                        </a:rPr>
                        <a:t>Slow-moving (healthy shelf life)</a:t>
                      </a:r>
                      <a:endParaRPr lang="en-US" sz="11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1"/>
                    </a:solidFill>
                  </a:tcPr>
                </a:tc>
                <a:tc>
                  <a:txBody>
                    <a:bodyPr/>
                    <a:lstStyle/>
                    <a:p>
                      <a:pPr algn="l" indent="0" marL="0">
                        <a:buNone/>
                      </a:pPr>
                      <a:r>
                        <a:rPr lang="en-US" sz="1150" dirty="0">
                          <a:solidFill>
                            <a:srgbClr val="171717"/>
                          </a:solidFill>
                        </a:rPr>
                        <a:t>Diagnose (reason code) → visibility → tester or sampling → cap re-orders → range correction → rebalance if no change in 2 visits</a:t>
                      </a:r>
                      <a:endParaRPr lang="en-US" sz="11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1"/>
                    </a:solidFill>
                  </a:tcPr>
                </a:tc>
                <a:tc>
                  <a:txBody>
                    <a:bodyPr/>
                    <a:lstStyle/>
                    <a:p>
                      <a:pPr algn="l" indent="0" marL="0">
                        <a:buNone/>
                      </a:pPr>
                      <a:r>
                        <a:rPr lang="en-US" sz="1150" dirty="0">
                          <a:solidFill>
                            <a:srgbClr val="171717"/>
                          </a:solidFill>
                        </a:rPr>
                        <a:t>Acting on the wrong diagnosis</a:t>
                      </a:r>
                      <a:endParaRPr lang="en-US" sz="11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1"/>
                    </a:solidFill>
                  </a:tcPr>
                </a:tc>
                <a:tc>
                  <a:txBody>
                    <a:bodyPr/>
                    <a:lstStyle/>
                    <a:p>
                      <a:pPr algn="l" indent="0" marL="0">
                        <a:buNone/>
                      </a:pPr>
                      <a:r>
                        <a:rPr lang="en-US" sz="1150" dirty="0">
                          <a:solidFill>
                            <a:srgbClr val="171717"/>
                          </a:solidFill>
                        </a:rPr>
                        <a:t>Re-measure velocity at the next 2 visits</a:t>
                      </a:r>
                      <a:endParaRPr lang="en-US" sz="11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1"/>
                    </a:solidFill>
                  </a:tcPr>
                </a:tc>
              </a:tr>
              <a:tr h="658368">
                <a:tc>
                  <a:txBody>
                    <a:bodyPr/>
                    <a:lstStyle/>
                    <a:p>
                      <a:pPr algn="l" indent="0" marL="0">
                        <a:buNone/>
                      </a:pPr>
                      <a:r>
                        <a:rPr lang="en-US" sz="1150" b="1" dirty="0">
                          <a:solidFill>
                            <a:srgbClr val="65172F"/>
                          </a:solidFill>
                        </a:rPr>
                        <a:t>Overstocked node</a:t>
                      </a:r>
                      <a:endParaRPr lang="en-US" sz="11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71717"/>
                          </a:solidFill>
                        </a:rPr>
                        <a:t>SKU-level cover review → guardrail on over-covered SKUs only → rebalance → reset norms by SKU class</a:t>
                      </a:r>
                      <a:endParaRPr lang="en-US" sz="11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71717"/>
                          </a:solidFill>
                        </a:rPr>
                        <a:t>Revenue cliff from blanket cuts</a:t>
                      </a:r>
                      <a:endParaRPr lang="en-US" sz="11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71717"/>
                          </a:solidFill>
                        </a:rPr>
                        <a:t>Fast SKUs keep ordering</a:t>
                      </a:r>
                      <a:endParaRPr lang="en-US" sz="11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566928">
                <a:tc>
                  <a:txBody>
                    <a:bodyPr/>
                    <a:lstStyle/>
                    <a:p>
                      <a:pPr algn="l" indent="0" marL="0">
                        <a:buNone/>
                      </a:pPr>
                      <a:r>
                        <a:rPr lang="en-US" sz="1150" b="1" dirty="0">
                          <a:solidFill>
                            <a:srgbClr val="65172F"/>
                          </a:solidFill>
                        </a:rPr>
                        <a:t>Stock-out risk</a:t>
                      </a:r>
                      <a:endParaRPr lang="en-US" sz="11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1"/>
                    </a:solidFill>
                  </a:tcPr>
                </a:tc>
                <a:tc>
                  <a:txBody>
                    <a:bodyPr/>
                    <a:lstStyle/>
                    <a:p>
                      <a:pPr algn="l" indent="0" marL="0">
                        <a:buNone/>
                      </a:pPr>
                      <a:r>
                        <a:rPr lang="en-US" sz="1150" dirty="0">
                          <a:solidFill>
                            <a:srgbClr val="171717"/>
                          </a:solidFill>
                        </a:rPr>
                        <a:t>Source from surplus outlets first → replenish to cover + lead time → raise beat frequency</a:t>
                      </a:r>
                      <a:endParaRPr lang="en-US" sz="11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1"/>
                    </a:solidFill>
                  </a:tcPr>
                </a:tc>
                <a:tc>
                  <a:txBody>
                    <a:bodyPr/>
                    <a:lstStyle/>
                    <a:p>
                      <a:pPr algn="l" indent="0" marL="0">
                        <a:buNone/>
                      </a:pPr>
                      <a:r>
                        <a:rPr lang="en-US" sz="1150" dirty="0">
                          <a:solidFill>
                            <a:srgbClr val="171717"/>
                          </a:solidFill>
                        </a:rPr>
                        <a:t>Over-correcting into excess</a:t>
                      </a:r>
                      <a:endParaRPr lang="en-US" sz="11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1"/>
                    </a:solidFill>
                  </a:tcPr>
                </a:tc>
                <a:tc>
                  <a:txBody>
                    <a:bodyPr/>
                    <a:lstStyle/>
                    <a:p>
                      <a:pPr algn="l" indent="0" marL="0">
                        <a:buNone/>
                      </a:pPr>
                      <a:r>
                        <a:rPr lang="en-US" sz="1150" dirty="0">
                          <a:solidFill>
                            <a:srgbClr val="171717"/>
                          </a:solidFill>
                        </a:rPr>
                        <a:t>Capped at target cover</a:t>
                      </a:r>
                      <a:endParaRPr lang="en-US" sz="11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7F5F1"/>
                    </a:solidFill>
                  </a:tcPr>
                </a:tc>
              </a:tr>
              <a:tr h="749808">
                <a:tc>
                  <a:txBody>
                    <a:bodyPr/>
                    <a:lstStyle/>
                    <a:p>
                      <a:pPr algn="l" indent="0" marL="0">
                        <a:buNone/>
                      </a:pPr>
                      <a:r>
                        <a:rPr lang="en-US" sz="1150" b="1" dirty="0">
                          <a:solidFill>
                            <a:srgbClr val="65172F"/>
                          </a:solidFill>
                        </a:rPr>
                        <a:t>Poor visibility / channel shift</a:t>
                      </a:r>
                      <a:endParaRPr lang="en-US" sz="11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71717"/>
                          </a:solidFill>
                        </a:rPr>
                        <a:t>Benchmark peers → placement and testers → or, if demand moved online, resize orders and hand off to quick-commerce KAM</a:t>
                      </a:r>
                      <a:endParaRPr lang="en-US" sz="11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71717"/>
                          </a:solidFill>
                        </a:rPr>
                        <a:t>Blaming the product for an execution or channel issue</a:t>
                      </a:r>
                      <a:endParaRPr lang="en-US" sz="11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71717"/>
                          </a:solidFill>
                        </a:rPr>
                        <a:t>Never dump ageing stock on quick commerce</a:t>
                      </a:r>
                      <a:endParaRPr lang="en-US" sz="115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665E"/>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body" hasCustomPrompt="1"/>
          </p:nvPr>
        </p:nvSpPr>
        <p:spPr>
          <a:xfrm>
            <a:off x="640080" y="457200"/>
            <a:ext cx="8686800" cy="237744"/>
          </a:xfrm>
          <a:prstGeom prst="rect">
            <a:avLst/>
          </a:prstGeom>
          <a:noFill/>
          <a:ln/>
        </p:spPr>
        <p:txBody>
          <a:bodyPr wrap="square" lIns="0" tIns="0" rIns="0" bIns="0" rtlCol="0" anchor="t"/>
          <a:lstStyle/>
          <a:p>
            <a:pPr indent="0" marL="0">
              <a:buNone/>
            </a:pPr>
            <a:r>
              <a:rPr lang="en-US" sz="1100" b="1" spc="200" kern="0" dirty="0">
                <a:solidFill>
                  <a:srgbClr val="65172F"/>
                </a:solidFill>
              </a:rPr>
              <a:t>APPENDIX E · RISKS AND OBJECTIONS</a:t>
            </a:r>
            <a:endParaRPr lang="en-US" sz="1100" dirty="0"/>
          </a:p>
        </p:txBody>
      </p:sp>
      <p:sp>
        <p:nvSpPr>
          <p:cNvPr id="3" name="Text 0"/>
          <p:cNvSpPr/>
          <p:nvPr>
            <p:ph idx="102" type="title" hasCustomPrompt="1"/>
          </p:nvPr>
        </p:nvSpPr>
        <p:spPr>
          <a:xfrm>
            <a:off x="640080" y="749808"/>
            <a:ext cx="9418320" cy="1005840"/>
          </a:xfrm>
          <a:prstGeom prst="rect">
            <a:avLst/>
          </a:prstGeom>
          <a:noFill/>
          <a:ln/>
        </p:spPr>
        <p:txBody>
          <a:bodyPr wrap="square" lIns="0" tIns="0" rIns="0" bIns="0" rtlCol="0" anchor="t"/>
          <a:lstStyle/>
          <a:p>
            <a:pPr algn="l" indent="0" marL="0">
              <a:lnSpc>
                <a:spcPct val="95000"/>
              </a:lnSpc>
              <a:buNone/>
            </a:pPr>
            <a:r>
              <a:rPr lang="en-US" sz="3000" b="1" dirty="0">
                <a:solidFill>
                  <a:srgbClr val="171717"/>
                </a:solidFill>
                <a:latin typeface="Aptos Display" pitchFamily="34" charset="0"/>
                <a:ea typeface="Aptos Display" pitchFamily="34" charset="-122"/>
                <a:cs typeface="Aptos Display" pitchFamily="34" charset="-120"/>
              </a:rPr>
              <a:t>The five biggest risks to SMARTSELL, and how we address them</a:t>
            </a:r>
            <a:endParaRPr lang="en-US" sz="3000" dirty="0"/>
          </a:p>
        </p:txBody>
      </p:sp>
      <p:sp>
        <p:nvSpPr>
          <p:cNvPr id="4" name="Text 0"/>
          <p:cNvSpPr/>
          <p:nvPr>
            <p:ph idx="103" type="body" hasCustomPrompt="1"/>
          </p:nvPr>
        </p:nvSpPr>
        <p:spPr>
          <a:xfrm>
            <a:off x="640080" y="6355080"/>
            <a:ext cx="9189720" cy="347472"/>
          </a:xfrm>
          <a:prstGeom prst="rect">
            <a:avLst/>
          </a:prstGeom>
          <a:noFill/>
          <a:ln/>
        </p:spPr>
        <p:txBody>
          <a:bodyPr wrap="square" lIns="0" tIns="0" rIns="0" bIns="0" rtlCol="0" anchor="t"/>
          <a:lstStyle/>
          <a:p>
            <a:pPr indent="0" marL="0">
              <a:buNone/>
            </a:pPr>
            <a:r>
              <a:rPr lang="en-US" sz="1000" dirty="0">
                <a:solidFill>
                  <a:srgbClr val="6E665E"/>
                </a:solidFill>
              </a:rPr>
              <a:t>Each mitigation is built into the prototype or the pilot design.</a:t>
            </a:r>
            <a:endParaRPr lang="en-US" sz="1000" dirty="0"/>
          </a:p>
        </p:txBody>
      </p:sp>
      <p:sp>
        <p:nvSpPr>
          <p:cNvPr id="6" name="text-593"/>
          <p:cNvSpPr txBox="1"/>
          <p:nvPr/>
        </p:nvSpPr>
        <p:spPr>
          <a:xfrm>
            <a:off x="1325880" y="1810512"/>
            <a:ext cx="2743200" cy="237744"/>
          </a:xfrm>
          <a:prstGeom prst="rect">
            <a:avLst/>
          </a:prstGeom>
          <a:noFill/>
          <a:ln/>
        </p:spPr>
        <p:txBody>
          <a:bodyPr wrap="square" lIns="0" tIns="0" rIns="0" bIns="0" rtlCol="0" anchor="t"/>
          <a:lstStyle/>
          <a:p>
            <a:pPr indent="0" marL="0">
              <a:buNone/>
            </a:pPr>
            <a:r>
              <a:rPr lang="en-US" sz="1050" b="1" spc="150" kern="0" dirty="0">
                <a:solidFill>
                  <a:srgbClr val="6E665E"/>
                </a:solidFill>
              </a:rPr>
              <a:t>RISK</a:t>
            </a:r>
            <a:endParaRPr lang="en-US" sz="1050" dirty="0"/>
          </a:p>
        </p:txBody>
      </p:sp>
      <p:sp>
        <p:nvSpPr>
          <p:cNvPr id="7" name="text-594"/>
          <p:cNvSpPr txBox="1"/>
          <p:nvPr/>
        </p:nvSpPr>
        <p:spPr>
          <a:xfrm>
            <a:off x="4206240" y="1810512"/>
            <a:ext cx="2743200" cy="237744"/>
          </a:xfrm>
          <a:prstGeom prst="rect">
            <a:avLst/>
          </a:prstGeom>
          <a:noFill/>
          <a:ln/>
        </p:spPr>
        <p:txBody>
          <a:bodyPr wrap="square" lIns="0" tIns="0" rIns="0" bIns="0" rtlCol="0" anchor="t"/>
          <a:lstStyle/>
          <a:p>
            <a:pPr indent="0" marL="0">
              <a:buNone/>
            </a:pPr>
            <a:r>
              <a:rPr lang="en-US" sz="1050" b="1" spc="150" kern="0" dirty="0">
                <a:solidFill>
                  <a:srgbClr val="6E665E"/>
                </a:solidFill>
              </a:rPr>
              <a:t>WHY IT MIGHT HAPPEN</a:t>
            </a:r>
            <a:endParaRPr lang="en-US" sz="1050" dirty="0"/>
          </a:p>
        </p:txBody>
      </p:sp>
      <p:sp>
        <p:nvSpPr>
          <p:cNvPr id="8" name="text-595"/>
          <p:cNvSpPr txBox="1"/>
          <p:nvPr/>
        </p:nvSpPr>
        <p:spPr>
          <a:xfrm>
            <a:off x="7315200" y="1810512"/>
            <a:ext cx="2743200" cy="237744"/>
          </a:xfrm>
          <a:prstGeom prst="rect">
            <a:avLst/>
          </a:prstGeom>
          <a:noFill/>
          <a:ln/>
        </p:spPr>
        <p:txBody>
          <a:bodyPr wrap="square" lIns="0" tIns="0" rIns="0" bIns="0" rtlCol="0" anchor="t"/>
          <a:lstStyle/>
          <a:p>
            <a:pPr indent="0" marL="0">
              <a:buNone/>
            </a:pPr>
            <a:r>
              <a:rPr lang="en-US" sz="1050" b="1" spc="150" kern="0" dirty="0">
                <a:solidFill>
                  <a:srgbClr val="6E665E"/>
                </a:solidFill>
              </a:rPr>
              <a:t>HOW WE ADDRESS IT</a:t>
            </a:r>
            <a:endParaRPr lang="en-US" sz="1050" dirty="0"/>
          </a:p>
        </p:txBody>
      </p:sp>
      <p:sp>
        <p:nvSpPr>
          <p:cNvPr id="9" name="text-596"/>
          <p:cNvSpPr txBox="1"/>
          <p:nvPr/>
        </p:nvSpPr>
        <p:spPr>
          <a:xfrm>
            <a:off x="640080" y="2148840"/>
            <a:ext cx="548640" cy="548640"/>
          </a:xfrm>
          <a:prstGeom prst="rect">
            <a:avLst/>
          </a:prstGeom>
          <a:noFill/>
          <a:ln/>
        </p:spPr>
        <p:txBody>
          <a:bodyPr wrap="square" lIns="0" tIns="0" rIns="0" bIns="0" rtlCol="0" anchor="t"/>
          <a:lstStyle/>
          <a:p>
            <a:pPr indent="0" marL="0">
              <a:buNone/>
            </a:pPr>
            <a:r>
              <a:rPr lang="en-US" sz="3000" b="1" dirty="0">
                <a:solidFill>
                  <a:srgbClr val="B9808F"/>
                </a:solidFill>
                <a:latin typeface="Aptos Display" pitchFamily="34" charset="0"/>
                <a:ea typeface="Aptos Display" pitchFamily="34" charset="-122"/>
                <a:cs typeface="Aptos Display" pitchFamily="34" charset="-120"/>
              </a:rPr>
              <a:t>1</a:t>
            </a:r>
            <a:endParaRPr lang="en-US" sz="3000" dirty="0"/>
          </a:p>
        </p:txBody>
      </p:sp>
      <p:sp>
        <p:nvSpPr>
          <p:cNvPr id="10" name="text-597"/>
          <p:cNvSpPr txBox="1"/>
          <p:nvPr/>
        </p:nvSpPr>
        <p:spPr>
          <a:xfrm>
            <a:off x="1325880" y="2194560"/>
            <a:ext cx="2743200" cy="594360"/>
          </a:xfrm>
          <a:prstGeom prst="rect">
            <a:avLst/>
          </a:prstGeom>
          <a:noFill/>
          <a:ln/>
        </p:spPr>
        <p:txBody>
          <a:bodyPr wrap="square" lIns="0" tIns="0" rIns="0" bIns="0" rtlCol="0" anchor="t"/>
          <a:lstStyle/>
          <a:p>
            <a:pPr indent="0" marL="0">
              <a:buNone/>
            </a:pPr>
            <a:r>
              <a:rPr lang="en-US" sz="1400" b="1" dirty="0">
                <a:solidFill>
                  <a:srgbClr val="65172F"/>
                </a:solidFill>
              </a:rPr>
              <a:t>Reps won't adopt it</a:t>
            </a:r>
            <a:endParaRPr lang="en-US" sz="1400" dirty="0"/>
          </a:p>
        </p:txBody>
      </p:sp>
      <p:sp>
        <p:nvSpPr>
          <p:cNvPr id="11" name="text-598"/>
          <p:cNvSpPr txBox="1"/>
          <p:nvPr/>
        </p:nvSpPr>
        <p:spPr>
          <a:xfrm>
            <a:off x="4206240" y="2194560"/>
            <a:ext cx="2926080" cy="640080"/>
          </a:xfrm>
          <a:prstGeom prst="rect">
            <a:avLst/>
          </a:prstGeom>
          <a:noFill/>
          <a:ln/>
        </p:spPr>
        <p:txBody>
          <a:bodyPr wrap="square" lIns="0" tIns="0" rIns="0" bIns="0" rtlCol="0" anchor="t"/>
          <a:lstStyle/>
          <a:p>
            <a:pPr indent="0" marL="0">
              <a:buNone/>
            </a:pPr>
            <a:r>
              <a:rPr lang="en-US" sz="1200" dirty="0">
                <a:solidFill>
                  <a:srgbClr val="6E665E"/>
                </a:solidFill>
              </a:rPr>
              <a:t>Extra time, "another app", incentives still pay for sell-in</a:t>
            </a:r>
            <a:endParaRPr lang="en-US" sz="1200" dirty="0"/>
          </a:p>
        </p:txBody>
      </p:sp>
      <p:sp>
        <p:nvSpPr>
          <p:cNvPr id="12" name="text-599"/>
          <p:cNvSpPr txBox="1"/>
          <p:nvPr/>
        </p:nvSpPr>
        <p:spPr>
          <a:xfrm>
            <a:off x="7315200" y="2194560"/>
            <a:ext cx="4233672" cy="658368"/>
          </a:xfrm>
          <a:prstGeom prst="rect">
            <a:avLst/>
          </a:prstGeom>
          <a:noFill/>
          <a:ln/>
        </p:spPr>
        <p:txBody>
          <a:bodyPr wrap="square" lIns="0" tIns="0" rIns="0" bIns="0" rtlCol="0" anchor="t"/>
          <a:lstStyle/>
          <a:p>
            <a:pPr indent="0" marL="0">
              <a:buNone/>
            </a:pPr>
            <a:r>
              <a:rPr lang="en-US" sz="1200" dirty="0">
                <a:solidFill>
                  <a:srgbClr val="171717"/>
                </a:solidFill>
              </a:rPr>
              <a:t>Count flagged SKUs only (≤4 min is a stop criterion); embed in existing SFA; Healthy Sales Scorecard; credit for ₹ rescued</a:t>
            </a:r>
            <a:endParaRPr lang="en-US" sz="1200" dirty="0"/>
          </a:p>
        </p:txBody>
      </p:sp>
      <p:sp>
        <p:nvSpPr>
          <p:cNvPr id="13" name="line-600"/>
          <p:cNvSpPr/>
          <p:nvPr/>
        </p:nvSpPr>
        <p:spPr>
          <a:xfrm>
            <a:off x="640080" y="2862072"/>
            <a:ext cx="10911535" cy="0"/>
          </a:xfrm>
          <a:prstGeom prst="line">
            <a:avLst/>
          </a:prstGeom>
          <a:noFill/>
          <a:ln w="9525">
            <a:solidFill>
              <a:srgbClr val="E3DED7"/>
            </a:solidFill>
            <a:prstDash val="solid"/>
          </a:ln>
        </p:spPr>
      </p:sp>
      <p:sp>
        <p:nvSpPr>
          <p:cNvPr id="14" name="text-601"/>
          <p:cNvSpPr txBox="1"/>
          <p:nvPr/>
        </p:nvSpPr>
        <p:spPr>
          <a:xfrm>
            <a:off x="640080" y="2953512"/>
            <a:ext cx="548640" cy="548640"/>
          </a:xfrm>
          <a:prstGeom prst="rect">
            <a:avLst/>
          </a:prstGeom>
          <a:noFill/>
          <a:ln/>
        </p:spPr>
        <p:txBody>
          <a:bodyPr wrap="square" lIns="0" tIns="0" rIns="0" bIns="0" rtlCol="0" anchor="t"/>
          <a:lstStyle/>
          <a:p>
            <a:pPr indent="0" marL="0">
              <a:buNone/>
            </a:pPr>
            <a:r>
              <a:rPr lang="en-US" sz="3000" b="1" dirty="0">
                <a:solidFill>
                  <a:srgbClr val="B9808F"/>
                </a:solidFill>
                <a:latin typeface="Aptos Display" pitchFamily="34" charset="0"/>
                <a:ea typeface="Aptos Display" pitchFamily="34" charset="-122"/>
                <a:cs typeface="Aptos Display" pitchFamily="34" charset="-120"/>
              </a:rPr>
              <a:t>2</a:t>
            </a:r>
            <a:endParaRPr lang="en-US" sz="3000" dirty="0"/>
          </a:p>
        </p:txBody>
      </p:sp>
      <p:sp>
        <p:nvSpPr>
          <p:cNvPr id="15" name="text-602"/>
          <p:cNvSpPr txBox="1"/>
          <p:nvPr/>
        </p:nvSpPr>
        <p:spPr>
          <a:xfrm>
            <a:off x="1325880" y="2999232"/>
            <a:ext cx="2743200" cy="594360"/>
          </a:xfrm>
          <a:prstGeom prst="rect">
            <a:avLst/>
          </a:prstGeom>
          <a:noFill/>
          <a:ln/>
        </p:spPr>
        <p:txBody>
          <a:bodyPr wrap="square" lIns="0" tIns="0" rIns="0" bIns="0" rtlCol="0" anchor="t"/>
          <a:lstStyle/>
          <a:p>
            <a:pPr indent="0" marL="0">
              <a:buNone/>
            </a:pPr>
            <a:r>
              <a:rPr lang="en-US" sz="1400" b="1" dirty="0">
                <a:solidFill>
                  <a:srgbClr val="65172F"/>
                </a:solidFill>
              </a:rPr>
              <a:t>Data is poor</a:t>
            </a:r>
            <a:endParaRPr lang="en-US" sz="1400" dirty="0"/>
          </a:p>
        </p:txBody>
      </p:sp>
      <p:sp>
        <p:nvSpPr>
          <p:cNvPr id="16" name="text-603"/>
          <p:cNvSpPr txBox="1"/>
          <p:nvPr/>
        </p:nvSpPr>
        <p:spPr>
          <a:xfrm>
            <a:off x="4206240" y="2999232"/>
            <a:ext cx="2926080" cy="640080"/>
          </a:xfrm>
          <a:prstGeom prst="rect">
            <a:avLst/>
          </a:prstGeom>
          <a:noFill/>
          <a:ln/>
        </p:spPr>
        <p:txBody>
          <a:bodyPr wrap="square" lIns="0" tIns="0" rIns="0" bIns="0" rtlCol="0" anchor="t"/>
          <a:lstStyle/>
          <a:p>
            <a:pPr indent="0" marL="0">
              <a:buNone/>
            </a:pPr>
            <a:r>
              <a:rPr lang="en-US" sz="1200" dirty="0">
                <a:solidFill>
                  <a:srgbClr val="6E665E"/>
                </a:solidFill>
              </a:rPr>
              <a:t>No POS in general trade, missing batches, stale counts</a:t>
            </a:r>
            <a:endParaRPr lang="en-US" sz="1200" dirty="0"/>
          </a:p>
        </p:txBody>
      </p:sp>
      <p:sp>
        <p:nvSpPr>
          <p:cNvPr id="17" name="text-604"/>
          <p:cNvSpPr txBox="1"/>
          <p:nvPr/>
        </p:nvSpPr>
        <p:spPr>
          <a:xfrm>
            <a:off x="7315200" y="2999232"/>
            <a:ext cx="4233672" cy="658368"/>
          </a:xfrm>
          <a:prstGeom prst="rect">
            <a:avLst/>
          </a:prstGeom>
          <a:noFill/>
          <a:ln/>
        </p:spPr>
        <p:txBody>
          <a:bodyPr wrap="square" lIns="0" tIns="0" rIns="0" bIns="0" rtlCol="0" anchor="t"/>
          <a:lstStyle/>
          <a:p>
            <a:pPr indent="0" marL="0">
              <a:buNone/>
            </a:pPr>
            <a:r>
              <a:rPr lang="en-US" sz="1200" dirty="0">
                <a:solidFill>
                  <a:srgbClr val="171717"/>
                </a:solidFill>
              </a:rPr>
              <a:t>Stock-flow sell-out; confidence weighting; "verify first" locks costly actions; DMS as the base layer</a:t>
            </a:r>
            <a:endParaRPr lang="en-US" sz="1200" dirty="0"/>
          </a:p>
        </p:txBody>
      </p:sp>
      <p:sp>
        <p:nvSpPr>
          <p:cNvPr id="18" name="line-605"/>
          <p:cNvSpPr/>
          <p:nvPr/>
        </p:nvSpPr>
        <p:spPr>
          <a:xfrm>
            <a:off x="640080" y="3666744"/>
            <a:ext cx="10911535" cy="0"/>
          </a:xfrm>
          <a:prstGeom prst="line">
            <a:avLst/>
          </a:prstGeom>
          <a:noFill/>
          <a:ln w="9525">
            <a:solidFill>
              <a:srgbClr val="E3DED7"/>
            </a:solidFill>
            <a:prstDash val="solid"/>
          </a:ln>
        </p:spPr>
      </p:sp>
      <p:sp>
        <p:nvSpPr>
          <p:cNvPr id="19" name="text-606"/>
          <p:cNvSpPr txBox="1"/>
          <p:nvPr/>
        </p:nvSpPr>
        <p:spPr>
          <a:xfrm>
            <a:off x="640080" y="3758184"/>
            <a:ext cx="548640" cy="548640"/>
          </a:xfrm>
          <a:prstGeom prst="rect">
            <a:avLst/>
          </a:prstGeom>
          <a:noFill/>
          <a:ln/>
        </p:spPr>
        <p:txBody>
          <a:bodyPr wrap="square" lIns="0" tIns="0" rIns="0" bIns="0" rtlCol="0" anchor="t"/>
          <a:lstStyle/>
          <a:p>
            <a:pPr indent="0" marL="0">
              <a:buNone/>
            </a:pPr>
            <a:r>
              <a:rPr lang="en-US" sz="3000" b="1" dirty="0">
                <a:solidFill>
                  <a:srgbClr val="B9808F"/>
                </a:solidFill>
                <a:latin typeface="Aptos Display" pitchFamily="34" charset="0"/>
                <a:ea typeface="Aptos Display" pitchFamily="34" charset="-122"/>
                <a:cs typeface="Aptos Display" pitchFamily="34" charset="-120"/>
              </a:rPr>
              <a:t>3</a:t>
            </a:r>
            <a:endParaRPr lang="en-US" sz="3000" dirty="0"/>
          </a:p>
        </p:txBody>
      </p:sp>
      <p:sp>
        <p:nvSpPr>
          <p:cNvPr id="20" name="text-607"/>
          <p:cNvSpPr txBox="1"/>
          <p:nvPr/>
        </p:nvSpPr>
        <p:spPr>
          <a:xfrm>
            <a:off x="1325880" y="3803904"/>
            <a:ext cx="2743200" cy="594360"/>
          </a:xfrm>
          <a:prstGeom prst="rect">
            <a:avLst/>
          </a:prstGeom>
          <a:noFill/>
          <a:ln/>
        </p:spPr>
        <p:txBody>
          <a:bodyPr wrap="square" lIns="0" tIns="0" rIns="0" bIns="0" rtlCol="0" anchor="t"/>
          <a:lstStyle/>
          <a:p>
            <a:pPr indent="0" marL="0">
              <a:buNone/>
            </a:pPr>
            <a:r>
              <a:rPr lang="en-US" sz="1400" b="1" dirty="0">
                <a:solidFill>
                  <a:srgbClr val="65172F"/>
                </a:solidFill>
              </a:rPr>
              <a:t>Unintended consequences</a:t>
            </a:r>
            <a:endParaRPr lang="en-US" sz="1400" dirty="0"/>
          </a:p>
        </p:txBody>
      </p:sp>
      <p:sp>
        <p:nvSpPr>
          <p:cNvPr id="21" name="text-608"/>
          <p:cNvSpPr txBox="1"/>
          <p:nvPr/>
        </p:nvSpPr>
        <p:spPr>
          <a:xfrm>
            <a:off x="4206240" y="3803904"/>
            <a:ext cx="2926080" cy="640080"/>
          </a:xfrm>
          <a:prstGeom prst="rect">
            <a:avLst/>
          </a:prstGeom>
          <a:noFill/>
          <a:ln/>
        </p:spPr>
        <p:txBody>
          <a:bodyPr wrap="square" lIns="0" tIns="0" rIns="0" bIns="0" rtlCol="0" anchor="t"/>
          <a:lstStyle/>
          <a:p>
            <a:pPr indent="0" marL="0">
              <a:buNone/>
            </a:pPr>
            <a:r>
              <a:rPr lang="en-US" sz="1200" dirty="0">
                <a:solidFill>
                  <a:srgbClr val="6E665E"/>
                </a:solidFill>
              </a:rPr>
              <a:t>Discount habit, brand dilution, channel conflict, under-ordering</a:t>
            </a:r>
            <a:endParaRPr lang="en-US" sz="1200" dirty="0"/>
          </a:p>
        </p:txBody>
      </p:sp>
      <p:sp>
        <p:nvSpPr>
          <p:cNvPr id="22" name="text-609"/>
          <p:cNvSpPr txBox="1"/>
          <p:nvPr/>
        </p:nvSpPr>
        <p:spPr>
          <a:xfrm>
            <a:off x="7315200" y="3803904"/>
            <a:ext cx="4233672" cy="658368"/>
          </a:xfrm>
          <a:prstGeom prst="rect">
            <a:avLst/>
          </a:prstGeom>
          <a:noFill/>
          <a:ln/>
        </p:spPr>
        <p:txBody>
          <a:bodyPr wrap="square" lIns="0" tIns="0" rIns="0" bIns="0" rtlCol="0" anchor="t"/>
          <a:lstStyle/>
          <a:p>
            <a:pPr indent="0" marL="0">
              <a:buNone/>
            </a:pPr>
            <a:r>
              <a:rPr lang="en-US" sz="1200" dirty="0">
                <a:solidFill>
                  <a:srgbClr val="171717"/>
                </a:solidFill>
              </a:rPr>
              <a:t>Discount is step 6 of 8; no schemes for Luxe/Derma; transfers within authorised network; growth guardrail KPI vs control</a:t>
            </a:r>
            <a:endParaRPr lang="en-US" sz="1200" dirty="0"/>
          </a:p>
        </p:txBody>
      </p:sp>
      <p:sp>
        <p:nvSpPr>
          <p:cNvPr id="23" name="line-610"/>
          <p:cNvSpPr/>
          <p:nvPr/>
        </p:nvSpPr>
        <p:spPr>
          <a:xfrm>
            <a:off x="640080" y="4471416"/>
            <a:ext cx="10911535" cy="0"/>
          </a:xfrm>
          <a:prstGeom prst="line">
            <a:avLst/>
          </a:prstGeom>
          <a:noFill/>
          <a:ln w="9525">
            <a:solidFill>
              <a:srgbClr val="E3DED7"/>
            </a:solidFill>
            <a:prstDash val="solid"/>
          </a:ln>
        </p:spPr>
      </p:sp>
      <p:sp>
        <p:nvSpPr>
          <p:cNvPr id="24" name="text-611"/>
          <p:cNvSpPr txBox="1"/>
          <p:nvPr/>
        </p:nvSpPr>
        <p:spPr>
          <a:xfrm>
            <a:off x="640080" y="4562856"/>
            <a:ext cx="548640" cy="548640"/>
          </a:xfrm>
          <a:prstGeom prst="rect">
            <a:avLst/>
          </a:prstGeom>
          <a:noFill/>
          <a:ln/>
        </p:spPr>
        <p:txBody>
          <a:bodyPr wrap="square" lIns="0" tIns="0" rIns="0" bIns="0" rtlCol="0" anchor="t"/>
          <a:lstStyle/>
          <a:p>
            <a:pPr indent="0" marL="0">
              <a:buNone/>
            </a:pPr>
            <a:r>
              <a:rPr lang="en-US" sz="3000" b="1" dirty="0">
                <a:solidFill>
                  <a:srgbClr val="B9808F"/>
                </a:solidFill>
                <a:latin typeface="Aptos Display" pitchFamily="34" charset="0"/>
                <a:ea typeface="Aptos Display" pitchFamily="34" charset="-122"/>
                <a:cs typeface="Aptos Display" pitchFamily="34" charset="-120"/>
              </a:rPr>
              <a:t>4</a:t>
            </a:r>
            <a:endParaRPr lang="en-US" sz="3000" dirty="0"/>
          </a:p>
        </p:txBody>
      </p:sp>
      <p:sp>
        <p:nvSpPr>
          <p:cNvPr id="25" name="text-612"/>
          <p:cNvSpPr txBox="1"/>
          <p:nvPr/>
        </p:nvSpPr>
        <p:spPr>
          <a:xfrm>
            <a:off x="1325880" y="4608576"/>
            <a:ext cx="2743200" cy="594360"/>
          </a:xfrm>
          <a:prstGeom prst="rect">
            <a:avLst/>
          </a:prstGeom>
          <a:noFill/>
          <a:ln/>
        </p:spPr>
        <p:txBody>
          <a:bodyPr wrap="square" lIns="0" tIns="0" rIns="0" bIns="0" rtlCol="0" anchor="t"/>
          <a:lstStyle/>
          <a:p>
            <a:pPr indent="0" marL="0">
              <a:buNone/>
            </a:pPr>
            <a:r>
              <a:rPr lang="en-US" sz="1400" b="1" dirty="0">
                <a:solidFill>
                  <a:srgbClr val="65172F"/>
                </a:solidFill>
              </a:rPr>
              <a:t>L'Oréal already has systems</a:t>
            </a:r>
            <a:endParaRPr lang="en-US" sz="1400" dirty="0"/>
          </a:p>
        </p:txBody>
      </p:sp>
      <p:sp>
        <p:nvSpPr>
          <p:cNvPr id="26" name="text-613"/>
          <p:cNvSpPr txBox="1"/>
          <p:nvPr/>
        </p:nvSpPr>
        <p:spPr>
          <a:xfrm>
            <a:off x="4206240" y="4608576"/>
            <a:ext cx="2926080" cy="640080"/>
          </a:xfrm>
          <a:prstGeom prst="rect">
            <a:avLst/>
          </a:prstGeom>
          <a:noFill/>
          <a:ln/>
        </p:spPr>
        <p:txBody>
          <a:bodyPr wrap="square" lIns="0" tIns="0" rIns="0" bIns="0" rtlCol="0" anchor="t"/>
          <a:lstStyle/>
          <a:p>
            <a:pPr indent="0" marL="0">
              <a:buNone/>
            </a:pPr>
            <a:r>
              <a:rPr lang="en-US" sz="1200" dirty="0">
                <a:solidFill>
                  <a:srgbClr val="6E665E"/>
                </a:solidFill>
              </a:rPr>
              <a:t>SFA/DMS and central demand sensing exist</a:t>
            </a:r>
            <a:endParaRPr lang="en-US" sz="1200" dirty="0"/>
          </a:p>
        </p:txBody>
      </p:sp>
      <p:sp>
        <p:nvSpPr>
          <p:cNvPr id="27" name="text-614"/>
          <p:cNvSpPr txBox="1"/>
          <p:nvPr/>
        </p:nvSpPr>
        <p:spPr>
          <a:xfrm>
            <a:off x="7315200" y="4608576"/>
            <a:ext cx="4233672" cy="658368"/>
          </a:xfrm>
          <a:prstGeom prst="rect">
            <a:avLst/>
          </a:prstGeom>
          <a:noFill/>
          <a:ln/>
        </p:spPr>
        <p:txBody>
          <a:bodyPr wrap="square" lIns="0" tIns="0" rIns="0" bIns="0" rtlCol="0" anchor="t"/>
          <a:lstStyle/>
          <a:p>
            <a:pPr indent="0" marL="0">
              <a:buNone/>
            </a:pPr>
            <a:r>
              <a:rPr lang="en-US" sz="1200" dirty="0">
                <a:solidFill>
                  <a:srgbClr val="171717"/>
                </a:solidFill>
              </a:rPr>
              <a:t>SMARTSELL is a logic and workflow layer the current SFA can host; it feeds outlet signals into demand planning</a:t>
            </a:r>
            <a:endParaRPr lang="en-US" sz="1200" dirty="0"/>
          </a:p>
        </p:txBody>
      </p:sp>
      <p:sp>
        <p:nvSpPr>
          <p:cNvPr id="28" name="line-615"/>
          <p:cNvSpPr/>
          <p:nvPr/>
        </p:nvSpPr>
        <p:spPr>
          <a:xfrm>
            <a:off x="640080" y="5276088"/>
            <a:ext cx="10911535" cy="0"/>
          </a:xfrm>
          <a:prstGeom prst="line">
            <a:avLst/>
          </a:prstGeom>
          <a:noFill/>
          <a:ln w="9525">
            <a:solidFill>
              <a:srgbClr val="E3DED7"/>
            </a:solidFill>
            <a:prstDash val="solid"/>
          </a:ln>
        </p:spPr>
      </p:sp>
      <p:sp>
        <p:nvSpPr>
          <p:cNvPr id="29" name="text-616"/>
          <p:cNvSpPr txBox="1"/>
          <p:nvPr/>
        </p:nvSpPr>
        <p:spPr>
          <a:xfrm>
            <a:off x="640080" y="5367528"/>
            <a:ext cx="548640" cy="548640"/>
          </a:xfrm>
          <a:prstGeom prst="rect">
            <a:avLst/>
          </a:prstGeom>
          <a:noFill/>
          <a:ln/>
        </p:spPr>
        <p:txBody>
          <a:bodyPr wrap="square" lIns="0" tIns="0" rIns="0" bIns="0" rtlCol="0" anchor="t"/>
          <a:lstStyle/>
          <a:p>
            <a:pPr indent="0" marL="0">
              <a:buNone/>
            </a:pPr>
            <a:r>
              <a:rPr lang="en-US" sz="3000" b="1" dirty="0">
                <a:solidFill>
                  <a:srgbClr val="B9808F"/>
                </a:solidFill>
                <a:latin typeface="Aptos Display" pitchFamily="34" charset="0"/>
                <a:ea typeface="Aptos Display" pitchFamily="34" charset="-122"/>
                <a:cs typeface="Aptos Display" pitchFamily="34" charset="-120"/>
              </a:rPr>
              <a:t>5</a:t>
            </a:r>
            <a:endParaRPr lang="en-US" sz="3000" dirty="0"/>
          </a:p>
        </p:txBody>
      </p:sp>
      <p:sp>
        <p:nvSpPr>
          <p:cNvPr id="30" name="text-617"/>
          <p:cNvSpPr txBox="1"/>
          <p:nvPr/>
        </p:nvSpPr>
        <p:spPr>
          <a:xfrm>
            <a:off x="1325880" y="5413248"/>
            <a:ext cx="2743200" cy="594360"/>
          </a:xfrm>
          <a:prstGeom prst="rect">
            <a:avLst/>
          </a:prstGeom>
          <a:noFill/>
          <a:ln/>
        </p:spPr>
        <p:txBody>
          <a:bodyPr wrap="square" lIns="0" tIns="0" rIns="0" bIns="0" rtlCol="0" anchor="t"/>
          <a:lstStyle/>
          <a:p>
            <a:pPr indent="0" marL="0">
              <a:buNone/>
            </a:pPr>
            <a:r>
              <a:rPr lang="en-US" sz="1400" b="1" dirty="0">
                <a:solidFill>
                  <a:srgbClr val="65172F"/>
                </a:solidFill>
              </a:rPr>
              <a:t>Benefits are overstated</a:t>
            </a:r>
            <a:endParaRPr lang="en-US" sz="1400" dirty="0"/>
          </a:p>
        </p:txBody>
      </p:sp>
      <p:sp>
        <p:nvSpPr>
          <p:cNvPr id="31" name="text-618"/>
          <p:cNvSpPr txBox="1"/>
          <p:nvPr/>
        </p:nvSpPr>
        <p:spPr>
          <a:xfrm>
            <a:off x="4206240" y="5413248"/>
            <a:ext cx="2926080" cy="640080"/>
          </a:xfrm>
          <a:prstGeom prst="rect">
            <a:avLst/>
          </a:prstGeom>
          <a:noFill/>
          <a:ln/>
        </p:spPr>
        <p:txBody>
          <a:bodyPr wrap="square" lIns="0" tIns="0" rIns="0" bIns="0" rtlCol="0" anchor="t"/>
          <a:lstStyle/>
          <a:p>
            <a:pPr indent="0" marL="0">
              <a:buNone/>
            </a:pPr>
            <a:r>
              <a:rPr lang="en-US" sz="1200" dirty="0">
                <a:solidFill>
                  <a:srgbClr val="6E665E"/>
                </a:solidFill>
              </a:rPr>
              <a:t>Estimates mistaken for results</a:t>
            </a:r>
            <a:endParaRPr lang="en-US" sz="1200" dirty="0"/>
          </a:p>
        </p:txBody>
      </p:sp>
      <p:sp>
        <p:nvSpPr>
          <p:cNvPr id="32" name="text-619"/>
          <p:cNvSpPr txBox="1"/>
          <p:nvPr/>
        </p:nvSpPr>
        <p:spPr>
          <a:xfrm>
            <a:off x="7315200" y="5413248"/>
            <a:ext cx="4233672" cy="658368"/>
          </a:xfrm>
          <a:prstGeom prst="rect">
            <a:avLst/>
          </a:prstGeom>
          <a:noFill/>
          <a:ln/>
        </p:spPr>
        <p:txBody>
          <a:bodyPr wrap="square" lIns="0" tIns="0" rIns="0" bIns="0" rtlCol="0" anchor="t"/>
          <a:lstStyle/>
          <a:p>
            <a:pPr indent="0" marL="0">
              <a:buNone/>
            </a:pPr>
            <a:r>
              <a:rPr lang="en-US" sz="1200" dirty="0">
                <a:solidFill>
                  <a:srgbClr val="171717"/>
                </a:solidFill>
              </a:rPr>
              <a:t>Only case % are sourced; three scenarios with a break-even conservative case; pilot with stop criteria</a:t>
            </a:r>
            <a:endParaRPr lang="en-US" sz="1200" dirty="0"/>
          </a:p>
        </p:txBody>
      </p:sp>
      <p:sp>
        <p:nvSpPr>
          <p:cNvPr id="25" name="Slide Number Placeholder 0"/>
          <p:cNvSpPr>
            <a:spLocks noGrp="1"/>
          </p:cNvSpPr>
          <p:nvPr>
            <p:ph type="sldNum" sz="quarter" idx="4294967295"/>
          </p:nvPr>
        </p:nvSpPr>
        <p:spPr>
          <a:xfrm>
            <a:off x="11091672"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665E"/>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body" hasCustomPrompt="1"/>
          </p:nvPr>
        </p:nvSpPr>
        <p:spPr>
          <a:xfrm>
            <a:off x="640080" y="457200"/>
            <a:ext cx="8686800" cy="237744"/>
          </a:xfrm>
          <a:prstGeom prst="rect">
            <a:avLst/>
          </a:prstGeom>
          <a:noFill/>
          <a:ln/>
        </p:spPr>
        <p:txBody>
          <a:bodyPr wrap="square" lIns="0" tIns="0" rIns="0" bIns="0" rtlCol="0" anchor="t"/>
          <a:lstStyle/>
          <a:p>
            <a:pPr indent="0" marL="0">
              <a:buNone/>
            </a:pPr>
            <a:r>
              <a:rPr lang="en-US" sz="1100" b="1" spc="200" kern="0" dirty="0">
                <a:solidFill>
                  <a:srgbClr val="65172F"/>
                </a:solidFill>
              </a:rPr>
              <a:t>APPENDIX F · LIKELY JUDGE QUESTIONS</a:t>
            </a:r>
            <a:endParaRPr lang="en-US" sz="1100" dirty="0"/>
          </a:p>
        </p:txBody>
      </p:sp>
      <p:sp>
        <p:nvSpPr>
          <p:cNvPr id="3" name="Text 0"/>
          <p:cNvSpPr/>
          <p:nvPr>
            <p:ph idx="102" type="title" hasCustomPrompt="1"/>
          </p:nvPr>
        </p:nvSpPr>
        <p:spPr>
          <a:xfrm>
            <a:off x="640080" y="749808"/>
            <a:ext cx="9418320" cy="1005840"/>
          </a:xfrm>
          <a:prstGeom prst="rect">
            <a:avLst/>
          </a:prstGeom>
          <a:noFill/>
          <a:ln/>
        </p:spPr>
        <p:txBody>
          <a:bodyPr wrap="square" lIns="0" tIns="0" rIns="0" bIns="0" rtlCol="0" anchor="t"/>
          <a:lstStyle/>
          <a:p>
            <a:pPr algn="l" indent="0" marL="0">
              <a:lnSpc>
                <a:spcPct val="95000"/>
              </a:lnSpc>
              <a:buNone/>
            </a:pPr>
            <a:r>
              <a:rPr lang="en-US" sz="3000" b="1" dirty="0">
                <a:solidFill>
                  <a:srgbClr val="171717"/>
                </a:solidFill>
                <a:latin typeface="Aptos Display" pitchFamily="34" charset="0"/>
                <a:ea typeface="Aptos Display" pitchFamily="34" charset="-122"/>
                <a:cs typeface="Aptos Display" pitchFamily="34" charset="-120"/>
              </a:rPr>
              <a:t>Short answers to the questions we expect</a:t>
            </a:r>
            <a:endParaRPr lang="en-US" sz="3000" dirty="0"/>
          </a:p>
        </p:txBody>
      </p:sp>
      <p:sp>
        <p:nvSpPr>
          <p:cNvPr id="4" name="Text 0"/>
          <p:cNvSpPr/>
          <p:nvPr>
            <p:ph idx="103" type="body" hasCustomPrompt="1"/>
          </p:nvPr>
        </p:nvSpPr>
        <p:spPr>
          <a:xfrm>
            <a:off x="640080" y="6355080"/>
            <a:ext cx="9189720" cy="347472"/>
          </a:xfrm>
          <a:prstGeom prst="rect">
            <a:avLst/>
          </a:prstGeom>
          <a:noFill/>
          <a:ln/>
        </p:spPr>
        <p:txBody>
          <a:bodyPr wrap="square" lIns="0" tIns="0" rIns="0" bIns="0" rtlCol="0" anchor="t"/>
          <a:lstStyle/>
          <a:p>
            <a:pPr indent="0" marL="0">
              <a:buNone/>
            </a:pPr>
            <a:r>
              <a:rPr lang="en-US" sz="1000" dirty="0">
                <a:solidFill>
                  <a:srgbClr val="6E665E"/>
                </a:solidFill>
              </a:rPr>
              <a:t>Full answers: research folder, 12-judge-qa.md, and deck/presenter-pack.md.</a:t>
            </a:r>
            <a:endParaRPr lang="en-US" sz="1000" dirty="0"/>
          </a:p>
        </p:txBody>
      </p:sp>
      <p:sp>
        <p:nvSpPr>
          <p:cNvPr id="6" name="text-620"/>
          <p:cNvSpPr txBox="1"/>
          <p:nvPr/>
        </p:nvSpPr>
        <p:spPr>
          <a:xfrm>
            <a:off x="640080" y="1828800"/>
            <a:ext cx="5303520" cy="320040"/>
          </a:xfrm>
          <a:prstGeom prst="rect">
            <a:avLst/>
          </a:prstGeom>
          <a:noFill/>
          <a:ln/>
        </p:spPr>
        <p:txBody>
          <a:bodyPr wrap="square" lIns="0" tIns="0" rIns="0" bIns="0" rtlCol="0" anchor="t"/>
          <a:lstStyle/>
          <a:p>
            <a:pPr indent="0" marL="0">
              <a:buNone/>
            </a:pPr>
            <a:r>
              <a:rPr lang="en-US" sz="1400" b="1" dirty="0">
                <a:solidFill>
                  <a:srgbClr val="65172F"/>
                </a:solidFill>
              </a:rPr>
              <a:t>We already have an SFA and DMS. Why this?</a:t>
            </a:r>
            <a:endParaRPr lang="en-US" sz="1400" dirty="0"/>
          </a:p>
        </p:txBody>
      </p:sp>
      <p:sp>
        <p:nvSpPr>
          <p:cNvPr id="7" name="text-621"/>
          <p:cNvSpPr txBox="1"/>
          <p:nvPr/>
        </p:nvSpPr>
        <p:spPr>
          <a:xfrm>
            <a:off x="640080" y="2194560"/>
            <a:ext cx="5303520" cy="868680"/>
          </a:xfrm>
          <a:prstGeom prst="rect">
            <a:avLst/>
          </a:prstGeom>
          <a:noFill/>
          <a:ln/>
        </p:spPr>
        <p:txBody>
          <a:bodyPr wrap="square" lIns="0" tIns="0" rIns="0" bIns="0" rtlCol="0" anchor="t"/>
          <a:lstStyle/>
          <a:p>
            <a:pPr indent="0" marL="0">
              <a:buNone/>
            </a:pPr>
            <a:r>
              <a:rPr lang="en-US" sz="1250" dirty="0">
                <a:solidFill>
                  <a:srgbClr val="171717"/>
                </a:solidFill>
              </a:rPr>
              <a:t>They capture orders and stock. SMARTSELL adds the decision layer: batch-level risk at the outlet, sanctioned actions, and verified outcomes. Your SFA can host it.</a:t>
            </a:r>
            <a:endParaRPr lang="en-US" sz="1250" dirty="0"/>
          </a:p>
        </p:txBody>
      </p:sp>
      <p:sp>
        <p:nvSpPr>
          <p:cNvPr id="8" name="text-622"/>
          <p:cNvSpPr txBox="1"/>
          <p:nvPr/>
        </p:nvSpPr>
        <p:spPr>
          <a:xfrm>
            <a:off x="6236208" y="1828800"/>
            <a:ext cx="5303520" cy="320040"/>
          </a:xfrm>
          <a:prstGeom prst="rect">
            <a:avLst/>
          </a:prstGeom>
          <a:noFill/>
          <a:ln/>
        </p:spPr>
        <p:txBody>
          <a:bodyPr wrap="square" lIns="0" tIns="0" rIns="0" bIns="0" rtlCol="0" anchor="t"/>
          <a:lstStyle/>
          <a:p>
            <a:pPr indent="0" marL="0">
              <a:buNone/>
            </a:pPr>
            <a:r>
              <a:rPr lang="en-US" sz="1400" b="1" dirty="0">
                <a:solidFill>
                  <a:srgbClr val="65172F"/>
                </a:solidFill>
              </a:rPr>
              <a:t>Where is the AI?</a:t>
            </a:r>
            <a:endParaRPr lang="en-US" sz="1400" dirty="0"/>
          </a:p>
        </p:txBody>
      </p:sp>
      <p:sp>
        <p:nvSpPr>
          <p:cNvPr id="9" name="text-623"/>
          <p:cNvSpPr txBox="1"/>
          <p:nvPr/>
        </p:nvSpPr>
        <p:spPr>
          <a:xfrm>
            <a:off x="6236208" y="2194560"/>
            <a:ext cx="5303520" cy="868680"/>
          </a:xfrm>
          <a:prstGeom prst="rect">
            <a:avLst/>
          </a:prstGeom>
          <a:noFill/>
          <a:ln/>
        </p:spPr>
        <p:txBody>
          <a:bodyPr wrap="square" lIns="0" tIns="0" rIns="0" bIns="0" rtlCol="0" anchor="t"/>
          <a:lstStyle/>
          <a:p>
            <a:pPr indent="0" marL="0">
              <a:buNone/>
            </a:pPr>
            <a:r>
              <a:rPr lang="en-US" sz="1250" dirty="0">
                <a:solidFill>
                  <a:srgbClr val="171717"/>
                </a:solidFill>
              </a:rPr>
              <a:t>Deliberately rules-first so it can be audited. ML comes in phase 3 for sparse-SKU forecasts and learning which action works where.</a:t>
            </a:r>
            <a:endParaRPr lang="en-US" sz="1250" dirty="0"/>
          </a:p>
        </p:txBody>
      </p:sp>
      <p:sp>
        <p:nvSpPr>
          <p:cNvPr id="10" name="line-624"/>
          <p:cNvSpPr/>
          <p:nvPr/>
        </p:nvSpPr>
        <p:spPr>
          <a:xfrm>
            <a:off x="640080" y="3154680"/>
            <a:ext cx="5303520" cy="0"/>
          </a:xfrm>
          <a:prstGeom prst="line">
            <a:avLst/>
          </a:prstGeom>
          <a:noFill/>
          <a:ln w="9525">
            <a:solidFill>
              <a:srgbClr val="E3DED7"/>
            </a:solidFill>
            <a:prstDash val="solid"/>
          </a:ln>
        </p:spPr>
      </p:sp>
      <p:sp>
        <p:nvSpPr>
          <p:cNvPr id="11" name="text-625"/>
          <p:cNvSpPr txBox="1"/>
          <p:nvPr/>
        </p:nvSpPr>
        <p:spPr>
          <a:xfrm>
            <a:off x="640080" y="3291840"/>
            <a:ext cx="5303520" cy="320040"/>
          </a:xfrm>
          <a:prstGeom prst="rect">
            <a:avLst/>
          </a:prstGeom>
          <a:noFill/>
          <a:ln/>
        </p:spPr>
        <p:txBody>
          <a:bodyPr wrap="square" lIns="0" tIns="0" rIns="0" bIns="0" rtlCol="0" anchor="t"/>
          <a:lstStyle/>
          <a:p>
            <a:pPr indent="0" marL="0">
              <a:buNone/>
            </a:pPr>
            <a:r>
              <a:rPr lang="en-US" sz="1400" b="1" dirty="0">
                <a:solidFill>
                  <a:srgbClr val="65172F"/>
                </a:solidFill>
              </a:rPr>
              <a:t>Reps visit 20 outlets a day. They won't count.</a:t>
            </a:r>
            <a:endParaRPr lang="en-US" sz="1400" dirty="0"/>
          </a:p>
        </p:txBody>
      </p:sp>
      <p:sp>
        <p:nvSpPr>
          <p:cNvPr id="12" name="text-626"/>
          <p:cNvSpPr txBox="1"/>
          <p:nvPr/>
        </p:nvSpPr>
        <p:spPr>
          <a:xfrm>
            <a:off x="640080" y="3657600"/>
            <a:ext cx="5303520" cy="868680"/>
          </a:xfrm>
          <a:prstGeom prst="rect">
            <a:avLst/>
          </a:prstGeom>
          <a:noFill/>
          <a:ln/>
        </p:spPr>
        <p:txBody>
          <a:bodyPr wrap="square" lIns="0" tIns="0" rIns="0" bIns="0" rtlCol="0" anchor="t"/>
          <a:lstStyle/>
          <a:p>
            <a:pPr indent="0" marL="0">
              <a:buNone/>
            </a:pPr>
            <a:r>
              <a:rPr lang="en-US" sz="1250" dirty="0">
                <a:solidFill>
                  <a:srgbClr val="171717"/>
                </a:solidFill>
              </a:rPr>
              <a:t>They count only flagged SKUs at flagged outlets. Batch dates are printed by law, so reading one takes seconds. ≤4 minutes is a stop criterion.</a:t>
            </a:r>
            <a:endParaRPr lang="en-US" sz="1250" dirty="0"/>
          </a:p>
        </p:txBody>
      </p:sp>
      <p:sp>
        <p:nvSpPr>
          <p:cNvPr id="13" name="line-627"/>
          <p:cNvSpPr/>
          <p:nvPr/>
        </p:nvSpPr>
        <p:spPr>
          <a:xfrm>
            <a:off x="6236208" y="3154680"/>
            <a:ext cx="5303520" cy="0"/>
          </a:xfrm>
          <a:prstGeom prst="line">
            <a:avLst/>
          </a:prstGeom>
          <a:noFill/>
          <a:ln w="9525">
            <a:solidFill>
              <a:srgbClr val="E3DED7"/>
            </a:solidFill>
            <a:prstDash val="solid"/>
          </a:ln>
        </p:spPr>
      </p:sp>
      <p:sp>
        <p:nvSpPr>
          <p:cNvPr id="14" name="text-628"/>
          <p:cNvSpPr txBox="1"/>
          <p:nvPr/>
        </p:nvSpPr>
        <p:spPr>
          <a:xfrm>
            <a:off x="6236208" y="3291840"/>
            <a:ext cx="5303520" cy="320040"/>
          </a:xfrm>
          <a:prstGeom prst="rect">
            <a:avLst/>
          </a:prstGeom>
          <a:noFill/>
          <a:ln/>
        </p:spPr>
        <p:txBody>
          <a:bodyPr wrap="square" lIns="0" tIns="0" rIns="0" bIns="0" rtlCol="0" anchor="t"/>
          <a:lstStyle/>
          <a:p>
            <a:pPr indent="0" marL="0">
              <a:buNone/>
            </a:pPr>
            <a:r>
              <a:rPr lang="en-US" sz="1400" b="1" dirty="0">
                <a:solidFill>
                  <a:srgbClr val="65172F"/>
                </a:solidFill>
              </a:rPr>
              <a:t>Doesn't a transfer just move the problem?</a:t>
            </a:r>
            <a:endParaRPr lang="en-US" sz="1400" dirty="0"/>
          </a:p>
        </p:txBody>
      </p:sp>
      <p:sp>
        <p:nvSpPr>
          <p:cNvPr id="15" name="text-629"/>
          <p:cNvSpPr txBox="1"/>
          <p:nvPr/>
        </p:nvSpPr>
        <p:spPr>
          <a:xfrm>
            <a:off x="6236208" y="3657600"/>
            <a:ext cx="5303520" cy="868680"/>
          </a:xfrm>
          <a:prstGeom prst="rect">
            <a:avLst/>
          </a:prstGeom>
          <a:noFill/>
          <a:ln/>
        </p:spPr>
        <p:txBody>
          <a:bodyPr wrap="square" lIns="0" tIns="0" rIns="0" bIns="0" rtlCol="0" anchor="t"/>
          <a:lstStyle/>
          <a:p>
            <a:pPr indent="0" marL="0">
              <a:buNone/>
            </a:pPr>
            <a:r>
              <a:rPr lang="en-US" sz="1250" dirty="0">
                <a:solidFill>
                  <a:srgbClr val="171717"/>
                </a:solidFill>
              </a:rPr>
              <a:t>Only if you send too much. Quantity is capped at what the recipient can sell before its own buffer date.</a:t>
            </a:r>
            <a:endParaRPr lang="en-US" sz="1250" dirty="0"/>
          </a:p>
        </p:txBody>
      </p:sp>
      <p:sp>
        <p:nvSpPr>
          <p:cNvPr id="16" name="line-630"/>
          <p:cNvSpPr/>
          <p:nvPr/>
        </p:nvSpPr>
        <p:spPr>
          <a:xfrm>
            <a:off x="640080" y="4617720"/>
            <a:ext cx="5303520" cy="0"/>
          </a:xfrm>
          <a:prstGeom prst="line">
            <a:avLst/>
          </a:prstGeom>
          <a:noFill/>
          <a:ln w="9525">
            <a:solidFill>
              <a:srgbClr val="E3DED7"/>
            </a:solidFill>
            <a:prstDash val="solid"/>
          </a:ln>
        </p:spPr>
      </p:sp>
      <p:sp>
        <p:nvSpPr>
          <p:cNvPr id="17" name="text-631"/>
          <p:cNvSpPr txBox="1"/>
          <p:nvPr/>
        </p:nvSpPr>
        <p:spPr>
          <a:xfrm>
            <a:off x="640080" y="4754880"/>
            <a:ext cx="5303520" cy="320040"/>
          </a:xfrm>
          <a:prstGeom prst="rect">
            <a:avLst/>
          </a:prstGeom>
          <a:noFill/>
          <a:ln/>
        </p:spPr>
        <p:txBody>
          <a:bodyPr wrap="square" lIns="0" tIns="0" rIns="0" bIns="0" rtlCol="0" anchor="t"/>
          <a:lstStyle/>
          <a:p>
            <a:pPr indent="0" marL="0">
              <a:buNone/>
            </a:pPr>
            <a:r>
              <a:rPr lang="en-US" sz="1400" b="1" dirty="0">
                <a:solidFill>
                  <a:srgbClr val="65172F"/>
                </a:solidFill>
              </a:rPr>
              <a:t>What about quick commerce?</a:t>
            </a:r>
            <a:endParaRPr lang="en-US" sz="1400" dirty="0"/>
          </a:p>
        </p:txBody>
      </p:sp>
      <p:sp>
        <p:nvSpPr>
          <p:cNvPr id="18" name="text-632"/>
          <p:cNvSpPr txBox="1"/>
          <p:nvPr/>
        </p:nvSpPr>
        <p:spPr>
          <a:xfrm>
            <a:off x="640080" y="5120640"/>
            <a:ext cx="5303520" cy="868680"/>
          </a:xfrm>
          <a:prstGeom prst="rect">
            <a:avLst/>
          </a:prstGeom>
          <a:noFill/>
          <a:ln/>
        </p:spPr>
        <p:txBody>
          <a:bodyPr wrap="square" lIns="0" tIns="0" rIns="0" bIns="0" rtlCol="0" anchor="t"/>
          <a:lstStyle/>
          <a:p>
            <a:pPr indent="0" marL="0">
              <a:buNone/>
            </a:pPr>
            <a:r>
              <a:rPr lang="en-US" sz="1250" dirty="0">
                <a:solidFill>
                  <a:srgbClr val="171717"/>
                </a:solidFill>
              </a:rPr>
              <a:t>We detect demand moving online, tighten general-trade orders there and hand off to the quick-commerce KAM. We never dump short-dated stock online.</a:t>
            </a:r>
            <a:endParaRPr lang="en-US" sz="1250" dirty="0"/>
          </a:p>
        </p:txBody>
      </p:sp>
      <p:sp>
        <p:nvSpPr>
          <p:cNvPr id="19" name="line-633"/>
          <p:cNvSpPr/>
          <p:nvPr/>
        </p:nvSpPr>
        <p:spPr>
          <a:xfrm>
            <a:off x="6236208" y="4617720"/>
            <a:ext cx="5303520" cy="0"/>
          </a:xfrm>
          <a:prstGeom prst="line">
            <a:avLst/>
          </a:prstGeom>
          <a:noFill/>
          <a:ln w="9525">
            <a:solidFill>
              <a:srgbClr val="E3DED7"/>
            </a:solidFill>
            <a:prstDash val="solid"/>
          </a:ln>
        </p:spPr>
      </p:sp>
      <p:sp>
        <p:nvSpPr>
          <p:cNvPr id="20" name="text-634"/>
          <p:cNvSpPr txBox="1"/>
          <p:nvPr/>
        </p:nvSpPr>
        <p:spPr>
          <a:xfrm>
            <a:off x="6236208" y="4754880"/>
            <a:ext cx="5303520" cy="320040"/>
          </a:xfrm>
          <a:prstGeom prst="rect">
            <a:avLst/>
          </a:prstGeom>
          <a:noFill/>
          <a:ln/>
        </p:spPr>
        <p:txBody>
          <a:bodyPr wrap="square" lIns="0" tIns="0" rIns="0" bIns="0" rtlCol="0" anchor="t"/>
          <a:lstStyle/>
          <a:p>
            <a:pPr indent="0" marL="0">
              <a:buNone/>
            </a:pPr>
            <a:r>
              <a:rPr lang="en-US" sz="1400" b="1" dirty="0">
                <a:solidFill>
                  <a:srgbClr val="65172F"/>
                </a:solidFill>
              </a:rPr>
              <a:t>Is the ₹18 cr real?</a:t>
            </a:r>
            <a:endParaRPr lang="en-US" sz="1400" dirty="0"/>
          </a:p>
        </p:txBody>
      </p:sp>
      <p:sp>
        <p:nvSpPr>
          <p:cNvPr id="21" name="text-635"/>
          <p:cNvSpPr txBox="1"/>
          <p:nvPr/>
        </p:nvSpPr>
        <p:spPr>
          <a:xfrm>
            <a:off x="6236208" y="5120640"/>
            <a:ext cx="5303520" cy="868680"/>
          </a:xfrm>
          <a:prstGeom prst="rect">
            <a:avLst/>
          </a:prstGeom>
          <a:noFill/>
          <a:ln/>
        </p:spPr>
        <p:txBody>
          <a:bodyPr wrap="square" lIns="0" tIns="0" rIns="0" bIns="0" rtlCol="0" anchor="t"/>
          <a:lstStyle/>
          <a:p>
            <a:pPr indent="0" marL="0">
              <a:buNone/>
            </a:pPr>
            <a:r>
              <a:rPr lang="en-US" sz="1250" dirty="0">
                <a:solidFill>
                  <a:srgbClr val="171717"/>
                </a:solidFill>
              </a:rPr>
              <a:t>No. It's an illustrative base case built only on the case percentages and labelled assumptions. The pilot measures the real number.</a:t>
            </a:r>
            <a:endParaRPr lang="en-US" sz="1250" dirty="0"/>
          </a:p>
        </p:txBody>
      </p:sp>
      <p:sp>
        <p:nvSpPr>
          <p:cNvPr id="25" name="Slide Number Placeholder 0"/>
          <p:cNvSpPr>
            <a:spLocks noGrp="1"/>
          </p:cNvSpPr>
          <p:nvPr>
            <p:ph type="sldNum" sz="quarter" idx="4294967295"/>
          </p:nvPr>
        </p:nvSpPr>
        <p:spPr>
          <a:xfrm>
            <a:off x="11091672"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665E"/>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body" hasCustomPrompt="1"/>
          </p:nvPr>
        </p:nvSpPr>
        <p:spPr>
          <a:xfrm>
            <a:off x="640080" y="457200"/>
            <a:ext cx="8686800" cy="237744"/>
          </a:xfrm>
          <a:prstGeom prst="rect">
            <a:avLst/>
          </a:prstGeom>
          <a:noFill/>
          <a:ln/>
        </p:spPr>
        <p:txBody>
          <a:bodyPr wrap="square" lIns="0" tIns="0" rIns="0" bIns="0" rtlCol="0" anchor="t"/>
          <a:lstStyle/>
          <a:p>
            <a:pPr indent="0" marL="0">
              <a:buNone/>
            </a:pPr>
            <a:r>
              <a:rPr lang="en-US" sz="1100" b="1" spc="200" kern="0" dirty="0">
                <a:solidFill>
                  <a:srgbClr val="65172F"/>
                </a:solidFill>
              </a:rPr>
              <a:t>APPENDIX G · OPTIONS CONSIDERED</a:t>
            </a:r>
            <a:endParaRPr lang="en-US" sz="1100" dirty="0"/>
          </a:p>
        </p:txBody>
      </p:sp>
      <p:sp>
        <p:nvSpPr>
          <p:cNvPr id="3" name="Text 0"/>
          <p:cNvSpPr/>
          <p:nvPr>
            <p:ph idx="102" type="title" hasCustomPrompt="1"/>
          </p:nvPr>
        </p:nvSpPr>
        <p:spPr>
          <a:xfrm>
            <a:off x="640080" y="749808"/>
            <a:ext cx="9418320" cy="1005840"/>
          </a:xfrm>
          <a:prstGeom prst="rect">
            <a:avLst/>
          </a:prstGeom>
          <a:noFill/>
          <a:ln/>
        </p:spPr>
        <p:txBody>
          <a:bodyPr wrap="square" lIns="0" tIns="0" rIns="0" bIns="0" rtlCol="0" anchor="t"/>
          <a:lstStyle/>
          <a:p>
            <a:pPr algn="l" indent="0" marL="0">
              <a:lnSpc>
                <a:spcPct val="95000"/>
              </a:lnSpc>
              <a:buNone/>
            </a:pPr>
            <a:r>
              <a:rPr lang="en-US" sz="3000" b="1" dirty="0">
                <a:solidFill>
                  <a:srgbClr val="171717"/>
                </a:solidFill>
                <a:latin typeface="Aptos Display" pitchFamily="34" charset="0"/>
                <a:ea typeface="Aptos Display" pitchFamily="34" charset="-122"/>
                <a:cs typeface="Aptos Display" pitchFamily="34" charset="-120"/>
              </a:rPr>
              <a:t>Why a hybrid beats tech‑only or process‑only</a:t>
            </a:r>
            <a:endParaRPr lang="en-US" sz="3000" dirty="0"/>
          </a:p>
        </p:txBody>
      </p:sp>
      <p:sp>
        <p:nvSpPr>
          <p:cNvPr id="4" name="Text 0"/>
          <p:cNvSpPr/>
          <p:nvPr>
            <p:ph idx="103" type="body" hasCustomPrompt="1"/>
          </p:nvPr>
        </p:nvSpPr>
        <p:spPr>
          <a:xfrm>
            <a:off x="640080" y="6355080"/>
            <a:ext cx="9189720" cy="347472"/>
          </a:xfrm>
          <a:prstGeom prst="rect">
            <a:avLst/>
          </a:prstGeom>
          <a:noFill/>
          <a:ln/>
        </p:spPr>
        <p:txBody>
          <a:bodyPr wrap="square" lIns="0" tIns="0" rIns="0" bIns="0" rtlCol="0" anchor="t"/>
          <a:lstStyle/>
          <a:p>
            <a:pPr indent="0" marL="0">
              <a:buNone/>
            </a:pPr>
            <a:r>
              <a:rPr lang="en-US" sz="1000" dirty="0">
                <a:solidFill>
                  <a:srgbClr val="6E665E"/>
                </a:solidFill>
              </a:rPr>
              <a:t>Weights and scores are our judgement (1–5). Weighted: tech-led 0.25·4+0.20·2+0.20·2+0.15·3+0.10·4+0.10·4 = 3.05, and so on. Judges are welcome to re-weight.</a:t>
            </a:r>
            <a:endParaRPr lang="en-US" sz="1000" dirty="0"/>
          </a:p>
        </p:txBody>
      </p:sp>
      <p:graphicFrame>
        <p:nvGraphicFramePr>
          <p:cNvPr id="26" name="table-636"/>
          <p:cNvGraphicFramePr>
            <a:graphicFrameLocks noGrp="1"/>
          </p:cNvGraphicFramePr>
          <p:nvPr>
            <p:extLst>
              <p:ext uri="{D42A27DB-BD31-4B8C-83A1-F6EECF244321}">
                <p14:modId xmlns:p14="http://schemas.microsoft.com/office/powerpoint/2010/main" val="1579011935"/>
              </p:ext>
            </p:extLst>
          </p:nvPr>
        </p:nvGraphicFramePr>
        <p:xfrm>
          <a:off x="640080" y="1810512"/>
          <a:ext cx="10911535" cy="914400"/>
        </p:xfrm>
        <a:graphic>
          <a:graphicData uri="http://schemas.openxmlformats.org/drawingml/2006/table">
            <a:tbl>
              <a:tblPr/>
              <a:tblGrid>
                <a:gridCol w="3047695"/>
                <a:gridCol w="1965960"/>
                <a:gridCol w="1965960"/>
                <a:gridCol w="1965960"/>
                <a:gridCol w="1965960"/>
              </a:tblGrid>
              <a:tr h="438912">
                <a:tc>
                  <a:txBody>
                    <a:bodyPr/>
                    <a:lstStyle/>
                    <a:p>
                      <a:pPr algn="l" indent="0" marL="0">
                        <a:buNone/>
                      </a:pPr>
                      <a:r>
                        <a:rPr lang="en-US" sz="1300" b="1" dirty="0">
                          <a:solidFill>
                            <a:srgbClr val="FFFFFF"/>
                          </a:solidFill>
                        </a:rPr>
                        <a:t>Criterion (weight)</a:t>
                      </a:r>
                      <a:endParaRPr lang="en-US" sz="13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171717"/>
                    </a:solidFill>
                  </a:tcPr>
                </a:tc>
                <a:tc>
                  <a:txBody>
                    <a:bodyPr/>
                    <a:lstStyle/>
                    <a:p>
                      <a:pPr algn="l" indent="0" marL="0">
                        <a:buNone/>
                      </a:pPr>
                      <a:r>
                        <a:rPr lang="en-US" sz="1300" b="1" dirty="0">
                          <a:solidFill>
                            <a:srgbClr val="FFFFFF"/>
                          </a:solidFill>
                        </a:rPr>
                        <a:t>Tech-led AI platform</a:t>
                      </a:r>
                      <a:endParaRPr lang="en-US" sz="13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171717"/>
                    </a:solidFill>
                  </a:tcPr>
                </a:tc>
                <a:tc>
                  <a:txBody>
                    <a:bodyPr/>
                    <a:lstStyle/>
                    <a:p>
                      <a:pPr algn="l" indent="0" marL="0">
                        <a:buNone/>
                      </a:pPr>
                      <a:r>
                        <a:rPr lang="en-US" sz="1300" b="1" dirty="0">
                          <a:solidFill>
                            <a:srgbClr val="FFFFFF"/>
                          </a:solidFill>
                        </a:rPr>
                        <a:t>Process-led playbook</a:t>
                      </a:r>
                      <a:endParaRPr lang="en-US" sz="13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171717"/>
                    </a:solidFill>
                  </a:tcPr>
                </a:tc>
                <a:tc>
                  <a:txBody>
                    <a:bodyPr/>
                    <a:lstStyle/>
                    <a:p>
                      <a:pPr algn="l" indent="0" marL="0">
                        <a:buNone/>
                      </a:pPr>
                      <a:r>
                        <a:rPr lang="en-US" sz="1300" b="1" dirty="0">
                          <a:solidFill>
                            <a:srgbClr val="FFFFFF"/>
                          </a:solidFill>
                        </a:rPr>
                        <a:t>Hybrid: SMARTSELL</a:t>
                      </a:r>
                      <a:endParaRPr lang="en-US" sz="13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171717"/>
                    </a:solidFill>
                  </a:tcPr>
                </a:tc>
                <a:tc>
                  <a:txBody>
                    <a:bodyPr/>
                    <a:lstStyle/>
                    <a:p>
                      <a:pPr algn="l" indent="0" marL="0">
                        <a:buNone/>
                      </a:pPr>
                      <a:r>
                        <a:rPr lang="en-US" sz="1300" b="1" dirty="0">
                          <a:solidFill>
                            <a:srgbClr val="FFFFFF"/>
                          </a:solidFill>
                        </a:rPr>
                        <a:t>Policy-led returns</a:t>
                      </a:r>
                      <a:endParaRPr lang="en-US" sz="13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171717"/>
                    </a:solidFill>
                  </a:tcPr>
                </a:tc>
              </a:tr>
              <a:tr h="438912">
                <a:tc>
                  <a:txBody>
                    <a:bodyPr/>
                    <a:lstStyle/>
                    <a:p>
                      <a:pPr algn="l" indent="0" marL="0">
                        <a:buNone/>
                      </a:pPr>
                      <a:r>
                        <a:rPr lang="en-US" sz="1300" dirty="0">
                          <a:solidFill>
                            <a:srgbClr val="171717"/>
                          </a:solidFill>
                        </a:rPr>
                        <a:t>Business impact (25%)</a:t>
                      </a:r>
                      <a:endParaRPr lang="en-US" sz="13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71717"/>
                          </a:solidFill>
                        </a:rPr>
                        <a:t>4</a:t>
                      </a:r>
                      <a:endParaRPr lang="en-US" sz="13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71717"/>
                          </a:solidFill>
                        </a:rPr>
                        <a:t>3</a:t>
                      </a:r>
                      <a:endParaRPr lang="en-US" sz="13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65172F"/>
                          </a:solidFill>
                        </a:rPr>
                        <a:t>5</a:t>
                      </a:r>
                      <a:endParaRPr lang="en-US" sz="13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EFE3E6"/>
                    </a:solidFill>
                  </a:tcPr>
                </a:tc>
                <a:tc>
                  <a:txBody>
                    <a:bodyPr/>
                    <a:lstStyle/>
                    <a:p>
                      <a:pPr algn="ctr" indent="0" marL="0">
                        <a:buNone/>
                      </a:pPr>
                      <a:r>
                        <a:rPr lang="en-US" sz="1300" dirty="0">
                          <a:solidFill>
                            <a:srgbClr val="171717"/>
                          </a:solidFill>
                        </a:rPr>
                        <a:t>2</a:t>
                      </a:r>
                      <a:endParaRPr lang="en-US" sz="13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438912">
                <a:tc>
                  <a:txBody>
                    <a:bodyPr/>
                    <a:lstStyle/>
                    <a:p>
                      <a:pPr algn="l" indent="0" marL="0">
                        <a:buNone/>
                      </a:pPr>
                      <a:r>
                        <a:rPr lang="en-US" sz="1300" dirty="0">
                          <a:solidFill>
                            <a:srgbClr val="171717"/>
                          </a:solidFill>
                        </a:rPr>
                        <a:t>Feasibility in 6–12 months (20%)</a:t>
                      </a:r>
                      <a:endParaRPr lang="en-US" sz="13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71717"/>
                          </a:solidFill>
                        </a:rPr>
                        <a:t>2</a:t>
                      </a:r>
                      <a:endParaRPr lang="en-US" sz="13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71717"/>
                          </a:solidFill>
                        </a:rPr>
                        <a:t>5</a:t>
                      </a:r>
                      <a:endParaRPr lang="en-US" sz="13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65172F"/>
                          </a:solidFill>
                        </a:rPr>
                        <a:t>4</a:t>
                      </a:r>
                      <a:endParaRPr lang="en-US" sz="13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EFE3E6"/>
                    </a:solidFill>
                  </a:tcPr>
                </a:tc>
                <a:tc>
                  <a:txBody>
                    <a:bodyPr/>
                    <a:lstStyle/>
                    <a:p>
                      <a:pPr algn="ctr" indent="0" marL="0">
                        <a:buNone/>
                      </a:pPr>
                      <a:r>
                        <a:rPr lang="en-US" sz="1300" dirty="0">
                          <a:solidFill>
                            <a:srgbClr val="171717"/>
                          </a:solidFill>
                        </a:rPr>
                        <a:t>4</a:t>
                      </a:r>
                      <a:endParaRPr lang="en-US" sz="13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438912">
                <a:tc>
                  <a:txBody>
                    <a:bodyPr/>
                    <a:lstStyle/>
                    <a:p>
                      <a:pPr algn="l" indent="0" marL="0">
                        <a:buNone/>
                      </a:pPr>
                      <a:r>
                        <a:rPr lang="en-US" sz="1300" dirty="0">
                          <a:solidFill>
                            <a:srgbClr val="171717"/>
                          </a:solidFill>
                        </a:rPr>
                        <a:t>Answers the case brief (20%)</a:t>
                      </a:r>
                      <a:endParaRPr lang="en-US" sz="13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71717"/>
                          </a:solidFill>
                        </a:rPr>
                        <a:t>2</a:t>
                      </a:r>
                      <a:endParaRPr lang="en-US" sz="13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71717"/>
                          </a:solidFill>
                        </a:rPr>
                        <a:t>4</a:t>
                      </a:r>
                      <a:endParaRPr lang="en-US" sz="13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65172F"/>
                          </a:solidFill>
                        </a:rPr>
                        <a:t>5</a:t>
                      </a:r>
                      <a:endParaRPr lang="en-US" sz="13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EFE3E6"/>
                    </a:solidFill>
                  </a:tcPr>
                </a:tc>
                <a:tc>
                  <a:txBody>
                    <a:bodyPr/>
                    <a:lstStyle/>
                    <a:p>
                      <a:pPr algn="ctr" indent="0" marL="0">
                        <a:buNone/>
                      </a:pPr>
                      <a:r>
                        <a:rPr lang="en-US" sz="1300" dirty="0">
                          <a:solidFill>
                            <a:srgbClr val="171717"/>
                          </a:solidFill>
                        </a:rPr>
                        <a:t>2</a:t>
                      </a:r>
                      <a:endParaRPr lang="en-US" sz="13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438912">
                <a:tc>
                  <a:txBody>
                    <a:bodyPr/>
                    <a:lstStyle/>
                    <a:p>
                      <a:pPr algn="l" indent="0" marL="0">
                        <a:buNone/>
                      </a:pPr>
                      <a:r>
                        <a:rPr lang="en-US" sz="1300" dirty="0">
                          <a:solidFill>
                            <a:srgbClr val="171717"/>
                          </a:solidFill>
                        </a:rPr>
                        <a:t>Differentiation (15%)</a:t>
                      </a:r>
                      <a:endParaRPr lang="en-US" sz="13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71717"/>
                          </a:solidFill>
                        </a:rPr>
                        <a:t>3</a:t>
                      </a:r>
                      <a:endParaRPr lang="en-US" sz="13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71717"/>
                          </a:solidFill>
                        </a:rPr>
                        <a:t>2</a:t>
                      </a:r>
                      <a:endParaRPr lang="en-US" sz="13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65172F"/>
                          </a:solidFill>
                        </a:rPr>
                        <a:t>5</a:t>
                      </a:r>
                      <a:endParaRPr lang="en-US" sz="13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EFE3E6"/>
                    </a:solidFill>
                  </a:tcPr>
                </a:tc>
                <a:tc>
                  <a:txBody>
                    <a:bodyPr/>
                    <a:lstStyle/>
                    <a:p>
                      <a:pPr algn="ctr" indent="0" marL="0">
                        <a:buNone/>
                      </a:pPr>
                      <a:r>
                        <a:rPr lang="en-US" sz="1300" dirty="0">
                          <a:solidFill>
                            <a:srgbClr val="171717"/>
                          </a:solidFill>
                        </a:rPr>
                        <a:t>1</a:t>
                      </a:r>
                      <a:endParaRPr lang="en-US" sz="13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438912">
                <a:tc>
                  <a:txBody>
                    <a:bodyPr/>
                    <a:lstStyle/>
                    <a:p>
                      <a:pPr algn="l" indent="0" marL="0">
                        <a:buNone/>
                      </a:pPr>
                      <a:r>
                        <a:rPr lang="en-US" sz="1300" dirty="0">
                          <a:solidFill>
                            <a:srgbClr val="171717"/>
                          </a:solidFill>
                        </a:rPr>
                        <a:t>Scalability (10%)</a:t>
                      </a:r>
                      <a:endParaRPr lang="en-US" sz="13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71717"/>
                          </a:solidFill>
                        </a:rPr>
                        <a:t>4</a:t>
                      </a:r>
                      <a:endParaRPr lang="en-US" sz="13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71717"/>
                          </a:solidFill>
                        </a:rPr>
                        <a:t>2</a:t>
                      </a:r>
                      <a:endParaRPr lang="en-US" sz="13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65172F"/>
                          </a:solidFill>
                        </a:rPr>
                        <a:t>4</a:t>
                      </a:r>
                      <a:endParaRPr lang="en-US" sz="13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EFE3E6"/>
                    </a:solidFill>
                  </a:tcPr>
                </a:tc>
                <a:tc>
                  <a:txBody>
                    <a:bodyPr/>
                    <a:lstStyle/>
                    <a:p>
                      <a:pPr algn="ctr" indent="0" marL="0">
                        <a:buNone/>
                      </a:pPr>
                      <a:r>
                        <a:rPr lang="en-US" sz="1300" dirty="0">
                          <a:solidFill>
                            <a:srgbClr val="171717"/>
                          </a:solidFill>
                        </a:rPr>
                        <a:t>5</a:t>
                      </a:r>
                      <a:endParaRPr lang="en-US" sz="13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438912">
                <a:tc>
                  <a:txBody>
                    <a:bodyPr/>
                    <a:lstStyle/>
                    <a:p>
                      <a:pPr algn="l" indent="0" marL="0">
                        <a:buNone/>
                      </a:pPr>
                      <a:r>
                        <a:rPr lang="en-US" sz="1300" dirty="0">
                          <a:solidFill>
                            <a:srgbClr val="171717"/>
                          </a:solidFill>
                        </a:rPr>
                        <a:t>Judge demo appeal (10%)</a:t>
                      </a:r>
                      <a:endParaRPr lang="en-US" sz="13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71717"/>
                          </a:solidFill>
                        </a:rPr>
                        <a:t>4</a:t>
                      </a:r>
                      <a:endParaRPr lang="en-US" sz="13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71717"/>
                          </a:solidFill>
                        </a:rPr>
                        <a:t>1</a:t>
                      </a:r>
                      <a:endParaRPr lang="en-US" sz="13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65172F"/>
                          </a:solidFill>
                        </a:rPr>
                        <a:t>5</a:t>
                      </a:r>
                      <a:endParaRPr lang="en-US" sz="13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EFE3E6"/>
                    </a:solidFill>
                  </a:tcPr>
                </a:tc>
                <a:tc>
                  <a:txBody>
                    <a:bodyPr/>
                    <a:lstStyle/>
                    <a:p>
                      <a:pPr algn="ctr" indent="0" marL="0">
                        <a:buNone/>
                      </a:pPr>
                      <a:r>
                        <a:rPr lang="en-US" sz="1300" dirty="0">
                          <a:solidFill>
                            <a:srgbClr val="171717"/>
                          </a:solidFill>
                        </a:rPr>
                        <a:t>1</a:t>
                      </a:r>
                      <a:endParaRPr lang="en-US" sz="13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r h="438912">
                <a:tc>
                  <a:txBody>
                    <a:bodyPr/>
                    <a:lstStyle/>
                    <a:p>
                      <a:pPr algn="l" indent="0" marL="0">
                        <a:buNone/>
                      </a:pPr>
                      <a:r>
                        <a:rPr lang="en-US" sz="1300" b="1" dirty="0">
                          <a:solidFill>
                            <a:srgbClr val="171717"/>
                          </a:solidFill>
                        </a:rPr>
                        <a:t>Weighted score</a:t>
                      </a:r>
                      <a:endParaRPr lang="en-US" sz="13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71717"/>
                          </a:solidFill>
                        </a:rPr>
                        <a:t>3.05</a:t>
                      </a:r>
                      <a:endParaRPr lang="en-US" sz="13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71717"/>
                          </a:solidFill>
                        </a:rPr>
                        <a:t>3.15</a:t>
                      </a:r>
                      <a:endParaRPr lang="en-US" sz="13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65172F"/>
                          </a:solidFill>
                        </a:rPr>
                        <a:t>4.70</a:t>
                      </a:r>
                      <a:endParaRPr lang="en-US" sz="13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EFE3E6"/>
                    </a:solidFill>
                  </a:tcPr>
                </a:tc>
                <a:tc>
                  <a:txBody>
                    <a:bodyPr/>
                    <a:lstStyle/>
                    <a:p>
                      <a:pPr algn="ctr" indent="0" marL="0">
                        <a:buNone/>
                      </a:pPr>
                      <a:r>
                        <a:rPr lang="en-US" sz="1300" b="1" dirty="0">
                          <a:solidFill>
                            <a:srgbClr val="171717"/>
                          </a:solidFill>
                        </a:rPr>
                        <a:t>2.45</a:t>
                      </a:r>
                      <a:endParaRPr lang="en-US" sz="1300" dirty="0"/>
                    </a:p>
                  </a:txBody>
                  <a:tcPr marL="76200" marR="76200" marT="38100" marB="38100" anchor="ctr">
                    <a:lnL w="6350" cap="flat" cmpd="sng" algn="ctr">
                      <a:solidFill>
                        <a:srgbClr val="E3DED7"/>
                      </a:solidFill>
                      <a:prstDash val="solid"/>
                      <a:round/>
                      <a:headEnd type="none" w="med" len="med"/>
                      <a:tailEnd type="none" w="med" len="med"/>
                    </a:lnL>
                    <a:lnR w="6350" cap="flat" cmpd="sng" algn="ctr">
                      <a:solidFill>
                        <a:srgbClr val="E3DED7"/>
                      </a:solidFill>
                      <a:prstDash val="solid"/>
                      <a:round/>
                      <a:headEnd type="none" w="med" len="med"/>
                      <a:tailEnd type="none" w="med" len="med"/>
                    </a:lnR>
                    <a:lnT w="6350" cap="flat" cmpd="sng" algn="ctr">
                      <a:solidFill>
                        <a:srgbClr val="E3DED7"/>
                      </a:solidFill>
                      <a:prstDash val="solid"/>
                      <a:round/>
                      <a:headEnd type="none" w="med" len="med"/>
                      <a:tailEnd type="none" w="med" len="med"/>
                    </a:lnT>
                    <a:lnB w="6350" cap="flat" cmpd="sng" algn="ctr">
                      <a:solidFill>
                        <a:srgbClr val="E3DED7"/>
                      </a:solidFill>
                      <a:prstDash val="solid"/>
                      <a:round/>
                      <a:headEnd type="none" w="med" len="med"/>
                      <a:tailEnd type="none" w="med" len="med"/>
                    </a:lnB>
                    <a:solidFill>
                      <a:srgbClr val="FFFFFF"/>
                    </a:solidFill>
                  </a:tcPr>
                </a:tc>
              </a:tr>
            </a:tbl>
          </a:graphicData>
        </a:graphic>
      </p:graphicFrame>
      <p:sp>
        <p:nvSpPr>
          <p:cNvPr id="7" name="text-637"/>
          <p:cNvSpPr txBox="1"/>
          <p:nvPr/>
        </p:nvSpPr>
        <p:spPr>
          <a:xfrm>
            <a:off x="640080" y="5486400"/>
            <a:ext cx="10911535" cy="685800"/>
          </a:xfrm>
          <a:prstGeom prst="rect">
            <a:avLst/>
          </a:prstGeom>
          <a:noFill/>
          <a:ln/>
        </p:spPr>
        <p:txBody>
          <a:bodyPr wrap="square" lIns="0" tIns="0" rIns="0" bIns="0" rtlCol="0" anchor="t"/>
          <a:lstStyle/>
          <a:p>
            <a:pPr indent="0" marL="0">
              <a:buNone/>
            </a:pPr>
            <a:r>
              <a:rPr lang="en-US" sz="1300" dirty="0">
                <a:solidFill>
                  <a:srgbClr val="171717"/>
                </a:solidFill>
              </a:rPr>
              <a:t>Tech-only answers a question the case didn't ask (L'Oréal already runs central demand sensing). Process-only can't rebalance across outlets or measure outcomes. Policy-only shifts the cost to distributors instead of removing waste.</a:t>
            </a:r>
            <a:endParaRPr lang="en-US" sz="1300" dirty="0"/>
          </a:p>
        </p:txBody>
      </p:sp>
      <p:sp>
        <p:nvSpPr>
          <p:cNvPr id="25" name="Slide Number Placeholder 0"/>
          <p:cNvSpPr>
            <a:spLocks noGrp="1"/>
          </p:cNvSpPr>
          <p:nvPr>
            <p:ph type="sldNum" sz="quarter" idx="4294967295"/>
          </p:nvPr>
        </p:nvSpPr>
        <p:spPr>
          <a:xfrm>
            <a:off x="11091672"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665E"/>
                </a:solidFill>
              </a:defRPr>
            </a:lvl1pPr>
          </a:lstStyle>
          <a:p>
            <a:pPr algn="r"/>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SMARTSELL Editorial">
  <a:themeElements>
    <a:clrScheme name="SMARTSELL Editorial">
      <a:dk1>
        <a:srgbClr val="171717"/>
      </a:dk1>
      <a:lt1>
        <a:srgbClr val="FFFFFF"/>
      </a:lt1>
      <a:dk2>
        <a:srgbClr val="6E665E"/>
      </a:dk2>
      <a:lt2>
        <a:srgbClr val="F7F5F1"/>
      </a:lt2>
      <a:accent1>
        <a:srgbClr val="65172F"/>
      </a:accent1>
      <a:accent2>
        <a:srgbClr val="A9A096"/>
      </a:accent2>
      <a:accent3>
        <a:srgbClr val="327B60"/>
      </a:accent3>
      <a:accent4>
        <a:srgbClr val="8C3A52"/>
      </a:accent4>
      <a:accent5>
        <a:srgbClr val="B9808F"/>
      </a:accent5>
      <a:accent6>
        <a:srgbClr val="3A3A3A"/>
      </a:accent6>
      <a:hlink>
        <a:srgbClr val="65172F"/>
      </a:hlink>
      <a:folHlink>
        <a:srgbClr val="8C3A52"/>
      </a:folHlink>
    </a:clrScheme>
    <a:fontScheme name="SMARTSELL Editorial">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SMARTSELL: Turning Field Sales into a Growth and Sustainability Engine</dc:title>
  <dc:subject>L'Oréal Sustainability Challenge 2026, Sales Track</dc:subject>
  <dc:creator>SMARTSELL team</dc:creator>
  <cp:lastModifiedBy>SMARTSELL team</cp:lastModifiedBy>
  <cp:revision>1</cp:revision>
  <dcterms:created xsi:type="dcterms:W3CDTF">2026-10-31T10:30:01Z</dcterms:created>
  <dcterms:modified xsi:type="dcterms:W3CDTF">2026-10-31T10:30:01Z</dcterms:modified>
</cp:coreProperties>
</file>